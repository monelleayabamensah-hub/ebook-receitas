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7562850" cy="1069657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8.png"/><Relationship Id="rId4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8.png"/><Relationship Id="rId4" Type="http://schemas.openxmlformats.org/officeDocument/2006/relationships/image" Target="../media/image2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8.png"/><Relationship Id="rId4" Type="http://schemas.openxmlformats.org/officeDocument/2006/relationships/image" Target="../media/image2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.png"/><Relationship Id="rId4" Type="http://schemas.openxmlformats.org/officeDocument/2006/relationships/image" Target="../media/image2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8.png"/><Relationship Id="rId4" Type="http://schemas.openxmlformats.org/officeDocument/2006/relationships/image" Target="../media/image3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2.png"/><Relationship Id="rId4" Type="http://schemas.openxmlformats.org/officeDocument/2006/relationships/image" Target="../media/image3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image" Target="../media/image8.png"/><Relationship Id="rId4" Type="http://schemas.openxmlformats.org/officeDocument/2006/relationships/image" Target="../media/image39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2.png"/><Relationship Id="rId4" Type="http://schemas.openxmlformats.org/officeDocument/2006/relationships/image" Target="../media/image4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image" Target="../media/image8.png"/><Relationship Id="rId4" Type="http://schemas.openxmlformats.org/officeDocument/2006/relationships/image" Target="../media/image4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image" Target="../media/image1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image" Target="../media/image2.png"/><Relationship Id="rId4" Type="http://schemas.openxmlformats.org/officeDocument/2006/relationships/image" Target="../media/image4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image" Target="../media/image8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12.png"/><Relationship Id="rId4" Type="http://schemas.openxmlformats.org/officeDocument/2006/relationships/image" Target="../media/image5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image" Target="../media/image2.png"/><Relationship Id="rId4" Type="http://schemas.openxmlformats.org/officeDocument/2006/relationships/image" Target="../media/image53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image" Target="../media/image8.png"/><Relationship Id="rId4" Type="http://schemas.openxmlformats.org/officeDocument/2006/relationships/image" Target="../media/image55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12.png"/><Relationship Id="rId4" Type="http://schemas.openxmlformats.org/officeDocument/2006/relationships/image" Target="../media/image57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2.png"/><Relationship Id="rId4" Type="http://schemas.openxmlformats.org/officeDocument/2006/relationships/image" Target="../media/image5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6071" y="3543300"/>
            <a:ext cx="3599854" cy="299977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1079896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EBOOK DE RECEITAS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411337"/>
            <a:ext cx="5634978" cy="1916013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7544"/>
              </a:lnSpc>
            </a:pPr>
            <a:r>
              <a:rPr sz="9200" spc="-45">
                <a:solidFill>
                  <a:srgbClr val="D52518"/>
                </a:solidFill>
                <a:latin typeface="Barlow Condensed ExtraBold"/>
              </a:rPr>
              <a:t>COZINHA</a:t>
            </a:r>
          </a:p>
          <a:p>
            <a:pPr>
              <a:lnSpc>
                <a:spcPts val="7544"/>
              </a:lnSpc>
            </a:pPr>
            <a:r>
              <a:rPr sz="9200" spc="-45">
                <a:solidFill>
                  <a:srgbClr val="F96015"/>
                </a:solidFill>
                <a:latin typeface="Barlow Condensed ExtraBold"/>
              </a:rPr>
              <a:t>MAMEDE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4131319"/>
            <a:ext cx="15596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5 INGREDIENTES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9830" y="4535090"/>
            <a:ext cx="38046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4873376"/>
            <a:ext cx="40430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5211663"/>
            <a:ext cx="48091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Frango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5549949"/>
            <a:ext cx="26468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5888235"/>
            <a:ext cx="51883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Banana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947" y="6957863"/>
            <a:ext cx="5822108" cy="6258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39"/>
              </a:lnSpc>
            </a:pPr>
            <a:r>
              <a:rPr sz="2200" spc="44">
                <a:solidFill>
                  <a:srgbClr val="D52518"/>
                </a:solidFill>
                <a:latin typeface="Barlow Condensed ExtraBold"/>
              </a:rPr>
              <a:t>15 TRANSFORMAÇÕES.</a:t>
            </a:r>
          </a:p>
          <a:p>
            <a:pPr>
              <a:lnSpc>
                <a:spcPts val="1739"/>
              </a:lnSpc>
            </a:pPr>
            <a:r>
              <a:rPr sz="1200">
                <a:solidFill>
                  <a:srgbClr val="18542A"/>
                </a:solidFill>
                <a:latin typeface="Short Stack"/>
              </a:rPr>
              <a:t>Um novo jeito de olhar para a sua cozinha.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7691586"/>
            <a:ext cx="4511730" cy="5728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3"/>
              </a:lnSpc>
            </a:pPr>
            <a:r>
              <a:rPr sz="950">
                <a:solidFill>
                  <a:srgbClr val="18542A"/>
                </a:solidFill>
                <a:latin typeface="Short Stack"/>
              </a:rPr>
              <a:t>Pare de fazer sempre a mesma comida do mesmo jeito. Transforme o básico em refeições com sabor de chef, gastando menos e sem desperdiçar nada.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9568606"/>
            <a:ext cx="1728454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64">
                <a:solidFill>
                  <a:srgbClr val="F96015"/>
                </a:solidFill>
                <a:latin typeface="Barlow Condensed SemiBold"/>
              </a:rPr>
              <a:t>por COZINHA MAMEDE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634978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SUMÁRIO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830" y="1651992"/>
            <a:ext cx="75503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8408" y="1619398"/>
            <a:ext cx="162067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9830" y="1990278"/>
            <a:ext cx="204637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1. Não é o ingrediente. É o jeito.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8883" y="1957685"/>
            <a:ext cx="17197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328564"/>
            <a:ext cx="231832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2. O Método das 3 Transformações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57813" y="2295971"/>
            <a:ext cx="162687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05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2666851"/>
            <a:ext cx="175817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3. A despensa estratégica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7664" y="2634257"/>
            <a:ext cx="162841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005137"/>
            <a:ext cx="206355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4. Arroz, da sobra ao destaque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1980" y="2972544"/>
            <a:ext cx="15835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3343423"/>
            <a:ext cx="209157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5. Feijão, muito além da concha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6778" y="3310830"/>
            <a:ext cx="11176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59830" y="3681710"/>
            <a:ext cx="231074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6. Frango: um bicho, três refeições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2519" y="3649116"/>
            <a:ext cx="13699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59830" y="4019996"/>
            <a:ext cx="197625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7. Ovo, o coringa da geladeira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114" y="3987403"/>
            <a:ext cx="136374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19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59830" y="4358282"/>
            <a:ext cx="1903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8. Banana, com casca e tudo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153" y="4325689"/>
            <a:ext cx="16129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9830" y="4696569"/>
            <a:ext cx="212345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9. A semana com 5 ingredientes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2873" y="4663975"/>
            <a:ext cx="157424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27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59830" y="5034855"/>
            <a:ext cx="186203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10. Aproveitamento integral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59153" y="5002262"/>
            <a:ext cx="161293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29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59830" y="5373141"/>
            <a:ext cx="289860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Extra: 10 erros + Checklist do Prato de Chef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4305" y="5340548"/>
            <a:ext cx="135135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31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59830" y="5711428"/>
            <a:ext cx="15732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Conclusão: Comece hoje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9897" y="5678834"/>
            <a:ext cx="160520" cy="243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920"/>
              </a:lnSpc>
            </a:pPr>
            <a:r>
              <a:rPr sz="1200">
                <a:solidFill>
                  <a:srgbClr val="D52518"/>
                </a:solidFill>
                <a:latin typeface="Barlow Condensed ExtraBold"/>
              </a:rPr>
              <a:t>33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3058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3766" y="10149333"/>
            <a:ext cx="15649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1963" y="647997"/>
            <a:ext cx="1439763" cy="119985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INTRODUÇÃO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4436816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A SUA COZINHA JÁ TEM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446287"/>
            <a:ext cx="5822108" cy="6286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Segunda: arroz, feijão e frango.</a:t>
            </a:r>
          </a:p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Terça: arroz, feijão e frango.</a:t>
            </a:r>
          </a:p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Quarta: adivinha?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3182838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Se você se reconheceu, respira. </a:t>
            </a:r>
            <a:r>
              <a:rPr sz="900">
                <a:solidFill>
                  <a:srgbClr val="D52518"/>
                </a:solidFill>
                <a:latin typeface="Short Stack"/>
              </a:rPr>
              <a:t>Você não cozinha mal. Você cozinha no automático.</a:t>
            </a:r>
            <a:r>
              <a:rPr sz="900">
                <a:solidFill>
                  <a:srgbClr val="18542A"/>
                </a:solidFill>
                <a:latin typeface="Short Stack"/>
              </a:rPr>
              <a:t> E isso tem solução.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3828157"/>
            <a:ext cx="2472074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A CRENÇA QUE TE PRENDE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4195316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Muita gente acha que, para variar o cardápio, precisa de ingrediente caro, receita difícil ou tempo sobrando. </a:t>
            </a:r>
            <a:r>
              <a:rPr sz="900">
                <a:solidFill>
                  <a:srgbClr val="D52518"/>
                </a:solidFill>
                <a:latin typeface="Short Stack"/>
              </a:rPr>
              <a:t>Mentira.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3947" y="4660701"/>
            <a:ext cx="5822108" cy="53622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que separa a cozinha de casa da cozinha de restaurante não é o ingrediente. </a:t>
            </a:r>
            <a:r>
              <a:rPr sz="900">
                <a:solidFill>
                  <a:srgbClr val="D52518"/>
                </a:solidFill>
                <a:latin typeface="Short Stack"/>
              </a:rPr>
              <a:t>É a técnica.</a:t>
            </a:r>
            <a:r>
              <a:rPr sz="900">
                <a:solidFill>
                  <a:srgbClr val="18542A"/>
                </a:solidFill>
                <a:latin typeface="Short Stack"/>
              </a:rPr>
              <a:t> O chef pega o mesmo arroz que você e faz cinco pratos diferentes. Ele não vê "arroz". Ele vê possibilidades.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947" y="5484762"/>
            <a:ext cx="2526247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QUE VOCÊ VAI APRENDER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5888533"/>
            <a:ext cx="360084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15 receitas testadas, simples e com sabor de verdade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6226819"/>
            <a:ext cx="279412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Técnicas de chef explicadas sem frescura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6565106"/>
            <a:ext cx="398795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Aproveitamento integral: casca, osso e sobra viram comida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9830" y="6903392"/>
            <a:ext cx="276332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Um cardápio semanal pronto para copiar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47" y="7385000"/>
            <a:ext cx="2555965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UM COMBINADO ENTRE NÓS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47" y="7752159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Aqui não tem palavra difícil, ingrediente de empório ou prato bonito que ninguém come. </a:t>
            </a:r>
            <a:r>
              <a:rPr sz="900">
                <a:solidFill>
                  <a:srgbClr val="D52518"/>
                </a:solidFill>
                <a:latin typeface="Short Stack"/>
              </a:rPr>
              <a:t>Tem comida de verdade, feita por quem vive a cozinha todo dia.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6" y="8253561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BORA PARA A COZINHA?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058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3766" y="10149333"/>
            <a:ext cx="15649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4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NÃO É O INGREDIENTE. É O JEITO.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2626221"/>
            <a:ext cx="2802067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CICLO DA COMIDA REPETIDA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993380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Você vai ao mercado. Compra as mesmas coisas. Faz as mesmas receitas. Enjoa. Pede delivery. Gasta mais. Esse ciclo tem três causas: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846" y="345876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REPERTÓRIO: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5758" y="345876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Você conhece poucas formas de preparar cada ingrediente.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846" y="379720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TEMPO: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5758" y="379720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 aí vai no que é rápido e conhecido.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846" y="41356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MEDO DE ERRAR: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758" y="41356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Melhor o "sem graça garantido" do que arriscar.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6" y="4495651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REPETIR NÃO É O PROBLEMA. REPETIR SEM PERCEBER É.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5379392"/>
            <a:ext cx="319087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PONTO DE PARTIDA, NÃO DESTINO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746551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Pensa no ovo. Frito, cozido, mexido, pochê, omelete, fritata, base de massa, cola de empanado... </a:t>
            </a:r>
            <a:r>
              <a:rPr sz="900">
                <a:solidFill>
                  <a:srgbClr val="D52518"/>
                </a:solidFill>
                <a:latin typeface="Short Stack"/>
              </a:rPr>
              <a:t>É o mesmo ovo. O que muda é a decisão que você toma.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3947" y="6391870"/>
            <a:ext cx="1874154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A VIRADA DE CHAVE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47" y="6759029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Antes de cozinhar, faça uma pergunta só: </a:t>
            </a:r>
            <a:r>
              <a:rPr sz="900">
                <a:solidFill>
                  <a:srgbClr val="D52518"/>
                </a:solidFill>
                <a:latin typeface="Short Stack"/>
              </a:rPr>
              <a:t>"De que outro jeito eu posso servir isso?"</a:t>
            </a:r>
            <a:r>
              <a:rPr sz="900">
                <a:solidFill>
                  <a:srgbClr val="18542A"/>
                </a:solidFill>
                <a:latin typeface="Short Stack"/>
              </a:rPr>
              <a:t> Essa pergunta vale mais do que qualquer livro de receitas.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47" y="7404348"/>
            <a:ext cx="1153647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NA PRÁTICA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3947" y="7771507"/>
            <a:ext cx="5822108" cy="536227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Abra a geladeira e escolha um ingrediente. Escreva três formas de servir que </a:t>
            </a:r>
            <a:r>
              <a:rPr sz="900">
                <a:solidFill>
                  <a:srgbClr val="D52518"/>
                </a:solidFill>
                <a:latin typeface="Short Stack"/>
              </a:rPr>
              <a:t>não sejam</a:t>
            </a:r>
            <a:r>
              <a:rPr sz="900">
                <a:solidFill>
                  <a:srgbClr val="18542A"/>
                </a:solidFill>
                <a:latin typeface="Short Stack"/>
              </a:rPr>
              <a:t> a de sempre. </a:t>
            </a:r>
            <a:r>
              <a:rPr sz="900">
                <a:solidFill>
                  <a:srgbClr val="D52518"/>
                </a:solidFill>
                <a:latin typeface="Short Stack"/>
              </a:rPr>
              <a:t>Criatividade na cozinha é músculo: quanto mais usa, mais forte fica.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671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9897" y="10149333"/>
            <a:ext cx="16052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5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5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O MÉTODO DAS 3 TRANSFORMAÇÕES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244628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Para transformar qualquer ingrediente, mexa em uma destas três alavancas. </a:t>
            </a:r>
            <a:r>
              <a:rPr sz="900">
                <a:solidFill>
                  <a:srgbClr val="D52518"/>
                </a:solidFill>
                <a:latin typeface="Short Stack"/>
              </a:rPr>
              <a:t>Mudou uma alavanca, nasceu um prato novo.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947" y="2976473"/>
            <a:ext cx="853234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ALAVANCA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2047" y="2976473"/>
            <a:ext cx="2072446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O QUE MUDA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00467" y="2976473"/>
            <a:ext cx="2747447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EXEMPLO COM BATATA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947" y="3340824"/>
            <a:ext cx="778354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TEXTURA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82047" y="3340824"/>
            <a:ext cx="2072446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Crocante, cremoso, macio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0467" y="3340824"/>
            <a:ext cx="2747447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Purê × batata frita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947" y="3696970"/>
            <a:ext cx="778354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FORMA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2047" y="3696970"/>
            <a:ext cx="207244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Inteiro, desfiado, moldado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0467" y="3696970"/>
            <a:ext cx="2747447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Cozida × bolinho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947" y="4057878"/>
            <a:ext cx="778354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CONTEXTO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82047" y="4057878"/>
            <a:ext cx="207244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Café, almoço, lanche, doce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00467" y="4057878"/>
            <a:ext cx="2747447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Acompanhamento × prato principal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947" y="4624982"/>
            <a:ext cx="2291444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OS 4 PILARES DO SABOR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499214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SAL: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499214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Realça tudo. Tempere em camadas, não só no final.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533057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GORDURA: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533057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Carrega sabor: manteiga, azeite, gordura do frango.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566901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ÁCIDO: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566901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Acorda o prato: limão, vinagre, tomate.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95846" y="600744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CALOR: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35758" y="600744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Cria cor e sabor. Dourar é diferente de cozinhar.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6" y="6367462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FALTANDO ALGUMA COISA? EM 9 DE 10 VEZES, É ÁCIDO.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3947" y="6971258"/>
            <a:ext cx="1632540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DOURAR É SABOR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3947" y="733841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Aquele marrom no fundo da panela é a </a:t>
            </a:r>
            <a:r>
              <a:rPr sz="900">
                <a:solidFill>
                  <a:srgbClr val="D52518"/>
                </a:solidFill>
                <a:latin typeface="Short Stack"/>
              </a:rPr>
              <a:t>reação de Maillard</a:t>
            </a:r>
            <a:r>
              <a:rPr sz="900">
                <a:solidFill>
                  <a:srgbClr val="18542A"/>
                </a:solidFill>
                <a:latin typeface="Short Stack"/>
              </a:rPr>
              <a:t>. É ali que nasce o sabor de comida de restaurante.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947" y="7803802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Panela bem quente antes de colocar o alimento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947" y="8068865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Alimento seco (papel-toalha nele)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947" y="8333928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Não lote a panela: muita coisa junta cozinha no vapor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947" y="8598991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Não mexa o tempo todo.</a:t>
            </a:r>
            <a:r>
              <a:rPr sz="900">
                <a:solidFill>
                  <a:srgbClr val="18542A"/>
                </a:solidFill>
                <a:latin typeface="Short Stack"/>
              </a:rPr>
              <a:t> Deixe dourar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30291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3469" y="10149333"/>
            <a:ext cx="15680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6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6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A DESPENSA ESTRATÉGICA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244628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Você não precisa de 40 temperos. Precisa dos </a:t>
            </a:r>
            <a:r>
              <a:rPr sz="900">
                <a:solidFill>
                  <a:srgbClr val="D52518"/>
                </a:solidFill>
                <a:latin typeface="Short Stack"/>
              </a:rPr>
              <a:t>certos</a:t>
            </a:r>
            <a:r>
              <a:rPr sz="900">
                <a:solidFill>
                  <a:srgbClr val="18542A"/>
                </a:solidFill>
                <a:latin typeface="Short Stack"/>
              </a:rPr>
              <a:t>. Com esta lista, você faz todas as receitas deste ebook.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3091606"/>
            <a:ext cx="2843704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A BASE QUE NÃO PODE FALTAR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846" y="345876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AROMÁTICOS: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5758" y="345876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Cebola, alho, cheiro-verde.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846" y="379720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GORDURAS: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5758" y="379720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Óleo, azeite, manteiga.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846" y="41356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ÁCIDOS: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758" y="41356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Limão, vinagre.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846" y="447407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SECOS: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5758" y="447407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Farinha de trigo, de mandioca e de rosca.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481250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TEMPEROS: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4812506"/>
            <a:ext cx="4137624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pimenta-do-reino, páprica defumada, cominho, louro, canela.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529232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CORINGAS: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529232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Shoyu, molho de tomate, queijo ralado.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6" y="5652343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CEBOLA, ALHO, LIMÃO E SAL BEM USADOS JÁ RESOLVEM QUASE TUDO.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47" y="6536084"/>
            <a:ext cx="330789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UTENSÍLIOS QUE FAZEM DIFERENÇA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947" y="6903243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Frigideira antiaderente boa (de preferência que vá ao forno)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947" y="7168306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Faca afiada: faca cega é mais perigosa e mais lenta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947" y="7433369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Panela de fundo grosso para caldos e refogados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947" y="7698432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Potes com tampa para guardar e congelar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947" y="8143428"/>
            <a:ext cx="1430860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MISE EN PLACE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947" y="851058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Francês para "tudo no lugar". Leia a receita inteira, pique tudo, separe em potinhos e só então acenda o fogo. </a:t>
            </a:r>
            <a:r>
              <a:rPr sz="900">
                <a:solidFill>
                  <a:srgbClr val="D52518"/>
                </a:solidFill>
                <a:latin typeface="Short Stack"/>
              </a:rPr>
              <a:t>Cozinha organizada é cozinha rápida.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0142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3320" y="10149333"/>
            <a:ext cx="15696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7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7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2446287"/>
            <a:ext cx="4319736" cy="359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ARROZ, DA SOBRA AO DESTAQUE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6244976"/>
            <a:ext cx="582210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Todo mundo faz arroz. Quase todo mundo faz demais. E a sobra vai esquecida no fundo da geladeira até virar lixo.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6" y="6807993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SOBRA DE ARROZ NÃO É PROBLEMA. É INGREDIENTE PRONTO.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7511801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 de um dia para o outro fica mais seco e firme. Perfeito para as três receitas a seguir.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8157120"/>
            <a:ext cx="194922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3 TRANSFORMAÇÕES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8560891"/>
            <a:ext cx="159766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 frito de geladeira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8899177"/>
            <a:ext cx="172783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Bolinho de arroz crocante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9237464"/>
            <a:ext cx="159348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 de forno cremoso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4458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7636" y="10149333"/>
            <a:ext cx="152471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8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8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3070770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01 · ARROZ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ARROZ FRITO DE GELADEIRA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2 PORÇÕES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31641"/>
            <a:ext cx="215410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xícaras de arroz cozido </a:t>
            </a:r>
            <a:r>
              <a:rPr sz="900">
                <a:solidFill>
                  <a:srgbClr val="D52518"/>
                </a:solidFill>
                <a:latin typeface="Short Stack"/>
              </a:rPr>
              <a:t>gelado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469927"/>
            <a:ext cx="44067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ovos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808214"/>
            <a:ext cx="167041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dentes de alho picados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109888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xícara de legumes picados (cenoura, ervilha, milho)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590305"/>
            <a:ext cx="177132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colheres (sopa) de shoyu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928592"/>
            <a:ext cx="166421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colheres (sopa) de óleo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5266878"/>
            <a:ext cx="113811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Cebolinha picada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748486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611564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OVOS: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6115645"/>
            <a:ext cx="4137624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Aqueça metade do óleo em fogo alto, mexa os ovos rapidamente e reserve.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659546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659546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Junte o resto do óleo, o alho e os legumes. Refogue 2 minutos.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93390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TOSTE O ARROZ: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93390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Adicione o arroz, solte os grãos e deixe 1 minuto sem mexer.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727233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FINALIZE: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727233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Shoyu, ovos e cebolinha. Misture e sirva na hora.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7718673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963048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 recém-feito vira papa. </a:t>
            </a:r>
            <a:r>
              <a:rPr sz="900">
                <a:solidFill>
                  <a:srgbClr val="18542A"/>
                </a:solidFill>
                <a:latin typeface="Short Stack"/>
              </a:rPr>
              <a:t>Arroz gelado vira arroz frito de verdade.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8249691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Junte frango desfiado e vira prato completo.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696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873" y="10149333"/>
            <a:ext cx="15742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9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8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3018085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02 · ARROZ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BOLINHO DE ARROZ CROCANTE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FORMA · 15 BOLINHOS · 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31641"/>
            <a:ext cx="167288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xícaras de arroz cozido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469927"/>
            <a:ext cx="32954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ovo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808214"/>
            <a:ext cx="171715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queijo ralado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146500"/>
            <a:ext cx="269784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a 4 colheres (sopa) de farinha de trigo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484786"/>
            <a:ext cx="218118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(chá) de fermento em pó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823073"/>
            <a:ext cx="185351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Cheiro-verde, sal e pimenta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5161359"/>
            <a:ext cx="109338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Óleo para fritar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642967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601012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MASSA: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601012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Misture tudo, menos o óleo, até a massa segurar na colher.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634856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AJUSTE: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634856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Se estiver mole, junte farinha, uma colher por vez.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68699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ÓLEO: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686996"/>
            <a:ext cx="4137624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Aqueça a cerca de 170 °C: um palito mergulhado forma bolhinhas.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716681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FRITE: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716681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Frite colheradas até dourar, virando uma vez. Escorra.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846" y="750525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AIR FRYER: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5758" y="750525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Bolinhas pinceladas com óleo, 200 °C por 12 a 15 min.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951589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195964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Óleo frio deixa o bolinho encharcado.</a:t>
            </a:r>
            <a:r>
              <a:rPr sz="900">
                <a:solidFill>
                  <a:srgbClr val="18542A"/>
                </a:solidFill>
                <a:latin typeface="Short Stack"/>
              </a:rPr>
              <a:t> Teste a temperatura antes.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880" y="8482607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Recheie com um cubinho de muçarela no centro.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0887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4064" y="10149333"/>
            <a:ext cx="15618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0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8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515195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03 · ARROZ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ARROZ DE FORNO CREMOSO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TEXTURA · 4 PORÇÕES · 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167397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xícaras de arroz cozido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67037"/>
            <a:ext cx="182674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xícara de frango desfiado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305323"/>
            <a:ext cx="23308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caixinha de creme de leite (200 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643610"/>
            <a:ext cx="200086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colheres (sopa) de requeijão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981896"/>
            <a:ext cx="1903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milho ou ervilha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320182"/>
            <a:ext cx="186141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xícara de muçarela ralada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4658469"/>
            <a:ext cx="225269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colheres (sopa) de queijo ralado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140076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5072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MISTURE: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5072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Arroz, frango, creme de leite, requeijão e milho.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84567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TEMPERE: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84567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Prove e acerte o 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18410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MONTE: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18410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Refratário, muçarela e queijo ralado por cima.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652254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FORNO: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652254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200 °C preaquecido por 20 minutos, até gratinar.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6968876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213252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Raspas de limão por cima no final. </a:t>
            </a:r>
            <a:r>
              <a:rPr sz="900">
                <a:solidFill>
                  <a:srgbClr val="18542A"/>
                </a:solidFill>
                <a:latin typeface="Short Stack"/>
              </a:rPr>
              <a:t>O ácido corta a gordura e o prato fica leve.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499895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Troque o frango por presunto ou legumes assados.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7853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1030" y="10149333"/>
            <a:ext cx="138541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1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1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2446287"/>
            <a:ext cx="4319736" cy="359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FEIJÃO, MUITO ALÉM DA CONCHA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6244976"/>
            <a:ext cx="582210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Proteína, fibra, barato e rende muito. Mas quase sempre aparece do mesmo jeito: na concha, por cima do arroz.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6" y="6807993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FEIJÃO É UMA DAS BASES MAIS VERSÁTEIS DA COZINHA.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7231856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Dica de ouro: cozinhe uma panela grande no domingo, separe em porções e use nas três receitas durante a semana.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7877175"/>
            <a:ext cx="194922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3 TRANSFORMAÇÕES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8280945"/>
            <a:ext cx="188818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Caldinho de feijão de boteco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8619232"/>
            <a:ext cx="145557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Tutu de feijão mineiro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8957518"/>
            <a:ext cx="143421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Hambúrguer de feijão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69582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2759" y="10149333"/>
            <a:ext cx="115943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2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2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848867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04 · FEIJÃO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CALDINHO DE FEIJÃO DE BOTECO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TEXTURA · 4 XÍCARAS · 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31641"/>
            <a:ext cx="239912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xícaras de feijão cozido com caldo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469927"/>
            <a:ext cx="10116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picada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808214"/>
            <a:ext cx="167149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dentes de alho picados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146500"/>
            <a:ext cx="257866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100 g de bacon ou calabresa (opcional)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484786"/>
            <a:ext cx="102714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folha de louro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823073"/>
            <a:ext cx="20086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Cheiro-verde, pimenta e limão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5304680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67183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BATA: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567183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com o caldo no liquidificador até ficar liso.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601027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DOURE: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601027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Bacon na panela. Junte cebola e alho e refogue.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634871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COZINHE: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634871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batido e louro, fogo baixo por 10 min, mexendo.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668714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AJUSTE: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668714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Engrossou demais? Um pouco de água.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702558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SIRVA: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702558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Cheiro-verde, uma gota de limão e pimenta.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471916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716291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limão no final é o que dá o gosto de boteco.</a:t>
            </a:r>
            <a:r>
              <a:rPr sz="900">
                <a:solidFill>
                  <a:srgbClr val="18542A"/>
                </a:solidFill>
                <a:latin typeface="Short Stack"/>
              </a:rPr>
              <a:t> Não pule.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002934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Sirva em copinhos com torradas de pão amanhecido.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0383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560" y="10149333"/>
            <a:ext cx="13590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3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2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345977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05 · FEIJÃO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TUTU DE FEIJÃO MINEIRO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FORMA · 4 PORÇÕES · 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239912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xícaras de feijão cozido com caldo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67037"/>
            <a:ext cx="10116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picada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305323"/>
            <a:ext cx="111799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dentes de 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643610"/>
            <a:ext cx="2667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colheres (sopa) de manteiga ou banha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981896"/>
            <a:ext cx="244586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a 1 xícara de farinha de mandioca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320182"/>
            <a:ext cx="123176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 e sal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4801790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16894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BATA: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516894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com o caldo no liquidificador.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5507384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5507384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 e alho na manteiga.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584581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FERVA: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584581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Junte o feijão batido e deixe ferver.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618425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FARINHA: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618425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Fogo baixo, farinha aos poucos, em chuva, mexendo sempre.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652269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PONTO: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652269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Cremoso e soltando do fundo. Cheiro-verde e pronto.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6969025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213401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tutu engrossa ao esfriar. </a:t>
            </a:r>
            <a:r>
              <a:rPr sz="900">
                <a:solidFill>
                  <a:srgbClr val="18542A"/>
                </a:solidFill>
                <a:latin typeface="Short Stack"/>
              </a:rPr>
              <a:t>Desligue um pouco antes do ponto que você quer.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7500044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Com ovo frito e banana dourada: prato mineiro completo.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0681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858" y="10149333"/>
            <a:ext cx="13560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4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4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515195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06 · FEIJÃO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HAMBÚRGUER DE FEIJÃO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6 UNIDADES · 45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267091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xícaras de feijão cozido </a:t>
            </a:r>
            <a:r>
              <a:rPr sz="900">
                <a:solidFill>
                  <a:srgbClr val="D52518"/>
                </a:solidFill>
                <a:latin typeface="Short Stack"/>
              </a:rPr>
              <a:t>bem escorrido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67037"/>
            <a:ext cx="111954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cebola ralada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305323"/>
            <a:ext cx="173836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dente de alho amassado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643610"/>
            <a:ext cx="257201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farinha de rosca ou aveia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981896"/>
            <a:ext cx="166344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(chá) de cominho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320182"/>
            <a:ext cx="234014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(chá) de páprica defumada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4658469"/>
            <a:ext cx="183989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 e cheiro-verde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140076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5072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AMASSE: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5072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no garfo, deixando alguns pedaços para dar textura.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84567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LIGA: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84567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Misture os outros ingredientes até dar liga.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18410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DESCANSE: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18410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Modele e leve à geladeira por 30 minutos.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652254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DOURE: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652254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Frigideira com um fio de óleo, 4 minutos de cada lado.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6968876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213252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molhado desmancha.</a:t>
            </a:r>
            <a:r>
              <a:rPr sz="900">
                <a:solidFill>
                  <a:srgbClr val="18542A"/>
                </a:solidFill>
                <a:latin typeface="Short Stack"/>
              </a:rPr>
              <a:t> Escorra muito bem e seque no papel-toalha.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499895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Congele crus, separados com papel-manteiga, por até 3 meses.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6960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0137" y="10149333"/>
            <a:ext cx="13946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5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5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2446287"/>
            <a:ext cx="4319736" cy="359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FRANGO: UM BICHO, TRÊS REFEIÇÕES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6244976"/>
            <a:ext cx="582210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Frango inteiro ou em partes com osso é mais barato e tem mais sabor do que o filé. E rende três refeições diferentes.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6" y="6807993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PELE VIRA CROCÂNCIA. CARNE VIRA RECHEIO. OSSO VIRA CALDO.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7511801"/>
            <a:ext cx="58221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Nada se perde. Cada parte do frango tem um destino nas receitas a seguir.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7978378"/>
            <a:ext cx="194922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3 TRANSFORMAÇÕES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8382148"/>
            <a:ext cx="194979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Sobrecoxa com pele crocante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8720435"/>
            <a:ext cx="170848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Frango desfiado multiuso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9058721"/>
            <a:ext cx="175863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Caldo dourado de carcaça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0383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560" y="10149333"/>
            <a:ext cx="13590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6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6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547937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07 · FRANGO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SOBRECOXA COM PELE CROCANTE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TEXTURA · 2 PORÇÕES · 30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65077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68848"/>
            <a:ext cx="197254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4 sobrecoxas com pele e osso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507134"/>
            <a:ext cx="150665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 e páprica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845421"/>
            <a:ext cx="192549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dentes de alho amassados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183707"/>
            <a:ext cx="109988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Suco de ½ limão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3947" y="4702671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846" y="506983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SEQUE: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5758" y="5069830"/>
            <a:ext cx="4137624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Pele bem seca no papel-toalha. Pele molhada não fica crocante.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54965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TEMPERE: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554965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pimenta, páprica e alho.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588808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FRIGIDEIRA FRIA: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588808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Pele para baixo, sem óleo, e só então ligue em fogo médio.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622652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NÃO MEXA: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622652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15 minutos: a gordura derrete e frita a pele.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656495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VIRE: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656495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Mais 10 a 12 minutos, até o suco sair transparente.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690339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FINALIZE: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690339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Um fio de limão por cima.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349728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594103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É a própria gordura do frango que deixa a pele crocante.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7880746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Guarde a gordura da frigideira: é ouro para refogar arroz e legumes.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0383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560" y="10149333"/>
            <a:ext cx="13590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7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7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848867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08 · FRANGO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FRANGO DESFIADO MULTIUSO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FORMA · 4 XÍCARAS · 40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31641"/>
            <a:ext cx="291469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kg de peito (ou coxa e sobrecoxa sem pele)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469927"/>
            <a:ext cx="166158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cortada ao meio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808214"/>
            <a:ext cx="113827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folhas de louro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146500"/>
            <a:ext cx="227204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picada e 3 dentes de 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484786"/>
            <a:ext cx="125296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tomates picados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823073"/>
            <a:ext cx="183989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 e cheiro-verde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5304680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67183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COZINHE: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567183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Frango em água com cebola e louro por 25 minutos.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601027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GUARDE: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601027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 água do cozimento: ela já é um caldo leve.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634871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DESFIE: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634871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Com dois garfos, ainda morno.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668714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668714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Cebola, alho e tomate até desmanchar.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702558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UNA: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702558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Frango e uma concha da água do cozimento. Acerte o sal.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471916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716291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Desfie o frango </a:t>
            </a:r>
            <a:r>
              <a:rPr sz="900">
                <a:solidFill>
                  <a:srgbClr val="18542A"/>
                </a:solidFill>
                <a:latin typeface="Short Stack"/>
              </a:rPr>
              <a:t>ainda morno</a:t>
            </a:r>
            <a:r>
              <a:rPr sz="900">
                <a:solidFill>
                  <a:srgbClr val="18542A"/>
                </a:solidFill>
                <a:latin typeface="Short Stack"/>
              </a:rPr>
              <a:t>. Frio, ele resiste e fica em pedaços.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002934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Use em arroz de forno, torta, sanduíche, panqueca ou escondidinho.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54550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7728" y="10149333"/>
            <a:ext cx="13157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8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6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901701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09 · FRANGO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CALDO DOURADO DE CARCAÇA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2 LITROS · 3 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095029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kg de ossos e carcaças (junte no congelador)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575446"/>
            <a:ext cx="186233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com casca, ao meio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913733"/>
            <a:ext cx="63368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cenoura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252019"/>
            <a:ext cx="247078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Talos de salsinha e cascas de cebola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590305"/>
            <a:ext cx="113827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folhas de louro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928592"/>
            <a:ext cx="13580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litros de água fria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947" y="5410200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577735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ASSE: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577735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Ossos a 200 °C por 30 minutos, até dourar.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95846" y="6115794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PANELA: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35758" y="6115794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Tudo junto com a água fria.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95846" y="645422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FOGO MÍNIMO: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5758" y="645422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Ferveu, abaixe. Retire a espuma.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5846" y="6792664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PACIÊNCIA: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35758" y="6792664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a 3 horas, sem deixar ferver forte.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846" y="713109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COE: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35758" y="713109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Esfrie, leve à geladeira e retire a gordura de cima.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7577435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821810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Assar os ossos antes é o que dá cor e sabor profundo.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108453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Congele em forminhas de gelo por até 3 meses.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9788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2965" y="10149333"/>
            <a:ext cx="136528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19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19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2446287"/>
            <a:ext cx="4319736" cy="359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OVO, O CORINGA DA GELADEIRA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6244976"/>
            <a:ext cx="582210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O ovo salva o jantar. Dá liga, dá cremosidade e vira prato principal em 5 minutos.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6" y="6807993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QUEM DOMINA O OVO NUNCA FICA SEM REFEIÇÃO.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7231856"/>
            <a:ext cx="58221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ingrediente mais barato e versátil que existe. Três jeitos de tirar ele do automático.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7698432"/>
            <a:ext cx="194922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3 TRANSFORMAÇÕES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8102203"/>
            <a:ext cx="156252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 marinado no shoyu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8440489"/>
            <a:ext cx="136533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Fritata de geladeira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8778775"/>
            <a:ext cx="171003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Ovos no molho de tomate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50978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4156" y="10149333"/>
            <a:ext cx="13529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0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0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176908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10 · 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OVO MARINADO NO SHOYU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6 OVOS · 4 H DE MARINADA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44934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6 ovos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67037"/>
            <a:ext cx="123594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shoyu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305323"/>
            <a:ext cx="118285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água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643610"/>
            <a:ext cx="16623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(sopa) de açúcar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981896"/>
            <a:ext cx="242110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dente de alho amassado (opcional)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4463504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483066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ÁGUA FERVENDO: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483066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Coloque os ovos com a água já em fervura.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16909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16909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6 min 30 s para gema cremosa ou 9 min para firme.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50753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GELO: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50753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Direto para água com gelo. Descasque.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584596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MARINE: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584596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Shoyu, água, açúcar e alho. Mergulhe os ovos.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618440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ESPERE: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618440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Mínimo 4 horas na geladeira. Consuma em até 3 dias.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6630739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6875115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banho de gelo faz o ovo descascar fácil</a:t>
            </a:r>
            <a:r>
              <a:rPr sz="900">
                <a:solidFill>
                  <a:srgbClr val="18542A"/>
                </a:solidFill>
                <a:latin typeface="Short Stack"/>
              </a:rPr>
              <a:t> e trava o ponto certo.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161758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Sirva com arroz frito, em saladas ou como petisco.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058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3766" y="10149333"/>
            <a:ext cx="15649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1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0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229594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11 · 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FRITATA DE GELADEIRA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FORMA · 4 PORÇÕES · 20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449341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6 ovos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30425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xícaras de sobras (legumes, frango, batata, espinafre)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410842"/>
            <a:ext cx="171715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xícara de queijo ralado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749129"/>
            <a:ext cx="183989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Sal, pimenta e cheiro-verde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087415"/>
            <a:ext cx="183091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(sopa) de manteiga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4569023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493618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BATA: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493618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Ovos, queijo, sal, pimenta e cheiro-verde.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27461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AQUEÇA: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27461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Manteiga e sobras na frigideira antiaderente.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613052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DESPEJE: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613052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Os ovos por cima. Não mexa.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595148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TAMPE: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595148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Fogo baixo, 10 a 12 minutos, até o centro firmar.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628992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FATIE: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628992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Solte com a espátula e sirva quente ou fria.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6736258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6980634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Fogo baixo é a regra.</a:t>
            </a:r>
            <a:r>
              <a:rPr sz="900">
                <a:solidFill>
                  <a:srgbClr val="18542A"/>
                </a:solidFill>
                <a:latin typeface="Short Stack"/>
              </a:rPr>
              <a:t> Fogo alto queima embaixo e deixa cru em cima.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267277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Frigideira que vai ao forno: 5 min no fogo e 10 min a 180 °C.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53211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6388" y="10149333"/>
            <a:ext cx="13296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2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2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3070770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12 · OVO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OVOS NO MOLHO DE TOMATE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TEXTURA · 2 PORÇÕES · 25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131641"/>
            <a:ext cx="43711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4 ovos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433316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xícaras de molho de tomate (ou 4 tomates maduros)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913733"/>
            <a:ext cx="10116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picada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252019"/>
            <a:ext cx="111799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dentes de alho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590305"/>
            <a:ext cx="234014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(chá) de páprica defumada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928592"/>
            <a:ext cx="176653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colher (chá) de cominho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5266878"/>
            <a:ext cx="127540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 e pão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748486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611564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611564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 e alho no azeite. Páprica e cominho por 30 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645408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MOLHO: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645408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Tomate por 10 minutos, até engrossar. Acerte o sal.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79251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COVINHAS: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79251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Faça 4 covinhas e quebre um ovo em cada.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713095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TAMPE: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713095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Fogo baixo, 5 a 7 minutos, até a clara firmar.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846" y="746938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SIRVA: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5758" y="746938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Cheiro-verde e pão para molhar.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915721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160097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Tempero seco frita no óleo antes do líquido.</a:t>
            </a:r>
            <a:r>
              <a:rPr sz="900">
                <a:solidFill>
                  <a:srgbClr val="18542A"/>
                </a:solidFill>
                <a:latin typeface="Short Stack"/>
              </a:rPr>
              <a:t> Libera todo o aroma.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880" y="8446740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Junte feijão cozido ao molho para uma versão mais robusta.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3566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6743" y="10149333"/>
            <a:ext cx="15340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3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3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7879" y="2446287"/>
            <a:ext cx="4319736" cy="359985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BANANA, COM CASCA E TUDO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6244976"/>
            <a:ext cx="5822108" cy="4191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50"/>
              </a:lnSpc>
            </a:pPr>
            <a:r>
              <a:rPr sz="1100">
                <a:solidFill>
                  <a:srgbClr val="18542A"/>
                </a:solidFill>
                <a:latin typeface="Short Stack"/>
              </a:rPr>
              <a:t>A banana passa do ponto, escurece e vai para o lixo. Toda semana, em milhões de casas.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0146" y="6807993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BANANA MADURA NÃO É BANANA ESTRAGADA. É BANANA PRONTA PARA OUTRA RECEITA.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3947" y="7511801"/>
            <a:ext cx="58221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 a casca? Também é comida. Do doce ao salgado, você vai ver.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3947" y="7978378"/>
            <a:ext cx="194922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3 TRANSFORMAÇÕES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8382148"/>
            <a:ext cx="121318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Farofa de banana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8720435"/>
            <a:ext cx="257340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Panqueca de banana de 2 ingredientes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9058721"/>
            <a:ext cx="228396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"Carne louca" de casca de banana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33417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6594" y="10149333"/>
            <a:ext cx="15355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4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4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176908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13 · BANANA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0289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FAROFA DE BANANA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0617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4 PORÇÕES · 15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22498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628751"/>
            <a:ext cx="262680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bananas maduras e firmes, em cubos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2967037"/>
            <a:ext cx="201913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colheres (sopa) de manteiga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305323"/>
            <a:ext cx="1011662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picada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643610"/>
            <a:ext cx="213320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xícara de farinha de mandioca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3981896"/>
            <a:ext cx="121814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Sal e cheiro-verde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4463504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483066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CARAMELIZE: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483066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Banana na manteiga, fogo médio, sem mexer muito.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16909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RESERVE: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16909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Tire a banana da frigideira.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50753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50753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 na mesma frigideira.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584596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TOSTE: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584596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Farinha por 3 a 4 minutos, mexendo.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618440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UNA: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618440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Volte a banana, acerte o sal e finalize com cheiro-verde.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6630739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3880" y="6875115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 contraste doce e salgado é o que deixa a farofa viciante.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161758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Perfeita ao lado do frango crocante e do feijão.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29696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2873" y="10149333"/>
            <a:ext cx="15742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5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4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2547937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14 · BANANA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PANQUECA DE BANANA DE 2 INGREDIENTES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FORMA · 6 PANQUEQUINHAS · 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881461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248620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banana bem madura (quanto mais pintada, melhor)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729037"/>
            <a:ext cx="44067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ovos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4067323"/>
            <a:ext cx="169889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Canela a gosto (opcional)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3947" y="4702671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846" y="506983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AMASSE: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5758" y="506983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Banana no garfo até virar purê.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540826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MISTURE: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540826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Ovos e canela. Bata bem.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74670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FOGO BAIXO: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74670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Frigideira antiaderente untada.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60851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VIRE: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60851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Quando as bordas firmarem, cerca de 2 minutos.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42357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DOURE: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42357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Mais 1 minuto do outro lado.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880" y="6869906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43880" y="7114282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Panqueca pequena vira fácil, panqueca grande quebra.</a:t>
            </a:r>
            <a:r>
              <a:rPr sz="900">
                <a:solidFill>
                  <a:srgbClr val="18542A"/>
                </a:solidFill>
                <a:latin typeface="Short Stack"/>
              </a:rPr>
              <a:t> Tamanho da palma da mão.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43880" y="7400925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Sirva com mel, frutas, pasta de amendoim ou iogurte.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3311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66296" y="10149333"/>
            <a:ext cx="15386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6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4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066" y="3070770"/>
            <a:ext cx="2303859" cy="19198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TRANSFORMAÇÃO 15 · BANANA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005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3959"/>
              </a:lnSpc>
            </a:pPr>
            <a:r>
              <a:rPr sz="4400" spc="-21">
                <a:solidFill>
                  <a:srgbClr val="D52518"/>
                </a:solidFill>
                <a:latin typeface="Barlow Condensed ExtraBold"/>
              </a:rPr>
              <a:t>"CARNE LOUCA" DE CASCA DE BANANA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309068"/>
            <a:ext cx="5822108" cy="20300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99"/>
              </a:lnSpc>
            </a:pPr>
            <a:r>
              <a:rPr sz="1000" spc="140">
                <a:solidFill>
                  <a:srgbClr val="18542A"/>
                </a:solidFill>
                <a:latin typeface="Barlow Condensed SemiBold"/>
              </a:rPr>
              <a:t>ALAVANCA: CONTEXTO · 4 PORÇÕES · 35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727870"/>
            <a:ext cx="138643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INGREDIENTES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3095029"/>
            <a:ext cx="305198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Cascas de 6 bananas maduras (de preferência orgânicas)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575446"/>
            <a:ext cx="99664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Suco de 1 limão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913733"/>
            <a:ext cx="239323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cebola em tiras e 2 dentes de alho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4252019"/>
            <a:ext cx="1065835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tomate picado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590305"/>
            <a:ext cx="211370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½ pimentão em tiras (opcional)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59830" y="4928592"/>
            <a:ext cx="177132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colheres (sopa) de shoyu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9830" y="5266878"/>
            <a:ext cx="234014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colher (chá) de páprica defumada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3947" y="5748486"/>
            <a:ext cx="1754508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MODO DE PREPARO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611564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LAVE: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611564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Cascas bem lavadas com escovinha. Corte as pontas.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645408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DESFIE: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645408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Com um garfo, no sentido do comprimento.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679251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LIMÃO: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679251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10 minutos de molho em água com limão. Escorra.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713095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REFOGUE: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713095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Cebola, alho, pimentão, tomate e páprica.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846" y="746938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COZINHE: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5758" y="746938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Cascas e shoyu por 15 a 20 min, até amaciar.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43880" y="7915721"/>
            <a:ext cx="5710047" cy="190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500"/>
              </a:lnSpc>
            </a:pPr>
            <a:r>
              <a:rPr sz="1500" spc="89">
                <a:solidFill>
                  <a:srgbClr val="D52518"/>
                </a:solidFill>
                <a:latin typeface="Barlow Condensed ExtraBold"/>
              </a:rPr>
              <a:t>SEGREDO DE CHEF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3880" y="8160097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Shoyu e páprica defumada dão o sabor "de carne".</a:t>
            </a:r>
            <a:r>
              <a:rPr sz="900">
                <a:solidFill>
                  <a:srgbClr val="18542A"/>
                </a:solidFill>
                <a:latin typeface="Short Stack"/>
              </a:rPr>
              <a:t> A textura desfiada faz o resto.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3880" y="8446740"/>
            <a:ext cx="571004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VARIAÇÃO:</a:t>
            </a:r>
            <a:r>
              <a:rPr sz="900">
                <a:solidFill>
                  <a:srgbClr val="18542A"/>
                </a:solidFill>
                <a:latin typeface="Short Stack"/>
              </a:rPr>
              <a:t> No pão com queijo ou como recheio de tapioca.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3311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66296" y="10149333"/>
            <a:ext cx="15386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7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6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A SEMANA COM 5 INGREDIENTES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244628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Receita boa sem planejamento vira receita esquecida. </a:t>
            </a:r>
            <a:r>
              <a:rPr sz="900">
                <a:solidFill>
                  <a:srgbClr val="D52518"/>
                </a:solidFill>
                <a:latin typeface="Short Stack"/>
              </a:rPr>
              <a:t>Organize uma vez, coma bem a semana toda.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3091606"/>
            <a:ext cx="2258630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DOMINGO DE PREPARO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95846" y="345876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FEIJÃO: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35758" y="345876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Uma panela grande.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846" y="3797200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ARROZ: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5758" y="3797200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Cozinhe em dobro.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95846" y="4135635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FRANGO: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35758" y="4135635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Cozinhe e desfie. Guarde a água.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95846" y="447407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CARCAÇAS: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5758" y="447407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Direto para o congelador.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5846" y="481250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OVOS: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35758" y="481250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Cozinhe e marine 6.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947" y="5330874"/>
            <a:ext cx="1143896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CARDÁPIO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47" y="5834717"/>
            <a:ext cx="285187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DIA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848" y="5834717"/>
            <a:ext cx="3185168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ALMOÇO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4193" y="5834717"/>
            <a:ext cx="2202772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JANTAR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947" y="6177468"/>
            <a:ext cx="285187" cy="34605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SEG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35848" y="6177468"/>
            <a:ext cx="3185168" cy="34605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Arroz, feijão, sobrecoxa crocante e farofa de banana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4193" y="6177468"/>
            <a:ext cx="2202772" cy="346054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Caldinho de feijão com ovo marinado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947" y="6653123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TER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35848" y="6653123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Arroz frito com frango desfiado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4193" y="6653123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Fritata de geladeira com salada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947" y="6962834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QUA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5848" y="6962834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Tutu, ovo frito e banana dourada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24193" y="6962834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Sanduíche de "carne louca"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5947" y="7272546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QUI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35848" y="7272546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Arroz de forno cremoso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4193" y="7272546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Ovos no molho de tomate com pão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947" y="7582257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SEX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35848" y="7582257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Hambúrguer de feijão com arroz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24193" y="7582257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Bolinho de arroz com salada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35947" y="7891968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SÁB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335848" y="7891968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Dia livre (ou repita o favorito)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24193" y="7891968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Sopa com o caldo de carcaça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5947" y="8201680"/>
            <a:ext cx="285187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D52518"/>
                </a:solidFill>
                <a:latin typeface="Short Stack"/>
              </a:rPr>
              <a:t>DOM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335848" y="8201680"/>
            <a:ext cx="318516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Dia de preparo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24193" y="8201680"/>
            <a:ext cx="2202772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Panqueca de banana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6" y="8595270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O CARDÁPIO USA A SOBRA DA REFEIÇÃO ANTERIOR.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37286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570464" y="10149333"/>
            <a:ext cx="149530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8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28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50" y="7673131"/>
            <a:ext cx="2519957" cy="2099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LISTA DE COMPRAS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1874787"/>
            <a:ext cx="58221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 base para 2 pessoas passarem a semana. Ajuste as quantidades para a sua casa.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3947" y="2341364"/>
            <a:ext cx="2027232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OS 5 PROTAGONISTAS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830" y="2745134"/>
            <a:ext cx="847439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kg de arroz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830" y="3083421"/>
            <a:ext cx="864000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kg de feijão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830" y="3421707"/>
            <a:ext cx="2787003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kg de sobrecoxa + 1 kg de peito com osso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830" y="3759993"/>
            <a:ext cx="110081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dúzias de ovos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830" y="4098280"/>
            <a:ext cx="1234856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1 penca de banana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4579887"/>
            <a:ext cx="164105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PARA DAR SABOR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947" y="4947046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Cebola, alho, tomate, limão, cheiro-verde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947" y="5212109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Queijo ralado, muçarela, creme de leite, requeijão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947" y="5477172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Shoyu, páprica defumada, cominho, louro, canela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947" y="5742235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Farinha de mandioca, farinha de trigo, farinha de rosca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6" y="6064894"/>
            <a:ext cx="5555660" cy="2799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ECONOMIA DE VERDADE É NÃO JOGAR NADA FORA.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32524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701" y="10149333"/>
            <a:ext cx="154483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29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APROVEITAMENTO INTEGRAL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2446287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Casca, talo, osso, sobra. Quase tudo que você joga fora pode virar comida. </a:t>
            </a:r>
            <a:r>
              <a:rPr sz="900">
                <a:solidFill>
                  <a:srgbClr val="D52518"/>
                </a:solidFill>
                <a:latin typeface="Short Stack"/>
              </a:rPr>
              <a:t>Não é coisa de economia de crise. É cozinha inteligente.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3091606"/>
            <a:ext cx="3384664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ANTES IA PARA O LIXO, AGORA VIRA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5947" y="3595449"/>
            <a:ext cx="2654888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ANTES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4407" y="3595449"/>
            <a:ext cx="3148949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AGORA VIRA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947" y="3938200"/>
            <a:ext cx="2654888" cy="1753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Ossos e carcaça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4407" y="3938200"/>
            <a:ext cx="3148949" cy="17534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Caldo dourado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5947" y="4243149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Água do cozimento do frango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4407" y="4243149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Base para arroz e sopas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5947" y="4552860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Gordura da pele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4407" y="4552860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Gordura para refogar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947" y="4862572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Arroz de ontem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4407" y="4862572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Arroz frito, bolinho, arroz de forno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5947" y="5172283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Banana passada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14407" y="5172283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Panqueca, bolo, vitamina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5947" y="5481994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Casca de banana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4407" y="5481994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"Carne louca"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947" y="5791706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Talos e cascas de cebola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4407" y="5791706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Cor e sabor no caldo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5947" y="6101417"/>
            <a:ext cx="2654888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Casca de limão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4407" y="6101417"/>
            <a:ext cx="3148949" cy="18011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44"/>
              </a:lnSpc>
            </a:pPr>
            <a:r>
              <a:rPr sz="850">
                <a:solidFill>
                  <a:srgbClr val="18542A"/>
                </a:solidFill>
                <a:latin typeface="Short Stack"/>
              </a:rPr>
              <a:t>Raspas para finalizar pratos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3947" y="6638925"/>
            <a:ext cx="2481825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A GELADEIRA DE SEGUNDA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3947" y="7006083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Antes do mercado, abra a geladeira: o que está perto de vencer? Que sobra posso transformar? </a:t>
            </a:r>
            <a:r>
              <a:rPr sz="900">
                <a:solidFill>
                  <a:srgbClr val="D52518"/>
                </a:solidFill>
                <a:latin typeface="Short Stack"/>
              </a:rPr>
              <a:t>Faça a compra a partir da geladeira, não da vontade.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33714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66892" y="10149333"/>
            <a:ext cx="15324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0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6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0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67882" y="8153102"/>
            <a:ext cx="1943992" cy="16199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QUANTO TEMPO DURA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5947" y="1939587"/>
            <a:ext cx="2769116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PREPARO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24242" y="1939587"/>
            <a:ext cx="1693541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GELADEIRA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78330" y="1939587"/>
            <a:ext cx="1210469" cy="21315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 spc="126">
                <a:solidFill>
                  <a:srgbClr val="F3E8CC"/>
                </a:solidFill>
                <a:latin typeface="Barlow Condensed ExtraBold"/>
              </a:rPr>
              <a:t>CONGELADOR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5947" y="2303939"/>
            <a:ext cx="2694236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Arroz cozido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4242" y="2303939"/>
            <a:ext cx="1693541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dias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78330" y="2303939"/>
            <a:ext cx="1210469" cy="18334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5947" y="2660084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Feijão cozido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4242" y="2660084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4 dias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78330" y="2660084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5947" y="3020993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Frango desfiado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24242" y="3020993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dias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78330" y="3020993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5947" y="3381901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Caldo de carcaça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24242" y="3381901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4 dias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8330" y="3381901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5947" y="3742809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Ovo marinado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4242" y="3742809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dias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78330" y="3742809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não congela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5947" y="4103717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Hambúrguer de feijão (cru)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724242" y="4103717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2 dias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78330" y="4103717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947" y="4464625"/>
            <a:ext cx="2694236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Banana madura descascada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24242" y="4464625"/>
            <a:ext cx="1693541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não recomendado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78330" y="4464625"/>
            <a:ext cx="1210469" cy="188108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3 meses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3947" y="5031730"/>
            <a:ext cx="1495559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REGRA DE OURO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5846" y="539888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ESFRIE RÁPIDO: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35758" y="539888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Não deixe comida horas fora da geladeira.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5846" y="5737324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FECHE BEM: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735758" y="5737324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Pote com tampa, sem ar.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95846" y="607575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ETIQUETE: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35758" y="607575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Nome e data. Sempre.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6" y="6435774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SE VOCÊ NÃO SABE QUANDO FEZ, NÃO SABE SE AINDA PODE COMER.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30589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63766" y="10149333"/>
            <a:ext cx="156495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1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1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50" y="7673131"/>
            <a:ext cx="2519957" cy="2099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EXTRA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10 ERROS QUE TIRAM O SABOR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95846" y="2446287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SALGAR SÓ NO FINAL: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35758" y="2446287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Tempere em camadas, ao longo do preparo.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5846" y="278472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ESQUECER O ÁCIDO: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35758" y="278472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Limão ou vinagre acordam qualquer prato.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5846" y="312315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PANELA LOTADA: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35758" y="312315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Comida amontoada cozinha no vapor e não doura.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5846" y="346159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PANELA FRIA: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35758" y="346159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Sem calor não tem cor. Sem cor não tem sabor.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380002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MEXER DEMAIS: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380002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Deixe a comida dourar em paz.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413846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ALIMENTO MOLHADO: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413846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Seque antes de dourar. Sempre.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4476898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ALHO QUEIMADO: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4476898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Entra depois da cebola e fica pouco no fogo.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5846" y="4815333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NÃO PROVAR: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35758" y="4815333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Prove durante o preparo, não só no fim.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5846" y="5153769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TEMPERO VELHO: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35758" y="5153769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Páprica de 2 anos atrás é só pó colorido.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95846" y="5492204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TUDO IGUAL: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5758" y="5492204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Um prato bom tem cremoso </a:t>
            </a:r>
            <a:r>
              <a:rPr sz="900">
                <a:solidFill>
                  <a:srgbClr val="D52518"/>
                </a:solidFill>
                <a:latin typeface="Short Stack"/>
              </a:rPr>
              <a:t>e</a:t>
            </a:r>
            <a:r>
              <a:rPr sz="900">
                <a:solidFill>
                  <a:srgbClr val="18542A"/>
                </a:solidFill>
                <a:latin typeface="Short Stack"/>
              </a:rPr>
              <a:t> crocante.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53508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6686" y="10149333"/>
            <a:ext cx="13265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2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4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2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63950" y="7673131"/>
            <a:ext cx="2519957" cy="209996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CAPÍTULO EXTRA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CHECKLIST DO PRATO DE CHEF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446287"/>
            <a:ext cx="5822108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Antes de servir, confira: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9947" y="2732930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Provei e acertei o sal?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9947" y="3108126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Tem um toque de ácido (limão, vinagre, tomate)?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59947" y="3483322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Tem contraste de textura (algo crocante)?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59947" y="3858517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Tem cor (algo dourado, algo verde)?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59947" y="4233713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Tem um toque fresco no final (cheiro-verde, raspas de limão)?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59947" y="4608909"/>
            <a:ext cx="5672468" cy="2132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679"/>
              </a:lnSpc>
            </a:pPr>
            <a:r>
              <a:rPr sz="1050">
                <a:solidFill>
                  <a:srgbClr val="18542A"/>
                </a:solidFill>
                <a:latin typeface="Short Stack"/>
              </a:rPr>
              <a:t>Está na temperatura certa (quente bem quente, frio bem frio)?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0146" y="4984105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MARCOU TUDO? VOCÊ ACABOU DE SERVIR COMIDA DE CHEF.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33417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66594" y="10149333"/>
            <a:ext cx="153554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3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6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3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9896" y="7373242"/>
            <a:ext cx="2879824" cy="239985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3947" y="863947"/>
            <a:ext cx="5822108" cy="223539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760"/>
              </a:lnSpc>
            </a:pPr>
            <a:r>
              <a:rPr sz="1100" spc="242">
                <a:solidFill>
                  <a:srgbClr val="F96015"/>
                </a:solidFill>
                <a:latin typeface="Barlow Condensed SemiBold"/>
              </a:rPr>
              <a:t>CONCLUSÃO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3947" y="1123354"/>
            <a:ext cx="5634978" cy="5715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4500"/>
              </a:lnSpc>
            </a:pPr>
            <a:r>
              <a:rPr sz="5000" spc="-24">
                <a:solidFill>
                  <a:srgbClr val="D52518"/>
                </a:solidFill>
                <a:latin typeface="Barlow Condensed ExtraBold"/>
              </a:rPr>
              <a:t>COMECE HOJE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3947" y="2054721"/>
            <a:ext cx="2163285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QUE VOCÊ APRENDEU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947" y="2421880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O problema nunca foi o ingrediente.</a:t>
            </a:r>
            <a:r>
              <a:rPr sz="900">
                <a:solidFill>
                  <a:srgbClr val="18542A"/>
                </a:solidFill>
                <a:latin typeface="Short Stack"/>
              </a:rPr>
              <a:t> Foi o jeito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947" y="2686942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3 alavancas</a:t>
            </a:r>
            <a:r>
              <a:rPr sz="900">
                <a:solidFill>
                  <a:srgbClr val="18542A"/>
                </a:solidFill>
                <a:latin typeface="Short Stack"/>
              </a:rPr>
              <a:t> transformam tudo: textura, forma e contexto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947" y="2952005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4 pilares</a:t>
            </a:r>
            <a:r>
              <a:rPr sz="900">
                <a:solidFill>
                  <a:srgbClr val="18542A"/>
                </a:solidFill>
                <a:latin typeface="Short Stack"/>
              </a:rPr>
              <a:t> dão sabor: sal, gordura, ácido e calor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947" y="3217068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5 ingredientes</a:t>
            </a:r>
            <a:r>
              <a:rPr sz="900">
                <a:solidFill>
                  <a:srgbClr val="18542A"/>
                </a:solidFill>
                <a:latin typeface="Short Stack"/>
              </a:rPr>
              <a:t> viraram </a:t>
            </a:r>
            <a:r>
              <a:rPr sz="900">
                <a:solidFill>
                  <a:srgbClr val="D52518"/>
                </a:solidFill>
                <a:latin typeface="Short Stack"/>
              </a:rPr>
              <a:t>15 receitas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947" y="3482131"/>
            <a:ext cx="5822227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D52518"/>
                </a:solidFill>
                <a:latin typeface="Short Stack"/>
              </a:rPr>
              <a:t>Sobra é ingrediente.</a:t>
            </a:r>
            <a:r>
              <a:rPr sz="900">
                <a:solidFill>
                  <a:srgbClr val="18542A"/>
                </a:solidFill>
                <a:latin typeface="Short Stack"/>
              </a:rPr>
              <a:t> Casca, osso e talo também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6" y="3804791"/>
            <a:ext cx="5555660" cy="55989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2204"/>
              </a:lnSpc>
            </a:pPr>
            <a:r>
              <a:rPr sz="2100">
                <a:solidFill>
                  <a:srgbClr val="F96015"/>
                </a:solidFill>
                <a:latin typeface="Barlow Condensed ExtraBold"/>
              </a:rPr>
              <a:t>CHEF É QUEM OLHA PARA UM OVO E ENXERGA DEZ PRATOS.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947" y="4688532"/>
            <a:ext cx="1407953" cy="24125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899"/>
              </a:lnSpc>
            </a:pPr>
            <a:r>
              <a:rPr sz="1900" spc="38">
                <a:solidFill>
                  <a:srgbClr val="18542A"/>
                </a:solidFill>
                <a:latin typeface="Barlow Condensed ExtraBold"/>
              </a:rPr>
              <a:t>O SEU DESAFIO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5846" y="505569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HOJE: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5758" y="505569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Escolha </a:t>
            </a:r>
            <a:r>
              <a:rPr sz="900">
                <a:solidFill>
                  <a:srgbClr val="D52518"/>
                </a:solidFill>
                <a:latin typeface="Short Stack"/>
              </a:rPr>
              <a:t>uma</a:t>
            </a:r>
            <a:r>
              <a:rPr sz="900">
                <a:solidFill>
                  <a:srgbClr val="18542A"/>
                </a:solidFill>
                <a:latin typeface="Short Stack"/>
              </a:rPr>
              <a:t> transformação e faça no jantar.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5846" y="5394126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ESTA SEMANA: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35758" y="5394126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Teste pelo menos 3 receitas novas.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95846" y="5732561"/>
            <a:ext cx="1404238" cy="17457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374"/>
              </a:lnSpc>
            </a:pPr>
            <a:r>
              <a:rPr sz="1100" spc="44">
                <a:solidFill>
                  <a:srgbClr val="D52518"/>
                </a:solidFill>
                <a:latin typeface="Barlow Condensed ExtraBold"/>
              </a:rPr>
              <a:t>ESTE MÊS: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35758" y="5732561"/>
            <a:ext cx="4137624" cy="17874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Crie a sua própria transformação com o método.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3947" y="6070996"/>
            <a:ext cx="5822108" cy="357485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07"/>
              </a:lnSpc>
            </a:pPr>
            <a:r>
              <a:rPr sz="900">
                <a:solidFill>
                  <a:srgbClr val="18542A"/>
                </a:solidFill>
                <a:latin typeface="Short Stack"/>
              </a:rPr>
              <a:t>A geladeira está aí. Os ingredientes já estão aí. </a:t>
            </a:r>
            <a:r>
              <a:rPr sz="900">
                <a:solidFill>
                  <a:srgbClr val="D52518"/>
                </a:solidFill>
                <a:latin typeface="Short Stack"/>
              </a:rPr>
              <a:t>Só falta você ligar o fogo.</a:t>
            </a:r>
            <a:r>
              <a:rPr sz="900">
                <a:solidFill>
                  <a:srgbClr val="18542A"/>
                </a:solidFill>
                <a:latin typeface="Short Stack"/>
              </a:rPr>
              <a:t> Faça hoje, e me conta como ficou.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3268" y="10149333"/>
            <a:ext cx="972966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COZINHA MAMEDE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6445" y="10149333"/>
            <a:ext cx="153709" cy="182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>
              <a:lnSpc>
                <a:spcPts val="1439"/>
              </a:lnSpc>
            </a:pPr>
            <a:r>
              <a:rPr sz="900" spc="126">
                <a:solidFill>
                  <a:srgbClr val="18542A"/>
                </a:solidFill>
                <a:latin typeface="Barlow Condensed SemiBold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undo" descr="p34-fundo.png"/>
          <p:cNvPicPr>
            <a:picLocks noChangeAspect="1" noMove="1" noResize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3" name="Traçados" descr="p1-traca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562850" cy="10696575"/>
          </a:xfrm>
          <a:prstGeom prst="rect">
            <a:avLst/>
          </a:prstGeom>
        </p:spPr>
      </p:pic>
      <p:pic>
        <p:nvPicPr>
          <p:cNvPr id="4" name="Ilustração 1" descr="p34-ilustracao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99927" y="2739479"/>
            <a:ext cx="3959721" cy="32998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05830" y="6490096"/>
            <a:ext cx="4957191" cy="6247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4920"/>
              </a:lnSpc>
            </a:pPr>
            <a:r>
              <a:rPr sz="6000" spc="-30">
                <a:solidFill>
                  <a:srgbClr val="D52518"/>
                </a:solidFill>
                <a:latin typeface="Barlow Condensed ExtraBold"/>
              </a:rPr>
              <a:t>COZINHA </a:t>
            </a:r>
            <a:r>
              <a:rPr sz="6000" spc="-30">
                <a:solidFill>
                  <a:srgbClr val="F96015"/>
                </a:solidFill>
                <a:latin typeface="Barlow Condensed ExtraBold"/>
              </a:rPr>
              <a:t>MAMEDE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45717" y="7690693"/>
            <a:ext cx="2378071" cy="441721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ts val="1739"/>
              </a:lnSpc>
            </a:pPr>
            <a:r>
              <a:rPr sz="1200">
                <a:solidFill>
                  <a:srgbClr val="18542A"/>
                </a:solidFill>
                <a:latin typeface="Short Stack"/>
              </a:rPr>
              <a:t>Comida de verdade,</a:t>
            </a:r>
          </a:p>
          <a:p>
            <a:pPr algn="ctr">
              <a:lnSpc>
                <a:spcPts val="1739"/>
              </a:lnSpc>
            </a:pPr>
            <a:r>
              <a:rPr sz="1200">
                <a:solidFill>
                  <a:srgbClr val="18542A"/>
                </a:solidFill>
                <a:latin typeface="Short Stack"/>
              </a:rPr>
              <a:t>feita com afeto e técnica.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