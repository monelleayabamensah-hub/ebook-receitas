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935980"/>
            <a:ext cx="15883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EBOOK DE RECEITAS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32118"/>
            <a:ext cx="4031504" cy="151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spc="-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COZINHA</a:t>
            </a:r>
            <a:endParaRPr lang="en-US" sz="92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890125"/>
            <a:ext cx="3866650" cy="151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spc="-46" kern="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MAMEDE</a:t>
            </a:r>
            <a:endParaRPr lang="en-US" sz="9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4014043"/>
            <a:ext cx="1468934" cy="107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3834259"/>
            <a:ext cx="14841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 INGREDIENTES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91914" y="41651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92820" y="420766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1158925" y="4196209"/>
            <a:ext cx="114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 Cabotiá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91914" y="446023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83444" y="450279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1158925" y="4491335"/>
            <a:ext cx="1202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Banana-da-Terra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91914" y="475535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83741" y="479792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158925" y="4786461"/>
            <a:ext cx="143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 Frango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505048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80021" y="5093047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1158925" y="5081587"/>
            <a:ext cx="688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4560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83444" y="5388173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158925" y="5376714"/>
            <a:ext cx="62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87" y="3301752"/>
            <a:ext cx="3311872" cy="275986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91914" y="6385620"/>
            <a:ext cx="5759946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2200" spc="4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 TRANSFORMAÇÕES.</a:t>
            </a:r>
            <a:pPr algn="l" indent="0" marL="0">
              <a:lnSpc>
                <a:spcPts val="1670"/>
              </a:lnSpc>
              <a:buNone/>
            </a:pPr>
            <a:endParaRPr lang="en-US" sz="22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novo jeito de olhar para a sua cozinha.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791914" y="7054751"/>
            <a:ext cx="449996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Técnica de chef, sabor afetivo e aproveitamento integral, da casca à semente, com o que você já compra toda semana.</a:t>
            </a:r>
            <a:endParaRPr lang="en-US" sz="920" dirty="0"/>
          </a:p>
        </p:txBody>
      </p:sp>
      <p:sp>
        <p:nvSpPr>
          <p:cNvPr id="26" name="Text 21"/>
          <p:cNvSpPr txBox="1"/>
          <p:nvPr/>
        </p:nvSpPr>
        <p:spPr>
          <a:xfrm>
            <a:off x="791914" y="9490918"/>
            <a:ext cx="21506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6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por CHEF ALLAN MAMEDE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690632"/>
            <a:ext cx="197741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SUMÁRIO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1914" y="144631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92820" y="148887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1158925" y="1477417"/>
            <a:ext cx="798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72568" y="1633441"/>
            <a:ext cx="452839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" name="Text 5"/>
          <p:cNvSpPr txBox="1"/>
          <p:nvPr/>
        </p:nvSpPr>
        <p:spPr>
          <a:xfrm>
            <a:off x="6630442" y="1467892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1914" y="174143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3444" y="178400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58925" y="1772543"/>
            <a:ext cx="1879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jeito Mamede de cozinhar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66740" y="1928567"/>
            <a:ext cx="35246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3" name="Text 10"/>
          <p:cNvSpPr txBox="1"/>
          <p:nvPr/>
        </p:nvSpPr>
        <p:spPr>
          <a:xfrm>
            <a:off x="6620917" y="1763018"/>
            <a:ext cx="261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1914" y="203656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3741" y="207912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58925" y="2067669"/>
            <a:ext cx="114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 Cabotiá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313980" y="2223693"/>
            <a:ext cx="418638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8" name="Text 15"/>
          <p:cNvSpPr txBox="1"/>
          <p:nvPr/>
        </p:nvSpPr>
        <p:spPr>
          <a:xfrm>
            <a:off x="6629846" y="2058144"/>
            <a:ext cx="252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59073" y="2372320"/>
            <a:ext cx="3762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Nhoque de abóbora tostado na manteiga de garrafa e sálvia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648051" y="2455419"/>
            <a:ext cx="187895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56487" y="2353270"/>
            <a:ext cx="225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59073" y="2560737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ou bolinho cremoso assado de abóbora com especiarias e queijo coalho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5788521" y="2796384"/>
            <a:ext cx="73536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4" name="Text 21"/>
          <p:cNvSpPr txBox="1"/>
          <p:nvPr/>
        </p:nvSpPr>
        <p:spPr>
          <a:xfrm>
            <a:off x="6653361" y="2541687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59073" y="2901702"/>
            <a:ext cx="4795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Crepúsculo: doce de abóbora cremoso de colher com coco e raspas de laranja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5570488" y="2984800"/>
            <a:ext cx="95339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4"/>
          <p:cNvSpPr txBox="1"/>
          <p:nvPr/>
        </p:nvSpPr>
        <p:spPr>
          <a:xfrm>
            <a:off x="6653361" y="2882652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1914" y="304948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0021" y="3092053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158925" y="3080593"/>
            <a:ext cx="1202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Banana-da-Terra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362349" y="3236618"/>
            <a:ext cx="416197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2" name="Text 29"/>
          <p:cNvSpPr txBox="1"/>
          <p:nvPr/>
        </p:nvSpPr>
        <p:spPr>
          <a:xfrm>
            <a:off x="6653808" y="3071068"/>
            <a:ext cx="228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159073" y="3385245"/>
            <a:ext cx="4220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Moqueca expressa de frigideira com banana, leite de coco e pimenta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5056436" y="3468343"/>
            <a:ext cx="14800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6012" y="3366195"/>
            <a:ext cx="216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59073" y="3573661"/>
            <a:ext cx="33692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Purê aveludado de banana grelhada com noz-moscada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4296817" y="3656759"/>
            <a:ext cx="224715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8" name="Text 35"/>
          <p:cNvSpPr txBox="1"/>
          <p:nvPr/>
        </p:nvSpPr>
        <p:spPr>
          <a:xfrm>
            <a:off x="6673453" y="3554611"/>
            <a:ext cx="2088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59073" y="3762077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Bananas flambadas no rum ou na cachaça com crosta de açúcar mascavo e canela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5788521" y="3997725"/>
            <a:ext cx="75530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1" name="Text 38"/>
          <p:cNvSpPr txBox="1"/>
          <p:nvPr/>
        </p:nvSpPr>
        <p:spPr>
          <a:xfrm>
            <a:off x="6673304" y="3743027"/>
            <a:ext cx="208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16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1914" y="406241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83444" y="410497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1158925" y="4093518"/>
            <a:ext cx="143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 Frango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565946" y="4249542"/>
            <a:ext cx="3959721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6" name="Text 43"/>
          <p:cNvSpPr txBox="1"/>
          <p:nvPr/>
        </p:nvSpPr>
        <p:spPr>
          <a:xfrm>
            <a:off x="6655147" y="4083993"/>
            <a:ext cx="227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19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159073" y="4398169"/>
            <a:ext cx="48601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desossada com pele ultracrocante ao molho rústico de limão e alho</a:t>
            </a:r>
            <a:endParaRPr lang="en-US" sz="760" dirty="0"/>
          </a:p>
        </p:txBody>
      </p:sp>
      <p:sp>
        <p:nvSpPr>
          <p:cNvPr id="48" name="Shape 45"/>
          <p:cNvSpPr/>
          <p:nvPr/>
        </p:nvSpPr>
        <p:spPr>
          <a:xfrm>
            <a:off x="5627936" y="4481267"/>
            <a:ext cx="91663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9" name="Text 46"/>
          <p:cNvSpPr txBox="1"/>
          <p:nvPr/>
        </p:nvSpPr>
        <p:spPr>
          <a:xfrm>
            <a:off x="6674048" y="4379119"/>
            <a:ext cx="208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21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159073" y="4586585"/>
            <a:ext cx="3915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suculento ao molho de tomate caseiro e ervas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4784527" y="4669684"/>
            <a:ext cx="173935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52" name="Text 49"/>
          <p:cNvSpPr txBox="1"/>
          <p:nvPr/>
        </p:nvSpPr>
        <p:spPr>
          <a:xfrm>
            <a:off x="6653361" y="4567535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22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159073" y="4775002"/>
            <a:ext cx="4212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marinada no iogurte com especiarias, assada até dourar</a:t>
            </a:r>
            <a:endParaRPr lang="en-US" sz="760" dirty="0"/>
          </a:p>
        </p:txBody>
      </p:sp>
      <p:sp>
        <p:nvSpPr>
          <p:cNvPr id="54" name="Shape 51"/>
          <p:cNvSpPr/>
          <p:nvPr/>
        </p:nvSpPr>
        <p:spPr>
          <a:xfrm>
            <a:off x="5049441" y="4858100"/>
            <a:ext cx="147503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55" name="Text 52"/>
          <p:cNvSpPr txBox="1"/>
          <p:nvPr/>
        </p:nvSpPr>
        <p:spPr>
          <a:xfrm>
            <a:off x="6653957" y="4755952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23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91914" y="492278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83444" y="496535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1158925" y="4953893"/>
            <a:ext cx="688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862137" y="5109917"/>
            <a:ext cx="463882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0" name="Text 57"/>
          <p:cNvSpPr txBox="1"/>
          <p:nvPr/>
        </p:nvSpPr>
        <p:spPr>
          <a:xfrm>
            <a:off x="6630442" y="4944368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26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1159073" y="5258544"/>
            <a:ext cx="25569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Rösti de mandioca recheado na frigideira</a:t>
            </a:r>
            <a:endParaRPr lang="en-US" sz="760" dirty="0"/>
          </a:p>
        </p:txBody>
      </p:sp>
      <p:sp>
        <p:nvSpPr>
          <p:cNvPr id="62" name="Shape 59"/>
          <p:cNvSpPr/>
          <p:nvPr/>
        </p:nvSpPr>
        <p:spPr>
          <a:xfrm>
            <a:off x="3571577" y="5341643"/>
            <a:ext cx="295289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3" name="Text 60"/>
          <p:cNvSpPr txBox="1"/>
          <p:nvPr/>
        </p:nvSpPr>
        <p:spPr>
          <a:xfrm>
            <a:off x="6653957" y="5239494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28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159073" y="5446961"/>
            <a:ext cx="4144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Caldo aveludado de mandioca com gengibre e bacon (ou cogumelos)</a:t>
            </a:r>
            <a:endParaRPr lang="en-US" sz="760" dirty="0"/>
          </a:p>
        </p:txBody>
      </p:sp>
      <p:sp>
        <p:nvSpPr>
          <p:cNvPr id="65" name="Shape 62"/>
          <p:cNvSpPr/>
          <p:nvPr/>
        </p:nvSpPr>
        <p:spPr>
          <a:xfrm>
            <a:off x="4989165" y="5530059"/>
            <a:ext cx="1535311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6" name="Text 63"/>
          <p:cNvSpPr txBox="1"/>
          <p:nvPr/>
        </p:nvSpPr>
        <p:spPr>
          <a:xfrm>
            <a:off x="6653957" y="5427911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29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159073" y="5635377"/>
            <a:ext cx="2770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Biscoito de polvilho e mandioca de assadeira</a:t>
            </a:r>
            <a:endParaRPr lang="en-US" sz="760" dirty="0"/>
          </a:p>
        </p:txBody>
      </p:sp>
      <p:sp>
        <p:nvSpPr>
          <p:cNvPr id="68" name="Shape 65"/>
          <p:cNvSpPr/>
          <p:nvPr/>
        </p:nvSpPr>
        <p:spPr>
          <a:xfrm>
            <a:off x="3762077" y="5718475"/>
            <a:ext cx="27618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9" name="Text 66"/>
          <p:cNvSpPr txBox="1"/>
          <p:nvPr/>
        </p:nvSpPr>
        <p:spPr>
          <a:xfrm>
            <a:off x="6653361" y="5616327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30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91914" y="578316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85230" y="5825728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158925" y="5814268"/>
            <a:ext cx="62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1794421" y="5970293"/>
            <a:ext cx="470802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74" name="Text 71"/>
          <p:cNvSpPr txBox="1"/>
          <p:nvPr/>
        </p:nvSpPr>
        <p:spPr>
          <a:xfrm>
            <a:off x="6631930" y="5804743"/>
            <a:ext cx="250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33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1159073" y="6118920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Cenouras assadas inteiras, caramelizadas no mel ou melaço com azeite e tomilho</a:t>
            </a:r>
            <a:endParaRPr lang="en-US" sz="760" dirty="0"/>
          </a:p>
        </p:txBody>
      </p:sp>
      <p:sp>
        <p:nvSpPr>
          <p:cNvPr id="76" name="Shape 73"/>
          <p:cNvSpPr/>
          <p:nvPr/>
        </p:nvSpPr>
        <p:spPr>
          <a:xfrm>
            <a:off x="5788521" y="6354567"/>
            <a:ext cx="7361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77" name="Text 74"/>
          <p:cNvSpPr txBox="1"/>
          <p:nvPr/>
        </p:nvSpPr>
        <p:spPr>
          <a:xfrm>
            <a:off x="6654105" y="6099870"/>
            <a:ext cx="2281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35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159073" y="6459885"/>
            <a:ext cx="4118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rústico ou bolinho de cenoura com aveia e especiarias</a:t>
            </a:r>
            <a:endParaRPr lang="en-US" sz="760" dirty="0"/>
          </a:p>
        </p:txBody>
      </p:sp>
      <p:sp>
        <p:nvSpPr>
          <p:cNvPr id="79" name="Shape 76"/>
          <p:cNvSpPr/>
          <p:nvPr/>
        </p:nvSpPr>
        <p:spPr>
          <a:xfrm>
            <a:off x="4965799" y="6542983"/>
            <a:ext cx="155867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0" name="Text 77"/>
          <p:cNvSpPr txBox="1"/>
          <p:nvPr/>
        </p:nvSpPr>
        <p:spPr>
          <a:xfrm>
            <a:off x="6653957" y="6440835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36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1159073" y="6648301"/>
            <a:ext cx="4761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de cenoura da vovó com técnica de chef e calda de chocolate espelhada</a:t>
            </a:r>
            <a:endParaRPr lang="en-US" sz="760" dirty="0"/>
          </a:p>
        </p:txBody>
      </p:sp>
      <p:sp>
        <p:nvSpPr>
          <p:cNvPr id="82" name="Shape 79"/>
          <p:cNvSpPr/>
          <p:nvPr/>
        </p:nvSpPr>
        <p:spPr>
          <a:xfrm>
            <a:off x="5539978" y="6731400"/>
            <a:ext cx="98821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3" name="Text 80"/>
          <p:cNvSpPr txBox="1"/>
          <p:nvPr/>
        </p:nvSpPr>
        <p:spPr>
          <a:xfrm>
            <a:off x="6657677" y="6629251"/>
            <a:ext cx="224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37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791914" y="67960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83741" y="683865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950" dirty="0"/>
          </a:p>
        </p:txBody>
      </p:sp>
      <p:sp>
        <p:nvSpPr>
          <p:cNvPr id="86" name="Text 83"/>
          <p:cNvSpPr txBox="1"/>
          <p:nvPr/>
        </p:nvSpPr>
        <p:spPr>
          <a:xfrm>
            <a:off x="1158925" y="6827193"/>
            <a:ext cx="204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Bônus: os 10 pulos do Mamede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3110508" y="6983217"/>
            <a:ext cx="338092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8" name="Text 85"/>
          <p:cNvSpPr txBox="1"/>
          <p:nvPr/>
        </p:nvSpPr>
        <p:spPr>
          <a:xfrm>
            <a:off x="6620917" y="6817668"/>
            <a:ext cx="261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40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791914" y="709121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883741" y="713377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9</a:t>
            </a:r>
            <a:endParaRPr lang="en-US" sz="950" dirty="0"/>
          </a:p>
        </p:txBody>
      </p:sp>
      <p:sp>
        <p:nvSpPr>
          <p:cNvPr id="91" name="Text 88"/>
          <p:cNvSpPr txBox="1"/>
          <p:nvPr/>
        </p:nvSpPr>
        <p:spPr>
          <a:xfrm>
            <a:off x="1158925" y="7122319"/>
            <a:ext cx="1602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seguir cozinhando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2719239" y="7278343"/>
            <a:ext cx="377294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93" name="Text 90"/>
          <p:cNvSpPr txBox="1"/>
          <p:nvPr/>
        </p:nvSpPr>
        <p:spPr>
          <a:xfrm>
            <a:off x="6621661" y="7112794"/>
            <a:ext cx="260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42</a:t>
            </a:r>
            <a:endParaRPr lang="en-US" sz="1200" dirty="0"/>
          </a:p>
        </p:txBody>
      </p:sp>
      <p:sp>
        <p:nvSpPr>
          <p:cNvPr id="94" name="Text 91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996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INTRODUÇÃO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80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UM NOVO JEITO DE OLHAR PARA A SUA COZINHA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712839"/>
            <a:ext cx="575994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Pare de fazer sempre a mesma comida do mesmo jeito. Você não precisa encher o carrinho com ingredientes caros ou exóticos para sair da rotina: o segredo está em aprender a enxergar novas possibilidades com aquilo que já compra toda semana.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359687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Este é um guia prático para transformar 5 ingredientes cotidianos em 15 preparações completamente diferentes, unindo técnica profissional, sabor afetivo e aproveitamento integral.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791914" y="4201567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Aqui você não vai encontrar receitas soltas. Cada capítulo é dedicado a um ingrediente e mostra o caminho inteiro: como escolher no mercado, como guardar, como cortar, como cozinhar de três jeitos que você talvez nunca tenha imaginado e, no fim, o que fazer com a casca, a rama, o osso e a sobra.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791914" y="4976664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Leia com calma, cozinhe com tempo e, principalmente, prove tudo pelo caminho. É assim que a gente aprende a cozinhar de verdade.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91914" y="5451872"/>
            <a:ext cx="0" cy="253305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8048" y="5428377"/>
            <a:ext cx="5720548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PARE DE FAZER SEMPRE A MESMA COMIDA DO MESMO JEITO.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91914" y="5921127"/>
            <a:ext cx="16773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CHEF ALLAN MAMEDE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812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MÉTODO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82214"/>
            <a:ext cx="5759946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JEITO MAMEDE DE COZINHAR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2198787"/>
            <a:ext cx="56965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método que guia todo o material se apoia em três fundamentos.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91914" y="244450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2820" y="248706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69789" y="2473226"/>
            <a:ext cx="483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AFETO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393752" y="2482751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Comida acolhedora, generosa e com memória de casa, sem afetações desnecessárias nem gastronomia distante da realidade.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1914" y="290051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3444" y="294307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69789" y="2929235"/>
            <a:ext cx="61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TÉCNICA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393752" y="2938760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Decisões simples de chef (ponto de frigideira, cortes, descanso da carne, acidez e texturas) que mudam radicalmente o resultado final.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1914" y="33565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3741" y="3399086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9789" y="3385245"/>
            <a:ext cx="11583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APROVEITAMENTO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393752" y="3394770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olhar inteligente para cascas, talos, ramas e ossos, transformando o que iria para o lixo em sabor e textura.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1914" y="3869978"/>
            <a:ext cx="0" cy="506611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1914" y="3869025"/>
            <a:ext cx="5579946" cy="57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AFETO, TÉCNICA E APROVEITAMENTO. NESSA ORDEM, EM TODO PRATO.</a:t>
            </a:r>
            <a:endParaRPr lang="en-US" sz="1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4833640"/>
            <a:ext cx="1957239" cy="1079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91914" y="4653855"/>
            <a:ext cx="2031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USAR ESTE GUIA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91914" y="5015805"/>
            <a:ext cx="5525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Cada um dos 5 capítulos é dedicado a um ingrediente e segue a mesma jornada: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791914" y="5270153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81807" y="5327749"/>
            <a:ext cx="4845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ETAPA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375892" y="5270153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2465784" y="5327749"/>
            <a:ext cx="1497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QUE VOCÊ ENCONTRA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91914" y="600834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28" name="Text 24"/>
          <p:cNvSpPr txBox="1"/>
          <p:nvPr/>
        </p:nvSpPr>
        <p:spPr>
          <a:xfrm>
            <a:off x="881807" y="5606058"/>
            <a:ext cx="821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375892" y="600834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6"/>
          <p:cNvSpPr txBox="1"/>
          <p:nvPr/>
        </p:nvSpPr>
        <p:spPr>
          <a:xfrm>
            <a:off x="2465892" y="5625108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olhar do chef para expandir as possibilidades de uso daquele insumo.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791914" y="632117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8"/>
          <p:cNvSpPr txBox="1"/>
          <p:nvPr/>
        </p:nvSpPr>
        <p:spPr>
          <a:xfrm>
            <a:off x="881807" y="6081415"/>
            <a:ext cx="968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375892" y="632117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30"/>
          <p:cNvSpPr txBox="1"/>
          <p:nvPr/>
        </p:nvSpPr>
        <p:spPr>
          <a:xfrm>
            <a:off x="2465784" y="6100465"/>
            <a:ext cx="400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Como escolher no mercado, como armazenar e como cortar.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791914" y="679653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881807" y="6394252"/>
            <a:ext cx="1083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375892" y="679653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4"/>
          <p:cNvSpPr txBox="1"/>
          <p:nvPr/>
        </p:nvSpPr>
        <p:spPr>
          <a:xfrm>
            <a:off x="2465892" y="6413302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Três caminhos culinários completamente distintos para aquela sensação de “nunca pensei nisso”.</a:t>
            </a:r>
            <a:endParaRPr lang="en-US" sz="820" dirty="0"/>
          </a:p>
        </p:txBody>
      </p:sp>
      <p:sp>
        <p:nvSpPr>
          <p:cNvPr id="39" name="Shape 35"/>
          <p:cNvSpPr/>
          <p:nvPr/>
        </p:nvSpPr>
        <p:spPr>
          <a:xfrm>
            <a:off x="791914" y="727189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6"/>
          <p:cNvSpPr txBox="1"/>
          <p:nvPr/>
        </p:nvSpPr>
        <p:spPr>
          <a:xfrm>
            <a:off x="881807" y="6869609"/>
            <a:ext cx="871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Pulo do Chef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2375892" y="727189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2465892" y="6888659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erro frequente, desmistificado, com a técnica exata para corrigi-lo.</a:t>
            </a:r>
            <a:endParaRPr lang="en-US" sz="820" dirty="0"/>
          </a:p>
        </p:txBody>
      </p:sp>
      <p:sp>
        <p:nvSpPr>
          <p:cNvPr id="43" name="Shape 39"/>
          <p:cNvSpPr/>
          <p:nvPr/>
        </p:nvSpPr>
        <p:spPr>
          <a:xfrm>
            <a:off x="791914" y="758472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881807" y="7344966"/>
            <a:ext cx="8822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2375892" y="758472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2465784" y="7364016"/>
            <a:ext cx="38558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Substituições inteligentes para você cozinhar sem travar.</a:t>
            </a:r>
            <a:endParaRPr lang="en-US" sz="820" dirty="0"/>
          </a:p>
        </p:txBody>
      </p:sp>
      <p:sp>
        <p:nvSpPr>
          <p:cNvPr id="47" name="Shape 43"/>
          <p:cNvSpPr/>
          <p:nvPr/>
        </p:nvSpPr>
        <p:spPr>
          <a:xfrm>
            <a:off x="791914" y="806008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4"/>
          <p:cNvSpPr txBox="1"/>
          <p:nvPr/>
        </p:nvSpPr>
        <p:spPr>
          <a:xfrm>
            <a:off x="881807" y="7657802"/>
            <a:ext cx="1389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Aproveita Isso Também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2375892" y="806008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6"/>
          <p:cNvSpPr txBox="1"/>
          <p:nvPr/>
        </p:nvSpPr>
        <p:spPr>
          <a:xfrm>
            <a:off x="2465892" y="7676852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Cascas, talos, ramas e aparas transformados em preparações saborosas.</a:t>
            </a:r>
            <a:endParaRPr lang="en-US" sz="820" dirty="0"/>
          </a:p>
        </p:txBody>
      </p:sp>
      <p:sp>
        <p:nvSpPr>
          <p:cNvPr id="51" name="Text 47"/>
          <p:cNvSpPr txBox="1"/>
          <p:nvPr/>
        </p:nvSpPr>
        <p:spPr>
          <a:xfrm>
            <a:off x="791914" y="8208764"/>
            <a:ext cx="57599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63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MEDIDAS: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 xícara = 240 ml · 1 colher (sopa) = 15 ml · 1 colher (chá) = 5 ml · forno sempre preaquecido.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549875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6631930" y="10162729"/>
            <a:ext cx="2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130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418385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ABÓBORA CABOTIÁ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548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OU ABÓBORA JAPONESA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Versátil, barata e símbolo de comida afetiva. E 100% aproveitável, da casca à semente: exatamente o que pede o consumo consciente.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2803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CLÁSSICO AFETIVO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209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Nhoque de abóbora tostado na manteiga de garrafa e sálvia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047059" y="6770391"/>
            <a:ext cx="145747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4014" y="6517035"/>
            <a:ext cx="248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07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810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INUSITADO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ou bolinho cremoso assado de abóbora com especiarias e queijo coalho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788372" y="7323734"/>
            <a:ext cx="71258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0442" y="6899970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08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43173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47429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453312"/>
            <a:ext cx="833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LADO DOCE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596187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Crepúsculo: doce de abóbora cremoso de colher com coco e raspas de laranja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877077"/>
            <a:ext cx="71258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0442" y="7453312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09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2325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5502" y="10162729"/>
            <a:ext cx="246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9107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01 · ABÓBORA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cabotiá é a abóbora mais generosa da feira. Tem polpa densa, pouca água e doçura natural, e é justamente isso que permite levá-la do nhoque ao doce de colher sem perder identidade.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27989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erro mais comum é tratá-la sempre do mesmo jeito: cozida na água, no refogado, como acompanhamento. Quando você assa a cabotiá, a água evapora, os açúcares caramelizam e o sabor se concentra. É outra abóbora.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88458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 tem mais: a casca é comestível e as sementes viram petisco. Da cabotiá, quase nada vai para o lixo.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Pegue na mão: ela deve parecer pesada para o tamanho. Isso indica polpa densa e pouca água.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55905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518273"/>
            <a:ext cx="44882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 firme, sem partes moles, rachaduras ou manchas úmidas.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78705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746278"/>
            <a:ext cx="55385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Cabinho seco e bem preso. Se estiver verde e úmido, ela foi colhida cedo demais.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501506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6135" y="4974282"/>
            <a:ext cx="5634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Comprando em pedaço: procure polpa laranja intensa e sementes bem formadas.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791914" y="5225058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91914" y="55006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459909"/>
            <a:ext cx="547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Inteira: em local fresco, seco e arejado, fora da geladeira, por até 1 a 2 meses.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72869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687913"/>
            <a:ext cx="58332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Cortada: retire as sementes, envolva em filme e guarde na geladeira por até 5 dias.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9566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915918"/>
            <a:ext cx="4023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Assada ou cozida: em porções no freezer por até 3 meses.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6166693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4423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401544"/>
            <a:ext cx="5395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Estabilize primeiro: corte uma fatia fina da base para ela não rolar na tábua.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Use a faca mais pesada que você tiver e corte ao meio, de cima para baixo. Retire as sementes com uma colher.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706874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7027962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Gomos com casca para assar; cubos de 2 cm para refogar e cozinhar; ralada para bolinhos e massas.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91914" y="746715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86135" y="7426375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descascar, apoie o gomo deitado na tábua e corte a casca com a faca, de cima para baixo.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550217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6635353" y="10162729"/>
            <a:ext cx="2469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628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NHOQUE DE ABÓBORA TOSTADO NA MANTEIGA DE GARRAFA E SÁLVIA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370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CLÁSSICO AFETIVO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1569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(conforto refinado)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15947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03761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23555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93665"/>
            <a:ext cx="498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03761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23555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93665"/>
            <a:ext cx="506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03761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23555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893665"/>
            <a:ext cx="6859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468886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289102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91914" y="3619946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91914" y="389557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6135" y="3854797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800 g de abóbora cabotiá com casca (cerca de 600 g de polpa)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91914" y="427955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986135" y="4238774"/>
            <a:ext cx="5204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gema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91914" y="449312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86135" y="4452342"/>
            <a:ext cx="2059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parmesão ralado fino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91914" y="470668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86135" y="466591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180 a 220 g de farinha de trigo (mais um pouco para polvilhar)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392385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4118074" y="3629471"/>
            <a:ext cx="2385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noz-moscada ralada na hora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3923854" y="3844230"/>
            <a:ext cx="1056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PARA FINALIZAR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923854" y="41198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079081"/>
            <a:ext cx="2882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colheres (sopa) de manteiga de garrafa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33342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292650"/>
            <a:ext cx="1767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12 folhas de sálvia fresca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45469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506218"/>
            <a:ext cx="2632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Pimenta-do-reino e parmesão a gosto</a:t>
            </a:r>
            <a:endParaRPr lang="en-US" sz="8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270748"/>
            <a:ext cx="1636514" cy="1079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91914" y="5090964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3" name="Shape 34"/>
          <p:cNvSpPr/>
          <p:nvPr/>
        </p:nvSpPr>
        <p:spPr>
          <a:xfrm>
            <a:off x="791914" y="540022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892820" y="5442793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1158925" y="543133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a abóbora em gomos, sem tirar a casca, e asse a 200 °C por 35 a 40 minutos, até ficar bem macia.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Assar, e não cozinhar na água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é o que garante um nhoque leve.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791914" y="57949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883444" y="583748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8" name="Text 39"/>
          <p:cNvSpPr txBox="1"/>
          <p:nvPr/>
        </p:nvSpPr>
        <p:spPr>
          <a:xfrm>
            <a:off x="1158925" y="582602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Raspe a polpa da casca e passe pelo espremedor (ou amasse muito bem com um garfo). Espalhe o purê numa travessa e deixe esfriar descoberto, para o vapor ir embora.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791914" y="61896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883741" y="623217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1" name="Text 42"/>
          <p:cNvSpPr txBox="1"/>
          <p:nvPr/>
        </p:nvSpPr>
        <p:spPr>
          <a:xfrm>
            <a:off x="1158925" y="6220718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a gema, o parmesão, sal e noz-moscada. Acrescente a farinha aos poucos, misturando com as mãos só até a massa ficar macia e soltar dos dedos. Ela pode continuar levemente úmida.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791914" y="67547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880021" y="6797278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1158925" y="678581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Faça um teste: modele uma bolinha e cozinhe em água fervente. Se desmanchar, acrescente mais 1 ou 2 colheres de farinha.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791914" y="714940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83444" y="7191970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7" name="Text 48"/>
          <p:cNvSpPr txBox="1"/>
          <p:nvPr/>
        </p:nvSpPr>
        <p:spPr>
          <a:xfrm>
            <a:off x="1158925" y="718051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Divida a massa, faça rolinhos de 2 cm de espessura sobre a bancada enfarinhada e corte em pedaços de 2 cm.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791914" y="754409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883444" y="758666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0" name="Text 51"/>
          <p:cNvSpPr txBox="1"/>
          <p:nvPr/>
        </p:nvSpPr>
        <p:spPr>
          <a:xfrm>
            <a:off x="1158925" y="757520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em água fervente com sal, em levas. Quando os nhoques subirem, conte 30 segundos e retire com escumadeira.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791914" y="793879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885230" y="7981355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63" name="Text 54"/>
          <p:cNvSpPr txBox="1"/>
          <p:nvPr/>
        </p:nvSpPr>
        <p:spPr>
          <a:xfrm>
            <a:off x="1158925" y="7969895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frigideira grande, aqueça a manteiga de garrafa e frite as folhas de sálvia até ficarem crocantes. Junte os nhoques escorridos e deixe dourar 2 minutos sem mexer. Vire, finalize com pimenta e parmesão e sirva na hora.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91914" y="8543479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971848" y="862280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6" name="Text 57"/>
          <p:cNvSpPr txBox="1"/>
          <p:nvPr/>
        </p:nvSpPr>
        <p:spPr>
          <a:xfrm>
            <a:off x="971848" y="8898582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Os nhoques podem ser congelados crus, espalhados numa assadeira enfarinhada. Depois de firmes, passe para um saco. Cozinhe direto do congelador, sem descongelar.</a:t>
            </a:r>
            <a:endParaRPr lang="en-US" sz="830" dirty="0"/>
          </a:p>
        </p:txBody>
      </p:sp>
      <p:sp>
        <p:nvSpPr>
          <p:cNvPr id="67" name="Text 58"/>
          <p:cNvSpPr txBox="1"/>
          <p:nvPr/>
        </p:nvSpPr>
        <p:spPr>
          <a:xfrm>
            <a:off x="550649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6639669" y="10162729"/>
            <a:ext cx="242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53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56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HAMBÚRGUER OU BOLINHO CREMOSO ASSADO DE ABÓBORA COM ESPECIARIAS E QUEIJO COALHO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497187"/>
            <a:ext cx="8600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INUSITADO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704505"/>
            <a:ext cx="2969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(o lado salgado que ninguém espera)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95781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591371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3094583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3044130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3214241"/>
            <a:ext cx="1380232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 min + 30 min de geladeira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3053655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3094583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3114377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3284488"/>
            <a:ext cx="510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3053655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3094583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3044130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3214241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12 bolinhos ou 6 hambúrgueres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900785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721001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41021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406137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500 g de abóbora cabotiá assada e amassada (veja o passo 1 do nhoque)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48612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445347"/>
            <a:ext cx="2368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queijo coalho em cubinhos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6996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658916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91326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872484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colheres (sopa) de farinha de rosca (ou de aveia em flocos finos)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41021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4061371"/>
            <a:ext cx="1922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cebola picada bem miúda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431571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4274939"/>
            <a:ext cx="1524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dente de alho picado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52928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488507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7428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702076"/>
            <a:ext cx="241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páprica defumada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49564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915644"/>
            <a:ext cx="2800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cheiro-verde picado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923854" y="516999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118074" y="5129213"/>
            <a:ext cx="20834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azeite</a:t>
            </a:r>
            <a:endParaRPr lang="en-US" sz="85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569000"/>
            <a:ext cx="1636514" cy="1079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91914" y="5389215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5" name="Shape 36"/>
          <p:cNvSpPr/>
          <p:nvPr/>
        </p:nvSpPr>
        <p:spPr>
          <a:xfrm>
            <a:off x="791914" y="56984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892820" y="5741045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58925" y="572958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Refogue a cebola e o alho num fio de azeite até ficarem macios. Junte o cominho e a páprica e mexa por 30 segundos, só para despertar o aroma das especiarias.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91914" y="609317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883444" y="613573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1158925" y="612427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tigela, misture o purê de abóbora, o refogado, o ovo, a farinha de rosca e o cheiro-verde. Tempere com sal e pimenta. Por último, incorpore o queijo coalho.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791914" y="648786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83741" y="653042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1158925" y="651897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Cubra e leve à geladeira por 30 minutos. A massa firma e fica muito mais fácil de modelar.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791914" y="688255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880021" y="6925121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1158925" y="691366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as mãos untadas, modele bolinhos ou discos de hambúrguer. Disponha numa assadeira com papel-manteiga e pincele azeite por cima.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791914" y="727724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83444" y="7319814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158925" y="7308354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a 200 °C por 25 a 30 minutos, virando na metade do tempo, até dourar. Para hambúrgueres, também dá para dourar numa frigideira bem quente, 4 minutos de cada lado.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791914" y="7881937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971848" y="7961263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971848" y="8237041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queijo coalho derrete só em parte e cria um coração cremoso, com pontos tostados por fora. Sirva com um molho de iogurte, limão e hortelã.</a:t>
            </a:r>
            <a:endParaRPr lang="en-US" sz="830" dirty="0"/>
          </a:p>
        </p:txBody>
      </p:sp>
      <p:sp>
        <p:nvSpPr>
          <p:cNvPr id="63" name="Text 54"/>
          <p:cNvSpPr txBox="1"/>
          <p:nvPr/>
        </p:nvSpPr>
        <p:spPr>
          <a:xfrm>
            <a:off x="550172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6634907" y="10162729"/>
            <a:ext cx="2473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54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56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CREPÚSCULO: DOCE DE ABÓBORA CREMOSO DE COLHER COM COCO E RASPAS DE LARANJA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497187"/>
            <a:ext cx="8855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LADO DOCE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704505"/>
            <a:ext cx="3045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(uma sobremesa de memória afetiva)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95781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50936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3053655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3073450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3243560"/>
            <a:ext cx="47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3053655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3053655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3073450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3243560"/>
            <a:ext cx="220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1h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3053655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3053655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3073450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3243560"/>
            <a:ext cx="86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cerca de 1 kg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818781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63899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402014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979366"/>
            <a:ext cx="2938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kg de polpa de abóbora cabotiá em cubos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23371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192935"/>
            <a:ext cx="1118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açúcar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44728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406503"/>
            <a:ext cx="1211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xícara de água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6608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620071"/>
            <a:ext cx="1593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de coco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402014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979366"/>
            <a:ext cx="1363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coco ralado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423371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4192935"/>
            <a:ext cx="24428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pau de canela e 3 cravos-da-índia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44728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406503"/>
            <a:ext cx="13433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Raspas de 1 laranja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6608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620071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103019"/>
            <a:ext cx="1636514" cy="1079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91914" y="4923234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1" name="Shape 32"/>
          <p:cNvSpPr/>
          <p:nvPr/>
        </p:nvSpPr>
        <p:spPr>
          <a:xfrm>
            <a:off x="791914" y="523249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92820" y="5275064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1158925" y="526360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panela de fundo grosso, cozinhe a abóbora com a água, tampada, em fogo médio, até ficar bem macia (cerca de 15 minutos).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791914" y="562719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83444" y="566975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1158925" y="5658296"/>
            <a:ext cx="5225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Amasse a abóbora na própria panela. Junte o açúcar, a canela e os cravos.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791914" y="589701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83741" y="593958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592812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em fogo baixo, mexendo com frequência, até o doce começar a desgrudar do fundo da panela, por 30 a 40 minutos. Cuidado: ele espirra. Use uma colher de cabo longo.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629170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80021" y="633427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1158925" y="6322814"/>
            <a:ext cx="5729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leite de coco e o coco ralado e cozinhe por mais 10 minutos, mexendo.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91914" y="656153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83444" y="6604099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1158925" y="659263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Desligue o fogo, retire a canela e os cravos e só então junte as raspas de laranja e a pitada de sal.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791914" y="695622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3444" y="6998791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49"/>
          <p:cNvSpPr txBox="1"/>
          <p:nvPr/>
        </p:nvSpPr>
        <p:spPr>
          <a:xfrm>
            <a:off x="1158925" y="698733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Ponto certo: ao passar a colher no fundo, o doce abre um caminho que demora a se fechar. Lembre que ele engrossa bastante ao esfriar.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791914" y="7390507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971848" y="7469832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971848" y="7745611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Raspas de cítricos vão sempre no final, com o fogo desligado: o calor prolongado evapora os óleos aromáticos da casca. A pitada de sal não salga, ela faz o doce parecer mais doce e menos enjoativo.</a:t>
            </a:r>
            <a:endParaRPr lang="en-US" sz="830" dirty="0"/>
          </a:p>
        </p:txBody>
      </p:sp>
      <p:sp>
        <p:nvSpPr>
          <p:cNvPr id="62" name="Text 53"/>
          <p:cNvSpPr txBox="1"/>
          <p:nvPr/>
        </p:nvSpPr>
        <p:spPr>
          <a:xfrm>
            <a:off x="550292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6636097" y="10162729"/>
            <a:ext cx="246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006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NHOQUE DE ABÓBORA QUE VIRA CHICLETE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Cozinhar a abóbora na água. Ela absorve líquido, a massa fica mole e a única saída parece ser jogar mais e mais farinha. O resultado é um nhoque pesado, borrachudo e com gosto de farinha, em vez de gosto de abóbora.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583335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403550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73439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77696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765500"/>
            <a:ext cx="5061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 abóbora em vez de cozinhar: a água evapora e o sabor concentra.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40295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7208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6062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o vapor sair: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espalhe o purê numa travessa e espere amornar antes de juntar a farinha.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44951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49207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48062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Farinha aos poucos: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pare assim que a massa deixar de grudar. Massa de nhoque é úmida mesmo.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86950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912072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90061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sove: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misture só o necessário. Quanto mais você trabalha a massa, mais elástica ela fica.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624215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444430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832723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890320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832723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890320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57091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6168628"/>
            <a:ext cx="986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Abóbora cabotiá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57091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6187678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Abóbora-paulista ou moranga (têm mais água: asse por mais tempo e escorra o purê numa peneira) ou batata-doce.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704626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643985"/>
            <a:ext cx="1196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Manteiga de garrafa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704626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892" y="6663035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Ghee ou manteiga comum com um fio de azeite (que evita que ela queime).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735910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7119342"/>
            <a:ext cx="8161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Sálvia fresca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735910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7138392"/>
            <a:ext cx="1815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Alecrim ou tomilho frescos.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67194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7432179"/>
            <a:ext cx="8246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Queijo coalho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67194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7451229"/>
            <a:ext cx="2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Queijo meia-cura ou muçarela em cubos.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98477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745016"/>
            <a:ext cx="825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Leite de coco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98477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764066"/>
            <a:ext cx="40276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com 2 colheres (sopa) a mais de coco ralado.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829761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8057852"/>
            <a:ext cx="517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Laranja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829761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8076902"/>
            <a:ext cx="41530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Tangerina, ou metade da quantidade de raspas de limão-taiti.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1988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53064" y="10162729"/>
            <a:ext cx="229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8811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3410099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3658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CASCA: CHIPS CROCANTES TEMPERADOS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Quando a receita pedir abóbora descascada, tire a casca em tiras finas com um descascador de legumes. Misture com um fio de azeite, sal e páprica e espalhe sem amontoar. Leve à airfryer a 180 °C por 8 a 12 minutos, chacoalhando na metade, ou ao forno a 160 °C por 20 a 25 minutos. Elas ficam crocantes ao esfriar.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239691"/>
            <a:ext cx="4214366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059906"/>
            <a:ext cx="45590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SEMENTES: SNACK CROCANTE COM PÁPRICA E SAL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421856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Lave as sementes numa peneira, separando as fibras, e seque muito bem com um pano. Tempere com um fio de azeite, sal e páprica defumada e asse a 160 °C por 20 a 25 minutos, mexendo de vez em quando, até dourarem e estalarem. Use como petisco ou para dar crocância a saladas, sopas e ao próprio nhoque.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41615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74793" y="10162729"/>
            <a:ext cx="207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02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437154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BANANA-DA-TERRA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662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OU BANANA-PRATA FIRME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ingrediente nacional por excelência. Transita entre o salgado e o doce e leva sofisticação ao prato sem pesar no bolso.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514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RÁPIDA DE FRIGIDEIRA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7214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Moqueca expressa de frigideira com banana, leite de coco e pimenta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503962" y="6770396"/>
            <a:ext cx="101218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45622" y="6517035"/>
            <a:ext cx="2366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14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1754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TEXTURA SURPREENDENTE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37696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Purê aveludado de banana grelhada com noz-moscada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654153" y="7153331"/>
            <a:ext cx="187091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54552" y="6899970"/>
            <a:ext cx="2277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26132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30388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282904"/>
            <a:ext cx="1395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CHEF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425779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Bananas flambadas no rum ou na cachaça com crosta de açúcar mascavo e canela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706674"/>
            <a:ext cx="73655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54403" y="7282904"/>
            <a:ext cx="227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16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838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02 · BANANA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banana-da-terra é uma banana de cozinhar. Crua, ela é dura e pouco agradável; no fogo, vira outra coisa: macia, caramelizada, cheia de sabor.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segredo está no estágio de maturação. Verde, ela é rica em amido e se comporta quase como uma batata. Amarela com pintinhas pretas, fica no ponto mais versátil: doce, mas firme. Com a casca quase toda preta, está doce e macia, perfeita para purês e sobremesas.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Aprender a ler a casca é aprender a escolher o que fazer com ela. E, no fim, a própria casca ainda vira recheio.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452068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272284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714601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3990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3949452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Escolha pelo uso: amarela com pintas para as receitas deste capítulo; mais verde se for fritar em chips; bem madura para doces.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40693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fruta deve estar firme ao toque, sem partes afundadas.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4735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Evite pontas com bolor ou casca rachada, por onde a fruta resseca.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489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Fora da geladeira, de preferência penduradas, longe de outras frutas.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4597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amadurecer mais rápido, guarde num saco de papel fechado.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6310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frear o amadurecimento, leve à geladeira: a casca escurece, mas a polpa se mantém.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78628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745510"/>
            <a:ext cx="5526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Maduras demais? Descasque, corte e congele em saco fechado por até 3 meses.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5996285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descascar a banana-da-terra: corte as duas pontas, faça um talho raso ao longo da casca e solte-a com o polegar.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4349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Rodelas grossas em diagonal (2 cm) para frigideira e moqueca.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68983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6857554"/>
            <a:ext cx="3417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Lâminas no comprimento para grelhar e flambar.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52271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6655891" y="10162729"/>
            <a:ext cx="22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67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MOQUECA EXPRESSA DE FRIGIDEIRA COM BANANA, LEITE DE COCO E PIMENTA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619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RÁPIDA DE FRIGIDEIRA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2583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(sem peixe, mas cheia de sabor)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15947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03761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23555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93665"/>
            <a:ext cx="47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03761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23555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93665"/>
            <a:ext cx="509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03761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23555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893665"/>
            <a:ext cx="690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468886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289102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62947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bananas-da-terra maduras e firmes, em rodelas diagonais de 2 cm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05422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013448"/>
            <a:ext cx="2512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azeite de dendê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2677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227016"/>
            <a:ext cx="1342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em rodelas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4813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440585"/>
            <a:ext cx="2037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pimentão vermelho em tiras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91914" y="46949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986135" y="4654153"/>
            <a:ext cx="15228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tomates em rodelas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629471"/>
            <a:ext cx="1719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dentes de alho picados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38838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3843040"/>
            <a:ext cx="1593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de coco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0973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056608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pimenta dedo-de-moça (ou pimenta-de-cheiro) picada, sem sementes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44813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440585"/>
            <a:ext cx="1125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de ½ limão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923854" y="46949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118074" y="4654153"/>
            <a:ext cx="27096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Coentro (ou cheiro-verde) e sal a gosto</a:t>
            </a:r>
            <a:endParaRPr lang="en-US" sz="85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137100"/>
            <a:ext cx="1636514" cy="1079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91914" y="4957316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5" name="Shape 36"/>
          <p:cNvSpPr/>
          <p:nvPr/>
        </p:nvSpPr>
        <p:spPr>
          <a:xfrm>
            <a:off x="791914" y="526658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892820" y="5309146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58925" y="529768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1 colher de dendê numa frigideira grande. Doure as rodelas de banana, 2 minutos de cada lado, sem mexer. Tempere com uma pitada de sal e reserve.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91914" y="56612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883444" y="570383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1158925" y="569237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mesma frigideira, com o restante do dendê, refogue a cebola, o pimentão e o alho por 3 minutos.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791914" y="605596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83741" y="6098530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1158925" y="6087070"/>
            <a:ext cx="5251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tomate e a pimenta e cozinhe até o tomate começar a desmanchar.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791914" y="632579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880021" y="636835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1158925" y="635689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leite de coco e deixe ferver por 5 minutos, até engrossar levemente. Acerte o sal.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791914" y="672048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83444" y="6763048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158925" y="675158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Volte as bananas para a frigideira e cozinhe só por 3 a 4 minutos, para aquecerem no molho sem desmanchar.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791914" y="71151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883444" y="715774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2" name="Text 53"/>
          <p:cNvSpPr txBox="1"/>
          <p:nvPr/>
        </p:nvSpPr>
        <p:spPr>
          <a:xfrm>
            <a:off x="1158925" y="7146280"/>
            <a:ext cx="4541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Desligue o fogo, regue com o suco de limão e finalize com coentro.</a:t>
            </a:r>
            <a:endParaRPr lang="en-US" sz="850" dirty="0"/>
          </a:p>
        </p:txBody>
      </p:sp>
      <p:sp>
        <p:nvSpPr>
          <p:cNvPr id="63" name="Shape 54"/>
          <p:cNvSpPr/>
          <p:nvPr/>
        </p:nvSpPr>
        <p:spPr>
          <a:xfrm>
            <a:off x="791914" y="7424589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971848" y="750391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5" name="Text 56"/>
          <p:cNvSpPr txBox="1"/>
          <p:nvPr/>
        </p:nvSpPr>
        <p:spPr>
          <a:xfrm>
            <a:off x="971848" y="7779693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Dourar a banana antes é o que dá estrutura e sabor à moqueca. Sirva com arroz branco e farofa de dendê.</a:t>
            </a:r>
            <a:endParaRPr lang="en-US" sz="830" dirty="0"/>
          </a:p>
        </p:txBody>
      </p:sp>
      <p:sp>
        <p:nvSpPr>
          <p:cNvPr id="66" name="Text 57"/>
          <p:cNvSpPr txBox="1"/>
          <p:nvPr/>
        </p:nvSpPr>
        <p:spPr>
          <a:xfrm>
            <a:off x="551899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6652171" y="10162729"/>
            <a:ext cx="230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90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86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PURÊ AVELUDADO DE BANANA GRELHADA COM NOZ-MOSCADA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797397"/>
            <a:ext cx="1883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TEXTURA SURPREENDENTE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004715"/>
            <a:ext cx="3873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(para acompanhar carnes ou legumes assados)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25802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289158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394793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414588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584698"/>
            <a:ext cx="47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394793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414588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584698"/>
            <a:ext cx="465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394793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344341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514451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porções como acompanhamento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200995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021211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4023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361581"/>
            <a:ext cx="2054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bananas-da-terra maduras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36159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3575149"/>
            <a:ext cx="2080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382949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3788718"/>
            <a:ext cx="29300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ml de leite quente (ou caldo de frango)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3923854" y="34023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118074" y="3361581"/>
            <a:ext cx="20124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Noz-moscada ralada na hora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36159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575149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algumas gotas de limão</a:t>
            </a:r>
            <a:endParaRPr lang="en-US" sz="8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4250085"/>
            <a:ext cx="1636514" cy="1079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91914" y="407030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5" name="Shape 26"/>
          <p:cNvSpPr/>
          <p:nvPr/>
        </p:nvSpPr>
        <p:spPr>
          <a:xfrm>
            <a:off x="791914" y="437956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892820" y="442213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28"/>
          <p:cNvSpPr txBox="1"/>
          <p:nvPr/>
        </p:nvSpPr>
        <p:spPr>
          <a:xfrm>
            <a:off x="1158925" y="4410670"/>
            <a:ext cx="4917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Descasque as bananas e corte em lâminas no sentido do comprimento.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791914" y="464939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883444" y="469195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Text 31"/>
          <p:cNvSpPr txBox="1"/>
          <p:nvPr/>
        </p:nvSpPr>
        <p:spPr>
          <a:xfrm>
            <a:off x="1158925" y="468049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1 colher de manteiga numa frigideira e grelhe as lâminas em fogo médio-alto até ficarem bem douradas dos dois lados. É essa caramelização que dá profundidade ao purê.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791914" y="504408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83741" y="508664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1158925" y="507518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panela, junte o leite quente e amasse bem com um garfo ou espremedor, em fogo baixo.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791914" y="54387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80021" y="5481340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1158925" y="546988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a manteiga restante e mexa até ficar aveludado. Se quiser mais liso, passe por uma peneira.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791914" y="583346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83444" y="5876032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586457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Tempere com sal, pimenta e noz-moscada. Se estiver doce demais, equilibre com algumas gotas de limão.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6267748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971848" y="6347073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2" name="Text 43"/>
          <p:cNvSpPr txBox="1"/>
          <p:nvPr/>
        </p:nvSpPr>
        <p:spPr>
          <a:xfrm>
            <a:off x="971848" y="6622852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É um acompanhamento salgado de respeito: fica perfeito com carne de sol, frango assado ou peixe grelhado.</a:t>
            </a:r>
            <a:endParaRPr lang="en-US" sz="830" dirty="0"/>
          </a:p>
        </p:txBody>
      </p:sp>
      <p:sp>
        <p:nvSpPr>
          <p:cNvPr id="53" name="Text 44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90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BANANAS FLAMBADAS NO RUM OU NA CACHAÇA COM CROSTA DE AÇÚCAR MASCAVO E CANELA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496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CHEF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3644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 sobremesa de restaurante feita em casa)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15947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03761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23555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93665"/>
            <a:ext cx="431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03761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23555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93665"/>
            <a:ext cx="47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03761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23555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893665"/>
            <a:ext cx="6859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468886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289102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62947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bananas-da-terra ou 4 bananas-prata firmes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05422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013448"/>
            <a:ext cx="2563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açúcar mascavo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2677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227016"/>
            <a:ext cx="2061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canela em pó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4813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440585"/>
            <a:ext cx="2080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629471"/>
            <a:ext cx="1728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ml de rum ou cachaça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8838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843040"/>
            <a:ext cx="11471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de 1 laranja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0973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056608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3109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270177"/>
            <a:ext cx="2030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Sorvete de creme para servir</a:t>
            </a:r>
            <a:endParaRPr lang="en-US" sz="8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4875014"/>
            <a:ext cx="1636514" cy="1079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91914" y="469523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1" name="Shape 32"/>
          <p:cNvSpPr/>
          <p:nvPr/>
        </p:nvSpPr>
        <p:spPr>
          <a:xfrm>
            <a:off x="791914" y="500449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92820" y="504705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1158925" y="503560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as bananas ao meio no sentido do comprimento (e ao meio na largura, se forem grandes).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791914" y="53991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83444" y="5441752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1158925" y="54302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Misture o açúcar mascavo com a canela e o sal e polvilhe sobre o lado cortado das bananas, pressionando.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791914" y="579387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83741" y="5836444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5824984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a manteiga numa frigideira até espumar. Coloque as bananas com o lado do açúcar para baixo e não mexa por 2 a 3 minutos, até formar uma crosta. Vire com cuidado.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635897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80021" y="640154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1158925" y="6390084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Flambe com segurança: desligue o fogo, coloque o rum medido num copinho e despeje na frigideira. Afaste o rosto, religue o fogo e incline levemente a frigideira (ou acenda com um fósforo longo). Deixe a chama apagar sozinha.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91914" y="69240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83444" y="6966645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1158925" y="6955185"/>
            <a:ext cx="5371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suco de laranja e deixe borbulhar por 1 minuto, até formar uma calda.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791914" y="719390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3444" y="723647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49"/>
          <p:cNvSpPr txBox="1"/>
          <p:nvPr/>
        </p:nvSpPr>
        <p:spPr>
          <a:xfrm>
            <a:off x="1158925" y="7225010"/>
            <a:ext cx="4288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as bananas quentes com a calda e uma bola de sorvete.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791914" y="7503319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971848" y="758264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971848" y="7858423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Nunca despeje a bebida direto da garrafa perto do fogo, e desligue o exaustor durante a flambagem. Flambar queima o álcool e deixa só o aroma da bebida na calda.</a:t>
            </a:r>
            <a:endParaRPr lang="en-US" sz="830" dirty="0"/>
          </a:p>
        </p:txBody>
      </p:sp>
      <p:sp>
        <p:nvSpPr>
          <p:cNvPr id="62" name="Text 53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1057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 QUE VIRA PAPA NA FRIGIDEIRA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Colocar a banana em frigideira morna e ficar mexendo. Ela solta líquido, cozinha no próprio vapor e desmancha antes de dourar.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86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Frigideira quente de verdade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com a gordura já brilhando, antes de a banana entrar.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8591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390167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3890218"/>
            <a:ext cx="386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Espaço: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não amontoe. Se precisar, doure em duas levas.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15423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196804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185345"/>
            <a:ext cx="38248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mexa: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deixe 2 minutos parada e vire uma única vez.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44936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491930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48047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 no ponto: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amarela com pintinhas. Preta demais desmancha; verde demais não carameliza.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204073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024289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412581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470178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412581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470178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15076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748486"/>
            <a:ext cx="1002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Banana-da-terra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15076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5767536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Banana-prata firme (cozinha mais rápido: reduza os tempos pela metade).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46360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223843"/>
            <a:ext cx="9545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Azeite de dendê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46360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242893"/>
            <a:ext cx="399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Azeite comum com 1 colher (chá) de colorau ou páprica doce.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677644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536680"/>
            <a:ext cx="825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Leite de coco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677644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555730"/>
            <a:ext cx="350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Creme de leite com 2 colheres (sopa) de coco ralado.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25179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6849517"/>
            <a:ext cx="9824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Rum ou cachaça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25179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892" y="6868567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Conhaque ou uísque. Sem álcool: dobre o suco de laranja e pule a flambagem.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56463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324874"/>
            <a:ext cx="9950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Açúcar mascavo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56463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343924"/>
            <a:ext cx="4373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Açúcar demerara, ou açúcar comum com 1 colher (chá) de melado.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87747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637711"/>
            <a:ext cx="833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Noz-moscada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87747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656761"/>
            <a:ext cx="27386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Uma pitada de canela ou de cravo em pó.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2658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59761" y="10162729"/>
            <a:ext cx="222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786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4297263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4651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CASCA: “CARNE” VEGETAL DESFIADA E TEMPERADA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100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Funciona melhor com cascas de banana-prata ou nanica, maduras e bem lavadas (a da banana-da-terra é mais grossa: cozinhe antes por 15 minutos em água). Corte as pontas e desfie as cascas no comprimento com um garfo. Deixe de molho em água com limão por 10 minutos e escorra. Refogue cebola, alho e tomate, junte as cascas, cominho, páprica e colorau e cozinhe em fogo baixo, tampado, por 15 a 20 minutos, pingando água se secar. Ajuste o sal e finalize com cheiro-verde.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580507"/>
            <a:ext cx="1055340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400723"/>
            <a:ext cx="1025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ONDE USAR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762673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Recheio de pastel, tapioca e torta; fricassê com creme de leite e queijo gratinado; refogado para servir com arroz e feijão. Com as cascas de 5 bananas você faz recheio para uns 10 pastéis.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2182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54998" y="10162729"/>
            <a:ext cx="227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3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03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5244489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DE FRANGO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1576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COM OSSO E PELE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proteína é um dos itens que mais pesam no orçamento da família. A sobrecoxa é muito mais saborosa, suculenta e barata que o peito, e com técnica de chef você passa a dominá-la.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544419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364635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6954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738045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717060"/>
            <a:ext cx="1595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TÉCNICA DA FRIGIDEIRA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859935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desossada com pele ultracrocante ao molho rústico de limão e alho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88372" y="7140829"/>
            <a:ext cx="73744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55296" y="6717060"/>
            <a:ext cx="226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21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724882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729138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7270403"/>
            <a:ext cx="1250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COZIMENTO LENTO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413278"/>
            <a:ext cx="43807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suculento ao molho de tomate caseiro e ervas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199757" y="7523764"/>
            <a:ext cx="13012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0442" y="7270403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63175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67432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653337"/>
            <a:ext cx="1481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TECNOLÓGICO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796212"/>
            <a:ext cx="47127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marinada no iogurte com especiarias, assada até dourar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496223" y="7906699"/>
            <a:ext cx="100548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1186" y="7653337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23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2301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56189" y="10162729"/>
            <a:ext cx="226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831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03 · FRANGO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existe um corte que perdoa, é a sobrecoxa. Por ser carne escura, tem mais gordura e mais colágeno: aguenta mais tempo de fogo, continua suculenta e tem muito mais sabor que o peito.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27989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 ela vem com dois presentes que quase todo mundo joga fora. A pele, que bem trabalhada fica crocante como um torresmo. E o osso, que vira um caldo capaz de transformar qualquer arroz, molho ou sopa.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88458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Neste capítulo, a mesma peça vai para a frigideira, para a panela e para o forno, cada vez com uma técnica e um resultado diferentes.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4145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Pele inteira, de cor clara e uniforme, sem manchas escuras.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3294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Pouco líquido na bandeja e nenhum cheiro forte.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6473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Congelada: sem cristais grossos de gelo, que indicam que ela descongelou e congelou de novo.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3571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geladeira, na prateleira de baixo, por até 2 dias.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4785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freezer, em porções achatadas dentro de sacos, por até 3 meses.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4907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Descongele sempre na geladeira, de um dia para o outro. Nunca na pia.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91914" y="5768280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91914" y="604391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6135" y="6003131"/>
            <a:ext cx="617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bem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com papel-toalha antes de qualquer preparo. Pele molhada não fica crocante.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desossar: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com a pele para baixo, faça um corte ao longo do osso, raspe a carne em volta com a ponta da faca e solte a articulação. Guarde o osso no freezer para o caldo.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Salga antecipada: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 colher (chá) de sal para cada 500 g, de 1 hora até 24 horas antes, na geladeira e descoberta. A carne fica mais temperada e a pele, mais seca.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60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56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DESOSSADA COM PELE ULTRACROCANTE AO MOLHO RÚSTICO DE LIMÃO E ALHO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497187"/>
            <a:ext cx="1706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TÉCNICA DA FRIGIDEIRA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704505"/>
            <a:ext cx="30692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 pele mais crocante que você já fez)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95781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50936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3053655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3073450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3243560"/>
            <a:ext cx="47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3053655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3053655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3073450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3243560"/>
            <a:ext cx="49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25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3053655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3053655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3073450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3243560"/>
            <a:ext cx="905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a 4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818781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63899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91914" y="3969841"/>
            <a:ext cx="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91914" y="424547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6135" y="4204692"/>
            <a:ext cx="2455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sobrecoxas desossadas, com pele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91914" y="44590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986135" y="4418261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91914" y="467260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86135" y="4631829"/>
            <a:ext cx="14310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óleo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3923854" y="3969841"/>
            <a:ext cx="496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MOLHO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3923854" y="424547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4204692"/>
            <a:ext cx="17818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dentes de alho fatiados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44590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4418261"/>
            <a:ext cx="2463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100 ml de caldo de frango (ou água)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67260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631829"/>
            <a:ext cx="16753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e raspas de 1 limão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88617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845397"/>
            <a:ext cx="2590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 gelada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509974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5058966"/>
            <a:ext cx="1085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Salsinha picada</a:t>
            </a:r>
            <a:endParaRPr lang="en-US" sz="8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493395"/>
            <a:ext cx="1636514" cy="1079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91914" y="5313611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3" name="Shape 34"/>
          <p:cNvSpPr/>
          <p:nvPr/>
        </p:nvSpPr>
        <p:spPr>
          <a:xfrm>
            <a:off x="791914" y="56228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892820" y="566544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1158925" y="5653980"/>
            <a:ext cx="53138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muito bem as sobrecoxas e tempere com sal e pimenta dos dois lados.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791914" y="589270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883444" y="593526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8" name="Text 39"/>
          <p:cNvSpPr txBox="1"/>
          <p:nvPr/>
        </p:nvSpPr>
        <p:spPr>
          <a:xfrm>
            <a:off x="1158925" y="592380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o óleo numa frigideira de fundo grosso e disponha as sobrecoxas com a pele para baixo, ainda com a frigideira fria. Ligue em fogo médio.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791914" y="62873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883741" y="632995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1" name="Text 42"/>
          <p:cNvSpPr txBox="1"/>
          <p:nvPr/>
        </p:nvSpPr>
        <p:spPr>
          <a:xfrm>
            <a:off x="1158925" y="6318498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um peso por cima (uma panela menor com água, por exemplo) e deixe por 12 a 15 minutos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sem mexer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. A gordura da pele derrete aos poucos e ela frita na própria gordura até ficar dourada e crocante.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791914" y="68524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880021" y="6895058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1158925" y="688359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Vire e cozinhe por mais 4 a 6 minutos, até o centro atingir 75 °C ou o suco sair transparente ao furar.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791914" y="724718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83444" y="7289750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7" name="Text 48"/>
          <p:cNvSpPr txBox="1"/>
          <p:nvPr/>
        </p:nvSpPr>
        <p:spPr>
          <a:xfrm>
            <a:off x="1158925" y="7278291"/>
            <a:ext cx="6102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grade ou prato, com a pele para cima, e deixe descansar 5 minutos.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791914" y="751701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883444" y="755957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0" name="Text 51"/>
          <p:cNvSpPr txBox="1"/>
          <p:nvPr/>
        </p:nvSpPr>
        <p:spPr>
          <a:xfrm>
            <a:off x="1158925" y="754811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 excesso de gordura da frigideira, deixando cerca de 1 colher. Em fogo baixo, doure o alho por 1 minuto.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791914" y="791170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885230" y="7954268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63" name="Text 54"/>
          <p:cNvSpPr txBox="1"/>
          <p:nvPr/>
        </p:nvSpPr>
        <p:spPr>
          <a:xfrm>
            <a:off x="1158925" y="7942808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caldo e raspe bem o fundo com uma colher de pau. Deixe reduzir à metade. Desligue o fogo, junte o suco e as raspas de limão e a manteiga gelada, mexendo até o molho engrossar e brilhar. Finalize com salsinha.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91914" y="84768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883741" y="851936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950" dirty="0"/>
          </a:p>
        </p:txBody>
      </p:sp>
      <p:sp>
        <p:nvSpPr>
          <p:cNvPr id="66" name="Text 57"/>
          <p:cNvSpPr txBox="1"/>
          <p:nvPr/>
        </p:nvSpPr>
        <p:spPr>
          <a:xfrm>
            <a:off x="1158925" y="8507909"/>
            <a:ext cx="59159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o molho no fundo do prato e o frango por cima, para a pele continuar crocante.</a:t>
            </a:r>
            <a:endParaRPr lang="en-US" sz="850" dirty="0"/>
          </a:p>
        </p:txBody>
      </p:sp>
      <p:sp>
        <p:nvSpPr>
          <p:cNvPr id="67" name="Shape 58"/>
          <p:cNvSpPr/>
          <p:nvPr/>
        </p:nvSpPr>
        <p:spPr>
          <a:xfrm>
            <a:off x="791914" y="8786217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8" name="Text 59"/>
          <p:cNvSpPr txBox="1"/>
          <p:nvPr/>
        </p:nvSpPr>
        <p:spPr>
          <a:xfrm>
            <a:off x="971848" y="8865543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9" name="Text 60"/>
          <p:cNvSpPr txBox="1"/>
          <p:nvPr/>
        </p:nvSpPr>
        <p:spPr>
          <a:xfrm>
            <a:off x="971848" y="9141321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Aquele fundo grudado na frigideira é sabor puro. Soltá-lo com um líquido (deglaçar) transforma o que iria para a pia no melhor molho do prato.</a:t>
            </a:r>
            <a:endParaRPr lang="en-US" sz="830" dirty="0"/>
          </a:p>
        </p:txBody>
      </p:sp>
      <p:sp>
        <p:nvSpPr>
          <p:cNvPr id="70" name="Text 61"/>
          <p:cNvSpPr txBox="1"/>
          <p:nvPr/>
        </p:nvSpPr>
        <p:spPr>
          <a:xfrm>
            <a:off x="552524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71" name="Text 62"/>
          <p:cNvSpPr txBox="1"/>
          <p:nvPr/>
        </p:nvSpPr>
        <p:spPr>
          <a:xfrm>
            <a:off x="6658421" y="10162729"/>
            <a:ext cx="223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832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 DESFIADO SUCULENTO AO MOLHO DE TOMATE CASEIRO E ERVAS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3406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COZIMENTO LENTO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29238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(para massas, tortas e sanduíches)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24147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44688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64482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934593"/>
            <a:ext cx="465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44688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694236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64346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1h05 (25 min na pressão)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44688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64482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934593"/>
            <a:ext cx="6968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550890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37110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71147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sobrecoxas com osso e pele (cerca de 1 kg)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136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095452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3498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309021"/>
            <a:ext cx="16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azeite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56336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522589"/>
            <a:ext cx="10368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picada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91914" y="47769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986135" y="4736157"/>
            <a:ext cx="1720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picados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91914" y="499050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986135" y="4949726"/>
            <a:ext cx="1149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cenoura ralada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3711476"/>
            <a:ext cx="2522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extrato de tomate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39658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3925044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tomates bem maduros picados (ou 1 lata de tomate pelado)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43498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309021"/>
            <a:ext cx="1051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folha de louro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923854" y="456336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118074" y="4522589"/>
            <a:ext cx="2408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ml de caldo de frango ou água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3923854" y="47769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4118074" y="4736157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Orégano, manjericão e cheiro-verde a gosto</a:t>
            </a:r>
            <a:endParaRPr lang="en-US" sz="8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411093"/>
            <a:ext cx="1636514" cy="1079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91914" y="5231309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7" name="Shape 38"/>
          <p:cNvSpPr/>
          <p:nvPr/>
        </p:nvSpPr>
        <p:spPr>
          <a:xfrm>
            <a:off x="791914" y="55405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92820" y="5583138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5571679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e tempere as sobrecoxas com sal e pimenta. Doure no azeite, com a pele para baixo, por 6 a 8 minutos, até ficarem bem douradas. Vire, doure o outro lado por 2 minutos e reserve.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610567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83444" y="614823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1158925" y="6136779"/>
            <a:ext cx="61889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gordura que ficou na panela, refogue a cebola, o alho e a cenoura até ficarem macios.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91914" y="637549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83741" y="6418064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1158925" y="640660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extrato de tomate e mexa por 1 minuto, até ele escurecer levemente. Isso tira o gosto ácido de lata e aprofunda o sabor.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791914" y="677019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0021" y="6812756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8" name="Text 49"/>
          <p:cNvSpPr txBox="1"/>
          <p:nvPr/>
        </p:nvSpPr>
        <p:spPr>
          <a:xfrm>
            <a:off x="1158925" y="6801296"/>
            <a:ext cx="6273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os tomates, o louro e o caldo, raspando o fundo. Volte o frango para a panela.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791914" y="704001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883444" y="7082582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61" name="Text 52"/>
          <p:cNvSpPr txBox="1"/>
          <p:nvPr/>
        </p:nvSpPr>
        <p:spPr>
          <a:xfrm>
            <a:off x="1158925" y="707112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Tampe e cozinhe em fogo baixo por 50 a 60 minutos (ou 20 minutos na panela de pressão), até a carne soltar do osso.</a:t>
            </a:r>
            <a:endParaRPr lang="en-US" sz="850" dirty="0"/>
          </a:p>
        </p:txBody>
      </p:sp>
      <p:sp>
        <p:nvSpPr>
          <p:cNvPr id="62" name="Shape 53"/>
          <p:cNvSpPr/>
          <p:nvPr/>
        </p:nvSpPr>
        <p:spPr>
          <a:xfrm>
            <a:off x="791914" y="743470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883444" y="747727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4" name="Text 55"/>
          <p:cNvSpPr txBox="1"/>
          <p:nvPr/>
        </p:nvSpPr>
        <p:spPr>
          <a:xfrm>
            <a:off x="1158925" y="746581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os ossos e a pele (guarde os ossos para o caldo). Desfie a carne com dois garfos dentro do próprio molho.</a:t>
            </a:r>
            <a:endParaRPr lang="en-US" sz="850" dirty="0"/>
          </a:p>
        </p:txBody>
      </p:sp>
      <p:sp>
        <p:nvSpPr>
          <p:cNvPr id="65" name="Shape 56"/>
          <p:cNvSpPr/>
          <p:nvPr/>
        </p:nvSpPr>
        <p:spPr>
          <a:xfrm>
            <a:off x="791914" y="782940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885230" y="7871966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67" name="Text 58"/>
          <p:cNvSpPr txBox="1"/>
          <p:nvPr/>
        </p:nvSpPr>
        <p:spPr>
          <a:xfrm>
            <a:off x="1158925" y="7860506"/>
            <a:ext cx="6152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destampado até o molho envolver o frango. Finalize com as ervas e acerte o sal.</a:t>
            </a:r>
            <a:endParaRPr lang="en-US" sz="850" dirty="0"/>
          </a:p>
        </p:txBody>
      </p:sp>
      <p:sp>
        <p:nvSpPr>
          <p:cNvPr id="68" name="Shape 59"/>
          <p:cNvSpPr/>
          <p:nvPr/>
        </p:nvSpPr>
        <p:spPr>
          <a:xfrm>
            <a:off x="791914" y="8138815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9" name="Text 60"/>
          <p:cNvSpPr txBox="1"/>
          <p:nvPr/>
        </p:nvSpPr>
        <p:spPr>
          <a:xfrm>
            <a:off x="971848" y="8218140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70" name="Text 61"/>
          <p:cNvSpPr txBox="1"/>
          <p:nvPr/>
        </p:nvSpPr>
        <p:spPr>
          <a:xfrm>
            <a:off x="971848" y="8493919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Desfiar dentro do molho faz a carne absorver o líquido e continuar suculenta. Use em sanduíches, massas, tortas, panquecas ou sobre polenta mole.</a:t>
            </a:r>
            <a:endParaRPr lang="en-US" sz="830" dirty="0"/>
          </a:p>
        </p:txBody>
      </p:sp>
      <p:sp>
        <p:nvSpPr>
          <p:cNvPr id="71" name="Text 62"/>
          <p:cNvSpPr txBox="1"/>
          <p:nvPr/>
        </p:nvSpPr>
        <p:spPr>
          <a:xfrm>
            <a:off x="550559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72" name="Text 63"/>
          <p:cNvSpPr txBox="1"/>
          <p:nvPr/>
        </p:nvSpPr>
        <p:spPr>
          <a:xfrm>
            <a:off x="6638776" y="10162729"/>
            <a:ext cx="243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83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MARINADA NO IOGURTE COM ESPECIARIAS, ASSADA ATÉ DOURAR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5883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TECNOLÓGICO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3374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(maciez extrema, no forno ou na airfryer)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24147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44688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694236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64346"/>
            <a:ext cx="1380232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 min + 2 h de marinada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44688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64482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934593"/>
            <a:ext cx="506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44688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64482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934593"/>
            <a:ext cx="9130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a 6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550890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37110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91914" y="3701951"/>
            <a:ext cx="7093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MARINADA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91914" y="3977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6135" y="3936802"/>
            <a:ext cx="2762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170 g de iogurte natural integral (1 pote)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91914" y="419114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986135" y="4150370"/>
            <a:ext cx="172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ralados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91914" y="440471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86135" y="4363938"/>
            <a:ext cx="2234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gengibre ralado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91914" y="461828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86135" y="4577507"/>
            <a:ext cx="20394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páprica doce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791914" y="483185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986135" y="4791075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92385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4118074" y="3711476"/>
            <a:ext cx="1841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colher (chá) de cúrcuma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923854" y="39658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4118074" y="3925044"/>
            <a:ext cx="1782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e raspas de ½ limão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3923854" y="417939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4118074" y="4138612"/>
            <a:ext cx="13585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sal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923854" y="43929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4118074" y="4352181"/>
            <a:ext cx="16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azeite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3923854" y="4566940"/>
            <a:ext cx="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3923854" y="484257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4118074" y="4801791"/>
            <a:ext cx="2046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sobrecoxas com osso e pele</a:t>
            </a:r>
            <a:endParaRPr lang="en-US" sz="8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279380"/>
            <a:ext cx="1636514" cy="1079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91914" y="5099596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7" name="Shape 38"/>
          <p:cNvSpPr/>
          <p:nvPr/>
        </p:nvSpPr>
        <p:spPr>
          <a:xfrm>
            <a:off x="791914" y="540886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92820" y="5451425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5439966"/>
            <a:ext cx="3883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Misture todos os ingredientes da marinada numa tigela.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567868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83444" y="5721251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1158925" y="570979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Faça 2 cortes rasos em cada sobrecoxa, do lado da pele, e envolva bem na marinada. Cubra e leve à geladeira por no mínimo 2 horas, idealmente de um dia para o outro.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91914" y="607337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83741" y="6115943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1158925" y="610448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 excesso de marinada e disponha as sobrecoxas com a pele para cima, sobre uma grade apoiada na assadeira (ou sobre papel-manteiga), bem espaçadas.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791914" y="646807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0021" y="651063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8" name="Text 49"/>
          <p:cNvSpPr txBox="1"/>
          <p:nvPr/>
        </p:nvSpPr>
        <p:spPr>
          <a:xfrm>
            <a:off x="1158925" y="649917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forno: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asse a 220 °C por 35 a 40 minutos. Nos últimos 5 minutos, ligue o grill, se o seu forno tiver, para formar manchas tostadas.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791914" y="686276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883444" y="690532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61" name="Text 52"/>
          <p:cNvSpPr txBox="1"/>
          <p:nvPr/>
        </p:nvSpPr>
        <p:spPr>
          <a:xfrm>
            <a:off x="1158925" y="6893868"/>
            <a:ext cx="4815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airfryer: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180 °C por 15 minutos, vire, e mais 8 a 10 minutos a 200 °C.</a:t>
            </a:r>
            <a:endParaRPr lang="en-US" sz="850" dirty="0"/>
          </a:p>
        </p:txBody>
      </p:sp>
      <p:sp>
        <p:nvSpPr>
          <p:cNvPr id="62" name="Shape 53"/>
          <p:cNvSpPr/>
          <p:nvPr/>
        </p:nvSpPr>
        <p:spPr>
          <a:xfrm>
            <a:off x="791914" y="713258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883444" y="717515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4" name="Text 55"/>
          <p:cNvSpPr txBox="1"/>
          <p:nvPr/>
        </p:nvSpPr>
        <p:spPr>
          <a:xfrm>
            <a:off x="1158925" y="7163693"/>
            <a:ext cx="2988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descansar 5 minutos antes de servir.</a:t>
            </a:r>
            <a:endParaRPr lang="en-US" sz="850" dirty="0"/>
          </a:p>
        </p:txBody>
      </p:sp>
      <p:sp>
        <p:nvSpPr>
          <p:cNvPr id="65" name="Shape 56"/>
          <p:cNvSpPr/>
          <p:nvPr/>
        </p:nvSpPr>
        <p:spPr>
          <a:xfrm>
            <a:off x="791914" y="7442002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971848" y="7521327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7" name="Text 58"/>
          <p:cNvSpPr txBox="1"/>
          <p:nvPr/>
        </p:nvSpPr>
        <p:spPr>
          <a:xfrm>
            <a:off x="971848" y="7797105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ácido suave do iogurte amacia a carne sem deixá-la farinhenta (como acontece com marinadas muito ácidas), e os açúcares do leite ajudam a dourar. Sirva com arroz, salada de pepino e um molho de iogurte com hortelã.</a:t>
            </a:r>
            <a:endParaRPr lang="en-US" sz="830" dirty="0"/>
          </a:p>
        </p:txBody>
      </p:sp>
      <p:sp>
        <p:nvSpPr>
          <p:cNvPr id="68" name="Text 59"/>
          <p:cNvSpPr txBox="1"/>
          <p:nvPr/>
        </p:nvSpPr>
        <p:spPr>
          <a:xfrm>
            <a:off x="550545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6638627" y="10162729"/>
            <a:ext cx="2436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0985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PELE BORRACHUDA E FRANGO SECO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Tirar o frango molhado da embalagem direto para a frigideira, mexer o tempo todo e cortar assim que sai do fogo. A pele cozinha no vapor e fica mole; a carne perde o suco na tábua.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e salgue antes: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papel-toalha e, se der, sal com antecedência na geladeira, descoberto.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9839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2654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1508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Pele para baixo e paciência: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fogo médio, peso por cima e nada de mexer até ela soltar sozinha da frigideira.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4039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44653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43507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Ponto pela temperatura: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sobrecoxa fica melhor entre 75 °C e 80 °C. Um termômetro culinário custa menos que uma pizza e acaba com o achismo.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82396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866531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855071"/>
            <a:ext cx="4884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Descanso: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5 minutos antes de cortar, para os sucos se redistribuírem.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453807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274022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662315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719911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662315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719911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40050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998220"/>
            <a:ext cx="673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40050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6017270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Coxa (aumente um pouco o tempo) ou peito (reduza bastante o tempo e retire do fogo a 65 °C: ele resseca fácil).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71333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473577"/>
            <a:ext cx="913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Iogurte natural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71333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492627"/>
            <a:ext cx="46897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Coalhada seca, ou leite com suco de limão descansado por 10 minutos.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702617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786414"/>
            <a:ext cx="9477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Caldo de frango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702617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805464"/>
            <a:ext cx="3237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Água com as aparas e um ramo de cheiro-verde.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33901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7099250"/>
            <a:ext cx="8798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Tomate fresco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33901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7118300"/>
            <a:ext cx="2374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Tomate pelado em lata ou passata.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65184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412087"/>
            <a:ext cx="15411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Manteiga gelada no molho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65184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431137"/>
            <a:ext cx="3841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Azeite (o molho fica mais fino, mas igualmente saboroso).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96468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724924"/>
            <a:ext cx="581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Cúrcuma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96468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743974"/>
            <a:ext cx="3023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Uma pitada de açafrão-da-terra ou de curry.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0172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34907" y="10162729"/>
            <a:ext cx="2473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779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4466034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4840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OSSOS E APARAS: FUNDO CASEIRO ULTRA-AROMÁTICO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os ossos, peles e aparas de 6 a 8 sobrecoxas (pode ir guardando no freezer). Para um caldo mais escuro e intenso, asse os ossos antes a 200 °C por 30 minutos. Coloque numa panela com 1 cebola cortada ao meio com casca, 1 cenoura com casca, talos de salsinha, 1 folha de louro, 6 grãos de pimenta e 2 litros de água fria.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239691"/>
            <a:ext cx="1685479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059906"/>
            <a:ext cx="17267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PONTO DO CALDO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421856"/>
            <a:ext cx="5759946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Leve ao fogo baixo e nunca deixe ferver forte: a fervura turva o caldo. Retire a espuma que subir. Cozinhe por 2 a 3 horas, coe e leve à geladeira. A gordura endurece por cima: retire e guarde, ela é ótima para refogar. Congele o caldo em forminhas de gelo por até 3 meses e use um cubo para enriquecer arroz, feijão, molhos e sopas, como o caldo de mandioca do próximo capítulo. É o seu caldo caseiro, sem cubinhos industrializados.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76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232029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204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AIPIM, MACAXEIRA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raiz do Brasil: rica em amido, acessível e um coringa técnico. Une sustentabilidade e brasilidade num ingrediente só.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443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CROCÂNCIA PERFEITA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28608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Rösti de mandioca recheado na frigideira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842742" y="6770396"/>
            <a:ext cx="265896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1186" y="6517035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28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1613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CULINÁRIA ACOLHEDORA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46372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Caldo aveludado de mandioca com gengibre e bacon (ou cogumelos)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28804" y="7153331"/>
            <a:ext cx="107290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1186" y="6899970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29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26132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30388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282904"/>
            <a:ext cx="7855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SURPRESA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425779"/>
            <a:ext cx="3099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Biscoito de polvilho e mandioca de assadeira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55864" y="7536266"/>
            <a:ext cx="244509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0442" y="7282904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2020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04 · MANDIOCA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Poucos ingredientes são tão brasileiros e tão subestimados. A mandioca costuma ficar presa a dois papéis: cozida na manteiga ou frita como acompanhamento.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Mas é justamente o amido dela que a torna um coringa técnico. Ralada crua, ela se une sozinha e fica crocante na frigideira. Cozida e batida, vira um creme aveludado sem precisar de creme de leite. Misturada com queijo, vira biscoito.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aviso importante: a mandioca vendida no mercado e na feira é a mandioca mansa, de mesa. Mesmo assim, ela deve ser sempre bem cozida antes de comer. Nunca consuma mandioca crua.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52209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 marrom, que se solta com facilidade, e ponta que estala ao quebrar.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6017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Polpa branca ou amarelada, uniforme, sem estrias escuras, azuladas ou pontos moles.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4472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Raízes médias costumam ser mais macias que as muito grossas.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484465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6135" y="4803874"/>
            <a:ext cx="5535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 boa cozinha rápido. Se demorar demais, o problema é a raiz, não você.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791914" y="5054650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39938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casca, fora da geladeira, ela estraga em 2 ou 3 dias.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melhor caminho: descasque, lave, corte em pedaços e congele crua em sacos por até 3 meses. Ela cozinha ainda melhor depois de congelada.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9566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915918"/>
            <a:ext cx="5289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Cozida: na geladeira por até 3 dias, coberta pela própria água do cozimento.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6166693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4423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401544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em toras de 8 a 10 cm. Faça um talho no comprimento e solte a casca marrom junto com a entrecasca rosada, de uma vez.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8407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799957"/>
            <a:ext cx="4611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Depois de cozida, abra ao meio e retire o fio central, que é fibroso.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706874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7027962"/>
            <a:ext cx="5398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sempre em pedaços de tamanho parecido, para tudo cozinhar por igual.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50932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6642497" y="10162729"/>
            <a:ext cx="239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448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86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RÖSTI DE MANDIOCA RECHEADO NA FRIGIDEIRA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797397"/>
            <a:ext cx="1546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CROCÂNCIA PERFEITA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004715"/>
            <a:ext cx="38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(crosta dourada por fora, cremoso por dentro)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25802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289158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394793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414588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584698"/>
            <a:ext cx="465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394793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414588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584698"/>
            <a:ext cx="510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394793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344341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514451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rösti grande (2 a 4 porções)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200995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021211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91914" y="3352056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91914" y="362768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6135" y="3586907"/>
            <a:ext cx="2536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500 g de mandioca crua descascada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91914" y="384125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986135" y="3800475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91914" y="405482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86135" y="4014043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manteiga (ou metade manteiga, metade óleo)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3923854" y="3352056"/>
            <a:ext cx="150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RECHEIO (ESCOLHA UM)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3923854" y="362768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586907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carne-seca dessalgada, cozida e desfiada, refogada com cebola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401166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970883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ou 150 g de muçarela com 3 colheres (sopa) de requeijão cremoso</a:t>
            </a:r>
            <a:endParaRPr lang="en-US" sz="8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4651177"/>
            <a:ext cx="1636514" cy="1079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91914" y="4471392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7" name="Shape 28"/>
          <p:cNvSpPr/>
          <p:nvPr/>
        </p:nvSpPr>
        <p:spPr>
          <a:xfrm>
            <a:off x="791914" y="478065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892820" y="482322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1158925" y="4811762"/>
            <a:ext cx="337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Rale a mandioca crua no lado grosso do ralador.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791914" y="505048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83444" y="509304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1158925" y="508158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num pano de prato limpo e torça com força para retirar o máximo de líquido. Descarte o líquido.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Este é o passo que garante a crocância.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791914" y="54451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883741" y="548773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1158925" y="5476280"/>
            <a:ext cx="3278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Tempere a mandioca ralada com sal e pimenta.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791914" y="571500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880021" y="575756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8" name="Text 39"/>
          <p:cNvSpPr txBox="1"/>
          <p:nvPr/>
        </p:nvSpPr>
        <p:spPr>
          <a:xfrm>
            <a:off x="1158925" y="5746105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metade da manteiga numa frigideira antiaderente de 20 a 22 cm, em fogo médio. Espalhe metade da mandioca, pressionando com uma espátula para formar uma base compacta.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791914" y="628010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883444" y="6322665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Text 42"/>
          <p:cNvSpPr txBox="1"/>
          <p:nvPr/>
        </p:nvSpPr>
        <p:spPr>
          <a:xfrm>
            <a:off x="1158925" y="631120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Distribua o recheio, deixando 1 cm livre na borda. Cubra com o restante da mandioca, pressione e feche bem as bordas.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791914" y="66747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883444" y="671735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1158925" y="670589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Tampe e cozinhe em fogo médio-baixo por 12 a 15 minutos, até a base ficar dourada e firme (dá para levantar a borda com a espátula para conferir).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791914" y="706948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85230" y="7112050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57" name="Text 48"/>
          <p:cNvSpPr txBox="1"/>
          <p:nvPr/>
        </p:nvSpPr>
        <p:spPr>
          <a:xfrm>
            <a:off x="1158925" y="710059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Deslize o rösti para um prato, cubra com outro prato, vire e devolva à frigideira com o restante da manteiga. Cozinhe destampado por mais 12 a 15 minutos, até dourar.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791914" y="7503765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971848" y="7583091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971848" y="7858869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Fogo alto doura por fora e deixa a mandioca crua por dentro. O segredo é fogo médio-baixo e tempo: por fora ela fica dourada, por dentro, cremosa.</a:t>
            </a:r>
            <a:endParaRPr lang="en-US" sz="830" dirty="0"/>
          </a:p>
        </p:txBody>
      </p:sp>
      <p:sp>
        <p:nvSpPr>
          <p:cNvPr id="61" name="Text 52"/>
          <p:cNvSpPr txBox="1"/>
          <p:nvPr/>
        </p:nvSpPr>
        <p:spPr>
          <a:xfrm>
            <a:off x="5504557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6637734" y="10162729"/>
            <a:ext cx="24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674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CALDO AVELUDADO DE MANDIOCA COM GENGIBRE E BACON (OU COGUMELOS)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72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CULINÁRIA ACOLHEDORA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22804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(abraço em forma de prato)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24147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44688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64482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934593"/>
            <a:ext cx="465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44688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694236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64346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 min (12 min na pressão)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44688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64482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934593"/>
            <a:ext cx="9130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a 6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550890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37110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71147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800 g de mandioca descascada, em pedaços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136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095452"/>
            <a:ext cx="264973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bacon em cubinhos (ou 200 g de cogumelos fatiados, na versão vegetariana)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69061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649837"/>
            <a:ext cx="10368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picada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9041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863405"/>
            <a:ext cx="1720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picados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711476"/>
            <a:ext cx="28135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gengibre fresco ralado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9658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925044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1,2 litro de caldo de frango (capítulo 3) ou de legumes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3498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30902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algumas gotas de limão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73377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692997"/>
            <a:ext cx="274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Cebolinha picada e azeite para finalizar</a:t>
            </a:r>
            <a:endParaRPr lang="en-US" sz="8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297835"/>
            <a:ext cx="1636514" cy="1079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91914" y="511805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1" name="Shape 32"/>
          <p:cNvSpPr/>
          <p:nvPr/>
        </p:nvSpPr>
        <p:spPr>
          <a:xfrm>
            <a:off x="791914" y="542731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92820" y="546988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1158925" y="5458420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panela, doure o bacon em fogo médio até ficar crocante. Retire com escumadeira e reserve, deixando a gordura na panela. (Na versão com cogumelos, doure-os em 1 colher de manteiga e reserve.)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791914" y="599241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83444" y="603498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1158925" y="602352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mesma panela, refogue a cebola até ficar transparente. Junte o alho e o gengibre e refogue por 1 minuto.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791914" y="638710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883741" y="6429673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Text 40"/>
          <p:cNvSpPr txBox="1"/>
          <p:nvPr/>
        </p:nvSpPr>
        <p:spPr>
          <a:xfrm>
            <a:off x="1158925" y="641821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a mandioca e o caldo. Cozinhe tampado até a mandioca começar a desmanchar: 25 a 30 minutos na panela comum ou 12 minutos na pressão.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791914" y="678180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80021" y="682436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1158925" y="681290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os fios centrais da mandioca. Bata no liquidificador, em levas e com a tampa entreaberta coberta por um pano (o vapor empurra a tampa). Bata só até ficar liso.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91914" y="717649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83444" y="721905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1158925" y="720759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Volte à panela, ajuste a consistência com mais caldo, se precisar, e tempere com sal, pimenta e gotas de limão.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791914" y="757118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3444" y="761374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49"/>
          <p:cNvSpPr txBox="1"/>
          <p:nvPr/>
        </p:nvSpPr>
        <p:spPr>
          <a:xfrm>
            <a:off x="1158925" y="7602289"/>
            <a:ext cx="58512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com o bacon (ou os cogumelos) crocante por cima, cebolinha e um fio de azeite.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791914" y="7880598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971848" y="7959923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971848" y="8235702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gengibre e as gotas de limão no final são o que tiram o caldo do “pesado” e levam ao “aconchegante”. A crocância por cima faz contraste com o creme.</a:t>
            </a:r>
            <a:endParaRPr lang="en-US" sz="830" dirty="0"/>
          </a:p>
        </p:txBody>
      </p:sp>
      <p:sp>
        <p:nvSpPr>
          <p:cNvPr id="62" name="Text 53"/>
          <p:cNvSpPr txBox="1"/>
          <p:nvPr/>
        </p:nvSpPr>
        <p:spPr>
          <a:xfrm>
            <a:off x="550574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6638925" y="10162729"/>
            <a:ext cx="2433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676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86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BISCOITO DE POLVILHO E MANDIOCA DE ASSADEIRA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797397"/>
            <a:ext cx="834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SURPRESA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004715"/>
            <a:ext cx="2579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(rápido para o lanche da tarde)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258020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289158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394793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414588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584698"/>
            <a:ext cx="509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394793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414588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584698"/>
            <a:ext cx="510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353866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394793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344341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514451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cerca de 30 biscoitos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200995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021211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4023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36158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mandioca cozida, sem os fios, amassada ainda quente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37863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3745557"/>
            <a:ext cx="1557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120 g de polvilho azedo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399990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395912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 g de queijo meia-cura ou parmesão ralado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3923854" y="34023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118074" y="3361581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36159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575149"/>
            <a:ext cx="1713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óleo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82949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788718"/>
            <a:ext cx="17302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rasa de sal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04306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002286"/>
            <a:ext cx="119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Leite, se precisar</a:t>
            </a:r>
            <a:endParaRPr lang="en-US" sz="8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4563963"/>
            <a:ext cx="1636514" cy="1079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91914" y="4384179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9" name="Shape 30"/>
          <p:cNvSpPr/>
          <p:nvPr/>
        </p:nvSpPr>
        <p:spPr>
          <a:xfrm>
            <a:off x="791914" y="469344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892820" y="473600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2"/>
          <p:cNvSpPr txBox="1"/>
          <p:nvPr/>
        </p:nvSpPr>
        <p:spPr>
          <a:xfrm>
            <a:off x="1158925" y="4724549"/>
            <a:ext cx="498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200 °C e forre uma assadeira com papel-manteiga.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791914" y="496326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83444" y="500583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Text 35"/>
          <p:cNvSpPr txBox="1"/>
          <p:nvPr/>
        </p:nvSpPr>
        <p:spPr>
          <a:xfrm>
            <a:off x="1158925" y="4994374"/>
            <a:ext cx="6019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Amasse a mandioca ainda quente até virar um purê liso. Junte o óleo e o sal e misture.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791914" y="523309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883741" y="527565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58925" y="526420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polvilho e misture bem (o calor da mandioca escalda o polvilho e deixa a massa elástica).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91914" y="56277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880021" y="5670352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1158925" y="56588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ovo e o queijo e amasse até formar uma massa macia que não grude nas mãos. Se ficar seca, pingue leite, uma colher por vez.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791914" y="602247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83444" y="6065044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1158925" y="6053584"/>
            <a:ext cx="57623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Modele palitos de 8 cm ou bolinhas e disponha na assadeira com espaço entre eles.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791914" y="62923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883444" y="633486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1158925" y="6323409"/>
            <a:ext cx="58332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25 a 30 minutos, até dourarem. Não abra o forno nos primeiros 15 minutos.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791914" y="6601718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971848" y="6681043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971848" y="6956822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É um ótimo destino para a mandioca que sobrou do almoço. A massa crua pode ser congelada já modelada e assada direto do freezer (acrescente 5 a 10 minutos).</a:t>
            </a:r>
            <a:endParaRPr lang="en-US" sz="830" dirty="0"/>
          </a:p>
        </p:txBody>
      </p:sp>
      <p:sp>
        <p:nvSpPr>
          <p:cNvPr id="60" name="Text 51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827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231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 QUE NÃO COZINHA (OU QUE DESMANCHA O RÖSTI)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520976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3341191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3703141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Comprar sem critério, cortar em pedaços de tamanhos diferentes e insistir no fogo por horas. E, no rösti, ralar e levar direto para a frigideira, com toda a água da raiz.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441031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4261247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459209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463465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462319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Escolha bem: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ponta que estala e polpa uniforme. Raiz velha ou fibrosa não amolece, não importa o tempo.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501208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505465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504319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Congele crua: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os cristais de gelo rompem as fibras e ela cozinha mais rápido e fica mais macia.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543207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5474643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5463183"/>
            <a:ext cx="4128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Pedaços iguais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e panela de pressão quando a pressa bater.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57272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5769769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575830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Esprema a mandioca ralada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no pano: menos água, mais crocância e um rösti que não desmancha.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791914" y="614719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83444" y="6189762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1158925" y="6178302"/>
            <a:ext cx="46477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amoleceu?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Não jogue fora: ela ainda serve para o caldo batido.</a:t>
            </a:r>
            <a:endParaRPr lang="en-US" sz="8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6777038"/>
            <a:ext cx="1377404" cy="107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1914" y="6597253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791914" y="6985546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81807" y="7043142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375892" y="6985546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2465784" y="7043142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91914" y="772373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3" name="Text 26"/>
          <p:cNvSpPr txBox="1"/>
          <p:nvPr/>
        </p:nvSpPr>
        <p:spPr>
          <a:xfrm>
            <a:off x="881807" y="7321451"/>
            <a:ext cx="9888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 fresca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375892" y="772373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5" name="Text 28"/>
          <p:cNvSpPr txBox="1"/>
          <p:nvPr/>
        </p:nvSpPr>
        <p:spPr>
          <a:xfrm>
            <a:off x="2465892" y="7340501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 congelada já descascada (funciona muito bem nas três receitas).</a:t>
            </a:r>
            <a:endParaRPr lang="en-US" sz="820" dirty="0"/>
          </a:p>
        </p:txBody>
      </p:sp>
      <p:sp>
        <p:nvSpPr>
          <p:cNvPr id="36" name="Shape 29"/>
          <p:cNvSpPr/>
          <p:nvPr/>
        </p:nvSpPr>
        <p:spPr>
          <a:xfrm>
            <a:off x="791914" y="803657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7" name="Text 30"/>
          <p:cNvSpPr txBox="1"/>
          <p:nvPr/>
        </p:nvSpPr>
        <p:spPr>
          <a:xfrm>
            <a:off x="881807" y="7796808"/>
            <a:ext cx="439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Bacon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2375892" y="803657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2465784" y="7815858"/>
            <a:ext cx="3727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Linguiça calabresa em cubinhos ou cogumelos dourados.</a:t>
            </a:r>
            <a:endParaRPr lang="en-US" sz="820" dirty="0"/>
          </a:p>
        </p:txBody>
      </p:sp>
      <p:sp>
        <p:nvSpPr>
          <p:cNvPr id="40" name="Shape 33"/>
          <p:cNvSpPr/>
          <p:nvPr/>
        </p:nvSpPr>
        <p:spPr>
          <a:xfrm>
            <a:off x="791914" y="834940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1" name="Text 34"/>
          <p:cNvSpPr txBox="1"/>
          <p:nvPr/>
        </p:nvSpPr>
        <p:spPr>
          <a:xfrm>
            <a:off x="881807" y="8109645"/>
            <a:ext cx="8818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Polvilho azedo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375892" y="834940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3" name="Text 36"/>
          <p:cNvSpPr txBox="1"/>
          <p:nvPr/>
        </p:nvSpPr>
        <p:spPr>
          <a:xfrm>
            <a:off x="2465784" y="8128695"/>
            <a:ext cx="385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Polvilho doce (o biscoito fica menos aerado e mais macio).</a:t>
            </a:r>
            <a:endParaRPr lang="en-US" sz="820" dirty="0"/>
          </a:p>
        </p:txBody>
      </p:sp>
      <p:sp>
        <p:nvSpPr>
          <p:cNvPr id="44" name="Shape 37"/>
          <p:cNvSpPr/>
          <p:nvPr/>
        </p:nvSpPr>
        <p:spPr>
          <a:xfrm>
            <a:off x="791914" y="866224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5" name="Text 38"/>
          <p:cNvSpPr txBox="1"/>
          <p:nvPr/>
        </p:nvSpPr>
        <p:spPr>
          <a:xfrm>
            <a:off x="881807" y="8422481"/>
            <a:ext cx="1017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Queijo meia-cura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2375892" y="866224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7" name="Text 40"/>
          <p:cNvSpPr txBox="1"/>
          <p:nvPr/>
        </p:nvSpPr>
        <p:spPr>
          <a:xfrm>
            <a:off x="2465784" y="8441531"/>
            <a:ext cx="1980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Parmesão ou queijo canastra.</a:t>
            </a:r>
            <a:endParaRPr lang="en-US" sz="820" dirty="0"/>
          </a:p>
        </p:txBody>
      </p:sp>
      <p:sp>
        <p:nvSpPr>
          <p:cNvPr id="48" name="Shape 41"/>
          <p:cNvSpPr/>
          <p:nvPr/>
        </p:nvSpPr>
        <p:spPr>
          <a:xfrm>
            <a:off x="791914" y="897508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9" name="Text 42"/>
          <p:cNvSpPr txBox="1"/>
          <p:nvPr/>
        </p:nvSpPr>
        <p:spPr>
          <a:xfrm>
            <a:off x="881807" y="8735318"/>
            <a:ext cx="9580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Gengibre fresco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2375892" y="897508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1" name="Text 44"/>
          <p:cNvSpPr txBox="1"/>
          <p:nvPr/>
        </p:nvSpPr>
        <p:spPr>
          <a:xfrm>
            <a:off x="2465784" y="8754368"/>
            <a:ext cx="34375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Pimenta-do-reino moída na hora e raspas de limão.</a:t>
            </a:r>
            <a:endParaRPr lang="en-US" sz="820" dirty="0"/>
          </a:p>
        </p:txBody>
      </p:sp>
      <p:sp>
        <p:nvSpPr>
          <p:cNvPr id="52" name="Shape 45"/>
          <p:cNvSpPr/>
          <p:nvPr/>
        </p:nvSpPr>
        <p:spPr>
          <a:xfrm>
            <a:off x="791914" y="928791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3" name="Text 46"/>
          <p:cNvSpPr txBox="1"/>
          <p:nvPr/>
        </p:nvSpPr>
        <p:spPr>
          <a:xfrm>
            <a:off x="881807" y="9048155"/>
            <a:ext cx="724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Carne-seca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2375892" y="928791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5" name="Text 48"/>
          <p:cNvSpPr txBox="1"/>
          <p:nvPr/>
        </p:nvSpPr>
        <p:spPr>
          <a:xfrm>
            <a:off x="2465784" y="9067205"/>
            <a:ext cx="330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(capítulo 3) ou linguiça refogada.</a:t>
            </a:r>
            <a:endParaRPr lang="en-US" sz="820" dirty="0"/>
          </a:p>
        </p:txBody>
      </p:sp>
      <p:sp>
        <p:nvSpPr>
          <p:cNvPr id="56" name="Text 49"/>
          <p:cNvSpPr txBox="1"/>
          <p:nvPr/>
        </p:nvSpPr>
        <p:spPr>
          <a:xfrm>
            <a:off x="552554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6658719" y="10162729"/>
            <a:ext cx="223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963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3114675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33274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ÁGUA DO COZIMENTO, RICA EM AMIDO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água em que a mandioca cozinhou fica rica em amido. Guarde (na geladeira por até 2 dias) e use para dar ponto e cremosidade a molhos, ensopados e ao próprio caldo, no lugar da água ou de parte do creme de leite.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069282"/>
            <a:ext cx="4363492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2889498"/>
            <a:ext cx="47260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“FARIÑA” CROCANTE DE FRIGIDEIRA COM AS APARAS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251448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Pontas, pedaços quebrados e sobras de mandioca já cozida viram crocância. Rale fino e espalhe numa frigideira com 1 colher de manteiga. Toste em fogo médio, mexendo de vez em quando, até ficar dourada e soltinha. Tempere com sal e use como uma farofa fresca sobre o caldo, saladas, feijão ou ovos.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4330154"/>
            <a:ext cx="1280517" cy="1079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91914" y="4150370"/>
            <a:ext cx="12731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E AS CASCAS?</a:t>
            </a:r>
            <a:endParaRPr lang="en-US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791914" y="4512320"/>
            <a:ext cx="5149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 cascas da mandioca não são comestíveis. Mande para a compostagem.</a:t>
            </a:r>
            <a:endParaRPr lang="en-US" sz="850" dirty="0"/>
          </a:p>
        </p:txBody>
      </p:sp>
      <p:sp>
        <p:nvSpPr>
          <p:cNvPr id="15" name="Text 8"/>
          <p:cNvSpPr txBox="1"/>
          <p:nvPr/>
        </p:nvSpPr>
        <p:spPr>
          <a:xfrm>
            <a:off x="550545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6638627" y="10162729"/>
            <a:ext cx="2436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05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209509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053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DA RAIZ À RAMA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Está em quase toda geladeira, mas costuma ficar presa à salada ralada ou ao bolo de sempre. Aqui ela vira protagonista.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171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INTENSO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Cenouras assadas inteiras, caramelizadas no mel ou melaço com azeite e tomilho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88372" y="6940786"/>
            <a:ext cx="71348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1335" y="6517035"/>
            <a:ext cx="250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704879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709136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7070378"/>
            <a:ext cx="1207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PRATO PRINCIPAL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213253"/>
            <a:ext cx="4607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rústico ou bolinho de cenoura com aveia e especiarias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02610" y="7323720"/>
            <a:ext cx="10990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1186" y="7070378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36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43173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47429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453312"/>
            <a:ext cx="16768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RESPEITO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596187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de cenoura da vovó com técnica de chef e calda de chocolate espelhada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877063"/>
            <a:ext cx="71779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5651" y="7453312"/>
            <a:ext cx="246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37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530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8479" y="10162729"/>
            <a:ext cx="243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9382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05 · CENOURA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cenoura está em quase todo refogado, quase toda salada e quase todo lanche da tarde. E quase sempre como coadjuvante.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Ela tem açúcar natural de sobra e, quando encontra calor seco, carameliza e ganha um sabor profundo, quase de castanha. Ralada e bem refogada, vira a base de um hambúrguer. E, num bolo, ela é que garante a umidade.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Nada se perde: a casca é fina e comestível, e a rama, aquelas folhas que quase sempre vão para o lixo, é um tempero fresco e potente.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452068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272284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714601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3990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3949452"/>
            <a:ext cx="44177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Firme, lisa, de cor laranja intensa, sem rachaduras nem brotos.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2182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177457"/>
            <a:ext cx="4023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Evite cenouras moles ou com a parte de cima esverdeada.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44624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405461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encontrar com rama, compre: rama verde e viçosa é sinal de cenoura fresca, e ainda vira pesto.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4868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Separe a rama assim que chegar em casa: ela puxa a umidade da raiz.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5118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Raiz: em pote fechado com papel-toalha, na geladeira, por 3 a 4 semanas.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46975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Rama: lavada, bem seca e enrolada em papel-toalha, por 3 a 4 dias.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91914" y="5768280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91914" y="604391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6135" y="6003131"/>
            <a:ext cx="6095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precisa descascar: escove bem sob água corrente. Se descascar, guarde as cascas.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428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Rodelas em diagonal têm mais superfície e caramelizam mais.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49992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459141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Palitos e meia-lua para assar; ralada fina para bolinhos; em fitas (com o descascador) para saladas cruas.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550158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634758" y="10162729"/>
            <a:ext cx="247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67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CENOURAS ASSADAS INTEIRAS, CARAMELIZADAS NO MEL OU MELAÇO COM AZEITE E TOMILHO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255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INTENSO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2852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(doçura natural levada ao máximo)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159472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03761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23555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93665"/>
            <a:ext cx="431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03761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23555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893665"/>
            <a:ext cx="506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359866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03761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23555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893665"/>
            <a:ext cx="6859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porções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468886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289102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629471"/>
            <a:ext cx="2459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 cenouras médias (cerca de 600 g)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38838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3843040"/>
            <a:ext cx="1849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azeite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0973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056608"/>
            <a:ext cx="2500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mel (ou melaço)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3109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270177"/>
            <a:ext cx="1816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ramos de tomilho fresco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923854" y="36702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118074" y="3629471"/>
            <a:ext cx="20962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grosso e pimenta-do-reino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8838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843040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vinagre de maçã ou suco de limão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42677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422701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Opcional: iogurte temperado com sal e limão, e amendoim picado</a:t>
            </a:r>
            <a:endParaRPr lang="en-US" sz="8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4831854"/>
            <a:ext cx="1636514" cy="1079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91914" y="465207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9" name="Shape 30"/>
          <p:cNvSpPr/>
          <p:nvPr/>
        </p:nvSpPr>
        <p:spPr>
          <a:xfrm>
            <a:off x="791914" y="496133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892820" y="500389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2"/>
          <p:cNvSpPr txBox="1"/>
          <p:nvPr/>
        </p:nvSpPr>
        <p:spPr>
          <a:xfrm>
            <a:off x="1158925" y="499243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220 °C. Escove bem as cenouras. Se forem grossas, corte ao meio no sentido do comprimento.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791914" y="535602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83444" y="5398591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Text 35"/>
          <p:cNvSpPr txBox="1"/>
          <p:nvPr/>
        </p:nvSpPr>
        <p:spPr>
          <a:xfrm>
            <a:off x="1158925" y="538713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assadeira grande, envolva as cenouras com o azeite, sal e pimenta. Deixe espaço entre elas: amontoadas, cozinham no vapor e não caramelizam.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791914" y="575071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883741" y="5793284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58925" y="5781824"/>
            <a:ext cx="3243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25 minutos, até começarem a dourar.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91914" y="602054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880021" y="6063109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1158925" y="605164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Regue com o mel, junte o tomilho, chacoalhe a assadeira e volte ao forno por mais 10 a 15 minutos, até as pontas tostarem e o mel virar uma camada brilhante.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791914" y="641523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83444" y="6457801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1158925" y="6446341"/>
            <a:ext cx="4209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do forno e regue com o vinagre ou limão ainda quente.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791914" y="668506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883444" y="672762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1158925" y="6716167"/>
            <a:ext cx="3720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sobre o iogurte, com amendoim picado por cima.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791914" y="6994475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971848" y="7073801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971848" y="7349579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mel entra só no final: se for desde o início, queima antes de a cenoura ficar macia. O toque ácido no final equilibra o doce e acende todos os sabores.</a:t>
            </a:r>
            <a:endParaRPr lang="en-US" sz="830" dirty="0"/>
          </a:p>
        </p:txBody>
      </p:sp>
      <p:sp>
        <p:nvSpPr>
          <p:cNvPr id="60" name="Text 51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98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HAMBÚRGUER RÚSTICO OU BOLINHO DE CENOURA COM AVEIA E ESPECIARIAS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2929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PRATO PRINCIPAL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17657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(saboroso e nutritivo)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24147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44688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694236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864346"/>
            <a:ext cx="1380232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25 min + 20 min de geladeira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44688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64482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934593"/>
            <a:ext cx="509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44688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764482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934593"/>
            <a:ext cx="1075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hambúrgueres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550890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37110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79191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86135" y="371147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cenouras médias raladas (cerca de 300 g)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91914" y="4136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986135" y="4095452"/>
            <a:ext cx="1654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pequena picada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91914" y="43498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86135" y="4309021"/>
            <a:ext cx="1719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dentes de alho picados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91914" y="456336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86135" y="4522589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91914" y="47769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986135" y="4736157"/>
            <a:ext cx="2523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colher (chá) de páprica defumada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92385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118074" y="3711476"/>
            <a:ext cx="2284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xícara (90 g) de aveia em flocos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3923854" y="39658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118074" y="3925044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923854" y="417939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118074" y="4138612"/>
            <a:ext cx="2157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queijo ralado (opcional)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923854" y="439296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352181"/>
            <a:ext cx="2800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cheiro-verde picado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923854" y="46065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118074" y="4565749"/>
            <a:ext cx="1439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 e azeite</a:t>
            </a:r>
            <a:endParaRPr lang="en-US" sz="85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170587"/>
            <a:ext cx="1636514" cy="1079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91914" y="4990802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5" name="Shape 36"/>
          <p:cNvSpPr/>
          <p:nvPr/>
        </p:nvSpPr>
        <p:spPr>
          <a:xfrm>
            <a:off x="791914" y="530006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892820" y="534263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158925" y="5331172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frigideira com um fio de azeite, refogue a cebola e o alho. Junte a cenoura ralada, o cominho e a páprica e refogue por cerca de 8 minutos, até a cenoura murchar e perder a água.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91914" y="586516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883444" y="5907732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1158925" y="5896273"/>
            <a:ext cx="30073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tigela e deixe amornar.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791914" y="61349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83741" y="617755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3" name="Text 44"/>
          <p:cNvSpPr txBox="1"/>
          <p:nvPr/>
        </p:nvSpPr>
        <p:spPr>
          <a:xfrm>
            <a:off x="1158925" y="6166098"/>
            <a:ext cx="61689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a aveia, o ovo, o queijo e o cheiro-verde. Tempere com sal e pimenta e misture bem.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791914" y="640481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880021" y="6447383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1158925" y="6435923"/>
            <a:ext cx="514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a massa descansar por 15 minutos, para a aveia hidratar e dar liga.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791914" y="667464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83444" y="6717209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158925" y="6705749"/>
            <a:ext cx="5506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Modele 6 hambúrgueres com as mãos úmidas e leve à geladeira por 20 minutos.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791914" y="694446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883444" y="698703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2" name="Text 53"/>
          <p:cNvSpPr txBox="1"/>
          <p:nvPr/>
        </p:nvSpPr>
        <p:spPr>
          <a:xfrm>
            <a:off x="1158925" y="697557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Doure numa frigideira com azeite, em fogo médio, por 4 minutos de cada lado, virando com cuidado. Ou asse a 200 °C por 20 minutos, virando na metade.</a:t>
            </a:r>
            <a:endParaRPr lang="en-US" sz="850" dirty="0"/>
          </a:p>
        </p:txBody>
      </p:sp>
      <p:sp>
        <p:nvSpPr>
          <p:cNvPr id="63" name="Shape 54"/>
          <p:cNvSpPr/>
          <p:nvPr/>
        </p:nvSpPr>
        <p:spPr>
          <a:xfrm>
            <a:off x="791914" y="7378750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971848" y="7458075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5" name="Text 56"/>
          <p:cNvSpPr txBox="1"/>
          <p:nvPr/>
        </p:nvSpPr>
        <p:spPr>
          <a:xfrm>
            <a:off x="971848" y="7733854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Refogar a cenoura antes é o passo que separa um hambúrguer firme e saboroso de um que desmancha na frigideira. Sirva no pão com o pesto de rama (página “Aproveita Isso Também”).</a:t>
            </a:r>
            <a:endParaRPr lang="en-US" sz="830" dirty="0"/>
          </a:p>
        </p:txBody>
      </p:sp>
      <p:sp>
        <p:nvSpPr>
          <p:cNvPr id="66" name="Text 57"/>
          <p:cNvSpPr txBox="1"/>
          <p:nvPr/>
        </p:nvSpPr>
        <p:spPr>
          <a:xfrm>
            <a:off x="550500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6638181" y="10162729"/>
            <a:ext cx="2440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9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78595"/>
            <a:ext cx="4247852" cy="1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900" spc="-1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BOLO DE CENOURA DA VOVÓ COM TÉCNICA DE CHEF E CALDA DE CHOCOLATE ESPELHADA</a:t>
            </a:r>
            <a:endParaRPr lang="en-US" sz="29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47292"/>
            <a:ext cx="1797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RESPEITO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354610"/>
            <a:ext cx="2558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(massa fofíssima que não sola)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91914" y="2607915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1914" y="3241477"/>
            <a:ext cx="597604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4" y="2744688"/>
            <a:ext cx="359866" cy="3598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59681" y="2764482"/>
            <a:ext cx="6865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PREPARO: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1259681" y="2934593"/>
            <a:ext cx="509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 min</a:t>
            </a:r>
            <a:endParaRPr lang="en-US" sz="820" dirty="0"/>
          </a:p>
        </p:txBody>
      </p:sp>
      <p:sp>
        <p:nvSpPr>
          <p:cNvPr id="13" name="Shape 8"/>
          <p:cNvSpPr/>
          <p:nvPr/>
        </p:nvSpPr>
        <p:spPr>
          <a:xfrm>
            <a:off x="2783830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272" y="2744688"/>
            <a:ext cx="359866" cy="35986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05039" y="2764482"/>
            <a:ext cx="810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COZIMENTO: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05039" y="2934593"/>
            <a:ext cx="512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min</a:t>
            </a:r>
            <a:endParaRPr lang="en-US" sz="820" dirty="0"/>
          </a:p>
        </p:txBody>
      </p:sp>
      <p:sp>
        <p:nvSpPr>
          <p:cNvPr id="17" name="Shape 11"/>
          <p:cNvSpPr/>
          <p:nvPr/>
        </p:nvSpPr>
        <p:spPr>
          <a:xfrm>
            <a:off x="4775895" y="2703761"/>
            <a:ext cx="0" cy="441871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336" y="2744688"/>
            <a:ext cx="359866" cy="35986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7103" y="2694236"/>
            <a:ext cx="538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RENDE: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397103" y="2864346"/>
            <a:ext cx="122693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assadeira de 20 × 30 cm</a:t>
            </a:r>
            <a:endParaRPr lang="en-US" sz="8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47" y="3550890"/>
            <a:ext cx="1319957" cy="107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91914" y="337110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91914" y="3701951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91914" y="3977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6135" y="3936802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cenouras médias (cerca de 300 g), em rodelas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91914" y="436155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986135" y="4320778"/>
            <a:ext cx="502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ovos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91914" y="457512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86135" y="4534346"/>
            <a:ext cx="995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240 ml de óleo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91914" y="478869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86135" y="4747915"/>
            <a:ext cx="1118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açúcar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791914" y="500226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986135" y="4961483"/>
            <a:ext cx="2529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farinha de trigo, peneirada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923854" y="37522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4118074" y="3711476"/>
            <a:ext cx="2894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fermento químico em pó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923854" y="39658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4118074" y="3925044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>
            <a:off x="3923854" y="4139803"/>
            <a:ext cx="1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CALDA ESPELHADA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3923854" y="441543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118074" y="4374654"/>
            <a:ext cx="2700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chocolate meio amargo picado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923854" y="462900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118074" y="4588222"/>
            <a:ext cx="2406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caixinha (200 g) de creme de leite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3923854" y="484257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4118074" y="4801791"/>
            <a:ext cx="1477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mel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3923854" y="505613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118074" y="5015359"/>
            <a:ext cx="18862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manteiga</a:t>
            </a:r>
            <a:endParaRPr lang="en-US" sz="85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47" y="5471368"/>
            <a:ext cx="1636514" cy="1079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91914" y="5291584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49" name="Shape 40"/>
          <p:cNvSpPr/>
          <p:nvPr/>
        </p:nvSpPr>
        <p:spPr>
          <a:xfrm>
            <a:off x="791914" y="560084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892820" y="5643414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2"/>
          <p:cNvSpPr txBox="1"/>
          <p:nvPr/>
        </p:nvSpPr>
        <p:spPr>
          <a:xfrm>
            <a:off x="1158925" y="5631954"/>
            <a:ext cx="4053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180 °C e unte e enfarinhe a assadeira.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791914" y="587067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883444" y="591323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1158925" y="590177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liquidificador, bata a cenoura, os ovos, o óleo, o açúcar e o sal por 3 a 4 minutos, até ficar um creme bem liso e claro.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791914" y="626536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83741" y="630793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Text 48"/>
          <p:cNvSpPr txBox="1"/>
          <p:nvPr/>
        </p:nvSpPr>
        <p:spPr>
          <a:xfrm>
            <a:off x="1158925" y="629647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Despeje numa tigela. Junte a farinha peneirada em três partes, misturando com um fouet ou espátula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só até sumir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. Por último, incorpore o fermento delicadamente.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791914" y="666005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880021" y="6702623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60" name="Text 51"/>
          <p:cNvSpPr txBox="1"/>
          <p:nvPr/>
        </p:nvSpPr>
        <p:spPr>
          <a:xfrm>
            <a:off x="1158925" y="669116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35 a 40 minutos, até o palito sair limpo. Não abra o forno nos primeiros 25 minutos.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791914" y="705475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883444" y="7097316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63" name="Text 54"/>
          <p:cNvSpPr txBox="1"/>
          <p:nvPr/>
        </p:nvSpPr>
        <p:spPr>
          <a:xfrm>
            <a:off x="1158925" y="708585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aqueça o creme de leite até quase ferver e despeje sobre o chocolate picado. Espere 1 minuto e mexa do centro para fora até ficar liso. Junte o mel e a manteiga.</a:t>
            </a:r>
            <a:endParaRPr lang="en-US" sz="850" dirty="0"/>
          </a:p>
        </p:txBody>
      </p:sp>
      <p:sp>
        <p:nvSpPr>
          <p:cNvPr id="64" name="Shape 55"/>
          <p:cNvSpPr/>
          <p:nvPr/>
        </p:nvSpPr>
        <p:spPr>
          <a:xfrm>
            <a:off x="791914" y="744944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883444" y="749200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66" name="Text 57"/>
          <p:cNvSpPr txBox="1"/>
          <p:nvPr/>
        </p:nvSpPr>
        <p:spPr>
          <a:xfrm>
            <a:off x="1158925" y="748054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o bolo morno, despeje a calda de uma vez no centro e deixe que ela escorra sozinha, espalhando o mínimo possível, para manter o brilho.</a:t>
            </a:r>
            <a:endParaRPr lang="en-US" sz="850" dirty="0"/>
          </a:p>
        </p:txBody>
      </p:sp>
      <p:sp>
        <p:nvSpPr>
          <p:cNvPr id="67" name="Shape 58"/>
          <p:cNvSpPr/>
          <p:nvPr/>
        </p:nvSpPr>
        <p:spPr>
          <a:xfrm>
            <a:off x="791914" y="7883723"/>
            <a:ext cx="5976045" cy="1130945"/>
          </a:xfrm>
          <a:prstGeom prst="roundRect">
            <a:avLst>
              <a:gd name="adj" fmla="val 7721"/>
            </a:avLst>
          </a:prstGeom>
          <a:solidFill>
            <a:srgbClr val="FFC926"/>
          </a:solidFill>
          <a:ln/>
        </p:spPr>
      </p:sp>
      <p:sp>
        <p:nvSpPr>
          <p:cNvPr id="68" name="Text 59"/>
          <p:cNvSpPr txBox="1"/>
          <p:nvPr/>
        </p:nvSpPr>
        <p:spPr>
          <a:xfrm>
            <a:off x="971848" y="7963049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69" name="Text 60"/>
          <p:cNvSpPr txBox="1"/>
          <p:nvPr/>
        </p:nvSpPr>
        <p:spPr>
          <a:xfrm>
            <a:off x="971848" y="8238827"/>
            <a:ext cx="5616178" cy="64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que sola tem três culpados: farinha batida demais, fermento misturado com força e forno aberto cedo. Por isso o liquidificador cuida só da emulsão (cenoura, ovos e óleo), a farinha entra à mão, o fermento vai por último e o forno fica fechado nos primeiros 25 minutos. O mel na calda é o que dá o efeito espelhado.</a:t>
            </a:r>
            <a:endParaRPr lang="en-US" sz="830" dirty="0"/>
          </a:p>
        </p:txBody>
      </p:sp>
      <p:sp>
        <p:nvSpPr>
          <p:cNvPr id="70" name="Text 61"/>
          <p:cNvSpPr txBox="1"/>
          <p:nvPr/>
        </p:nvSpPr>
        <p:spPr>
          <a:xfrm>
            <a:off x="550917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71" name="Text 62"/>
          <p:cNvSpPr txBox="1"/>
          <p:nvPr/>
        </p:nvSpPr>
        <p:spPr>
          <a:xfrm>
            <a:off x="6642348" y="10162729"/>
            <a:ext cx="2399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05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 COZIDA NA ÁGUA, SEM GRAÇA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Cozinhar a cenoura em muita água e escorrer. O açúcar e o sabor dela vão embora pelo ralo da pia, junto com a água.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Glaçagem, a técnica do chef: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cenoura em rodelas numa frigideira, água só até a metade da altura, 1 colher de manteiga, 1 pitada de açúcar e outra de sal.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9839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2654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15085"/>
            <a:ext cx="55065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Fogo médio e panela destampada: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 cenoura cozinha enquanto a água evapora.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27910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32167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31021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Quando a água secar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a manteiga e o açúcar viram uma película brilhante que envolve cada rodela. Mexa por 1 minuto e pronto.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69909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74166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730204"/>
            <a:ext cx="56895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Resultado: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cenoura macia, brilhante e com todo o sabor dentro dela, não na água.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328940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149155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537448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595045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537448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595045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11311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873353"/>
            <a:ext cx="289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Mel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11311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784" y="5892403"/>
            <a:ext cx="3708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Melaço, xarope de bordo ou 1 colher de açúcar mascavo.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42595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186190"/>
            <a:ext cx="9035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Tomilho fresco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42595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205240"/>
            <a:ext cx="39176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Alecrim, orégano fresco ou ½ colher (chá) de tomilho seco.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673878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499027"/>
            <a:ext cx="9542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Aveia em flocos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673878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518077"/>
            <a:ext cx="3099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Farinha de rosca ou farinha de mandioca fina.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05162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6811863"/>
            <a:ext cx="1397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Chocolate meio amargo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05162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6830913"/>
            <a:ext cx="3610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Chocolate ao leite com 1 colher (sopa) de cacau em pó.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36446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124700"/>
            <a:ext cx="8780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Creme de leite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36446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143750"/>
            <a:ext cx="252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Leite integral (a calda fica mais fina).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67729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437537"/>
            <a:ext cx="12768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Amendoim (no pesto)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67729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456587"/>
            <a:ext cx="4215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Castanha-de-caju, castanha-do-pará ou sementes de girassol.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0440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37586" y="10162729"/>
            <a:ext cx="244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8856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2158008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22559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CASCAS: CHIPS ASSADOS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descascar as cenouras, guarde as cascas. Seque bem, misture com um fio de azeite, sal e uma pitada de cominho e espalhe sem amontoar. Leve à airfryer a 170 °C por 6 a 8 minutos ou ao forno a 150 °C por 15 a 20 minutos, de olho: elas são finas e passam do ponto rápido.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069282"/>
            <a:ext cx="4621113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2889498"/>
            <a:ext cx="50146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RAMAS (FOLHAS): PESTO COM AMENDOIM OU CASTANHA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251448"/>
            <a:ext cx="5759946" cy="100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Separe as folhas e os talos finos de 1 maço de rama (cerca de 60 g). Mergulhe por 10 segundos em água fervente e depois em água com gelo: isso fixa a cor e suaviza o amargor. Esprema bem. Bata no processador ou pilão com 50 g de amendoim torrado sem sal, 1 dente de alho, 40 g de parmesão, suco de ½ limão e sal, acrescentando cerca de 120 ml de azeite aos poucos. Use em massas, no hambúrguer de cenoura, sobre as cenouras assadas ou no pão. Dura 5 dias na geladeira, coberto por uma camada de azeite.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0559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38776" y="10162729"/>
            <a:ext cx="243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574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BÔNUS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OS 10 PULOS DO MAMEDE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98787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Dez decisões universais de cozinha, que valem para qualquer ingrediente e qualquer receita.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791914" y="2673251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29580" y="2737386"/>
            <a:ext cx="162967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59830" y="2663726"/>
            <a:ext cx="1191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SEQUE ANTES DE DOURAR</a:t>
            </a:r>
            <a:endParaRPr lang="en-US" sz="920" dirty="0"/>
          </a:p>
        </p:txBody>
      </p:sp>
      <p:sp>
        <p:nvSpPr>
          <p:cNvPr id="10" name="Text 6"/>
          <p:cNvSpPr txBox="1"/>
          <p:nvPr/>
        </p:nvSpPr>
        <p:spPr>
          <a:xfrm>
            <a:off x="1259830" y="2856607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Umidade é inimiga da crosta. Carne, frango, legumes: tudo passa pelo papel-toalha antes de ir para a frigideira. Enquanto houver água, a comida cozinha no vapor em vez de dourar.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791914" y="3664595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16632" y="3728730"/>
            <a:ext cx="18886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59830" y="3655070"/>
            <a:ext cx="1524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FRIGIDEIRA QUENTE DE VERDADE</a:t>
            </a:r>
            <a:endParaRPr lang="en-US" sz="920" dirty="0"/>
          </a:p>
        </p:txBody>
      </p:sp>
      <p:sp>
        <p:nvSpPr>
          <p:cNvPr id="14" name="Text 10"/>
          <p:cNvSpPr txBox="1"/>
          <p:nvPr/>
        </p:nvSpPr>
        <p:spPr>
          <a:xfrm>
            <a:off x="1259830" y="3847951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Espere a frigideira aquecer antes de colocar a gordura e a gordura brilhar antes de colocar o alimento. Uma gota de água deve chiar e evaporar na hora.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791914" y="4471392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7079" y="4535527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259830" y="4461867"/>
            <a:ext cx="965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LOTE A PANELA</a:t>
            </a:r>
            <a:endParaRPr lang="en-US" sz="920" dirty="0"/>
          </a:p>
        </p:txBody>
      </p:sp>
      <p:sp>
        <p:nvSpPr>
          <p:cNvPr id="18" name="Text 14"/>
          <p:cNvSpPr txBox="1"/>
          <p:nvPr/>
        </p:nvSpPr>
        <p:spPr>
          <a:xfrm>
            <a:off x="1259830" y="4654748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Comida amontoada solta líquido e esfria a panela. Deixe espaço entre os pedaços e, se precisar, trabalhe em levas. É mais rápido do que parece.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791914" y="5278189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11870" y="5342325"/>
            <a:ext cx="198239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59830" y="5268664"/>
            <a:ext cx="18580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MEXA: DEIXE A CROSTA SE FORMAR</a:t>
            </a:r>
            <a:endParaRPr lang="en-US" sz="920" dirty="0"/>
          </a:p>
        </p:txBody>
      </p:sp>
      <p:sp>
        <p:nvSpPr>
          <p:cNvPr id="22" name="Text 18"/>
          <p:cNvSpPr txBox="1"/>
          <p:nvPr/>
        </p:nvSpPr>
        <p:spPr>
          <a:xfrm>
            <a:off x="1259830" y="5461546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Selar não “fecha os sucos”, como se dizia. Selar cria sabor. E a crosta só se forma se você deixar o alimento quieto. Quando estiver pronto para virar, ele solta sozinho da frigideira.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791914" y="6269534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916632" y="6333669"/>
            <a:ext cx="18871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259830" y="6260009"/>
            <a:ext cx="186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SAL COM ANTECEDÊNCIA E EM CAMADAS</a:t>
            </a:r>
            <a:endParaRPr lang="en-US" sz="920" dirty="0"/>
          </a:p>
        </p:txBody>
      </p:sp>
      <p:sp>
        <p:nvSpPr>
          <p:cNvPr id="26" name="Text 22"/>
          <p:cNvSpPr txBox="1"/>
          <p:nvPr/>
        </p:nvSpPr>
        <p:spPr>
          <a:xfrm>
            <a:off x="1259830" y="6452890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Salgar carnes com horas de antecedência tempera por dentro. Nas preparações, tempere um pouco em cada etapa, em vez de tudo no final. E sempre prove antes de acrescentar mais.</a:t>
            </a:r>
            <a:endParaRPr lang="en-US" sz="920" dirty="0"/>
          </a:p>
        </p:txBody>
      </p:sp>
      <p:sp>
        <p:nvSpPr>
          <p:cNvPr id="27" name="Text 23"/>
          <p:cNvSpPr txBox="1"/>
          <p:nvPr/>
        </p:nvSpPr>
        <p:spPr>
          <a:xfrm>
            <a:off x="549875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6631930" y="10162729"/>
            <a:ext cx="2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7952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BÔNUS · CONTINUAÇÃO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MAIS 5 PULOS DO MAMEDE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91914" y="2179737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6632" y="2243872"/>
            <a:ext cx="18886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59830" y="2170212"/>
            <a:ext cx="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ACIDEZ NO FINAL</a:t>
            </a:r>
            <a:endParaRPr lang="en-US" sz="920" dirty="0"/>
          </a:p>
        </p:txBody>
      </p:sp>
      <p:sp>
        <p:nvSpPr>
          <p:cNvPr id="8" name="Text 5"/>
          <p:cNvSpPr txBox="1"/>
          <p:nvPr/>
        </p:nvSpPr>
        <p:spPr>
          <a:xfrm>
            <a:off x="1259830" y="2363093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Algumas gotas de limão ou vinagre no final acordam um prato “sem graça” muitas vezes melhor do que mais sal. Antes de salgar de novo, experimente acidez.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791914" y="3171081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9014" y="3235216"/>
            <a:ext cx="18395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59830" y="3161556"/>
            <a:ext cx="10623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RESPEITE O DESCANSO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1259830" y="3354437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Carnes descansam antes de cortar; massas descansam antes de modelar; bolos descansam antes de desenformar. Esperar 5 minutos também é técnica.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91914" y="3977878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7079" y="4042013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259830" y="3968353"/>
            <a:ext cx="1313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FUNDO DA PANELA É OURO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1259830" y="4161234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Aquele grudado escuro no fundo da frigideira é sabor concentrado. Solte com um pouco de água, caldo ou vinho (deglaçar) e você terá um molho em 2 minutos.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91914" y="4784675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7079" y="4848811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59830" y="4775150"/>
            <a:ext cx="1230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CONTRASTE DE TEXTURAS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1259830" y="4968032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Todo prato memorável tem algo cremoso e algo crocante. Sementes tostadas, farofa, chips de casca e pele crocante existem para isso.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91914" y="5591473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1927" y="5655608"/>
            <a:ext cx="23812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59830" y="5581948"/>
            <a:ext cx="1612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ORGANIZE ANTES DE LIGAR O FOGO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1259830" y="5774829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Leia a receita inteira, separe, corte e meça tudo antes de começar (é o que os chefs chamam de mise en place). Cozinhar fica mais calmo, e o fogo nunca espera por você.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791914" y="6582817"/>
            <a:ext cx="0" cy="253305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48048" y="6559322"/>
            <a:ext cx="6146101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CHEF É QUEM OLHA PARA O BÁSICO E ENXERGA POSSIBILIDADES.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52479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657975" y="10162729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09" y="2191792"/>
            <a:ext cx="3599855" cy="29997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16428" y="5355401"/>
            <a:ext cx="2366629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-27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COZINHA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3768474" y="5355401"/>
            <a:ext cx="226978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-27" kern="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MAMEDE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1259979" y="6267152"/>
            <a:ext cx="503991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você chegou até aqui, já percebeu: não foram 15 receitas novas. Foram 5 ingredientes que você já conhecia, olhados de outro jeito.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259979" y="6701433"/>
            <a:ext cx="503991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Agora o convite é levar esse olhar para o resto da sua cozinha. Antes de cozinhar qualquer coisa, pergunte: como escolher, como guardar, como cortar? Que técnica muda o resultado? E o que dá para aproveitar da casca, do talo, do osso?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228618" y="7476530"/>
            <a:ext cx="51026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com afeto, com técnica e sem desperdício. Esse é o Jeito Mamede.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2204082" y="7946827"/>
            <a:ext cx="31515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6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Bom apetite! · CHEF ALLAN MAMEDE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Cozinha Mamede</dc:title>
  <dc:subject>PptxGenJS Presentation</dc:subject>
  <dc:creator>Chef Allan Mamede</dc:creator>
  <cp:lastModifiedBy>Chef Allan Mamede</cp:lastModifiedBy>
  <cp:revision>1</cp:revision>
  <dcterms:created xsi:type="dcterms:W3CDTF">2026-10-13T16:59:16Z</dcterms:created>
  <dcterms:modified xsi:type="dcterms:W3CDTF">2026-10-13T16:59:16Z</dcterms:modified>
</cp:coreProperties>
</file>