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image" Target="../media/image-32-6.png"/><Relationship Id="rId7" Type="http://schemas.openxmlformats.org/officeDocument/2006/relationships/image" Target="../media/image-3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image" Target="../media/image-38-5.png"/><Relationship Id="rId6" Type="http://schemas.openxmlformats.org/officeDocument/2006/relationships/image" Target="../media/image-38-6.png"/><Relationship Id="rId7" Type="http://schemas.openxmlformats.org/officeDocument/2006/relationships/image" Target="../media/image-3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image" Target="../media/image-40-6.png"/><Relationship Id="rId7" Type="http://schemas.openxmlformats.org/officeDocument/2006/relationships/image" Target="../media/image-4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image" Target="../media/image-43-3.png"/><Relationship Id="rId4" Type="http://schemas.openxmlformats.org/officeDocument/2006/relationships/image" Target="../media/image-43-4.png"/><Relationship Id="rId5" Type="http://schemas.openxmlformats.org/officeDocument/2006/relationships/image" Target="../media/image-4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image" Target="../media/image-44-4.png"/><Relationship Id="rId5" Type="http://schemas.openxmlformats.org/officeDocument/2006/relationships/image" Target="../media/image-4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image" Target="../media/image-50-5.png"/><Relationship Id="rId6" Type="http://schemas.openxmlformats.org/officeDocument/2006/relationships/image" Target="../media/image-50-6.png"/><Relationship Id="rId7" Type="http://schemas.openxmlformats.org/officeDocument/2006/relationships/image" Target="../media/image-5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image" Target="../media/image-52-6.png"/><Relationship Id="rId7" Type="http://schemas.openxmlformats.org/officeDocument/2006/relationships/image" Target="../media/image-5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image" Target="../media/image-53-4.png"/><Relationship Id="rId5" Type="http://schemas.openxmlformats.org/officeDocument/2006/relationships/image" Target="../media/image-5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935980"/>
            <a:ext cx="15883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EBOOK DE RECEITAS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32118"/>
            <a:ext cx="4031504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92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890125"/>
            <a:ext cx="3866650" cy="1518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0" spc="-46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9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014043"/>
            <a:ext cx="1468934" cy="1079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3834259"/>
            <a:ext cx="148418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 INGREDIENTES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791914" y="41651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92820" y="420766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1158925" y="419620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791914" y="446023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83444" y="450279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1158925" y="4491335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791914" y="475535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883741" y="479792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1158925" y="4786461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880021" y="5093047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1158925" y="5081587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456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883444" y="5388173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158925" y="5376714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087" y="3301752"/>
            <a:ext cx="3311872" cy="2759869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91914" y="6385620"/>
            <a:ext cx="5759946" cy="554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70"/>
              </a:lnSpc>
              <a:buNone/>
            </a:pPr>
            <a:r>
              <a:rPr lang="en-US" sz="2200" spc="4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 TRANSFORMAÇÕES.</a:t>
            </a:r>
            <a:pPr algn="l" indent="0" marL="0">
              <a:lnSpc>
                <a:spcPts val="1670"/>
              </a:lnSpc>
              <a:buNone/>
            </a:pPr>
            <a:endParaRPr lang="en-US" sz="2200" dirty="0"/>
          </a:p>
          <a:p>
            <a:pPr algn="l" indent="0" marL="0">
              <a:lnSpc>
                <a:spcPts val="1670"/>
              </a:lnSpc>
              <a:buNone/>
            </a:pPr>
            <a:r>
              <a:rPr lang="en-US" sz="11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novo jeito de olhar para a sua cozinha.</a:t>
            </a:r>
            <a:endParaRPr lang="en-US" sz="2200" dirty="0"/>
          </a:p>
        </p:txBody>
      </p:sp>
      <p:sp>
        <p:nvSpPr>
          <p:cNvPr id="25" name="Text 20"/>
          <p:cNvSpPr txBox="1"/>
          <p:nvPr/>
        </p:nvSpPr>
        <p:spPr>
          <a:xfrm>
            <a:off x="791914" y="7054751"/>
            <a:ext cx="4499967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Técnica de chef, sabor afetivo e aproveitamento integral, da casca à semente, com o que você já compra toda semana.</a:t>
            </a:r>
            <a:endParaRPr lang="en-US" sz="920" dirty="0"/>
          </a:p>
        </p:txBody>
      </p:sp>
      <p:sp>
        <p:nvSpPr>
          <p:cNvPr id="26" name="Text 21"/>
          <p:cNvSpPr txBox="1"/>
          <p:nvPr/>
        </p:nvSpPr>
        <p:spPr>
          <a:xfrm>
            <a:off x="791914" y="9490918"/>
            <a:ext cx="21506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por CHEF ALLAN MAMEDE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690632"/>
            <a:ext cx="197741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SUMÁRIO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91914" y="14463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92820" y="148887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158925" y="1477417"/>
            <a:ext cx="7984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Introdução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1972568" y="1633441"/>
            <a:ext cx="452839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" name="Text 5"/>
          <p:cNvSpPr txBox="1"/>
          <p:nvPr/>
        </p:nvSpPr>
        <p:spPr>
          <a:xfrm>
            <a:off x="6630442" y="1467892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91914" y="174143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83444" y="178400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1158925" y="1772543"/>
            <a:ext cx="1879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jeito Mamede de cozinhar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966740" y="1928567"/>
            <a:ext cx="352469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3" name="Text 10"/>
          <p:cNvSpPr txBox="1"/>
          <p:nvPr/>
        </p:nvSpPr>
        <p:spPr>
          <a:xfrm>
            <a:off x="6620917" y="1763018"/>
            <a:ext cx="2613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91914" y="20365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20791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58925" y="2067669"/>
            <a:ext cx="11486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 Cabotiá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2313980" y="2223693"/>
            <a:ext cx="418638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8" name="Text 15"/>
          <p:cNvSpPr txBox="1"/>
          <p:nvPr/>
        </p:nvSpPr>
        <p:spPr>
          <a:xfrm>
            <a:off x="6629846" y="2058144"/>
            <a:ext cx="2524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05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159073" y="2372320"/>
            <a:ext cx="37626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760" dirty="0"/>
          </a:p>
        </p:txBody>
      </p:sp>
      <p:sp>
        <p:nvSpPr>
          <p:cNvPr id="20" name="Shape 17"/>
          <p:cNvSpPr/>
          <p:nvPr/>
        </p:nvSpPr>
        <p:spPr>
          <a:xfrm>
            <a:off x="4648051" y="2455419"/>
            <a:ext cx="18789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56487" y="2353270"/>
            <a:ext cx="2257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1159073" y="256073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760" dirty="0"/>
          </a:p>
        </p:txBody>
      </p:sp>
      <p:sp>
        <p:nvSpPr>
          <p:cNvPr id="23" name="Shape 20"/>
          <p:cNvSpPr/>
          <p:nvPr/>
        </p:nvSpPr>
        <p:spPr>
          <a:xfrm>
            <a:off x="5788521" y="2796384"/>
            <a:ext cx="73536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4" name="Text 21"/>
          <p:cNvSpPr txBox="1"/>
          <p:nvPr/>
        </p:nvSpPr>
        <p:spPr>
          <a:xfrm>
            <a:off x="6653361" y="2541687"/>
            <a:ext cx="2288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59073" y="2901702"/>
            <a:ext cx="479576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760" dirty="0"/>
          </a:p>
        </p:txBody>
      </p:sp>
      <p:sp>
        <p:nvSpPr>
          <p:cNvPr id="26" name="Shape 23"/>
          <p:cNvSpPr/>
          <p:nvPr/>
        </p:nvSpPr>
        <p:spPr>
          <a:xfrm>
            <a:off x="5570488" y="2984800"/>
            <a:ext cx="99372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4"/>
          <p:cNvSpPr txBox="1"/>
          <p:nvPr/>
        </p:nvSpPr>
        <p:spPr>
          <a:xfrm>
            <a:off x="6693694" y="2882652"/>
            <a:ext cx="1885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91914" y="30494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880021" y="309205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1158925" y="3080593"/>
            <a:ext cx="12028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Banana-da-Terra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2362349" y="3236618"/>
            <a:ext cx="416272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2" name="Text 29"/>
          <p:cNvSpPr txBox="1"/>
          <p:nvPr/>
        </p:nvSpPr>
        <p:spPr>
          <a:xfrm>
            <a:off x="6654552" y="3071068"/>
            <a:ext cx="22770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15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1159073" y="3385245"/>
            <a:ext cx="422002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760" dirty="0"/>
          </a:p>
        </p:txBody>
      </p:sp>
      <p:sp>
        <p:nvSpPr>
          <p:cNvPr id="34" name="Shape 31"/>
          <p:cNvSpPr/>
          <p:nvPr/>
        </p:nvSpPr>
        <p:spPr>
          <a:xfrm>
            <a:off x="5056436" y="3468343"/>
            <a:ext cx="149110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77025" y="3366195"/>
            <a:ext cx="2052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1159073" y="3573661"/>
            <a:ext cx="33692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760" dirty="0"/>
          </a:p>
        </p:txBody>
      </p:sp>
      <p:sp>
        <p:nvSpPr>
          <p:cNvPr id="37" name="Shape 34"/>
          <p:cNvSpPr/>
          <p:nvPr/>
        </p:nvSpPr>
        <p:spPr>
          <a:xfrm>
            <a:off x="4296817" y="3656759"/>
            <a:ext cx="224760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38" name="Text 35"/>
          <p:cNvSpPr txBox="1"/>
          <p:nvPr/>
        </p:nvSpPr>
        <p:spPr>
          <a:xfrm>
            <a:off x="6673900" y="355461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000" dirty="0"/>
          </a:p>
        </p:txBody>
      </p:sp>
      <p:sp>
        <p:nvSpPr>
          <p:cNvPr id="39" name="Text 36"/>
          <p:cNvSpPr txBox="1"/>
          <p:nvPr/>
        </p:nvSpPr>
        <p:spPr>
          <a:xfrm>
            <a:off x="1159073" y="3762077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760" dirty="0"/>
          </a:p>
        </p:txBody>
      </p:sp>
      <p:sp>
        <p:nvSpPr>
          <p:cNvPr id="40" name="Shape 37"/>
          <p:cNvSpPr/>
          <p:nvPr/>
        </p:nvSpPr>
        <p:spPr>
          <a:xfrm>
            <a:off x="5788521" y="3997725"/>
            <a:ext cx="75604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1" name="Text 38"/>
          <p:cNvSpPr txBox="1"/>
          <p:nvPr/>
        </p:nvSpPr>
        <p:spPr>
          <a:xfrm>
            <a:off x="6674048" y="3743027"/>
            <a:ext cx="20821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791914" y="406241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883444" y="410497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1158925" y="4093518"/>
            <a:ext cx="14308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 Frango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565946" y="4249542"/>
            <a:ext cx="39351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6" name="Text 43"/>
          <p:cNvSpPr txBox="1"/>
          <p:nvPr/>
        </p:nvSpPr>
        <p:spPr>
          <a:xfrm>
            <a:off x="6630591" y="4083993"/>
            <a:ext cx="25166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25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1159073" y="4398169"/>
            <a:ext cx="486010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760" dirty="0"/>
          </a:p>
        </p:txBody>
      </p:sp>
      <p:sp>
        <p:nvSpPr>
          <p:cNvPr id="48" name="Shape 45"/>
          <p:cNvSpPr/>
          <p:nvPr/>
        </p:nvSpPr>
        <p:spPr>
          <a:xfrm>
            <a:off x="5627936" y="4481267"/>
            <a:ext cx="89966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49" name="Text 46"/>
          <p:cNvSpPr txBox="1"/>
          <p:nvPr/>
        </p:nvSpPr>
        <p:spPr>
          <a:xfrm>
            <a:off x="6657082" y="4379119"/>
            <a:ext cx="2251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1159073" y="4586585"/>
            <a:ext cx="391548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760" dirty="0"/>
          </a:p>
        </p:txBody>
      </p:sp>
      <p:sp>
        <p:nvSpPr>
          <p:cNvPr id="51" name="Shape 48"/>
          <p:cNvSpPr/>
          <p:nvPr/>
        </p:nvSpPr>
        <p:spPr>
          <a:xfrm>
            <a:off x="4784527" y="4669684"/>
            <a:ext cx="173995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2" name="Text 49"/>
          <p:cNvSpPr txBox="1"/>
          <p:nvPr/>
        </p:nvSpPr>
        <p:spPr>
          <a:xfrm>
            <a:off x="6653957" y="4567535"/>
            <a:ext cx="22830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1159073" y="4775002"/>
            <a:ext cx="4212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760" dirty="0"/>
          </a:p>
        </p:txBody>
      </p:sp>
      <p:sp>
        <p:nvSpPr>
          <p:cNvPr id="54" name="Shape 51"/>
          <p:cNvSpPr/>
          <p:nvPr/>
        </p:nvSpPr>
        <p:spPr>
          <a:xfrm>
            <a:off x="5049441" y="4858100"/>
            <a:ext cx="14960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55" name="Text 52"/>
          <p:cNvSpPr txBox="1"/>
          <p:nvPr/>
        </p:nvSpPr>
        <p:spPr>
          <a:xfrm>
            <a:off x="6674941" y="4755952"/>
            <a:ext cx="207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91914" y="49227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83444" y="49653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1158925" y="4953893"/>
            <a:ext cx="688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1862137" y="5109917"/>
            <a:ext cx="463971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0" name="Text 57"/>
          <p:cNvSpPr txBox="1"/>
          <p:nvPr/>
        </p:nvSpPr>
        <p:spPr>
          <a:xfrm>
            <a:off x="6631335" y="4944368"/>
            <a:ext cx="2509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35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159073" y="5258544"/>
            <a:ext cx="255698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760" dirty="0"/>
          </a:p>
        </p:txBody>
      </p:sp>
      <p:sp>
        <p:nvSpPr>
          <p:cNvPr id="62" name="Shape 59"/>
          <p:cNvSpPr/>
          <p:nvPr/>
        </p:nvSpPr>
        <p:spPr>
          <a:xfrm>
            <a:off x="3571577" y="5341643"/>
            <a:ext cx="295662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3" name="Text 60"/>
          <p:cNvSpPr txBox="1"/>
          <p:nvPr/>
        </p:nvSpPr>
        <p:spPr>
          <a:xfrm>
            <a:off x="6657677" y="5239494"/>
            <a:ext cx="22458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000" dirty="0"/>
          </a:p>
        </p:txBody>
      </p:sp>
      <p:sp>
        <p:nvSpPr>
          <p:cNvPr id="64" name="Text 61"/>
          <p:cNvSpPr txBox="1"/>
          <p:nvPr/>
        </p:nvSpPr>
        <p:spPr>
          <a:xfrm>
            <a:off x="1159073" y="5446961"/>
            <a:ext cx="41446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760" dirty="0"/>
          </a:p>
        </p:txBody>
      </p:sp>
      <p:sp>
        <p:nvSpPr>
          <p:cNvPr id="65" name="Shape 62"/>
          <p:cNvSpPr/>
          <p:nvPr/>
        </p:nvSpPr>
        <p:spPr>
          <a:xfrm>
            <a:off x="4989165" y="5530059"/>
            <a:ext cx="153605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6" name="Text 63"/>
          <p:cNvSpPr txBox="1"/>
          <p:nvPr/>
        </p:nvSpPr>
        <p:spPr>
          <a:xfrm>
            <a:off x="6654701" y="5427911"/>
            <a:ext cx="2275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000" dirty="0"/>
          </a:p>
        </p:txBody>
      </p:sp>
      <p:sp>
        <p:nvSpPr>
          <p:cNvPr id="67" name="Text 64"/>
          <p:cNvSpPr txBox="1"/>
          <p:nvPr/>
        </p:nvSpPr>
        <p:spPr>
          <a:xfrm>
            <a:off x="1159073" y="5635377"/>
            <a:ext cx="277034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760" dirty="0"/>
          </a:p>
        </p:txBody>
      </p:sp>
      <p:sp>
        <p:nvSpPr>
          <p:cNvPr id="68" name="Shape 65"/>
          <p:cNvSpPr/>
          <p:nvPr/>
        </p:nvSpPr>
        <p:spPr>
          <a:xfrm>
            <a:off x="3762077" y="5718475"/>
            <a:ext cx="278159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69" name="Text 66"/>
          <p:cNvSpPr txBox="1"/>
          <p:nvPr/>
        </p:nvSpPr>
        <p:spPr>
          <a:xfrm>
            <a:off x="6673155" y="5616327"/>
            <a:ext cx="20910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1914" y="57831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885230" y="582572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72" name="Text 69"/>
          <p:cNvSpPr txBox="1"/>
          <p:nvPr/>
        </p:nvSpPr>
        <p:spPr>
          <a:xfrm>
            <a:off x="1158925" y="5814268"/>
            <a:ext cx="62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1794421" y="5970293"/>
            <a:ext cx="469805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4" name="Text 71"/>
          <p:cNvSpPr txBox="1"/>
          <p:nvPr/>
        </p:nvSpPr>
        <p:spPr>
          <a:xfrm>
            <a:off x="6621959" y="5804743"/>
            <a:ext cx="2603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45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1159073" y="6118920"/>
            <a:ext cx="4499967" cy="285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760" dirty="0"/>
          </a:p>
        </p:txBody>
      </p:sp>
      <p:sp>
        <p:nvSpPr>
          <p:cNvPr id="76" name="Shape 73"/>
          <p:cNvSpPr/>
          <p:nvPr/>
        </p:nvSpPr>
        <p:spPr>
          <a:xfrm>
            <a:off x="5788521" y="6354567"/>
            <a:ext cx="7393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77" name="Text 74"/>
          <p:cNvSpPr txBox="1"/>
          <p:nvPr/>
        </p:nvSpPr>
        <p:spPr>
          <a:xfrm>
            <a:off x="6657380" y="6099870"/>
            <a:ext cx="2248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000" dirty="0"/>
          </a:p>
        </p:txBody>
      </p:sp>
      <p:sp>
        <p:nvSpPr>
          <p:cNvPr id="78" name="Text 75"/>
          <p:cNvSpPr txBox="1"/>
          <p:nvPr/>
        </p:nvSpPr>
        <p:spPr>
          <a:xfrm>
            <a:off x="1159073" y="6459885"/>
            <a:ext cx="41185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760" dirty="0"/>
          </a:p>
        </p:txBody>
      </p:sp>
      <p:sp>
        <p:nvSpPr>
          <p:cNvPr id="79" name="Shape 76"/>
          <p:cNvSpPr/>
          <p:nvPr/>
        </p:nvSpPr>
        <p:spPr>
          <a:xfrm>
            <a:off x="4965799" y="6542983"/>
            <a:ext cx="155153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0" name="Text 77"/>
          <p:cNvSpPr txBox="1"/>
          <p:nvPr/>
        </p:nvSpPr>
        <p:spPr>
          <a:xfrm>
            <a:off x="6646813" y="6440835"/>
            <a:ext cx="23544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000" dirty="0"/>
          </a:p>
        </p:txBody>
      </p:sp>
      <p:sp>
        <p:nvSpPr>
          <p:cNvPr id="81" name="Text 78"/>
          <p:cNvSpPr txBox="1"/>
          <p:nvPr/>
        </p:nvSpPr>
        <p:spPr>
          <a:xfrm>
            <a:off x="1159073" y="6648301"/>
            <a:ext cx="47615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760" dirty="0"/>
          </a:p>
        </p:txBody>
      </p:sp>
      <p:sp>
        <p:nvSpPr>
          <p:cNvPr id="82" name="Shape 79"/>
          <p:cNvSpPr/>
          <p:nvPr/>
        </p:nvSpPr>
        <p:spPr>
          <a:xfrm>
            <a:off x="5539978" y="6731400"/>
            <a:ext cx="100444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3" name="Text 80"/>
          <p:cNvSpPr txBox="1"/>
          <p:nvPr/>
        </p:nvSpPr>
        <p:spPr>
          <a:xfrm>
            <a:off x="6673900" y="6629251"/>
            <a:ext cx="2083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791914" y="67960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883741" y="683865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86" name="Text 83"/>
          <p:cNvSpPr txBox="1"/>
          <p:nvPr/>
        </p:nvSpPr>
        <p:spPr>
          <a:xfrm>
            <a:off x="1158925" y="6827193"/>
            <a:ext cx="2040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Bônus: os 10 pulos do Mamede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3110508" y="6983217"/>
            <a:ext cx="3390751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88" name="Text 85"/>
          <p:cNvSpPr txBox="1"/>
          <p:nvPr/>
        </p:nvSpPr>
        <p:spPr>
          <a:xfrm>
            <a:off x="6630739" y="6817668"/>
            <a:ext cx="2515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55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91914" y="70912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90" name="Text 87"/>
          <p:cNvSpPr txBox="1"/>
          <p:nvPr/>
        </p:nvSpPr>
        <p:spPr>
          <a:xfrm>
            <a:off x="883741" y="71337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950" dirty="0"/>
          </a:p>
        </p:txBody>
      </p:sp>
      <p:sp>
        <p:nvSpPr>
          <p:cNvPr id="91" name="Text 88"/>
          <p:cNvSpPr txBox="1"/>
          <p:nvPr/>
        </p:nvSpPr>
        <p:spPr>
          <a:xfrm>
            <a:off x="1158925" y="7122319"/>
            <a:ext cx="16025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seguir cozinhando</a:t>
            </a:r>
            <a:endParaRPr lang="en-US" sz="850" dirty="0"/>
          </a:p>
        </p:txBody>
      </p:sp>
      <p:sp>
        <p:nvSpPr>
          <p:cNvPr id="92" name="Shape 89"/>
          <p:cNvSpPr/>
          <p:nvPr/>
        </p:nvSpPr>
        <p:spPr>
          <a:xfrm>
            <a:off x="2719239" y="7278343"/>
            <a:ext cx="378633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93" name="Text 90"/>
          <p:cNvSpPr txBox="1"/>
          <p:nvPr/>
        </p:nvSpPr>
        <p:spPr>
          <a:xfrm>
            <a:off x="6635055" y="7112794"/>
            <a:ext cx="2472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57</a:t>
            </a:r>
            <a:endParaRPr lang="en-US" sz="1200" dirty="0"/>
          </a:p>
        </p:txBody>
      </p:sp>
      <p:sp>
        <p:nvSpPr>
          <p:cNvPr id="94" name="Text 91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95" name="Text 92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996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INTRODUÇÃO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801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UM NOVO JEITO DE OLHAR PARA A SUA COZINHA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712839"/>
            <a:ext cx="5759946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359687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4201567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791914" y="4976664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com calma, cozinhe com tempo e, principalmente, prove tudo pelo caminho. É assim que a gente aprende a cozinhar de verdade.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791914" y="5451872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48048" y="5428377"/>
            <a:ext cx="5720548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PARE DE FAZER SEMPRE A MESMA COMIDA DO MESMO JEITO.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921127"/>
            <a:ext cx="167737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20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CHEF ALLAN MAMEDE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8123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MÉTODO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5759946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JEITO MAMEDE DE COZINHAR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2198787"/>
            <a:ext cx="56965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método que guia todo o material se apoia em três fundamentos.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91914" y="244450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92820" y="248706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69789" y="2473226"/>
            <a:ext cx="4830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393752" y="2482751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acolhedora, generosa e com memória de casa, sem afetações desnecessárias nem gastronomia distante da realidade.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791914" y="29005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83444" y="29430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1169789" y="2929235"/>
            <a:ext cx="6106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TÉCNICA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2393752" y="293876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791914" y="3356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83741" y="3399086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1169789" y="3385245"/>
            <a:ext cx="11583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APROVEITAMENTO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2393752" y="3394770"/>
            <a:ext cx="437420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olhar inteligente para cascas, talos, ramas e ossos, transformando o que iria para o lixo em sabor e textura.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791914" y="3869978"/>
            <a:ext cx="0" cy="506611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1914" y="3869025"/>
            <a:ext cx="5579946" cy="576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AFETO, TÉCNICA E APROVEITAMENTO. NESSA ORDEM, EM TODO PRATO.</a:t>
            </a:r>
            <a:endParaRPr lang="en-US" sz="19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4833640"/>
            <a:ext cx="1957239" cy="1079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91914" y="4653855"/>
            <a:ext cx="203108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USAR ESTE GUIA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5015805"/>
            <a:ext cx="5525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Cada um dos 5 capítulos é dedicado a um ingrediente e segue a mesma jornada: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791914" y="527015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881807" y="5327749"/>
            <a:ext cx="4845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ETAPA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2375892" y="527015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65784" y="5327749"/>
            <a:ext cx="149735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QUE VOCÊ ENCONTRA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791914" y="600834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28" name="Text 24"/>
          <p:cNvSpPr txBox="1"/>
          <p:nvPr/>
        </p:nvSpPr>
        <p:spPr>
          <a:xfrm>
            <a:off x="881807" y="5606058"/>
            <a:ext cx="821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2375892" y="600834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465892" y="562510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olhar do chef para expandir as possibilidades de uso daquele insumo.</a:t>
            </a:r>
            <a:endParaRPr lang="en-US" sz="820" dirty="0"/>
          </a:p>
        </p:txBody>
      </p:sp>
      <p:sp>
        <p:nvSpPr>
          <p:cNvPr id="31" name="Shape 27"/>
          <p:cNvSpPr/>
          <p:nvPr/>
        </p:nvSpPr>
        <p:spPr>
          <a:xfrm>
            <a:off x="791914" y="632117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8"/>
          <p:cNvSpPr txBox="1"/>
          <p:nvPr/>
        </p:nvSpPr>
        <p:spPr>
          <a:xfrm>
            <a:off x="881807" y="6081415"/>
            <a:ext cx="9681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050" dirty="0"/>
          </a:p>
        </p:txBody>
      </p:sp>
      <p:sp>
        <p:nvSpPr>
          <p:cNvPr id="33" name="Shape 29"/>
          <p:cNvSpPr/>
          <p:nvPr/>
        </p:nvSpPr>
        <p:spPr>
          <a:xfrm>
            <a:off x="2375892" y="632117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30"/>
          <p:cNvSpPr txBox="1"/>
          <p:nvPr/>
        </p:nvSpPr>
        <p:spPr>
          <a:xfrm>
            <a:off x="2465784" y="6100465"/>
            <a:ext cx="400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Como escolher no mercado, como armazenar e como cortar.</a:t>
            </a:r>
            <a:endParaRPr lang="en-US" sz="820" dirty="0"/>
          </a:p>
        </p:txBody>
      </p:sp>
      <p:sp>
        <p:nvSpPr>
          <p:cNvPr id="35" name="Shape 31"/>
          <p:cNvSpPr/>
          <p:nvPr/>
        </p:nvSpPr>
        <p:spPr>
          <a:xfrm>
            <a:off x="791914" y="679653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881807" y="6394252"/>
            <a:ext cx="108330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050" dirty="0"/>
          </a:p>
        </p:txBody>
      </p:sp>
      <p:sp>
        <p:nvSpPr>
          <p:cNvPr id="37" name="Shape 33"/>
          <p:cNvSpPr/>
          <p:nvPr/>
        </p:nvSpPr>
        <p:spPr>
          <a:xfrm>
            <a:off x="2375892" y="679653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4"/>
          <p:cNvSpPr txBox="1"/>
          <p:nvPr/>
        </p:nvSpPr>
        <p:spPr>
          <a:xfrm>
            <a:off x="2465892" y="641330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Três caminhos culinários completamente distintos para aquela sensação de “nunca pensei nisso”.</a:t>
            </a:r>
            <a:endParaRPr lang="en-US" sz="820" dirty="0"/>
          </a:p>
        </p:txBody>
      </p:sp>
      <p:sp>
        <p:nvSpPr>
          <p:cNvPr id="39" name="Shape 35"/>
          <p:cNvSpPr/>
          <p:nvPr/>
        </p:nvSpPr>
        <p:spPr>
          <a:xfrm>
            <a:off x="791914" y="727189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6"/>
          <p:cNvSpPr txBox="1"/>
          <p:nvPr/>
        </p:nvSpPr>
        <p:spPr>
          <a:xfrm>
            <a:off x="881807" y="6869609"/>
            <a:ext cx="871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Pulo do Chef</a:t>
            </a:r>
            <a:endParaRPr lang="en-US" sz="1050" dirty="0"/>
          </a:p>
        </p:txBody>
      </p:sp>
      <p:sp>
        <p:nvSpPr>
          <p:cNvPr id="41" name="Shape 37"/>
          <p:cNvSpPr/>
          <p:nvPr/>
        </p:nvSpPr>
        <p:spPr>
          <a:xfrm>
            <a:off x="2375892" y="727189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2465892" y="6888659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erro frequente, desmistificado, com a técnica exata para corrigi-lo.</a:t>
            </a:r>
            <a:endParaRPr lang="en-US" sz="820" dirty="0"/>
          </a:p>
        </p:txBody>
      </p:sp>
      <p:sp>
        <p:nvSpPr>
          <p:cNvPr id="43" name="Shape 39"/>
          <p:cNvSpPr/>
          <p:nvPr/>
        </p:nvSpPr>
        <p:spPr>
          <a:xfrm>
            <a:off x="791914" y="758472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40"/>
          <p:cNvSpPr txBox="1"/>
          <p:nvPr/>
        </p:nvSpPr>
        <p:spPr>
          <a:xfrm>
            <a:off x="881807" y="7344966"/>
            <a:ext cx="88225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050" dirty="0"/>
          </a:p>
        </p:txBody>
      </p:sp>
      <p:sp>
        <p:nvSpPr>
          <p:cNvPr id="45" name="Shape 41"/>
          <p:cNvSpPr/>
          <p:nvPr/>
        </p:nvSpPr>
        <p:spPr>
          <a:xfrm>
            <a:off x="2375892" y="758472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42"/>
          <p:cNvSpPr txBox="1"/>
          <p:nvPr/>
        </p:nvSpPr>
        <p:spPr>
          <a:xfrm>
            <a:off x="2465784" y="7364016"/>
            <a:ext cx="38558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Substituições inteligentes para você cozinhar sem travar.</a:t>
            </a:r>
            <a:endParaRPr lang="en-US" sz="820" dirty="0"/>
          </a:p>
        </p:txBody>
      </p:sp>
      <p:sp>
        <p:nvSpPr>
          <p:cNvPr id="47" name="Shape 43"/>
          <p:cNvSpPr/>
          <p:nvPr/>
        </p:nvSpPr>
        <p:spPr>
          <a:xfrm>
            <a:off x="791914" y="806008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881807" y="7657802"/>
            <a:ext cx="13895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Aproveita Isso Também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2375892" y="806008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6"/>
          <p:cNvSpPr txBox="1"/>
          <p:nvPr/>
        </p:nvSpPr>
        <p:spPr>
          <a:xfrm>
            <a:off x="2465892" y="7676852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Cascas, talos, ramas e aparas transformados em preparações saborosas.</a:t>
            </a:r>
            <a:endParaRPr lang="en-US" sz="820" dirty="0"/>
          </a:p>
        </p:txBody>
      </p:sp>
      <p:sp>
        <p:nvSpPr>
          <p:cNvPr id="51" name="Text 47"/>
          <p:cNvSpPr txBox="1"/>
          <p:nvPr/>
        </p:nvSpPr>
        <p:spPr>
          <a:xfrm>
            <a:off x="791914" y="8208764"/>
            <a:ext cx="575994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spc="63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MEDIDAS:</a:t>
            </a:r>
            <a:pPr algn="l" indent="0" marL="0">
              <a:lnSpc>
                <a:spcPts val="1260"/>
              </a:lnSpc>
              <a:buNone/>
            </a:pPr>
            <a:r>
              <a:rPr lang="en-US" sz="8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xícara = 240 ml · 1 colher (sopa) = 15 ml · 1 colher (chá) = 5 ml · forno sempre preaquecido.</a:t>
            </a:r>
            <a:endParaRPr lang="en-US" sz="1050" dirty="0"/>
          </a:p>
        </p:txBody>
      </p:sp>
      <p:sp>
        <p:nvSpPr>
          <p:cNvPr id="52" name="Text 48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3" name="Text 49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130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18385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5483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ABÓBORA JAPONESA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2803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2096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047059" y="6770391"/>
            <a:ext cx="145747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014" y="6517035"/>
            <a:ext cx="24824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8108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788372" y="7323734"/>
            <a:ext cx="712589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0442" y="6899970"/>
            <a:ext cx="2518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8337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77"/>
            <a:ext cx="76095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78811" y="7453312"/>
            <a:ext cx="2034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107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01 · ABÓBORA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tem mais: a casca é comestível e as sementes viram petisco. Da cabotiá, quase nada vai para o lixo.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Pegue na mão: ela deve parecer pesada para o tamanho. Isso indica polpa densa e pouca água.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55905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518273"/>
            <a:ext cx="44882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firme, sem partes moles, rachaduras ou manchas úmidas.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7870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746278"/>
            <a:ext cx="553852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Cabinho seco e bem preso. Se estiver verde e úmido, ela foi colhida cedo demais.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501506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974282"/>
            <a:ext cx="56345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Comprando em pedaço: procure polpa laranja intensa e sementes bem formadas.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225058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50068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459909"/>
            <a:ext cx="5470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Inteira: em local fresco, seco e arejado, fora da geladeira, por até 1 a 2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72869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687913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Cortada: retire as sementes, envolva em filme e guarde na geladeira por até 5 dias.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Assada ou cozida: em porções no freezer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3951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Estabilize primeiro: corte uma fatia fina da base para ela não rolar na tábua.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Use a faca mais pesada que você tiver e corte ao meio, de cima para baixo. Retire as sementes com uma colher.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Gomos com casca para assar; cubos de 2 cm para refogar e cozinhar; ralada para bolinhos e massas.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791914" y="74671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986135" y="742637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descascar, apoie o gomo deitado na tábua e corte a casca com a faca, de cima para baixo.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550217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6635353" y="10162729"/>
            <a:ext cx="246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Nhoque de abóbora tostado na manteiga de garrafa e sálvia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5153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35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23562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28465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74571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6001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28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TOSTADO NA MANTEIGA DE GARRAFA E SÁLVIA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708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CLÁSSICO AFETIVO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5691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61994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8955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85479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abóbora cabotiá com casca (cerca de 600 g de polpa)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2795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238774"/>
            <a:ext cx="5204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gema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9312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452342"/>
            <a:ext cx="20592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parmesão ralado fino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066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66591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180 a 220 g de farinha de trigo (mais um pouco para polvilhar)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4118074" y="3629471"/>
            <a:ext cx="23857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noz-moscada ralada na hora</a:t>
            </a:r>
            <a:endParaRPr lang="en-US" sz="850" dirty="0"/>
          </a:p>
        </p:txBody>
      </p:sp>
      <p:sp>
        <p:nvSpPr>
          <p:cNvPr id="34" name="Text 26"/>
          <p:cNvSpPr txBox="1"/>
          <p:nvPr/>
        </p:nvSpPr>
        <p:spPr>
          <a:xfrm>
            <a:off x="3923854" y="3844230"/>
            <a:ext cx="105653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PARA FINALIZAR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3923854" y="41198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79081"/>
            <a:ext cx="288236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colheres (sopa) de manteiga de garrafa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3342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92650"/>
            <a:ext cx="17677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folhas de sálvia fresca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5469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506218"/>
            <a:ext cx="26328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e parmesão a gosto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0748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09096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40022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442793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3133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Assar, e não cozinhar na água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é o que garante um nhoque leve.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949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8374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82602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1896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23217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22071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7547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79727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8581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um teste: modele uma bolinha e cozinhe em água fervente. Se desmanchar, acrescente mais 1 ou 2 colheres de farinha.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1494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19197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805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Divida a massa, faça rolinhos de 2 cm de espessura sobre a bancada enfarinhada e corte em pedaços de 2 cm.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440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866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7520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água fervente com sal, em levas. Quando os nhoques subirem, conte 30 segundos e retire com escumadeira.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3879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81355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6989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54347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971848" y="862280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6" name="Text 57"/>
          <p:cNvSpPr txBox="1"/>
          <p:nvPr/>
        </p:nvSpPr>
        <p:spPr>
          <a:xfrm>
            <a:off x="971848" y="889858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830" dirty="0"/>
          </a:p>
        </p:txBody>
      </p:sp>
      <p:sp>
        <p:nvSpPr>
          <p:cNvPr id="67" name="Text 58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8" name="Text 59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BOLINHO DE ABÓBORA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ou bolinho cremoso assado de abóbora com especiarias e queijo coalho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3387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8985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5053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657356"/>
            <a:ext cx="2386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0574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3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OU BOLINHO CREMOSO ASSADO DE ABÓBORA COM ESPECIARIAS E QUEIJO COALHO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6007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INUSITADO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296953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91371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9458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4413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14241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+ 30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9458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114377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8448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9458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4413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1424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 bolinhos ou 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90078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72100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40613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abóbora cabotiá assada e amassada (veja o passo 1 do nhoque)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48612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445347"/>
            <a:ext cx="23681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queijo coalho em cubinhos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96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58916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1326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7248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colheres (sopa) de farinha de rosca (ou de aveia em flocos finos)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1021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061371"/>
            <a:ext cx="19224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cebola picada bem miúda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31571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274939"/>
            <a:ext cx="15241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dente de alho picado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529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88507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428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702076"/>
            <a:ext cx="2416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defumada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9564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915644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51699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5129213"/>
            <a:ext cx="20834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5690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5389215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698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741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295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9317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613573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12427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8786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53042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51897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Cubra e leve à geladeira por 30 minutos. A massa firma e fica muito mais fácil de modelar.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8825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92512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91366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72772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731981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730835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88193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971848" y="796126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2" name="Text 53"/>
          <p:cNvSpPr txBox="1"/>
          <p:nvPr/>
        </p:nvSpPr>
        <p:spPr>
          <a:xfrm>
            <a:off x="971848" y="823704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830" dirty="0"/>
          </a:p>
        </p:txBody>
      </p:sp>
      <p:sp>
        <p:nvSpPr>
          <p:cNvPr id="63" name="Text 54"/>
          <p:cNvSpPr txBox="1"/>
          <p:nvPr/>
        </p:nvSpPr>
        <p:spPr>
          <a:xfrm>
            <a:off x="551988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4" name="Text 55"/>
          <p:cNvSpPr txBox="1"/>
          <p:nvPr/>
        </p:nvSpPr>
        <p:spPr>
          <a:xfrm>
            <a:off x="6653064" y="10162729"/>
            <a:ext cx="229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204307"/>
            <a:ext cx="3804642" cy="957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151311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Crepúsculo: doce de abóbora cremoso de colher com coco e raspas de laranja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2934742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166568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514677"/>
            <a:ext cx="29021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568553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5856387"/>
            <a:ext cx="11964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027241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198096"/>
            <a:ext cx="134650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6368951"/>
            <a:ext cx="2412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6539805"/>
            <a:ext cx="132666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6710660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547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CREPÚSCULO: DOCE DE ABÓBORA CREMOSO DE COLHER COM COCO E RASPAS DE LARANJA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8855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LADO DOCE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4554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22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8672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1 kg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979366"/>
            <a:ext cx="29387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kg de polpa de abóbora cabotiá em cubos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19293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406503"/>
            <a:ext cx="12116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xícara de água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620071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40201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979366"/>
            <a:ext cx="13633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coco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23371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192935"/>
            <a:ext cx="24428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pau de canela e 3 cravos-da-índia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44728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406503"/>
            <a:ext cx="1343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1 laranja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6608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20071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03019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92323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232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27506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263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 de fundo grosso, cozinhe a abóbora com a água, tampada, em fogo médio, até ficar bem macia (cerca de 15 minutos).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627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66975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658296"/>
            <a:ext cx="52259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abóbora na própria panela. Junte o açúcar, a canela e os cravos.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97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93958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928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91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33427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22814"/>
            <a:ext cx="5729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o coco ralado e cozinhe por mais 10 minutos, mexendo.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5615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60409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5926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retire a canela e os cravos e só então junte as raspas de laranja e a pitada de sal.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9562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69987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9873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390507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469832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745611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06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NHOQUE DE ABÓBORA QUE VIRA CHICLETE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3335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3550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7343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77696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765500"/>
            <a:ext cx="5061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abóbora em vez de cozinhar: a água evapora e o sabor concentra.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402952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7208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6062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o vapor sair: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espalhe o purê numa travessa e espere amornar antes de juntar a farinha.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4951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9207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8062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aos poucos: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pare assim que a massa deixar de grudar. Massa de nhoque é úmida mesmo.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6950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91207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9006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sove: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misture só o necessário. Quanto mais você trabalha a massa, mais elástica ela fica.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624215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444430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832723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890320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832723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890320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57091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6168628"/>
            <a:ext cx="98658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Abóbora cabotiá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57091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187678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Abóbora-paulista ou moranga (têm mais água: asse por mais tempo e escorra o purê numa peneira) ou batata-doce.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704626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643985"/>
            <a:ext cx="1196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de garrafa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704626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892" y="6663035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Ghee ou manteiga comum com um fio de azeite (que evita que ela queime).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35910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7119342"/>
            <a:ext cx="8161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Sálvia fresca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35910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7138392"/>
            <a:ext cx="18153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 ou tomilho frescos.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671941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432179"/>
            <a:ext cx="8246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coalho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671941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451229"/>
            <a:ext cx="26683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Queijo meia-cura ou muçarela em cubos.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984778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745016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984778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764066"/>
            <a:ext cx="40276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com 2 colheres (sopa) a mais de coco ralado.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8297614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8057852"/>
            <a:ext cx="5179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Laranja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8297614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8076902"/>
            <a:ext cx="41530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Tangerina, ou metade da quantidade de raspas de limão-taiti.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2271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55891" y="10162729"/>
            <a:ext cx="2263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ABÓBORA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410099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6582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CHIPS CROCANTES TEMPERADOS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4214366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45590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SEMENTES: SNACK CROCANTE COM PÁPRICA E SAL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1899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52171" y="10162729"/>
            <a:ext cx="230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1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437154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66204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OU BANANA-PRATA FIRME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ingrediente nacional por excelência. Transita entre o salgado e o doce e leva sofisticação ao prato sem pesar no bolso.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5146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7214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503962" y="6770396"/>
            <a:ext cx="102527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58719" y="6517035"/>
            <a:ext cx="2235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7542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3769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4654153" y="7153331"/>
            <a:ext cx="187151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55147" y="6899970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13956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706674"/>
            <a:ext cx="737443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296" y="7282904"/>
            <a:ext cx="22696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8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02 · BANANA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Aprender a ler a casca é aprender a escolher o que fazer com ela. E, no fim, a própria casca ainda vira recheio.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pelo uso: amarela com pintas para as receitas deste capítulo; mais verde se for fritar em chips; bem madura para doces.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40693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fruta deve estar firme ao toque, sem partes afundadas.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735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pontas com bolor ou casca rachada, por onde a fruta resseca.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92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Fora da geladeira, de preferência penduradas, longe de outras frutas.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5974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amadurecer mais rápido, guarde num saco de papel fechado.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63102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frear o amadurecimento, leve à geladeira: a casca escurece, mas a polpa se mantém.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78628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745510"/>
            <a:ext cx="5526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Maduras demais? Descasque, corte e congele em saco fechado por até 3 meses.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5996285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descascar a banana-da-terra: corte as duas pontas, faça um talho raso ao longo da casca e solte-a com o polegar.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43492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grossas em diagonal (2 cm) para frigideira e moqueca.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68983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6857554"/>
            <a:ext cx="3417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Lâminas no comprimento para grelhar e flambar.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2241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55594" y="10162729"/>
            <a:ext cx="2266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DE BANANA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Moqueca expressa de frigideira com banana, leite de coco e pimenta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4814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3253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11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5040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15731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1111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6761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79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MOQUECA EXPRESSA DE FRIGIDEIRA COM BANANA, LEITE DE COCO E PIMENTA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6198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RÁPIDA DE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838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901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 e firmes, em rodelas diagonais de 2 cm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1264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azeite de dendê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13420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em rodelas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37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pimentão vermelho em tiras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654153"/>
            <a:ext cx="15228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tomates em rodelas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62947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843040"/>
            <a:ext cx="1593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200 ml de leite de coco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056608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pimenta dedo-de-moça (ou pimenta-de-cheiro) picada, sem sementes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440585"/>
            <a:ext cx="112514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½ limão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9493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654153"/>
            <a:ext cx="27096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Coentro (ou cheiro-verde) e sal a gosto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37100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5731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26658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09146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9768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612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70383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923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frigideira, com o restante do dendê, refogue a cebola, o pimentão e o alho por 3 minutos.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559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098530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87070"/>
            <a:ext cx="5251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tomate e a pimenta e cozinhe até o tomate começar a desmanchar.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3257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36835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568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leite de coco e deixe ferver por 5 minutos, até engrossar levemente. Acerte o sal.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7204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63048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515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as bananas para a frigideira e cozinhe só por 3 a 4 minutos, para aquecerem no molho sem desmanchar.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711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715774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7146280"/>
            <a:ext cx="4541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Desligue o fogo, regue com o suco de limão e finalize com coentro.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42458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50391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7969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Dourar a banana antes é o que dá estrutura e sabor à moqueca. Sirva com arroz branco e farofa de dendê.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2182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54998" y="10162729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DE BANANA GRELHADA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Purê aveludado de banana grelhada com noz-moscada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0292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8936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98758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PURÊ AVELUDADO DE BANANA GRELHADA COM NOZ-MOSCADA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88323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TEXTURA SURPREENDENTE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734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 como acompanhamento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054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bananas-da-terra maduras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575149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788718"/>
            <a:ext cx="29300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ml de leite quente (ou caldo de frango)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20124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Noz-moscada ralada na hora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250085"/>
            <a:ext cx="1636514" cy="10790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91914" y="407030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5" name="Shape 26"/>
          <p:cNvSpPr/>
          <p:nvPr/>
        </p:nvSpPr>
        <p:spPr>
          <a:xfrm>
            <a:off x="791914" y="437956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6" name="Text 27"/>
          <p:cNvSpPr txBox="1"/>
          <p:nvPr/>
        </p:nvSpPr>
        <p:spPr>
          <a:xfrm>
            <a:off x="892820" y="442213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7" name="Text 28"/>
          <p:cNvSpPr txBox="1"/>
          <p:nvPr/>
        </p:nvSpPr>
        <p:spPr>
          <a:xfrm>
            <a:off x="1158925" y="4410670"/>
            <a:ext cx="491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Descasque as bananas e corte em lâminas no sentido do comprimento.</a:t>
            </a:r>
            <a:endParaRPr lang="en-US" sz="850" dirty="0"/>
          </a:p>
        </p:txBody>
      </p:sp>
      <p:sp>
        <p:nvSpPr>
          <p:cNvPr id="38" name="Shape 29"/>
          <p:cNvSpPr/>
          <p:nvPr/>
        </p:nvSpPr>
        <p:spPr>
          <a:xfrm>
            <a:off x="791914" y="46493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9" name="Text 30"/>
          <p:cNvSpPr txBox="1"/>
          <p:nvPr/>
        </p:nvSpPr>
        <p:spPr>
          <a:xfrm>
            <a:off x="883444" y="469195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1"/>
          <p:cNvSpPr txBox="1"/>
          <p:nvPr/>
        </p:nvSpPr>
        <p:spPr>
          <a:xfrm>
            <a:off x="1158925" y="468049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791914" y="504408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83741" y="508664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7518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panela, junte o leite quente e amasse bem com um garfo ou espremedor, em fogo baixo.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4387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0021" y="548134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6988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manteiga restante e mexa até ficar aveludado. Se quiser mais liso, passe por uma peneira.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8334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444" y="587603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6457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com sal, pimenta e noz-moscada. Se estiver doce demais, equilibre com algumas gotas de limão.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26774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971848" y="634707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2" name="Text 43"/>
          <p:cNvSpPr txBox="1"/>
          <p:nvPr/>
        </p:nvSpPr>
        <p:spPr>
          <a:xfrm>
            <a:off x="971848" y="662285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acompanhamento salgado de respeito: fica perfeito com carne de sol, frango assado ou peixe grelhado.</a:t>
            </a:r>
            <a:endParaRPr lang="en-US" sz="830" dirty="0"/>
          </a:p>
        </p:txBody>
      </p:sp>
      <p:sp>
        <p:nvSpPr>
          <p:cNvPr id="53" name="Text 44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5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Bananas flambadas no rum ou na cachaça com crosta de açúcar mascavo e canela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319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03558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05509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7072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2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0057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9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BANANAS FLAMBADAS NO RUM OU NA CACHAÇA COM CROSTA DE AÇÚCAR MASCAVO E CANELA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49618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CHEF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64445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bananas-da-terra ou 4 bananas-prata firmes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05422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13448"/>
            <a:ext cx="2563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açúcar mascavo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227016"/>
            <a:ext cx="20612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canela em pó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48136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440585"/>
            <a:ext cx="20809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17287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ml de rum ou cachaça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11471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de 1 laranja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56608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270177"/>
            <a:ext cx="20309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Sorvete de creme para servir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75014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469523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0044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04705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0356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as bananas ao meio no sentido do comprimento (e ao meio na largura, se forem grandes).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3991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544175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54302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o açúcar mascavo com a canela e o sal e polvilhe sobre o lado cortado das bananas, pressionando.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57938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583644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8249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3589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40154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390084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9240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696664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955185"/>
            <a:ext cx="53718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suco de laranja e deixe borbulhar por 1 minuto, até formar uma calda.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19390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23647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225010"/>
            <a:ext cx="42887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as bananas quentes com a calda e uma bola de sorvete.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503319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582644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7858423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50559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8776" y="10162729"/>
            <a:ext cx="2434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1057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 QUE VIRA PAPA NA FRIGIDEIRA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Colocar a banana em frigideira morna e ficar mexendo. Ela solta líquido, cozinha no próprio vapor e desmancha antes de dourar.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8697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Frigideira quente de verdade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com a gordura já brilhando, antes de a banana entrar.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85911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390167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3890218"/>
            <a:ext cx="3869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Espaço: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amontoe. Se precisar, doure em duas levas.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15423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19680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185345"/>
            <a:ext cx="38248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mexa: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deixe 2 minutos parada e vire uma única vez.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449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491930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480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 no ponto: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amarela com pintinhas. Preta demais desmancha; verde demais não carameliza.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204073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024289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412581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470178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412581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470178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5076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748486"/>
            <a:ext cx="10025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Banana-da-terra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5076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5767536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Banana-prata firme (cozinha mais rápido: reduza os tempos pela metade).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6360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223843"/>
            <a:ext cx="95458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Azeite de dendê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6360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42893"/>
            <a:ext cx="3998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comum com 1 colher (chá) de colorau ou páprica doce.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7644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536680"/>
            <a:ext cx="8256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Leite de coco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7644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55730"/>
            <a:ext cx="35002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Creme de leite com 2 colheres (sopa) de coco ralado.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2517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49517"/>
            <a:ext cx="9824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Rum ou cachaça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2517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892" y="6868567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Conhaque ou uísque. Sem álcool: dobre o suco de laranja e pule a flambagem.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56463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324874"/>
            <a:ext cx="9950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Açúcar mascavo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56463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343924"/>
            <a:ext cx="437354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Açúcar demerara, ou açúcar comum com 1 colher (chá) de melado.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87747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637711"/>
            <a:ext cx="833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Noz-moscada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87747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656761"/>
            <a:ext cx="27386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canela ou de cravo em pó.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863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BANANA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297263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65191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CASCA: “CARNE” VEGETAL DESFIADA E TEMPERADA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580507"/>
            <a:ext cx="1055340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400723"/>
            <a:ext cx="10258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ONDE USAR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762673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3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5244489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 FRANGO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1576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COM OSSO E PELE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544419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364635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6954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73804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717060"/>
            <a:ext cx="1595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859935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7140829"/>
            <a:ext cx="71705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4907" y="6717060"/>
            <a:ext cx="24735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24882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29138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270403"/>
            <a:ext cx="125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413278"/>
            <a:ext cx="43807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199757" y="7523764"/>
            <a:ext cx="130194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186" y="7270403"/>
            <a:ext cx="2510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6317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674322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653337"/>
            <a:ext cx="1481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796212"/>
            <a:ext cx="47127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496223" y="7906699"/>
            <a:ext cx="103063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6338" y="7653337"/>
            <a:ext cx="22592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8313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03 · FRANGO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279898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88458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41458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inteira, de cor clara e uniforme, sem manchas escuras.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32945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 líquido na bandeja e nenhum cheiro forte.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64736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Congelada: sem cristais grossos de gelo, que indicam que ela descongelou e congelou de novo.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3571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geladeira, na prateleira de baixo, por até 2 dias.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47855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freezer, em porções achatadas dentro de sacos, por até 3 meses.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9071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Descongele sempre na geladeira, de um dia para o outro. Nunca na pia.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177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bem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papel-toalha antes de qualquer preparo. Pele molhada não fica crocante.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Para desossar: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6703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629549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 antecipada: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CROCANTE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522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desossada com pele ultracrocante ao molho rústico de limão e alho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763417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995243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343352"/>
            <a:ext cx="2424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514207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85062"/>
            <a:ext cx="1413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55916"/>
            <a:ext cx="175988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026771"/>
            <a:ext cx="243313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97626"/>
            <a:ext cx="165454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68480"/>
            <a:ext cx="25583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39335"/>
            <a:ext cx="10721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607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562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DESOSSADA COM PELE ULTRACROCANTE AO MOLHO RÚSTICO DE LIMÃO E ALHO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497187"/>
            <a:ext cx="17067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TÉCNICA DA FRIGIDEIRA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704505"/>
            <a:ext cx="30692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95781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50936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3053655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3073450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3243560"/>
            <a:ext cx="4775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3053655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3073450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3243560"/>
            <a:ext cx="4972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3053655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3053655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3073450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3243560"/>
            <a:ext cx="9053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a 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818781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63899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969841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4204692"/>
            <a:ext cx="2455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sobrecoxas desossadas, com pele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418261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631829"/>
            <a:ext cx="14310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óleo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969841"/>
            <a:ext cx="4963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MOLHO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424547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4204692"/>
            <a:ext cx="17818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dentes de alho fatiados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4590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4418261"/>
            <a:ext cx="24638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100 ml de caldo de frango (ou água)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67260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631829"/>
            <a:ext cx="1675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1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8861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845397"/>
            <a:ext cx="25904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manteiga gelada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509974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5058966"/>
            <a:ext cx="10854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Salsinha picada</a:t>
            </a:r>
            <a:endParaRPr lang="en-US" sz="850" dirty="0"/>
          </a:p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93395"/>
            <a:ext cx="1636514" cy="1079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91914" y="5313611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791914" y="56228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92820" y="566544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653980"/>
            <a:ext cx="53138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muito bem as sobrecoxas e tempere com sal e pimenta dos dois lados.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8927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3444" y="593526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92380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73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741" y="63299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849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sem mexer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A gordura da pele derrete aos poucos e ela frita na própria gordura até ficar dourada e crocante.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8524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0021" y="6895058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8835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Vire e cozinhe por mais 4 a 6 minutos, até o centro atingir 75 °C ou o suco sair transparente ao furar.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2471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444" y="7289750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278291"/>
            <a:ext cx="61027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grade ou prato, com a pele para cima, e deixe descansar 5 minutos.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1701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3444" y="7559576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754811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gordura da frigideira, deixando cerca de 1 colher. Em fogo baixo, doure o alho por 1 minuto.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91170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5230" y="7954268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942808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84768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741" y="851936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8507909"/>
            <a:ext cx="59159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o molho no fundo do prato e o frango por cima, para a pele continuar crocante.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8786217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88655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9141321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4557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7734" y="10162729"/>
            <a:ext cx="24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suculento ao molho de tomate caseiro e ervas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1134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24909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828211"/>
            <a:ext cx="10397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999065"/>
            <a:ext cx="23786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16992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2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 DESFIADO SUCULENTO AO MOLHO DE TOMATE CASEIRO E ERVAS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34066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COZIMENTO LENTO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9238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1h05 (25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6968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 (cerca de 1 kg)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791914" y="49905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986135" y="4949726"/>
            <a:ext cx="1149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cenoura ralada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711476"/>
            <a:ext cx="25223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extrato de tomate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tomates bem maduros picados (ou 1 lata de tomate pelado)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09021"/>
            <a:ext cx="10513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folha de louro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22589"/>
            <a:ext cx="240863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ml de caldo de frango ou água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73615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Orégano, manjericão e cheiro-verde a gosto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11093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23130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5405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583138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571679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105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6148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136779"/>
            <a:ext cx="61889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gordura que ficou na panela, refogue a cebola, o alho e a cenoura até ficarem macios.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3754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41806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40660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extrato de tomate e mexa por 1 minuto, até ele escurecer levemente. Isso tira o gosto ácido de lata e aprofunda o sabor.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77019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812756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801296"/>
            <a:ext cx="62737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os tomates, o louro e o caldo, raspando o fundo. Volte o frango para a panela.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04001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708258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707112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baixo por 50 a 60 minutos (ou 20 minutos na panela de pressão), até a carne soltar do osso.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43470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47727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46581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ossos e a pele (guarde os ossos para o caldo). Desfie a carne com dois garfos dentro do próprio molho.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82940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885230" y="7871966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67" name="Text 58"/>
          <p:cNvSpPr txBox="1"/>
          <p:nvPr/>
        </p:nvSpPr>
        <p:spPr>
          <a:xfrm>
            <a:off x="1158925" y="7860506"/>
            <a:ext cx="61527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destampado até o molho envolver o frango. Finalize com as ervas e acerte o sal.</a:t>
            </a:r>
            <a:endParaRPr lang="en-US" sz="850" dirty="0"/>
          </a:p>
        </p:txBody>
      </p:sp>
      <p:sp>
        <p:nvSpPr>
          <p:cNvPr id="68" name="Shape 59"/>
          <p:cNvSpPr/>
          <p:nvPr/>
        </p:nvSpPr>
        <p:spPr>
          <a:xfrm>
            <a:off x="791914" y="813881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9" name="Text 60"/>
          <p:cNvSpPr txBox="1"/>
          <p:nvPr/>
        </p:nvSpPr>
        <p:spPr>
          <a:xfrm>
            <a:off x="971848" y="8218140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70" name="Text 61"/>
          <p:cNvSpPr txBox="1"/>
          <p:nvPr/>
        </p:nvSpPr>
        <p:spPr>
          <a:xfrm>
            <a:off x="971848" y="849391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830" dirty="0"/>
          </a:p>
        </p:txBody>
      </p:sp>
      <p:sp>
        <p:nvSpPr>
          <p:cNvPr id="71" name="Text 62"/>
          <p:cNvSpPr txBox="1"/>
          <p:nvPr/>
        </p:nvSpPr>
        <p:spPr>
          <a:xfrm>
            <a:off x="550262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2" name="Text 63"/>
          <p:cNvSpPr txBox="1"/>
          <p:nvPr/>
        </p:nvSpPr>
        <p:spPr>
          <a:xfrm>
            <a:off x="6635800" y="10162729"/>
            <a:ext cx="2464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NO IOGURTE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Sobrecoxa marinada no iogurte com especiarias, assada até dourar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7285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333679"/>
            <a:ext cx="170354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504533"/>
            <a:ext cx="2207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75388"/>
            <a:ext cx="20140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846243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017097"/>
            <a:ext cx="181889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187952"/>
            <a:ext cx="17607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358807"/>
            <a:ext cx="13416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529661"/>
            <a:ext cx="16328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700516"/>
            <a:ext cx="202091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38346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 MARINADA NO IOGURTE COM ESPECIARIAS, ASSADA ATÉ DOURAR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5883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TECNOLÓGICO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33745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10 min + 2 h de marinada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70931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MARINADA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7628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170 g de iogurte natural integral (1 pote)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19114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150370"/>
            <a:ext cx="17250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ralados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40471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363938"/>
            <a:ext cx="22349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gengibre ralado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6182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577507"/>
            <a:ext cx="20394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páprica doce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48318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791075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184173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cúrcuma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78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Suco e raspas de ½ limão</a:t>
            </a:r>
            <a:endParaRPr lang="en-US" sz="850" dirty="0"/>
          </a:p>
        </p:txBody>
      </p:sp>
      <p:sp>
        <p:nvSpPr>
          <p:cNvPr id="38" name="Shape 30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4118074" y="4138612"/>
            <a:ext cx="13585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sal</a:t>
            </a:r>
            <a:endParaRPr lang="en-US" sz="850" dirty="0"/>
          </a:p>
        </p:txBody>
      </p:sp>
      <p:sp>
        <p:nvSpPr>
          <p:cNvPr id="40" name="Shape 32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118074" y="4352181"/>
            <a:ext cx="1653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azeite</a:t>
            </a:r>
            <a:endParaRPr lang="en-US" sz="850" dirty="0"/>
          </a:p>
        </p:txBody>
      </p:sp>
      <p:sp>
        <p:nvSpPr>
          <p:cNvPr id="42" name="Text 34"/>
          <p:cNvSpPr txBox="1"/>
          <p:nvPr/>
        </p:nvSpPr>
        <p:spPr>
          <a:xfrm>
            <a:off x="3923854" y="4566940"/>
            <a:ext cx="5683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FRANGO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204625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sobrecoxas com osso e pele</a:t>
            </a:r>
            <a:endParaRPr lang="en-US" sz="850" dirty="0"/>
          </a:p>
        </p:txBody>
      </p:sp>
      <p:pic>
        <p:nvPicPr>
          <p:cNvPr id="4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79380"/>
            <a:ext cx="1636514" cy="107900"/>
          </a:xfrm>
          <a:prstGeom prst="rect">
            <a:avLst/>
          </a:prstGeom>
        </p:spPr>
      </p:pic>
      <p:sp>
        <p:nvSpPr>
          <p:cNvPr id="46" name="Text 37"/>
          <p:cNvSpPr txBox="1"/>
          <p:nvPr/>
        </p:nvSpPr>
        <p:spPr>
          <a:xfrm>
            <a:off x="791914" y="5099596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7" name="Shape 38"/>
          <p:cNvSpPr/>
          <p:nvPr/>
        </p:nvSpPr>
        <p:spPr>
          <a:xfrm>
            <a:off x="791914" y="540886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92820" y="5451425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5439966"/>
            <a:ext cx="3883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Misture todos os ingredientes da marinada numa tigela.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567868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3444" y="572125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570979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60733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741" y="61159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610448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646807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0021" y="651063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649917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forno: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asse a 220 °C por 35 a 40 minutos. Nos últimos 5 minutos, ligue o grill, se o seu forno tiver, para formar manchas tostadas.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686276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883444" y="690532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1" name="Text 52"/>
          <p:cNvSpPr txBox="1"/>
          <p:nvPr/>
        </p:nvSpPr>
        <p:spPr>
          <a:xfrm>
            <a:off x="1158925" y="6893868"/>
            <a:ext cx="48159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airfryer: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180 °C por 15 minutos, vire, e mais 8 a 10 minutos a 200 °C.</a:t>
            </a:r>
            <a:endParaRPr lang="en-US" sz="850" dirty="0"/>
          </a:p>
        </p:txBody>
      </p:sp>
      <p:sp>
        <p:nvSpPr>
          <p:cNvPr id="62" name="Shape 53"/>
          <p:cNvSpPr/>
          <p:nvPr/>
        </p:nvSpPr>
        <p:spPr>
          <a:xfrm>
            <a:off x="791914" y="713258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3" name="Text 54"/>
          <p:cNvSpPr txBox="1"/>
          <p:nvPr/>
        </p:nvSpPr>
        <p:spPr>
          <a:xfrm>
            <a:off x="883444" y="717515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4" name="Text 55"/>
          <p:cNvSpPr txBox="1"/>
          <p:nvPr/>
        </p:nvSpPr>
        <p:spPr>
          <a:xfrm>
            <a:off x="1158925" y="7163693"/>
            <a:ext cx="29885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descansar 5 minutos antes de servir.</a:t>
            </a:r>
            <a:endParaRPr lang="en-US" sz="850" dirty="0"/>
          </a:p>
        </p:txBody>
      </p:sp>
      <p:sp>
        <p:nvSpPr>
          <p:cNvPr id="65" name="Shape 56"/>
          <p:cNvSpPr/>
          <p:nvPr/>
        </p:nvSpPr>
        <p:spPr>
          <a:xfrm>
            <a:off x="791914" y="7442002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6" name="Text 57"/>
          <p:cNvSpPr txBox="1"/>
          <p:nvPr/>
        </p:nvSpPr>
        <p:spPr>
          <a:xfrm>
            <a:off x="971848" y="7521327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7" name="Text 58"/>
          <p:cNvSpPr txBox="1"/>
          <p:nvPr/>
        </p:nvSpPr>
        <p:spPr>
          <a:xfrm>
            <a:off x="971848" y="7797105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830" dirty="0"/>
          </a:p>
        </p:txBody>
      </p:sp>
      <p:sp>
        <p:nvSpPr>
          <p:cNvPr id="68" name="Text 59"/>
          <p:cNvSpPr txBox="1"/>
          <p:nvPr/>
        </p:nvSpPr>
        <p:spPr>
          <a:xfrm>
            <a:off x="550545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9" name="Text 60"/>
          <p:cNvSpPr txBox="1"/>
          <p:nvPr/>
        </p:nvSpPr>
        <p:spPr>
          <a:xfrm>
            <a:off x="6638627" y="10162729"/>
            <a:ext cx="2436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09859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PELE BORRACHUDA E FRANGO SECO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Seque e salgue antes: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papel-toalha e, se der, sal com antecedência na geladeira, descoberto.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Pele para baixo e paciência: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fogo médio, peso por cima e nada de mexer até ela soltar sozinha da frigideira.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40397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44653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43507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Ponto pela temperatura: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sobrecoxa fica melhor entre 75 °C e 80 °C. Um termômetro culinário custa menos que uma pizza e acaba com o achismo.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8239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866531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855071"/>
            <a:ext cx="48846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Descanso: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5 minutos antes de cortar, para os sucos se redistribuírem.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453807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274022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662315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719911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662315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719911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40050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998220"/>
            <a:ext cx="67374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Sobrecoxa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40050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892" y="6017270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Coxa (aumente um pouco o tempo) ou peito (reduza bastante o tempo e retire do fogo a 65 °C: ele resseca fácil).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71333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473577"/>
            <a:ext cx="9139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Iogurte natural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71333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492627"/>
            <a:ext cx="468975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Coalhada seca, ou leite com suco de limão descansado por 10 minutos.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702617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786414"/>
            <a:ext cx="9477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frango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702617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805464"/>
            <a:ext cx="32377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Água com as aparas e um ramo de cheiro-verde.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33901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7099250"/>
            <a:ext cx="87987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Tomate fresco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33901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7118300"/>
            <a:ext cx="2374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Tomate pelado em lata ou passata.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65184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412087"/>
            <a:ext cx="154119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Manteiga gelada no molho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65184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431137"/>
            <a:ext cx="3841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Azeite (o molho fica mais fino, mas igualmente saboroso).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964686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724924"/>
            <a:ext cx="58176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Cúrcuma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964686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743974"/>
            <a:ext cx="302321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Uma pitada de açafrão-da-terra ou de curry.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30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479" y="10162729"/>
            <a:ext cx="2437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7791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FRANGO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4466034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484093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OSSOS E APARAS: FUNDO CASEIRO ULTRA-AROMÁTICO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239691"/>
            <a:ext cx="1685479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059906"/>
            <a:ext cx="17267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PONTO DO CALDO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421856"/>
            <a:ext cx="5759946" cy="834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763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32029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204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AIPIM, MACAXEIRA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raiz do Brasil: rica em amido, acessível e um coringa técnico. Une sustentabilidade e brasilidade num ingrediente só.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4436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28608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3842742" y="6770377"/>
            <a:ext cx="266342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651" y="6517035"/>
            <a:ext cx="24660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687838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692095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6899970"/>
            <a:ext cx="1613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042845"/>
            <a:ext cx="463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28804" y="7153312"/>
            <a:ext cx="1073646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31930" y="6899970"/>
            <a:ext cx="25032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26132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30388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282904"/>
            <a:ext cx="7855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425779"/>
            <a:ext cx="309955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55864" y="7536247"/>
            <a:ext cx="2468910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4254" y="7282904"/>
            <a:ext cx="2280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20205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04 · MANDIOCA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622477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442692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885009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416063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4119860"/>
            <a:ext cx="52209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Casca marrom, que se solta com facilidade, e ponta que estala ao quebrar.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38864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347865"/>
            <a:ext cx="60177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Polpa branca ou amarelada, uniforme, sem estrias escuras, azuladas ou pontos moles.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61664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575870"/>
            <a:ext cx="4472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Raízes médias costumam ser mais macias que as muito grossas.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91914" y="484465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986135" y="4803874"/>
            <a:ext cx="55358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boa cozinha rápido. Se demorar demais, o problema é a raiz, não você.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5054650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39938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casca, fora da geladeira, ela estraga em 2 ou 3 dias.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791914" y="595669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986135" y="5915918"/>
            <a:ext cx="52896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Cozida: na geladeira por até 3 dias, coberta pela própria água do cozimento.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791914" y="6166693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1914" y="64423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401544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em toras de 8 a 10 cm. Faça um talho no comprimento e solte a casca marrom junto com a entrecasca rosada, de uma vez.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8407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799957"/>
            <a:ext cx="4611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Depois de cozida, abra ao meio e retire o fio central, que é fibroso.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791914" y="706874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986135" y="7027962"/>
            <a:ext cx="539850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Corte sempre em pedaços de tamanho parecido, para tudo cozinhar por igual.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550500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6638181" y="10162729"/>
            <a:ext cx="2440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30303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Rösti de mandioca recheado na frigideira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402360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634186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5982295"/>
            <a:ext cx="25049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153150"/>
            <a:ext cx="15633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324005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64413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6426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448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RÖSTI DE MANDIOCA RECHEADO NA FRIGIDEIRA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154669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CROCÂNCIA PERFEITA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38383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rösti grande (2 a 4 porções)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352056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586907"/>
            <a:ext cx="2536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500 g de mandioca crua descascada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384125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3800475"/>
            <a:ext cx="15830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e pimenta-do-reino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05482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01404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manteiga (ou metade manteiga, metade óleo)</a:t>
            </a:r>
            <a:endParaRPr lang="en-US" sz="850" dirty="0"/>
          </a:p>
        </p:txBody>
      </p:sp>
      <p:sp>
        <p:nvSpPr>
          <p:cNvPr id="30" name="Text 22"/>
          <p:cNvSpPr txBox="1"/>
          <p:nvPr/>
        </p:nvSpPr>
        <p:spPr>
          <a:xfrm>
            <a:off x="3923854" y="3352056"/>
            <a:ext cx="150518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RECHEIO (ESCOLHA UM)</a:t>
            </a:r>
            <a:endParaRPr lang="en-US" sz="1100" dirty="0"/>
          </a:p>
        </p:txBody>
      </p:sp>
      <p:sp>
        <p:nvSpPr>
          <p:cNvPr id="31" name="Shape 23"/>
          <p:cNvSpPr/>
          <p:nvPr/>
        </p:nvSpPr>
        <p:spPr>
          <a:xfrm>
            <a:off x="3923854" y="362768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86907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carne-seca dessalgada, cozida e desfiada, refogada com cebola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40116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70883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ou 150 g de muçarela com 3 colheres (sopa) de requeijão cremoso</a:t>
            </a:r>
            <a:endParaRPr lang="en-US" sz="850" dirty="0"/>
          </a:p>
        </p:txBody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651177"/>
            <a:ext cx="1636514" cy="1079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91914" y="447139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7" name="Shape 28"/>
          <p:cNvSpPr/>
          <p:nvPr/>
        </p:nvSpPr>
        <p:spPr>
          <a:xfrm>
            <a:off x="791914" y="478065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38" name="Text 29"/>
          <p:cNvSpPr txBox="1"/>
          <p:nvPr/>
        </p:nvSpPr>
        <p:spPr>
          <a:xfrm>
            <a:off x="892820" y="482322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39" name="Text 30"/>
          <p:cNvSpPr txBox="1"/>
          <p:nvPr/>
        </p:nvSpPr>
        <p:spPr>
          <a:xfrm>
            <a:off x="1158925" y="4811762"/>
            <a:ext cx="33710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Rale a mandioca crua no lado grosso do ralador.</a:t>
            </a:r>
            <a:endParaRPr lang="en-US" sz="850" dirty="0"/>
          </a:p>
        </p:txBody>
      </p:sp>
      <p:sp>
        <p:nvSpPr>
          <p:cNvPr id="40" name="Shape 31"/>
          <p:cNvSpPr/>
          <p:nvPr/>
        </p:nvSpPr>
        <p:spPr>
          <a:xfrm>
            <a:off x="791914" y="505048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1" name="Text 32"/>
          <p:cNvSpPr txBox="1"/>
          <p:nvPr/>
        </p:nvSpPr>
        <p:spPr>
          <a:xfrm>
            <a:off x="883444" y="509304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2" name="Text 33"/>
          <p:cNvSpPr txBox="1"/>
          <p:nvPr/>
        </p:nvSpPr>
        <p:spPr>
          <a:xfrm>
            <a:off x="1158925" y="508158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Este é o passo que garante a crocância.</a:t>
            </a:r>
            <a:endParaRPr lang="en-US" sz="850" dirty="0"/>
          </a:p>
        </p:txBody>
      </p:sp>
      <p:sp>
        <p:nvSpPr>
          <p:cNvPr id="43" name="Shape 34"/>
          <p:cNvSpPr/>
          <p:nvPr/>
        </p:nvSpPr>
        <p:spPr>
          <a:xfrm>
            <a:off x="791914" y="544517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883741" y="548773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5" name="Text 36"/>
          <p:cNvSpPr txBox="1"/>
          <p:nvPr/>
        </p:nvSpPr>
        <p:spPr>
          <a:xfrm>
            <a:off x="1158925" y="5476280"/>
            <a:ext cx="32789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Tempere a mandioca ralada com sal e pimenta.</a:t>
            </a:r>
            <a:endParaRPr lang="en-US" sz="850" dirty="0"/>
          </a:p>
        </p:txBody>
      </p:sp>
      <p:sp>
        <p:nvSpPr>
          <p:cNvPr id="46" name="Shape 37"/>
          <p:cNvSpPr/>
          <p:nvPr/>
        </p:nvSpPr>
        <p:spPr>
          <a:xfrm>
            <a:off x="791914" y="57150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880021" y="57575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39"/>
          <p:cNvSpPr txBox="1"/>
          <p:nvPr/>
        </p:nvSpPr>
        <p:spPr>
          <a:xfrm>
            <a:off x="1158925" y="5746105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850" dirty="0"/>
          </a:p>
        </p:txBody>
      </p:sp>
      <p:sp>
        <p:nvSpPr>
          <p:cNvPr id="49" name="Shape 40"/>
          <p:cNvSpPr/>
          <p:nvPr/>
        </p:nvSpPr>
        <p:spPr>
          <a:xfrm>
            <a:off x="791914" y="62801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83444" y="6322665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63112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Distribua o recheio, deixando 1 cm livre na borda. Cubra com o restante da mandioca, pressione e feche bem as bordas.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66747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671735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670589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70694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5230" y="7112050"/>
            <a:ext cx="1651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71005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750376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971848" y="758309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0" name="Text 51"/>
          <p:cNvSpPr txBox="1"/>
          <p:nvPr/>
        </p:nvSpPr>
        <p:spPr>
          <a:xfrm>
            <a:off x="971848" y="785886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830" dirty="0"/>
          </a:p>
        </p:txBody>
      </p:sp>
      <p:sp>
        <p:nvSpPr>
          <p:cNvPr id="61" name="Text 52"/>
          <p:cNvSpPr txBox="1"/>
          <p:nvPr/>
        </p:nvSpPr>
        <p:spPr>
          <a:xfrm>
            <a:off x="550440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2" name="Text 53"/>
          <p:cNvSpPr txBox="1"/>
          <p:nvPr/>
        </p:nvSpPr>
        <p:spPr>
          <a:xfrm>
            <a:off x="6637586" y="10162729"/>
            <a:ext cx="2446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Caldo aveludado de mandioca com gengibre e bacon (ou cogumelos)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2591991" cy="441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952357"/>
            <a:ext cx="10255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123212"/>
            <a:ext cx="16988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294066"/>
            <a:ext cx="27785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464921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785050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8105180"/>
            <a:ext cx="27151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48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CALDO AVELUDADO DE MANDIOCA COM GENGIBRE E BACON (OU COGUMELOS)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2988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CULINÁRIA ACOLHEDORA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2804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4655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694236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 (12 min na pressão)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9130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a 6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800 g de mandioca descascada, em pedaços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264973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bacon em cubinhos (ou 200 g de cogumelos fatiados, na versão vegetariana)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69061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649837"/>
            <a:ext cx="103688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picada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9041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863405"/>
            <a:ext cx="17202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dentes de alho picados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711476"/>
            <a:ext cx="281351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gengibre fresco ralado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925044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1,2 litro de caldo de frango (capítulo 3) ou de legumes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30902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pimenta-do-reino e algumas gotas de limão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73377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692997"/>
            <a:ext cx="27493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Cebolinha picada e azeite para finalizar</a:t>
            </a:r>
            <a:endParaRPr lang="en-US" sz="850" dirty="0"/>
          </a:p>
        </p:txBody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297835"/>
            <a:ext cx="1636514" cy="10790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91914" y="511805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791914" y="542731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2" name="Text 33"/>
          <p:cNvSpPr txBox="1"/>
          <p:nvPr/>
        </p:nvSpPr>
        <p:spPr>
          <a:xfrm>
            <a:off x="892820" y="546988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3" name="Text 34"/>
          <p:cNvSpPr txBox="1"/>
          <p:nvPr/>
        </p:nvSpPr>
        <p:spPr>
          <a:xfrm>
            <a:off x="1158925" y="5458420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850" dirty="0"/>
          </a:p>
        </p:txBody>
      </p:sp>
      <p:sp>
        <p:nvSpPr>
          <p:cNvPr id="44" name="Shape 35"/>
          <p:cNvSpPr/>
          <p:nvPr/>
        </p:nvSpPr>
        <p:spPr>
          <a:xfrm>
            <a:off x="791914" y="599241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5" name="Text 36"/>
          <p:cNvSpPr txBox="1"/>
          <p:nvPr/>
        </p:nvSpPr>
        <p:spPr>
          <a:xfrm>
            <a:off x="883444" y="603498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6" name="Text 37"/>
          <p:cNvSpPr txBox="1"/>
          <p:nvPr/>
        </p:nvSpPr>
        <p:spPr>
          <a:xfrm>
            <a:off x="1158925" y="602352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 mesma panela, refogue a cebola até ficar transparente. Junte o alho e o gengibre e refogue por 1 minuto.</a:t>
            </a:r>
            <a:endParaRPr lang="en-US" sz="850" dirty="0"/>
          </a:p>
        </p:txBody>
      </p:sp>
      <p:sp>
        <p:nvSpPr>
          <p:cNvPr id="47" name="Shape 38"/>
          <p:cNvSpPr/>
          <p:nvPr/>
        </p:nvSpPr>
        <p:spPr>
          <a:xfrm>
            <a:off x="791914" y="638710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8" name="Text 39"/>
          <p:cNvSpPr txBox="1"/>
          <p:nvPr/>
        </p:nvSpPr>
        <p:spPr>
          <a:xfrm>
            <a:off x="883741" y="642967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Text 40"/>
          <p:cNvSpPr txBox="1"/>
          <p:nvPr/>
        </p:nvSpPr>
        <p:spPr>
          <a:xfrm>
            <a:off x="1158925" y="6418213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850" dirty="0"/>
          </a:p>
        </p:txBody>
      </p:sp>
      <p:sp>
        <p:nvSpPr>
          <p:cNvPr id="50" name="Shape 41"/>
          <p:cNvSpPr/>
          <p:nvPr/>
        </p:nvSpPr>
        <p:spPr>
          <a:xfrm>
            <a:off x="791914" y="678180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1" name="Text 42"/>
          <p:cNvSpPr txBox="1"/>
          <p:nvPr/>
        </p:nvSpPr>
        <p:spPr>
          <a:xfrm>
            <a:off x="880021" y="6824365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3"/>
          <p:cNvSpPr txBox="1"/>
          <p:nvPr/>
        </p:nvSpPr>
        <p:spPr>
          <a:xfrm>
            <a:off x="1158925" y="6812905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850" dirty="0"/>
          </a:p>
        </p:txBody>
      </p:sp>
      <p:sp>
        <p:nvSpPr>
          <p:cNvPr id="53" name="Shape 44"/>
          <p:cNvSpPr/>
          <p:nvPr/>
        </p:nvSpPr>
        <p:spPr>
          <a:xfrm>
            <a:off x="791914" y="71764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4" name="Text 45"/>
          <p:cNvSpPr txBox="1"/>
          <p:nvPr/>
        </p:nvSpPr>
        <p:spPr>
          <a:xfrm>
            <a:off x="883444" y="7219057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5" name="Text 46"/>
          <p:cNvSpPr txBox="1"/>
          <p:nvPr/>
        </p:nvSpPr>
        <p:spPr>
          <a:xfrm>
            <a:off x="1158925" y="72075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Volte à panela, ajuste a consistência com mais caldo, se precisar, e tempere com sal, pimenta e gotas de limão.</a:t>
            </a:r>
            <a:endParaRPr lang="en-US" sz="850" dirty="0"/>
          </a:p>
        </p:txBody>
      </p:sp>
      <p:sp>
        <p:nvSpPr>
          <p:cNvPr id="56" name="Shape 47"/>
          <p:cNvSpPr/>
          <p:nvPr/>
        </p:nvSpPr>
        <p:spPr>
          <a:xfrm>
            <a:off x="791914" y="757118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7" name="Text 48"/>
          <p:cNvSpPr txBox="1"/>
          <p:nvPr/>
        </p:nvSpPr>
        <p:spPr>
          <a:xfrm>
            <a:off x="883444" y="761374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8" name="Text 49"/>
          <p:cNvSpPr txBox="1"/>
          <p:nvPr/>
        </p:nvSpPr>
        <p:spPr>
          <a:xfrm>
            <a:off x="1158925" y="7602289"/>
            <a:ext cx="58512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com o bacon (ou os cogumelos) crocante por cima, cebolinha e um fio de azeite.</a:t>
            </a:r>
            <a:endParaRPr lang="en-US" sz="850" dirty="0"/>
          </a:p>
        </p:txBody>
      </p:sp>
      <p:sp>
        <p:nvSpPr>
          <p:cNvPr id="59" name="Shape 50"/>
          <p:cNvSpPr/>
          <p:nvPr/>
        </p:nvSpPr>
        <p:spPr>
          <a:xfrm>
            <a:off x="791914" y="788059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60" name="Text 51"/>
          <p:cNvSpPr txBox="1"/>
          <p:nvPr/>
        </p:nvSpPr>
        <p:spPr>
          <a:xfrm>
            <a:off x="971848" y="795992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1" name="Text 52"/>
          <p:cNvSpPr txBox="1"/>
          <p:nvPr/>
        </p:nvSpPr>
        <p:spPr>
          <a:xfrm>
            <a:off x="971848" y="823570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830" dirty="0"/>
          </a:p>
        </p:txBody>
      </p:sp>
      <p:sp>
        <p:nvSpPr>
          <p:cNvPr id="62" name="Text 53"/>
          <p:cNvSpPr txBox="1"/>
          <p:nvPr/>
        </p:nvSpPr>
        <p:spPr>
          <a:xfrm>
            <a:off x="549875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3" name="Text 54"/>
          <p:cNvSpPr txBox="1"/>
          <p:nvPr/>
        </p:nvSpPr>
        <p:spPr>
          <a:xfrm>
            <a:off x="6631930" y="10162729"/>
            <a:ext cx="2503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MANDIOCA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Biscoito de polvilho e mandioca de assadeira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53852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97393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144792"/>
            <a:ext cx="1692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315646"/>
            <a:ext cx="17087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486501"/>
            <a:ext cx="11823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5676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862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BISCOITO DE POLVILHO E MANDIOCA DE ASSADEIRA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1797397"/>
            <a:ext cx="8344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SURPRESA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004715"/>
            <a:ext cx="25798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258020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289158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394793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414588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584698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394793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414588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584698"/>
            <a:ext cx="510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353866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394793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344341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514451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cerca de 30 biscoitos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200995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021211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361581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mandioca cozida, sem os fios, amassada ainda quente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7863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745557"/>
            <a:ext cx="15578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120 g de polvilho azedo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399990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395912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80 g de queijo meia-cura ou parmesão ralado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3923854" y="34023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118074" y="3361581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159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575149"/>
            <a:ext cx="17138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óleo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2949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88718"/>
            <a:ext cx="17302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rasa de sal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04306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002286"/>
            <a:ext cx="11971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Leite, se precisar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563963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384179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6934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473600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724549"/>
            <a:ext cx="49887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200 °C e forre uma assadeira com papel-manteiga.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49632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0058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4994374"/>
            <a:ext cx="60192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Amasse a mandioca ainda quente até virar um purê liso. Junte o óleo e o sal e misture.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23309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275659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26420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Acrescente o polvilho e misture bem (o calor da mandioca escalda o polvilho e deixa a massa elástica).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6277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5670352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6588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02247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065044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053584"/>
            <a:ext cx="57623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palitos de 8 cm ou bolinhas e disponha na assadeira com espaço entre eles.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2923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33486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323409"/>
            <a:ext cx="58332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a 30 minutos, até dourarem. Não abra o forno nos primeiros 15 minutos.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01718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6681043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6956822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1729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4907" y="10162729"/>
            <a:ext cx="2473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827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231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QUE NÃO COZINHA (OU QUE DESMANCHA O RÖSTI)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3520976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3341191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3703141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4441031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4261247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459209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4634657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4623197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Escolha bem: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ponta que estala e polpa uniforme. Raiz velha ou fibrosa não amolece, não importa o tempo.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501208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5054650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5043190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Congele crua: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os cristais de gelo rompem as fibras e ela cozinha mais rápido e fica mais macia.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543207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5474643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5463183"/>
            <a:ext cx="4128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Pedaços iguais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e panela de pressão quando a pressa bater.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572720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576976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575830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Esprema a mandioca ralada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no pano: menos água, mais crocância e um rösti que não desmancha.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791914" y="614719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18"/>
          <p:cNvSpPr txBox="1"/>
          <p:nvPr/>
        </p:nvSpPr>
        <p:spPr>
          <a:xfrm>
            <a:off x="883444" y="6189762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1158925" y="6178302"/>
            <a:ext cx="46477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amoleceu?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Não jogue fora: ela ainda serve para o caldo batido.</a:t>
            </a:r>
            <a:endParaRPr lang="en-US" sz="850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6777038"/>
            <a:ext cx="1377404" cy="1079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91914" y="6597253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8" name="Shape 21"/>
          <p:cNvSpPr/>
          <p:nvPr/>
        </p:nvSpPr>
        <p:spPr>
          <a:xfrm>
            <a:off x="791914" y="6985546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881807" y="7043142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2375892" y="6985546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2465784" y="7043142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791914" y="772373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3" name="Text 26"/>
          <p:cNvSpPr txBox="1"/>
          <p:nvPr/>
        </p:nvSpPr>
        <p:spPr>
          <a:xfrm>
            <a:off x="881807" y="7321451"/>
            <a:ext cx="98881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Mandioca fresca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2375892" y="772373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5" name="Text 28"/>
          <p:cNvSpPr txBox="1"/>
          <p:nvPr/>
        </p:nvSpPr>
        <p:spPr>
          <a:xfrm>
            <a:off x="2465892" y="7340501"/>
            <a:ext cx="4212067" cy="307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Mandioca congelada já descascada (funciona muito bem nas três receitas).</a:t>
            </a:r>
            <a:endParaRPr lang="en-US" sz="820" dirty="0"/>
          </a:p>
        </p:txBody>
      </p:sp>
      <p:sp>
        <p:nvSpPr>
          <p:cNvPr id="36" name="Shape 29"/>
          <p:cNvSpPr/>
          <p:nvPr/>
        </p:nvSpPr>
        <p:spPr>
          <a:xfrm>
            <a:off x="791914" y="803657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7" name="Text 30"/>
          <p:cNvSpPr txBox="1"/>
          <p:nvPr/>
        </p:nvSpPr>
        <p:spPr>
          <a:xfrm>
            <a:off x="881807" y="7796808"/>
            <a:ext cx="4391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Bacon</a:t>
            </a:r>
            <a:endParaRPr lang="en-US" sz="1050" dirty="0"/>
          </a:p>
        </p:txBody>
      </p:sp>
      <p:sp>
        <p:nvSpPr>
          <p:cNvPr id="38" name="Shape 31"/>
          <p:cNvSpPr/>
          <p:nvPr/>
        </p:nvSpPr>
        <p:spPr>
          <a:xfrm>
            <a:off x="2375892" y="803657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2465784" y="7815858"/>
            <a:ext cx="37271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Linguiça calabresa em cubinhos ou cogumelos dourados.</a:t>
            </a:r>
            <a:endParaRPr lang="en-US" sz="820" dirty="0"/>
          </a:p>
        </p:txBody>
      </p:sp>
      <p:sp>
        <p:nvSpPr>
          <p:cNvPr id="40" name="Shape 33"/>
          <p:cNvSpPr/>
          <p:nvPr/>
        </p:nvSpPr>
        <p:spPr>
          <a:xfrm>
            <a:off x="791914" y="834940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1" name="Text 34"/>
          <p:cNvSpPr txBox="1"/>
          <p:nvPr/>
        </p:nvSpPr>
        <p:spPr>
          <a:xfrm>
            <a:off x="881807" y="8109645"/>
            <a:ext cx="8818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Polvilho azedo</a:t>
            </a:r>
            <a:endParaRPr lang="en-US" sz="1050" dirty="0"/>
          </a:p>
        </p:txBody>
      </p:sp>
      <p:sp>
        <p:nvSpPr>
          <p:cNvPr id="42" name="Shape 35"/>
          <p:cNvSpPr/>
          <p:nvPr/>
        </p:nvSpPr>
        <p:spPr>
          <a:xfrm>
            <a:off x="2375892" y="834940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3" name="Text 36"/>
          <p:cNvSpPr txBox="1"/>
          <p:nvPr/>
        </p:nvSpPr>
        <p:spPr>
          <a:xfrm>
            <a:off x="2465784" y="8128695"/>
            <a:ext cx="38573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Polvilho doce (o biscoito fica menos aerado e mais macio).</a:t>
            </a:r>
            <a:endParaRPr lang="en-US" sz="820" dirty="0"/>
          </a:p>
        </p:txBody>
      </p:sp>
      <p:sp>
        <p:nvSpPr>
          <p:cNvPr id="44" name="Shape 37"/>
          <p:cNvSpPr/>
          <p:nvPr/>
        </p:nvSpPr>
        <p:spPr>
          <a:xfrm>
            <a:off x="791914" y="8662243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5" name="Text 38"/>
          <p:cNvSpPr txBox="1"/>
          <p:nvPr/>
        </p:nvSpPr>
        <p:spPr>
          <a:xfrm>
            <a:off x="881807" y="8422481"/>
            <a:ext cx="101738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Queijo meia-cura</a:t>
            </a:r>
            <a:endParaRPr lang="en-US" sz="1050" dirty="0"/>
          </a:p>
        </p:txBody>
      </p:sp>
      <p:sp>
        <p:nvSpPr>
          <p:cNvPr id="46" name="Shape 39"/>
          <p:cNvSpPr/>
          <p:nvPr/>
        </p:nvSpPr>
        <p:spPr>
          <a:xfrm>
            <a:off x="2375892" y="8662243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7" name="Text 40"/>
          <p:cNvSpPr txBox="1"/>
          <p:nvPr/>
        </p:nvSpPr>
        <p:spPr>
          <a:xfrm>
            <a:off x="2465784" y="8441531"/>
            <a:ext cx="19804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Parmesão ou queijo canastra.</a:t>
            </a:r>
            <a:endParaRPr lang="en-US" sz="820" dirty="0"/>
          </a:p>
        </p:txBody>
      </p:sp>
      <p:sp>
        <p:nvSpPr>
          <p:cNvPr id="48" name="Shape 41"/>
          <p:cNvSpPr/>
          <p:nvPr/>
        </p:nvSpPr>
        <p:spPr>
          <a:xfrm>
            <a:off x="791914" y="8975080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9" name="Text 42"/>
          <p:cNvSpPr txBox="1"/>
          <p:nvPr/>
        </p:nvSpPr>
        <p:spPr>
          <a:xfrm>
            <a:off x="881807" y="8735318"/>
            <a:ext cx="95800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Gengibre fresco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2375892" y="8975080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1" name="Text 44"/>
          <p:cNvSpPr txBox="1"/>
          <p:nvPr/>
        </p:nvSpPr>
        <p:spPr>
          <a:xfrm>
            <a:off x="2465784" y="8754368"/>
            <a:ext cx="343759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Pimenta-do-reino moída na hora e raspas de limão.</a:t>
            </a:r>
            <a:endParaRPr lang="en-US" sz="820" dirty="0"/>
          </a:p>
        </p:txBody>
      </p:sp>
      <p:sp>
        <p:nvSpPr>
          <p:cNvPr id="52" name="Shape 45"/>
          <p:cNvSpPr/>
          <p:nvPr/>
        </p:nvSpPr>
        <p:spPr>
          <a:xfrm>
            <a:off x="791914" y="9287917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3" name="Text 46"/>
          <p:cNvSpPr txBox="1"/>
          <p:nvPr/>
        </p:nvSpPr>
        <p:spPr>
          <a:xfrm>
            <a:off x="881807" y="9048155"/>
            <a:ext cx="7244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Carne-seca</a:t>
            </a:r>
            <a:endParaRPr lang="en-US" sz="1050" dirty="0"/>
          </a:p>
        </p:txBody>
      </p:sp>
      <p:sp>
        <p:nvSpPr>
          <p:cNvPr id="54" name="Shape 47"/>
          <p:cNvSpPr/>
          <p:nvPr/>
        </p:nvSpPr>
        <p:spPr>
          <a:xfrm>
            <a:off x="2375892" y="9287917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5" name="Text 48"/>
          <p:cNvSpPr txBox="1"/>
          <p:nvPr/>
        </p:nvSpPr>
        <p:spPr>
          <a:xfrm>
            <a:off x="2465784" y="9067205"/>
            <a:ext cx="330791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Frango desfiado (capítulo 3) ou linguiça refogada.</a:t>
            </a:r>
            <a:endParaRPr lang="en-US" sz="820" dirty="0"/>
          </a:p>
        </p:txBody>
      </p:sp>
      <p:sp>
        <p:nvSpPr>
          <p:cNvPr id="56" name="Text 49"/>
          <p:cNvSpPr txBox="1"/>
          <p:nvPr/>
        </p:nvSpPr>
        <p:spPr>
          <a:xfrm>
            <a:off x="5501580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7" name="Text 50"/>
          <p:cNvSpPr txBox="1"/>
          <p:nvPr/>
        </p:nvSpPr>
        <p:spPr>
          <a:xfrm>
            <a:off x="6634758" y="10162729"/>
            <a:ext cx="247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9633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MANDIOCA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3114675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332741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ÁGUA DO COZIMENTO, RICA EM AMIDO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363492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472609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“FARIÑA” CROCANTE DE FRIGIDEIRA COM AS APARAS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85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4330154"/>
            <a:ext cx="1280517" cy="1079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791914" y="4150370"/>
            <a:ext cx="127315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 AS CASCAS?</a:t>
            </a:r>
            <a:endParaRPr lang="en-US" sz="1700" dirty="0"/>
          </a:p>
        </p:txBody>
      </p:sp>
      <p:sp>
        <p:nvSpPr>
          <p:cNvPr id="14" name="Text 7"/>
          <p:cNvSpPr txBox="1"/>
          <p:nvPr/>
        </p:nvSpPr>
        <p:spPr>
          <a:xfrm>
            <a:off x="791914" y="4512320"/>
            <a:ext cx="51499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 cascas da mandioca não são comestíveis. Mande para a compostagem.</a:t>
            </a:r>
            <a:endParaRPr lang="en-US" sz="850" dirty="0"/>
          </a:p>
        </p:txBody>
      </p:sp>
      <p:sp>
        <p:nvSpPr>
          <p:cNvPr id="15" name="Text 8"/>
          <p:cNvSpPr txBox="1"/>
          <p:nvPr/>
        </p:nvSpPr>
        <p:spPr>
          <a:xfrm>
            <a:off x="5497711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6" name="Text 9"/>
          <p:cNvSpPr txBox="1"/>
          <p:nvPr/>
        </p:nvSpPr>
        <p:spPr>
          <a:xfrm>
            <a:off x="6630888" y="10162729"/>
            <a:ext cx="2513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0336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209509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65684"/>
            <a:ext cx="105370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DA RAIZ À RAMA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814" y="1962001"/>
            <a:ext cx="4031903" cy="33597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1914" y="5556796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Está em quase toda geladeira, mas costuma ficar presa à salada ralada ou ao bolo de sempre. Aqui ela vira protagonista.</a:t>
            </a:r>
            <a:endParaRPr lang="en-US" sz="105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6344394"/>
            <a:ext cx="1804095" cy="1079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1914" y="6164610"/>
            <a:ext cx="185956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 TRANSFORMAÇÕES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791914" y="6495455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92820" y="6538020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1158925" y="6517035"/>
            <a:ext cx="1171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1158925" y="6659910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850" dirty="0"/>
          </a:p>
        </p:txBody>
      </p:sp>
      <p:sp>
        <p:nvSpPr>
          <p:cNvPr id="14" name="Shape 9"/>
          <p:cNvSpPr/>
          <p:nvPr/>
        </p:nvSpPr>
        <p:spPr>
          <a:xfrm>
            <a:off x="5788372" y="6940786"/>
            <a:ext cx="717352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15" name="Text 10"/>
          <p:cNvSpPr txBox="1"/>
          <p:nvPr/>
        </p:nvSpPr>
        <p:spPr>
          <a:xfrm>
            <a:off x="6635204" y="6517035"/>
            <a:ext cx="2470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47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1914" y="704879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83444" y="7091363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1158925" y="7070378"/>
            <a:ext cx="1207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900" dirty="0"/>
          </a:p>
        </p:txBody>
      </p:sp>
      <p:sp>
        <p:nvSpPr>
          <p:cNvPr id="19" name="Text 14"/>
          <p:cNvSpPr txBox="1"/>
          <p:nvPr/>
        </p:nvSpPr>
        <p:spPr>
          <a:xfrm>
            <a:off x="1158925" y="7213253"/>
            <a:ext cx="46079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850" dirty="0"/>
          </a:p>
        </p:txBody>
      </p:sp>
      <p:sp>
        <p:nvSpPr>
          <p:cNvPr id="20" name="Shape 15"/>
          <p:cNvSpPr/>
          <p:nvPr/>
        </p:nvSpPr>
        <p:spPr>
          <a:xfrm>
            <a:off x="5402610" y="7323720"/>
            <a:ext cx="1090464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1" name="Text 16"/>
          <p:cNvSpPr txBox="1"/>
          <p:nvPr/>
        </p:nvSpPr>
        <p:spPr>
          <a:xfrm>
            <a:off x="6622554" y="7070378"/>
            <a:ext cx="25970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49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791914" y="743173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83741" y="7474297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1158925" y="7453312"/>
            <a:ext cx="16768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4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1158925" y="7596187"/>
            <a:ext cx="4499967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5788372" y="7877063"/>
            <a:ext cx="73729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sp>
        <p:nvSpPr>
          <p:cNvPr id="27" name="Text 22"/>
          <p:cNvSpPr txBox="1"/>
          <p:nvPr/>
        </p:nvSpPr>
        <p:spPr>
          <a:xfrm>
            <a:off x="6655147" y="7453312"/>
            <a:ext cx="2271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51</a:t>
            </a:r>
            <a:endParaRPr lang="en-US" sz="1200" dirty="0"/>
          </a:p>
        </p:txBody>
      </p:sp>
      <p:sp>
        <p:nvSpPr>
          <p:cNvPr id="28" name="Text 23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9382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CAPÍTULO 05 · CENOURA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888424"/>
            <a:ext cx="3360253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INGREDIENTE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91914" y="167520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 cenoura está em quase todo refogado, quase toda salada e quase todo lanche da tarde. E quase sempre como coadjuvante.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91914" y="2109490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791914" y="2714179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8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47" y="3452068"/>
            <a:ext cx="1641574" cy="107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1914" y="3272284"/>
            <a:ext cx="167754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ANTES DA PANELA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791914" y="3714601"/>
            <a:ext cx="145868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 HORA DE ESCOLHER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791914" y="3990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86135" y="3949452"/>
            <a:ext cx="44177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Firme, lisa, de cor laranja intensa, sem rachaduras nem brotos.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791914" y="42182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986135" y="4177457"/>
            <a:ext cx="40231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Evite cenouras moles ou com a parte de cima esverdeada.</a:t>
            </a:r>
            <a:endParaRPr lang="en-US" sz="850" dirty="0"/>
          </a:p>
        </p:txBody>
      </p:sp>
      <p:sp>
        <p:nvSpPr>
          <p:cNvPr id="15" name="Shape 11"/>
          <p:cNvSpPr/>
          <p:nvPr/>
        </p:nvSpPr>
        <p:spPr>
          <a:xfrm>
            <a:off x="791914" y="444624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86135" y="440546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encontrar com rama, compre: rama verde e viçosa é sinal de cenoura fresca, e ainda vira pesto.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4826645"/>
            <a:ext cx="9913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COMO GUARDAR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91914" y="510227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986135" y="5061496"/>
            <a:ext cx="48689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 rama assim que chegar em casa: ela puxa a umidade da raiz.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791914" y="533027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986135" y="5289500"/>
            <a:ext cx="5118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Raiz: em pote fechado com papel-toalha, na geladeira, por 3 a 4 semanas.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791914" y="555828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986135" y="5517505"/>
            <a:ext cx="46975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Rama: lavada, bem seca e enrolada em papel-toalha, por 3 a 4 dias.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91914" y="5768280"/>
            <a:ext cx="154569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PRÉ-PREPARO E CORTES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791914" y="604391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986135" y="6003131"/>
            <a:ext cx="6095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Não precisa descascar: escove bem sob água corrente. Se descascar, guarde as cascas.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791914" y="627191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986135" y="6231136"/>
            <a:ext cx="42817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Rodelas em diagonal têm mais superfície e caramelizam mais.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91914" y="649992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986135" y="6459141"/>
            <a:ext cx="578182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Palitos e meia-lua para assar; ralada fina para bolinhos; em fitas (com o descascador) para saladas cruas.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5501134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6634311" y="10162729"/>
            <a:ext cx="2479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58382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01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23094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NO MEL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3447604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Cenouras assadas inteiras, caramelizadas no mel ou melaço com azeite e tomilho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4231035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6462861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810970"/>
            <a:ext cx="242897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981825"/>
            <a:ext cx="18262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7152680"/>
            <a:ext cx="24699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7323534"/>
            <a:ext cx="1794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7494389"/>
            <a:ext cx="20702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66524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985373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6714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01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CENOURAS ASSADAS INTEIRAS, CARAMELIZADAS NO MEL OU MELAÇO COM AZEITE E TOMILHO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554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ASSADO INTENSO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8526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159472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03761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23555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93665"/>
            <a:ext cx="4313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03761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23555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893665"/>
            <a:ext cx="50601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359866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03761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23555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93665"/>
            <a:ext cx="6859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porções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468886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289102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629471"/>
            <a:ext cx="24594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8 cenouras médias (cerca de 600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3843040"/>
            <a:ext cx="1849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colheres (sopa) de azeite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09738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056608"/>
            <a:ext cx="25009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mel (ou melaço)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3109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270177"/>
            <a:ext cx="18168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ramos de tomilho fresco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3923854" y="367025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4118074" y="3629471"/>
            <a:ext cx="20962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 grosso e pimenta-do-reino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883819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843040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vinagre de maçã ou suco de limão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426779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422701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Opcional: iogurte temperado com sal e limão, e amendoim picado</a:t>
            </a:r>
            <a:endParaRPr lang="en-US" sz="850" dirty="0"/>
          </a:p>
        </p:txBody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4831854"/>
            <a:ext cx="1636514" cy="1079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791914" y="4652070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39" name="Shape 30"/>
          <p:cNvSpPr/>
          <p:nvPr/>
        </p:nvSpPr>
        <p:spPr>
          <a:xfrm>
            <a:off x="791914" y="496133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892820" y="5003899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1" name="Text 32"/>
          <p:cNvSpPr txBox="1"/>
          <p:nvPr/>
        </p:nvSpPr>
        <p:spPr>
          <a:xfrm>
            <a:off x="1158925" y="499243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220 °C. Escove bem as cenouras. Se forem grossas, corte ao meio no sentido do comprimento.</a:t>
            </a:r>
            <a:endParaRPr lang="en-US" sz="850" dirty="0"/>
          </a:p>
        </p:txBody>
      </p:sp>
      <p:sp>
        <p:nvSpPr>
          <p:cNvPr id="42" name="Shape 33"/>
          <p:cNvSpPr/>
          <p:nvPr/>
        </p:nvSpPr>
        <p:spPr>
          <a:xfrm>
            <a:off x="791914" y="535602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3" name="Text 34"/>
          <p:cNvSpPr txBox="1"/>
          <p:nvPr/>
        </p:nvSpPr>
        <p:spPr>
          <a:xfrm>
            <a:off x="883444" y="5398591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44" name="Text 35"/>
          <p:cNvSpPr txBox="1"/>
          <p:nvPr/>
        </p:nvSpPr>
        <p:spPr>
          <a:xfrm>
            <a:off x="1158925" y="538713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850" dirty="0"/>
          </a:p>
        </p:txBody>
      </p:sp>
      <p:sp>
        <p:nvSpPr>
          <p:cNvPr id="45" name="Shape 36"/>
          <p:cNvSpPr/>
          <p:nvPr/>
        </p:nvSpPr>
        <p:spPr>
          <a:xfrm>
            <a:off x="791914" y="575071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83741" y="5793284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781824"/>
            <a:ext cx="3243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25 minutos, até começarem a dourar.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60205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0021" y="6063109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605164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41523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444" y="6457801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446341"/>
            <a:ext cx="4209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Retire do forno e regue com o vinagre ou limão ainda quente.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685062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3444" y="6727627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716167"/>
            <a:ext cx="37209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Sirva sobre o iogurte, com amendoim picado por cima.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994475"/>
            <a:ext cx="5976045" cy="798165"/>
          </a:xfrm>
          <a:prstGeom prst="roundRect">
            <a:avLst>
              <a:gd name="adj" fmla="val 15502"/>
            </a:avLst>
          </a:prstGeom>
          <a:solidFill>
            <a:srgbClr val="FFC926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971848" y="7073801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59" name="Text 50"/>
          <p:cNvSpPr txBox="1"/>
          <p:nvPr/>
        </p:nvSpPr>
        <p:spPr>
          <a:xfrm>
            <a:off x="971848" y="7349579"/>
            <a:ext cx="5616178" cy="309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830" dirty="0"/>
          </a:p>
        </p:txBody>
      </p:sp>
      <p:sp>
        <p:nvSpPr>
          <p:cNvPr id="60" name="Text 51"/>
          <p:cNvSpPr txBox="1"/>
          <p:nvPr/>
        </p:nvSpPr>
        <p:spPr>
          <a:xfrm>
            <a:off x="5500688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1" name="Text 52"/>
          <p:cNvSpPr txBox="1"/>
          <p:nvPr/>
        </p:nvSpPr>
        <p:spPr>
          <a:xfrm>
            <a:off x="6633865" y="10162729"/>
            <a:ext cx="248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02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Hambúrguer rústico ou bolinho de cenoura com aveia e especiarias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163353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16977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213943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24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2566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39930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131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7655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211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8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02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HAMBÚRGUER RÚSTICO OU BOLINHO DE CENOURA COM AVEIA E ESPECIARIAS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29299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PRATO PRINCIPAL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17657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694236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864346"/>
            <a:ext cx="1380232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25 min + 20 min de geladeira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764482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934593"/>
            <a:ext cx="10754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6 hambúrgueres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Shape 15"/>
          <p:cNvSpPr/>
          <p:nvPr/>
        </p:nvSpPr>
        <p:spPr>
          <a:xfrm>
            <a:off x="79191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4" name="Text 16"/>
          <p:cNvSpPr txBox="1"/>
          <p:nvPr/>
        </p:nvSpPr>
        <p:spPr>
          <a:xfrm>
            <a:off x="986135" y="3711476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raladas (cerca de 300 g)</a:t>
            </a:r>
            <a:endParaRPr lang="en-US" sz="850" dirty="0"/>
          </a:p>
        </p:txBody>
      </p:sp>
      <p:sp>
        <p:nvSpPr>
          <p:cNvPr id="25" name="Shape 17"/>
          <p:cNvSpPr/>
          <p:nvPr/>
        </p:nvSpPr>
        <p:spPr>
          <a:xfrm>
            <a:off x="791914" y="413623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986135" y="4095452"/>
            <a:ext cx="16540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cebola pequena picada</a:t>
            </a:r>
            <a:endParaRPr lang="en-US" sz="850" dirty="0"/>
          </a:p>
        </p:txBody>
      </p:sp>
      <p:sp>
        <p:nvSpPr>
          <p:cNvPr id="27" name="Shape 19"/>
          <p:cNvSpPr/>
          <p:nvPr/>
        </p:nvSpPr>
        <p:spPr>
          <a:xfrm>
            <a:off x="791914" y="434980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986135" y="4309021"/>
            <a:ext cx="17190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dentes de alho picados</a:t>
            </a:r>
            <a:endParaRPr lang="en-US" sz="850" dirty="0"/>
          </a:p>
        </p:txBody>
      </p:sp>
      <p:sp>
        <p:nvSpPr>
          <p:cNvPr id="29" name="Shape 21"/>
          <p:cNvSpPr/>
          <p:nvPr/>
        </p:nvSpPr>
        <p:spPr>
          <a:xfrm>
            <a:off x="791914" y="456336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986135" y="4522589"/>
            <a:ext cx="21662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(chá) de cominho em pó</a:t>
            </a:r>
            <a:endParaRPr lang="en-US" sz="850" dirty="0"/>
          </a:p>
        </p:txBody>
      </p:sp>
      <p:sp>
        <p:nvSpPr>
          <p:cNvPr id="31" name="Shape 23"/>
          <p:cNvSpPr/>
          <p:nvPr/>
        </p:nvSpPr>
        <p:spPr>
          <a:xfrm>
            <a:off x="791914" y="4776936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986135" y="4736157"/>
            <a:ext cx="25238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½ colher (chá) de páprica defumada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4" name="Text 26"/>
          <p:cNvSpPr txBox="1"/>
          <p:nvPr/>
        </p:nvSpPr>
        <p:spPr>
          <a:xfrm>
            <a:off x="4118074" y="3711476"/>
            <a:ext cx="22849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xícara (90 g) de aveia em flocos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118074" y="3925044"/>
            <a:ext cx="4028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ovo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3923854" y="417939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8" name="Text 30"/>
          <p:cNvSpPr txBox="1"/>
          <p:nvPr/>
        </p:nvSpPr>
        <p:spPr>
          <a:xfrm>
            <a:off x="4118074" y="4138612"/>
            <a:ext cx="21579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g de queijo ralado (opcional)</a:t>
            </a:r>
            <a:endParaRPr lang="en-US" sz="850" dirty="0"/>
          </a:p>
        </p:txBody>
      </p:sp>
      <p:sp>
        <p:nvSpPr>
          <p:cNvPr id="39" name="Shape 31"/>
          <p:cNvSpPr/>
          <p:nvPr/>
        </p:nvSpPr>
        <p:spPr>
          <a:xfrm>
            <a:off x="3923854" y="439296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52181"/>
            <a:ext cx="2800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 colheres (sopa) de cheiro-verde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0652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65749"/>
            <a:ext cx="1439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Sal, pimenta e azeite</a:t>
            </a:r>
            <a:endParaRPr lang="en-US" sz="850" dirty="0"/>
          </a:p>
        </p:txBody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170587"/>
            <a:ext cx="1636514" cy="10790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791914" y="4990802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5" name="Shape 36"/>
          <p:cNvSpPr/>
          <p:nvPr/>
        </p:nvSpPr>
        <p:spPr>
          <a:xfrm>
            <a:off x="791914" y="530006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6" name="Text 37"/>
          <p:cNvSpPr txBox="1"/>
          <p:nvPr/>
        </p:nvSpPr>
        <p:spPr>
          <a:xfrm>
            <a:off x="892820" y="534263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47" name="Text 38"/>
          <p:cNvSpPr txBox="1"/>
          <p:nvPr/>
        </p:nvSpPr>
        <p:spPr>
          <a:xfrm>
            <a:off x="1158925" y="5331172"/>
            <a:ext cx="5609034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850" dirty="0"/>
          </a:p>
        </p:txBody>
      </p:sp>
      <p:sp>
        <p:nvSpPr>
          <p:cNvPr id="48" name="Shape 39"/>
          <p:cNvSpPr/>
          <p:nvPr/>
        </p:nvSpPr>
        <p:spPr>
          <a:xfrm>
            <a:off x="791914" y="586516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49" name="Text 40"/>
          <p:cNvSpPr txBox="1"/>
          <p:nvPr/>
        </p:nvSpPr>
        <p:spPr>
          <a:xfrm>
            <a:off x="883444" y="5907732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0" name="Text 41"/>
          <p:cNvSpPr txBox="1"/>
          <p:nvPr/>
        </p:nvSpPr>
        <p:spPr>
          <a:xfrm>
            <a:off x="1158925" y="5896273"/>
            <a:ext cx="3007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Transfira para uma tigela e deixe amornar.</a:t>
            </a:r>
            <a:endParaRPr lang="en-US" sz="850" dirty="0"/>
          </a:p>
        </p:txBody>
      </p:sp>
      <p:sp>
        <p:nvSpPr>
          <p:cNvPr id="51" name="Shape 42"/>
          <p:cNvSpPr/>
          <p:nvPr/>
        </p:nvSpPr>
        <p:spPr>
          <a:xfrm>
            <a:off x="791914" y="613499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2" name="Text 43"/>
          <p:cNvSpPr txBox="1"/>
          <p:nvPr/>
        </p:nvSpPr>
        <p:spPr>
          <a:xfrm>
            <a:off x="883741" y="6177558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3" name="Text 44"/>
          <p:cNvSpPr txBox="1"/>
          <p:nvPr/>
        </p:nvSpPr>
        <p:spPr>
          <a:xfrm>
            <a:off x="1158925" y="6166098"/>
            <a:ext cx="61689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Junte a aveia, o ovo, o queijo e o cheiro-verde. Tempere com sal e pimenta e misture bem.</a:t>
            </a:r>
            <a:endParaRPr lang="en-US" sz="850" dirty="0"/>
          </a:p>
        </p:txBody>
      </p:sp>
      <p:sp>
        <p:nvSpPr>
          <p:cNvPr id="54" name="Shape 45"/>
          <p:cNvSpPr/>
          <p:nvPr/>
        </p:nvSpPr>
        <p:spPr>
          <a:xfrm>
            <a:off x="791914" y="6404818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5" name="Text 46"/>
          <p:cNvSpPr txBox="1"/>
          <p:nvPr/>
        </p:nvSpPr>
        <p:spPr>
          <a:xfrm>
            <a:off x="880021" y="644738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56" name="Text 47"/>
          <p:cNvSpPr txBox="1"/>
          <p:nvPr/>
        </p:nvSpPr>
        <p:spPr>
          <a:xfrm>
            <a:off x="1158925" y="6435923"/>
            <a:ext cx="51443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Deixe a massa descansar por 15 minutos, para a aveia hidratar e dar liga.</a:t>
            </a:r>
            <a:endParaRPr lang="en-US" sz="850" dirty="0"/>
          </a:p>
        </p:txBody>
      </p:sp>
      <p:sp>
        <p:nvSpPr>
          <p:cNvPr id="57" name="Shape 48"/>
          <p:cNvSpPr/>
          <p:nvPr/>
        </p:nvSpPr>
        <p:spPr>
          <a:xfrm>
            <a:off x="791914" y="667464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8" name="Text 49"/>
          <p:cNvSpPr txBox="1"/>
          <p:nvPr/>
        </p:nvSpPr>
        <p:spPr>
          <a:xfrm>
            <a:off x="883444" y="6717209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59" name="Text 50"/>
          <p:cNvSpPr txBox="1"/>
          <p:nvPr/>
        </p:nvSpPr>
        <p:spPr>
          <a:xfrm>
            <a:off x="1158925" y="6705749"/>
            <a:ext cx="55060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Modele 6 hambúrgueres com as mãos úmidas e leve à geladeira por 20 minutos.</a:t>
            </a:r>
            <a:endParaRPr lang="en-US" sz="850" dirty="0"/>
          </a:p>
        </p:txBody>
      </p:sp>
      <p:sp>
        <p:nvSpPr>
          <p:cNvPr id="60" name="Shape 51"/>
          <p:cNvSpPr/>
          <p:nvPr/>
        </p:nvSpPr>
        <p:spPr>
          <a:xfrm>
            <a:off x="791914" y="694446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1" name="Text 52"/>
          <p:cNvSpPr txBox="1"/>
          <p:nvPr/>
        </p:nvSpPr>
        <p:spPr>
          <a:xfrm>
            <a:off x="883444" y="6987034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2" name="Text 53"/>
          <p:cNvSpPr txBox="1"/>
          <p:nvPr/>
        </p:nvSpPr>
        <p:spPr>
          <a:xfrm>
            <a:off x="1158925" y="697557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850" dirty="0"/>
          </a:p>
        </p:txBody>
      </p:sp>
      <p:sp>
        <p:nvSpPr>
          <p:cNvPr id="63" name="Shape 54"/>
          <p:cNvSpPr/>
          <p:nvPr/>
        </p:nvSpPr>
        <p:spPr>
          <a:xfrm>
            <a:off x="791914" y="7378750"/>
            <a:ext cx="5976045" cy="964555"/>
          </a:xfrm>
          <a:prstGeom prst="roundRect">
            <a:avLst>
              <a:gd name="adj" fmla="val 10615"/>
            </a:avLst>
          </a:prstGeom>
          <a:solidFill>
            <a:srgbClr val="FFC926"/>
          </a:solidFill>
          <a:ln/>
        </p:spPr>
      </p:sp>
      <p:sp>
        <p:nvSpPr>
          <p:cNvPr id="64" name="Text 55"/>
          <p:cNvSpPr txBox="1"/>
          <p:nvPr/>
        </p:nvSpPr>
        <p:spPr>
          <a:xfrm>
            <a:off x="971848" y="7458075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5" name="Text 56"/>
          <p:cNvSpPr txBox="1"/>
          <p:nvPr/>
        </p:nvSpPr>
        <p:spPr>
          <a:xfrm>
            <a:off x="971848" y="7733854"/>
            <a:ext cx="5616178" cy="475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830" dirty="0"/>
          </a:p>
        </p:txBody>
      </p:sp>
      <p:sp>
        <p:nvSpPr>
          <p:cNvPr id="66" name="Text 57"/>
          <p:cNvSpPr txBox="1"/>
          <p:nvPr/>
        </p:nvSpPr>
        <p:spPr>
          <a:xfrm>
            <a:off x="550232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67" name="Text 58"/>
          <p:cNvSpPr txBox="1"/>
          <p:nvPr/>
        </p:nvSpPr>
        <p:spPr>
          <a:xfrm>
            <a:off x="6635502" y="10162729"/>
            <a:ext cx="246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103936" y="3167807"/>
            <a:ext cx="6047929" cy="6047929"/>
          </a:xfrm>
          <a:prstGeom prst="ellipse">
            <a:avLst/>
          </a:prstGeom>
          <a:solidFill>
            <a:srgbClr val="EADCB8"/>
          </a:solidFill>
          <a:ln w="171450">
            <a:solidFill>
              <a:srgbClr val="18542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491335" y="3555206"/>
            <a:ext cx="5273129" cy="5273129"/>
          </a:xfrm>
          <a:prstGeom prst="ellipse">
            <a:avLst/>
          </a:prstGeom>
          <a:ln w="9525">
            <a:solidFill>
              <a:srgbClr val="18542A"/>
            </a:solidFill>
            <a:prstDash val="solid"/>
          </a:ln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7285" y="4419154"/>
            <a:ext cx="4319885" cy="359985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1914" y="1079897"/>
            <a:ext cx="2606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105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#COZINHAMAMEDE · TRANSFORMAÇÃO 03</a:t>
            </a:r>
            <a:endParaRPr lang="en-US" sz="105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1353278"/>
            <a:ext cx="3599855" cy="166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00"/>
              </a:lnSpc>
              <a:buNone/>
            </a:pPr>
            <a:r>
              <a:rPr lang="en-US" sz="5800" spc="-29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</a:t>
            </a:r>
            <a:endParaRPr lang="en-US" sz="5800" dirty="0"/>
          </a:p>
        </p:txBody>
      </p:sp>
      <p:sp>
        <p:nvSpPr>
          <p:cNvPr id="8" name="Text 4"/>
          <p:cNvSpPr txBox="1"/>
          <p:nvPr/>
        </p:nvSpPr>
        <p:spPr>
          <a:xfrm>
            <a:off x="791914" y="2799457"/>
            <a:ext cx="2879973" cy="342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20"/>
              </a:lnSpc>
              <a:buNone/>
            </a:pPr>
            <a:r>
              <a:rPr lang="en-US" sz="9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de cenoura da vovó com técnica de chef e calda de chocolate espelhada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863798" y="3582888"/>
            <a:ext cx="13246" cy="1727895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91914" y="5814715"/>
            <a:ext cx="12593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791914" y="6162824"/>
            <a:ext cx="2591991" cy="292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80"/>
              </a:lnSpc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40" dirty="0"/>
          </a:p>
        </p:txBody>
      </p:sp>
      <p:sp>
        <p:nvSpPr>
          <p:cNvPr id="12" name="Text 8"/>
          <p:cNvSpPr txBox="1"/>
          <p:nvPr/>
        </p:nvSpPr>
        <p:spPr>
          <a:xfrm>
            <a:off x="791914" y="6482953"/>
            <a:ext cx="49812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40" dirty="0"/>
          </a:p>
        </p:txBody>
      </p:sp>
      <p:sp>
        <p:nvSpPr>
          <p:cNvPr id="13" name="Text 9"/>
          <p:cNvSpPr txBox="1"/>
          <p:nvPr/>
        </p:nvSpPr>
        <p:spPr>
          <a:xfrm>
            <a:off x="791914" y="6653808"/>
            <a:ext cx="9842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40" dirty="0"/>
          </a:p>
        </p:txBody>
      </p:sp>
      <p:sp>
        <p:nvSpPr>
          <p:cNvPr id="14" name="Text 10"/>
          <p:cNvSpPr txBox="1"/>
          <p:nvPr/>
        </p:nvSpPr>
        <p:spPr>
          <a:xfrm>
            <a:off x="791914" y="6824662"/>
            <a:ext cx="110497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40" dirty="0"/>
          </a:p>
        </p:txBody>
      </p:sp>
      <p:sp>
        <p:nvSpPr>
          <p:cNvPr id="15" name="Text 11"/>
          <p:cNvSpPr txBox="1"/>
          <p:nvPr/>
        </p:nvSpPr>
        <p:spPr>
          <a:xfrm>
            <a:off x="791914" y="6995517"/>
            <a:ext cx="249797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40" dirty="0"/>
          </a:p>
        </p:txBody>
      </p:sp>
      <p:sp>
        <p:nvSpPr>
          <p:cNvPr id="16" name="Text 12"/>
          <p:cNvSpPr txBox="1"/>
          <p:nvPr/>
        </p:nvSpPr>
        <p:spPr>
          <a:xfrm>
            <a:off x="791914" y="7166372"/>
            <a:ext cx="285802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40" dirty="0"/>
          </a:p>
        </p:txBody>
      </p:sp>
      <p:sp>
        <p:nvSpPr>
          <p:cNvPr id="17" name="Text 13"/>
          <p:cNvSpPr txBox="1"/>
          <p:nvPr/>
        </p:nvSpPr>
        <p:spPr>
          <a:xfrm>
            <a:off x="791914" y="7337227"/>
            <a:ext cx="99759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40" dirty="0"/>
          </a:p>
        </p:txBody>
      </p:sp>
      <p:sp>
        <p:nvSpPr>
          <p:cNvPr id="18" name="Text 14"/>
          <p:cNvSpPr txBox="1"/>
          <p:nvPr/>
        </p:nvSpPr>
        <p:spPr>
          <a:xfrm>
            <a:off x="791914" y="7508081"/>
            <a:ext cx="266683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40" dirty="0"/>
          </a:p>
        </p:txBody>
      </p:sp>
      <p:sp>
        <p:nvSpPr>
          <p:cNvPr id="19" name="Text 15"/>
          <p:cNvSpPr txBox="1"/>
          <p:nvPr/>
        </p:nvSpPr>
        <p:spPr>
          <a:xfrm>
            <a:off x="791914" y="7678936"/>
            <a:ext cx="237679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40" dirty="0"/>
          </a:p>
        </p:txBody>
      </p:sp>
      <p:sp>
        <p:nvSpPr>
          <p:cNvPr id="20" name="Text 16"/>
          <p:cNvSpPr txBox="1"/>
          <p:nvPr/>
        </p:nvSpPr>
        <p:spPr>
          <a:xfrm>
            <a:off x="791914" y="7849791"/>
            <a:ext cx="1458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40" dirty="0"/>
          </a:p>
        </p:txBody>
      </p:sp>
      <p:sp>
        <p:nvSpPr>
          <p:cNvPr id="21" name="Text 17"/>
          <p:cNvSpPr txBox="1"/>
          <p:nvPr/>
        </p:nvSpPr>
        <p:spPr>
          <a:xfrm>
            <a:off x="791914" y="8020645"/>
            <a:ext cx="186289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40" dirty="0"/>
          </a:p>
        </p:txBody>
      </p:sp>
      <p:sp>
        <p:nvSpPr>
          <p:cNvPr id="22" name="Text 18"/>
          <p:cNvSpPr txBox="1"/>
          <p:nvPr/>
        </p:nvSpPr>
        <p:spPr>
          <a:xfrm>
            <a:off x="791914" y="9433322"/>
            <a:ext cx="5976045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80"/>
              </a:lnSpc>
              <a:buNone/>
            </a:pPr>
            <a:r>
              <a:rPr lang="en-US" sz="100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receitas por </a:t>
            </a:r>
            <a:pPr algn="ctr" indent="0" marL="0">
              <a:lnSpc>
                <a:spcPts val="1580"/>
              </a:lnSpc>
              <a:buNone/>
            </a:pPr>
            <a:r>
              <a:rPr lang="en-US" sz="1300" spc="5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ALLAN MAMEDE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48997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TRANSFORMAÇÃO 03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78595"/>
            <a:ext cx="4247852" cy="12125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50"/>
              </a:lnSpc>
              <a:buNone/>
            </a:pPr>
            <a:r>
              <a:rPr lang="en-US" sz="2900" spc="-1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BOLO DE CENOURA DA VOVÓ COM TÉCNICA DE CHEF E CALDA DE CHOCOLATE ESPELHADA</a:t>
            </a:r>
            <a:endParaRPr lang="en-US" sz="29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47292"/>
            <a:ext cx="1797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40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 SOBREMESA DE RESPEITO</a:t>
            </a:r>
            <a:endParaRPr lang="en-US" sz="1000" dirty="0"/>
          </a:p>
        </p:txBody>
      </p:sp>
      <p:sp>
        <p:nvSpPr>
          <p:cNvPr id="7" name="Text 3"/>
          <p:cNvSpPr txBox="1"/>
          <p:nvPr/>
        </p:nvSpPr>
        <p:spPr>
          <a:xfrm>
            <a:off x="791914" y="2354610"/>
            <a:ext cx="255832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96015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91914" y="2607915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91914" y="3241477"/>
            <a:ext cx="5976045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914" y="2744688"/>
            <a:ext cx="359866" cy="35986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59681" y="2764482"/>
            <a:ext cx="68654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PREPARO: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1259681" y="2934593"/>
            <a:ext cx="50914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20 min</a:t>
            </a:r>
            <a:endParaRPr lang="en-US" sz="820" dirty="0"/>
          </a:p>
        </p:txBody>
      </p:sp>
      <p:sp>
        <p:nvSpPr>
          <p:cNvPr id="13" name="Shape 8"/>
          <p:cNvSpPr/>
          <p:nvPr/>
        </p:nvSpPr>
        <p:spPr>
          <a:xfrm>
            <a:off x="2783830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272" y="2744688"/>
            <a:ext cx="359866" cy="3598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05039" y="2764482"/>
            <a:ext cx="8109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COZIMENTO: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3405039" y="2934593"/>
            <a:ext cx="51286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50 min</a:t>
            </a:r>
            <a:endParaRPr lang="en-US" sz="820" dirty="0"/>
          </a:p>
        </p:txBody>
      </p:sp>
      <p:sp>
        <p:nvSpPr>
          <p:cNvPr id="17" name="Shape 11"/>
          <p:cNvSpPr/>
          <p:nvPr/>
        </p:nvSpPr>
        <p:spPr>
          <a:xfrm>
            <a:off x="4775895" y="2703761"/>
            <a:ext cx="0" cy="441871"/>
          </a:xfrm>
          <a:prstGeom prst="line">
            <a:avLst/>
          </a:prstGeom>
          <a:noFill/>
          <a:ln w="9525">
            <a:solidFill>
              <a:srgbClr val="18542A"/>
            </a:solidFill>
            <a:prstDash val="sysDot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9336" y="2744688"/>
            <a:ext cx="359866" cy="35986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7103" y="2694236"/>
            <a:ext cx="53801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spc="4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RENDE: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397103" y="2864346"/>
            <a:ext cx="1226939" cy="283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0"/>
              </a:lnSpc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assadeira de 20 × 30 cm</a:t>
            </a:r>
            <a:endParaRPr lang="en-US" sz="82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047" y="3550890"/>
            <a:ext cx="1319957" cy="1079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91914" y="3371106"/>
            <a:ext cx="131733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INGREDIENTES</a:t>
            </a:r>
            <a:endParaRPr lang="en-US" sz="1700" dirty="0"/>
          </a:p>
        </p:txBody>
      </p:sp>
      <p:sp>
        <p:nvSpPr>
          <p:cNvPr id="23" name="Text 15"/>
          <p:cNvSpPr txBox="1"/>
          <p:nvPr/>
        </p:nvSpPr>
        <p:spPr>
          <a:xfrm>
            <a:off x="791914" y="3701951"/>
            <a:ext cx="499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MASSA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791914" y="397758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986135" y="3936802"/>
            <a:ext cx="264973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 cenouras médias (cerca de 300 g), em rodelas</a:t>
            </a:r>
            <a:endParaRPr lang="en-US" sz="850" dirty="0"/>
          </a:p>
        </p:txBody>
      </p:sp>
      <p:sp>
        <p:nvSpPr>
          <p:cNvPr id="26" name="Shape 18"/>
          <p:cNvSpPr/>
          <p:nvPr/>
        </p:nvSpPr>
        <p:spPr>
          <a:xfrm>
            <a:off x="791914" y="4361557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7" name="Text 19"/>
          <p:cNvSpPr txBox="1"/>
          <p:nvPr/>
        </p:nvSpPr>
        <p:spPr>
          <a:xfrm>
            <a:off x="986135" y="4320778"/>
            <a:ext cx="502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4 ovos</a:t>
            </a:r>
            <a:endParaRPr lang="en-US" sz="850" dirty="0"/>
          </a:p>
        </p:txBody>
      </p:sp>
      <p:sp>
        <p:nvSpPr>
          <p:cNvPr id="28" name="Shape 20"/>
          <p:cNvSpPr/>
          <p:nvPr/>
        </p:nvSpPr>
        <p:spPr>
          <a:xfrm>
            <a:off x="791914" y="457512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29" name="Text 21"/>
          <p:cNvSpPr txBox="1"/>
          <p:nvPr/>
        </p:nvSpPr>
        <p:spPr>
          <a:xfrm>
            <a:off x="986135" y="4534346"/>
            <a:ext cx="9952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240 ml de óleo</a:t>
            </a:r>
            <a:endParaRPr lang="en-US" sz="850" dirty="0"/>
          </a:p>
        </p:txBody>
      </p:sp>
      <p:sp>
        <p:nvSpPr>
          <p:cNvPr id="30" name="Shape 22"/>
          <p:cNvSpPr/>
          <p:nvPr/>
        </p:nvSpPr>
        <p:spPr>
          <a:xfrm>
            <a:off x="791914" y="4788694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86135" y="4747915"/>
            <a:ext cx="11189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açúcar</a:t>
            </a:r>
            <a:endParaRPr lang="en-US" sz="850" dirty="0"/>
          </a:p>
        </p:txBody>
      </p:sp>
      <p:sp>
        <p:nvSpPr>
          <p:cNvPr id="32" name="Shape 24"/>
          <p:cNvSpPr/>
          <p:nvPr/>
        </p:nvSpPr>
        <p:spPr>
          <a:xfrm>
            <a:off x="791914" y="5002262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3" name="Text 25"/>
          <p:cNvSpPr txBox="1"/>
          <p:nvPr/>
        </p:nvSpPr>
        <p:spPr>
          <a:xfrm>
            <a:off x="986135" y="4961483"/>
            <a:ext cx="2529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300 g de farinha de trigo, peneirada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3923854" y="3752255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4118074" y="3711476"/>
            <a:ext cx="28940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fermento químico em pó</a:t>
            </a:r>
            <a:endParaRPr lang="en-US" sz="850" dirty="0"/>
          </a:p>
        </p:txBody>
      </p:sp>
      <p:sp>
        <p:nvSpPr>
          <p:cNvPr id="36" name="Shape 28"/>
          <p:cNvSpPr/>
          <p:nvPr/>
        </p:nvSpPr>
        <p:spPr>
          <a:xfrm>
            <a:off x="3923854" y="396582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4118074" y="3925044"/>
            <a:ext cx="1008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pitada de sal</a:t>
            </a:r>
            <a:endParaRPr lang="en-US" sz="850" dirty="0"/>
          </a:p>
        </p:txBody>
      </p:sp>
      <p:sp>
        <p:nvSpPr>
          <p:cNvPr id="38" name="Text 30"/>
          <p:cNvSpPr txBox="1"/>
          <p:nvPr/>
        </p:nvSpPr>
        <p:spPr>
          <a:xfrm>
            <a:off x="3923854" y="4139803"/>
            <a:ext cx="12006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66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CALDA ESPELHADA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3923854" y="4415433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0" name="Text 32"/>
          <p:cNvSpPr txBox="1"/>
          <p:nvPr/>
        </p:nvSpPr>
        <p:spPr>
          <a:xfrm>
            <a:off x="4118074" y="4374654"/>
            <a:ext cx="2700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150 g de chocolate meio amargo picado</a:t>
            </a:r>
            <a:endParaRPr lang="en-US" sz="850" dirty="0"/>
          </a:p>
        </p:txBody>
      </p:sp>
      <p:sp>
        <p:nvSpPr>
          <p:cNvPr id="41" name="Shape 33"/>
          <p:cNvSpPr/>
          <p:nvPr/>
        </p:nvSpPr>
        <p:spPr>
          <a:xfrm>
            <a:off x="3923854" y="4629001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4118074" y="4588222"/>
            <a:ext cx="24068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caixinha (200 g) de creme de leite</a:t>
            </a:r>
            <a:endParaRPr lang="en-US" sz="850" dirty="0"/>
          </a:p>
        </p:txBody>
      </p:sp>
      <p:sp>
        <p:nvSpPr>
          <p:cNvPr id="43" name="Shape 35"/>
          <p:cNvSpPr/>
          <p:nvPr/>
        </p:nvSpPr>
        <p:spPr>
          <a:xfrm>
            <a:off x="3923854" y="4842570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4" name="Text 36"/>
          <p:cNvSpPr txBox="1"/>
          <p:nvPr/>
        </p:nvSpPr>
        <p:spPr>
          <a:xfrm>
            <a:off x="4118074" y="4801791"/>
            <a:ext cx="14771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mel</a:t>
            </a:r>
            <a:endParaRPr lang="en-US" sz="850" dirty="0"/>
          </a:p>
        </p:txBody>
      </p:sp>
      <p:sp>
        <p:nvSpPr>
          <p:cNvPr id="45" name="Shape 37"/>
          <p:cNvSpPr/>
          <p:nvPr/>
        </p:nvSpPr>
        <p:spPr>
          <a:xfrm>
            <a:off x="3923854" y="5056138"/>
            <a:ext cx="86320" cy="86320"/>
          </a:xfrm>
          <a:prstGeom prst="ellipse">
            <a:avLst/>
          </a:prstGeom>
          <a:solidFill>
            <a:srgbClr val="9ABC05"/>
          </a:solidFill>
          <a:ln/>
        </p:spPr>
      </p:sp>
      <p:sp>
        <p:nvSpPr>
          <p:cNvPr id="46" name="Text 38"/>
          <p:cNvSpPr txBox="1"/>
          <p:nvPr/>
        </p:nvSpPr>
        <p:spPr>
          <a:xfrm>
            <a:off x="4118074" y="5015359"/>
            <a:ext cx="18862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1 colher (sopa) de manteiga</a:t>
            </a:r>
            <a:endParaRPr lang="en-US" sz="850" dirty="0"/>
          </a:p>
        </p:txBody>
      </p:sp>
      <p:pic>
        <p:nvPicPr>
          <p:cNvPr id="4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047" y="5471368"/>
            <a:ext cx="1636514" cy="10790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791914" y="5291584"/>
            <a:ext cx="167187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MODO DE PREPARO</a:t>
            </a:r>
            <a:endParaRPr lang="en-US" sz="1700" dirty="0"/>
          </a:p>
        </p:txBody>
      </p:sp>
      <p:sp>
        <p:nvSpPr>
          <p:cNvPr id="49" name="Shape 40"/>
          <p:cNvSpPr/>
          <p:nvPr/>
        </p:nvSpPr>
        <p:spPr>
          <a:xfrm>
            <a:off x="791914" y="560084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892820" y="5643414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51" name="Text 42"/>
          <p:cNvSpPr txBox="1"/>
          <p:nvPr/>
        </p:nvSpPr>
        <p:spPr>
          <a:xfrm>
            <a:off x="1158925" y="5631954"/>
            <a:ext cx="40538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Preaqueça o forno a 180 °C e unte e enfarinhe a assadeira.</a:t>
            </a:r>
            <a:endParaRPr lang="en-US" sz="850" dirty="0"/>
          </a:p>
        </p:txBody>
      </p:sp>
      <p:sp>
        <p:nvSpPr>
          <p:cNvPr id="52" name="Shape 43"/>
          <p:cNvSpPr/>
          <p:nvPr/>
        </p:nvSpPr>
        <p:spPr>
          <a:xfrm>
            <a:off x="791914" y="5870674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883444" y="5913239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54" name="Text 45"/>
          <p:cNvSpPr txBox="1"/>
          <p:nvPr/>
        </p:nvSpPr>
        <p:spPr>
          <a:xfrm>
            <a:off x="1158925" y="5901779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No liquidificador, bata a cenoura, os ovos, o óleo, o açúcar e o sal por 3 a 4 minutos, até ficar um creme bem liso e claro.</a:t>
            </a:r>
            <a:endParaRPr lang="en-US" sz="850" dirty="0"/>
          </a:p>
        </p:txBody>
      </p:sp>
      <p:sp>
        <p:nvSpPr>
          <p:cNvPr id="55" name="Shape 46"/>
          <p:cNvSpPr/>
          <p:nvPr/>
        </p:nvSpPr>
        <p:spPr>
          <a:xfrm>
            <a:off x="791914" y="626536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6" name="Text 47"/>
          <p:cNvSpPr txBox="1"/>
          <p:nvPr/>
        </p:nvSpPr>
        <p:spPr>
          <a:xfrm>
            <a:off x="883741" y="630793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57" name="Text 48"/>
          <p:cNvSpPr txBox="1"/>
          <p:nvPr/>
        </p:nvSpPr>
        <p:spPr>
          <a:xfrm>
            <a:off x="1158925" y="629647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só até sumir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. Por último, incorpore o fermento delicadamente.</a:t>
            </a:r>
            <a:endParaRPr lang="en-US" sz="850" dirty="0"/>
          </a:p>
        </p:txBody>
      </p:sp>
      <p:sp>
        <p:nvSpPr>
          <p:cNvPr id="58" name="Shape 49"/>
          <p:cNvSpPr/>
          <p:nvPr/>
        </p:nvSpPr>
        <p:spPr>
          <a:xfrm>
            <a:off x="791914" y="666005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80021" y="6702623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60" name="Text 51"/>
          <p:cNvSpPr txBox="1"/>
          <p:nvPr/>
        </p:nvSpPr>
        <p:spPr>
          <a:xfrm>
            <a:off x="1158925" y="6691164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Asse por 35 a 40 minutos, até o palito sair limpo. Não abra o forno nos primeiros 25 minutos.</a:t>
            </a:r>
            <a:endParaRPr lang="en-US" sz="850" dirty="0"/>
          </a:p>
        </p:txBody>
      </p:sp>
      <p:sp>
        <p:nvSpPr>
          <p:cNvPr id="61" name="Shape 52"/>
          <p:cNvSpPr/>
          <p:nvPr/>
        </p:nvSpPr>
        <p:spPr>
          <a:xfrm>
            <a:off x="791914" y="7054751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2" name="Text 53"/>
          <p:cNvSpPr txBox="1"/>
          <p:nvPr/>
        </p:nvSpPr>
        <p:spPr>
          <a:xfrm>
            <a:off x="883444" y="7097316"/>
            <a:ext cx="16862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950" dirty="0"/>
          </a:p>
        </p:txBody>
      </p:sp>
      <p:sp>
        <p:nvSpPr>
          <p:cNvPr id="63" name="Text 54"/>
          <p:cNvSpPr txBox="1"/>
          <p:nvPr/>
        </p:nvSpPr>
        <p:spPr>
          <a:xfrm>
            <a:off x="1158925" y="7085856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Calda: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850" dirty="0"/>
          </a:p>
        </p:txBody>
      </p:sp>
      <p:sp>
        <p:nvSpPr>
          <p:cNvPr id="64" name="Shape 55"/>
          <p:cNvSpPr/>
          <p:nvPr/>
        </p:nvSpPr>
        <p:spPr>
          <a:xfrm>
            <a:off x="791914" y="7449443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5" name="Text 56"/>
          <p:cNvSpPr txBox="1"/>
          <p:nvPr/>
        </p:nvSpPr>
        <p:spPr>
          <a:xfrm>
            <a:off x="883444" y="7492008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950" dirty="0"/>
          </a:p>
        </p:txBody>
      </p:sp>
      <p:sp>
        <p:nvSpPr>
          <p:cNvPr id="66" name="Text 57"/>
          <p:cNvSpPr txBox="1"/>
          <p:nvPr/>
        </p:nvSpPr>
        <p:spPr>
          <a:xfrm>
            <a:off x="1158925" y="7480548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850" dirty="0"/>
          </a:p>
        </p:txBody>
      </p:sp>
      <p:sp>
        <p:nvSpPr>
          <p:cNvPr id="67" name="Shape 58"/>
          <p:cNvSpPr/>
          <p:nvPr/>
        </p:nvSpPr>
        <p:spPr>
          <a:xfrm>
            <a:off x="791914" y="7883723"/>
            <a:ext cx="5976045" cy="1130945"/>
          </a:xfrm>
          <a:prstGeom prst="roundRect">
            <a:avLst>
              <a:gd name="adj" fmla="val 7721"/>
            </a:avLst>
          </a:prstGeom>
          <a:solidFill>
            <a:srgbClr val="FFC926"/>
          </a:solidFill>
          <a:ln/>
        </p:spPr>
      </p:sp>
      <p:sp>
        <p:nvSpPr>
          <p:cNvPr id="68" name="Text 59"/>
          <p:cNvSpPr txBox="1"/>
          <p:nvPr/>
        </p:nvSpPr>
        <p:spPr>
          <a:xfrm>
            <a:off x="971848" y="7963049"/>
            <a:ext cx="145068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84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SEGREDO DE CHEF</a:t>
            </a:r>
            <a:endParaRPr lang="en-US" sz="1400" dirty="0"/>
          </a:p>
        </p:txBody>
      </p:sp>
      <p:sp>
        <p:nvSpPr>
          <p:cNvPr id="69" name="Text 60"/>
          <p:cNvSpPr txBox="1"/>
          <p:nvPr/>
        </p:nvSpPr>
        <p:spPr>
          <a:xfrm>
            <a:off x="971848" y="8238827"/>
            <a:ext cx="5616178" cy="642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0"/>
              </a:lnSpc>
              <a:buNone/>
            </a:pPr>
            <a:r>
              <a:rPr lang="en-US" sz="83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830" dirty="0"/>
          </a:p>
        </p:txBody>
      </p:sp>
      <p:sp>
        <p:nvSpPr>
          <p:cNvPr id="70" name="Text 61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71" name="Text 62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20510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O PULO DO CHEF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CENOURA COZIDA NA ÁGUA, SEM GRAÇA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2492871"/>
            <a:ext cx="722412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2313087"/>
            <a:ext cx="69294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ERRO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675037"/>
            <a:ext cx="575994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Cozinhar a cenoura em muita água e escorrer. O açúcar e o sabor dela vão embora pelo ralo da pia, junto com a água.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412927"/>
            <a:ext cx="1008608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3233142"/>
            <a:ext cx="9791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 TÉCNICA</a:t>
            </a:r>
            <a:endParaRPr lang="en-US" sz="1700" dirty="0"/>
          </a:p>
        </p:txBody>
      </p:sp>
      <p:sp>
        <p:nvSpPr>
          <p:cNvPr id="11" name="Shape 5"/>
          <p:cNvSpPr/>
          <p:nvPr/>
        </p:nvSpPr>
        <p:spPr>
          <a:xfrm>
            <a:off x="791914" y="3563987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92820" y="3606552"/>
            <a:ext cx="14987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7"/>
          <p:cNvSpPr txBox="1"/>
          <p:nvPr/>
        </p:nvSpPr>
        <p:spPr>
          <a:xfrm>
            <a:off x="1158925" y="3595092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Glaçagem, a técnica do chef: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em rodelas numa frigideira, água só até a metade da altura, 1 colher de manteiga, 1 pitada de açúcar e outra de sal.</a:t>
            </a:r>
            <a:endParaRPr lang="en-US" sz="850" dirty="0"/>
          </a:p>
        </p:txBody>
      </p:sp>
      <p:sp>
        <p:nvSpPr>
          <p:cNvPr id="14" name="Shape 8"/>
          <p:cNvSpPr/>
          <p:nvPr/>
        </p:nvSpPr>
        <p:spPr>
          <a:xfrm>
            <a:off x="791914" y="3983980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5" name="Text 9"/>
          <p:cNvSpPr txBox="1"/>
          <p:nvPr/>
        </p:nvSpPr>
        <p:spPr>
          <a:xfrm>
            <a:off x="883444" y="4026545"/>
            <a:ext cx="1687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950" dirty="0"/>
          </a:p>
        </p:txBody>
      </p:sp>
      <p:sp>
        <p:nvSpPr>
          <p:cNvPr id="16" name="Text 10"/>
          <p:cNvSpPr txBox="1"/>
          <p:nvPr/>
        </p:nvSpPr>
        <p:spPr>
          <a:xfrm>
            <a:off x="1158925" y="4015085"/>
            <a:ext cx="5506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Fogo médio e panela destampada: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a cenoura cozinha enquanto a água evapora.</a:t>
            </a:r>
            <a:endParaRPr lang="en-US" sz="850" dirty="0"/>
          </a:p>
        </p:txBody>
      </p:sp>
      <p:sp>
        <p:nvSpPr>
          <p:cNvPr id="17" name="Shape 11"/>
          <p:cNvSpPr/>
          <p:nvPr/>
        </p:nvSpPr>
        <p:spPr>
          <a:xfrm>
            <a:off x="791914" y="4279106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883741" y="4321671"/>
            <a:ext cx="16817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1158925" y="4310211"/>
            <a:ext cx="5609034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Quando a água secar</a:t>
            </a:r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, a manteiga e o açúcar viram uma película brilhante que envolve cada rodela. Mexa por 1 minuto e pronto.</a:t>
            </a:r>
            <a:endParaRPr lang="en-US" sz="850" dirty="0"/>
          </a:p>
        </p:txBody>
      </p:sp>
      <p:sp>
        <p:nvSpPr>
          <p:cNvPr id="20" name="Shape 14"/>
          <p:cNvSpPr/>
          <p:nvPr/>
        </p:nvSpPr>
        <p:spPr>
          <a:xfrm>
            <a:off x="791914" y="4699099"/>
            <a:ext cx="237530" cy="237530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80021" y="4741664"/>
            <a:ext cx="1756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6"/>
          <p:cNvSpPr txBox="1"/>
          <p:nvPr/>
        </p:nvSpPr>
        <p:spPr>
          <a:xfrm>
            <a:off x="1158925" y="4730204"/>
            <a:ext cx="56895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52518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Resultado:</a:t>
            </a:r>
            <a:pPr algn="l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 cenoura macia, brilhante e com todo o sabor dentro dela, não na água.</a:t>
            </a:r>
            <a:endParaRPr lang="en-US" sz="85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6047" y="5328940"/>
            <a:ext cx="1377404" cy="1079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91914" y="5149155"/>
            <a:ext cx="138167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TEM ISSO?</a:t>
            </a:r>
            <a:endParaRPr lang="en-US" sz="1700" dirty="0"/>
          </a:p>
        </p:txBody>
      </p:sp>
      <p:sp>
        <p:nvSpPr>
          <p:cNvPr id="25" name="Shape 18"/>
          <p:cNvSpPr/>
          <p:nvPr/>
        </p:nvSpPr>
        <p:spPr>
          <a:xfrm>
            <a:off x="791914" y="5537448"/>
            <a:ext cx="1583978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881807" y="5595045"/>
            <a:ext cx="10321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 NÃO TIVER…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2375892" y="5537448"/>
            <a:ext cx="4392067" cy="267593"/>
          </a:xfrm>
          <a:prstGeom prst="rect">
            <a:avLst/>
          </a:prstGeom>
          <a:solidFill>
            <a:srgbClr val="18542A"/>
          </a:solidFill>
          <a:ln/>
        </p:spPr>
      </p:sp>
      <p:sp>
        <p:nvSpPr>
          <p:cNvPr id="28" name="Text 21"/>
          <p:cNvSpPr txBox="1"/>
          <p:nvPr/>
        </p:nvSpPr>
        <p:spPr>
          <a:xfrm>
            <a:off x="2465784" y="5595045"/>
            <a:ext cx="44350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20" kern="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USE…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791914" y="611311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0" name="Text 23"/>
          <p:cNvSpPr txBox="1"/>
          <p:nvPr/>
        </p:nvSpPr>
        <p:spPr>
          <a:xfrm>
            <a:off x="881807" y="5873353"/>
            <a:ext cx="28947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Mel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2375892" y="611311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2465784" y="5892403"/>
            <a:ext cx="37084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Melaço, xarope de bordo ou 1 colher de açúcar mascavo.</a:t>
            </a:r>
            <a:endParaRPr lang="en-US" sz="820" dirty="0"/>
          </a:p>
        </p:txBody>
      </p:sp>
      <p:sp>
        <p:nvSpPr>
          <p:cNvPr id="33" name="Shape 26"/>
          <p:cNvSpPr/>
          <p:nvPr/>
        </p:nvSpPr>
        <p:spPr>
          <a:xfrm>
            <a:off x="791914" y="642595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4" name="Text 27"/>
          <p:cNvSpPr txBox="1"/>
          <p:nvPr/>
        </p:nvSpPr>
        <p:spPr>
          <a:xfrm>
            <a:off x="881807" y="6186190"/>
            <a:ext cx="90353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Tomilho fresco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2375892" y="642595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2465784" y="6205240"/>
            <a:ext cx="391765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Alecrim, orégano fresco ou ½ colher (chá) de tomilho seco.</a:t>
            </a:r>
            <a:endParaRPr lang="en-US" sz="820" dirty="0"/>
          </a:p>
        </p:txBody>
      </p:sp>
      <p:sp>
        <p:nvSpPr>
          <p:cNvPr id="37" name="Shape 30"/>
          <p:cNvSpPr/>
          <p:nvPr/>
        </p:nvSpPr>
        <p:spPr>
          <a:xfrm>
            <a:off x="791914" y="673878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38" name="Text 31"/>
          <p:cNvSpPr txBox="1"/>
          <p:nvPr/>
        </p:nvSpPr>
        <p:spPr>
          <a:xfrm>
            <a:off x="881807" y="6499027"/>
            <a:ext cx="9542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Aveia em flocos</a:t>
            </a:r>
            <a:endParaRPr lang="en-US" sz="1050" dirty="0"/>
          </a:p>
        </p:txBody>
      </p:sp>
      <p:sp>
        <p:nvSpPr>
          <p:cNvPr id="39" name="Shape 32"/>
          <p:cNvSpPr/>
          <p:nvPr/>
        </p:nvSpPr>
        <p:spPr>
          <a:xfrm>
            <a:off x="2375892" y="673878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0" name="Text 33"/>
          <p:cNvSpPr txBox="1"/>
          <p:nvPr/>
        </p:nvSpPr>
        <p:spPr>
          <a:xfrm>
            <a:off x="2465784" y="6518077"/>
            <a:ext cx="30997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Farinha de rosca ou farinha de mandioca fina.</a:t>
            </a:r>
            <a:endParaRPr lang="en-US" sz="820" dirty="0"/>
          </a:p>
        </p:txBody>
      </p:sp>
      <p:sp>
        <p:nvSpPr>
          <p:cNvPr id="41" name="Shape 34"/>
          <p:cNvSpPr/>
          <p:nvPr/>
        </p:nvSpPr>
        <p:spPr>
          <a:xfrm>
            <a:off x="791914" y="7051625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2" name="Text 35"/>
          <p:cNvSpPr txBox="1"/>
          <p:nvPr/>
        </p:nvSpPr>
        <p:spPr>
          <a:xfrm>
            <a:off x="881807" y="6811863"/>
            <a:ext cx="139717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Chocolate meio amargo</a:t>
            </a:r>
            <a:endParaRPr lang="en-US" sz="1050" dirty="0"/>
          </a:p>
        </p:txBody>
      </p:sp>
      <p:sp>
        <p:nvSpPr>
          <p:cNvPr id="43" name="Shape 36"/>
          <p:cNvSpPr/>
          <p:nvPr/>
        </p:nvSpPr>
        <p:spPr>
          <a:xfrm>
            <a:off x="2375892" y="7051625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4" name="Text 37"/>
          <p:cNvSpPr txBox="1"/>
          <p:nvPr/>
        </p:nvSpPr>
        <p:spPr>
          <a:xfrm>
            <a:off x="2465784" y="6830913"/>
            <a:ext cx="361028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Chocolate ao leite com 1 colher (sopa) de cacau em pó.</a:t>
            </a:r>
            <a:endParaRPr lang="en-US" sz="820" dirty="0"/>
          </a:p>
        </p:txBody>
      </p:sp>
      <p:sp>
        <p:nvSpPr>
          <p:cNvPr id="45" name="Shape 38"/>
          <p:cNvSpPr/>
          <p:nvPr/>
        </p:nvSpPr>
        <p:spPr>
          <a:xfrm>
            <a:off x="791914" y="7364462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6" name="Text 39"/>
          <p:cNvSpPr txBox="1"/>
          <p:nvPr/>
        </p:nvSpPr>
        <p:spPr>
          <a:xfrm>
            <a:off x="881807" y="7124700"/>
            <a:ext cx="87808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Creme de leite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2375892" y="7364462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48" name="Text 41"/>
          <p:cNvSpPr txBox="1"/>
          <p:nvPr/>
        </p:nvSpPr>
        <p:spPr>
          <a:xfrm>
            <a:off x="2465784" y="7143750"/>
            <a:ext cx="25226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Leite integral (a calda fica mais fina).</a:t>
            </a:r>
            <a:endParaRPr lang="en-US" sz="820" dirty="0"/>
          </a:p>
        </p:txBody>
      </p:sp>
      <p:sp>
        <p:nvSpPr>
          <p:cNvPr id="49" name="Shape 42"/>
          <p:cNvSpPr/>
          <p:nvPr/>
        </p:nvSpPr>
        <p:spPr>
          <a:xfrm>
            <a:off x="791914" y="7677299"/>
            <a:ext cx="1583978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0" name="Text 43"/>
          <p:cNvSpPr txBox="1"/>
          <p:nvPr/>
        </p:nvSpPr>
        <p:spPr>
          <a:xfrm>
            <a:off x="881807" y="7437537"/>
            <a:ext cx="127682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3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Amendoim (no pesto)</a:t>
            </a:r>
            <a:endParaRPr lang="en-US" sz="1050" dirty="0"/>
          </a:p>
        </p:txBody>
      </p:sp>
      <p:sp>
        <p:nvSpPr>
          <p:cNvPr id="51" name="Shape 44"/>
          <p:cNvSpPr/>
          <p:nvPr/>
        </p:nvSpPr>
        <p:spPr>
          <a:xfrm>
            <a:off x="2375892" y="7677299"/>
            <a:ext cx="4392067" cy="0"/>
          </a:xfrm>
          <a:prstGeom prst="line">
            <a:avLst/>
          </a:prstGeom>
          <a:noFill/>
          <a:ln w="9525">
            <a:solidFill>
              <a:srgbClr val="18542A"/>
            </a:solidFill>
            <a:prstDash val="dash"/>
          </a:ln>
        </p:spPr>
      </p:sp>
      <p:sp>
        <p:nvSpPr>
          <p:cNvPr id="52" name="Text 45"/>
          <p:cNvSpPr txBox="1"/>
          <p:nvPr/>
        </p:nvSpPr>
        <p:spPr>
          <a:xfrm>
            <a:off x="2465784" y="7456587"/>
            <a:ext cx="42153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Castanha-de-caju, castanha-do-pará ou sementes de girassol.</a:t>
            </a:r>
            <a:endParaRPr lang="en-US" sz="820" dirty="0"/>
          </a:p>
        </p:txBody>
      </p:sp>
      <p:sp>
        <p:nvSpPr>
          <p:cNvPr id="53" name="Text 46"/>
          <p:cNvSpPr txBox="1"/>
          <p:nvPr/>
        </p:nvSpPr>
        <p:spPr>
          <a:xfrm>
            <a:off x="5505152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54" name="Text 47"/>
          <p:cNvSpPr txBox="1"/>
          <p:nvPr/>
        </p:nvSpPr>
        <p:spPr>
          <a:xfrm>
            <a:off x="6638330" y="10162729"/>
            <a:ext cx="24392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016" y="7811839"/>
            <a:ext cx="2159943" cy="179992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28856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APROVEITA ISSO TAMBÉM · CENOURA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888424"/>
            <a:ext cx="4944785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NADA VAI PARA O LIXO</a:t>
            </a:r>
            <a:endParaRPr lang="en-US" sz="4400" dirty="0"/>
          </a:p>
        </p:txBody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47" y="1978819"/>
            <a:ext cx="2158008" cy="1079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1914" y="1799034"/>
            <a:ext cx="225594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CASCAS: CHIPS ASSADOS</a:t>
            </a:r>
            <a:endParaRPr lang="en-US" sz="1700" dirty="0"/>
          </a:p>
        </p:txBody>
      </p:sp>
      <p:sp>
        <p:nvSpPr>
          <p:cNvPr id="8" name="Text 3"/>
          <p:cNvSpPr txBox="1"/>
          <p:nvPr/>
        </p:nvSpPr>
        <p:spPr>
          <a:xfrm>
            <a:off x="791914" y="2160984"/>
            <a:ext cx="5759946" cy="493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8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7" y="3069282"/>
            <a:ext cx="4621113" cy="10790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91914" y="2889498"/>
            <a:ext cx="501462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spc="34" kern="0" dirty="0">
                <a:solidFill>
                  <a:srgbClr val="18542A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RAMAS (FOLHAS): PESTO COM AMENDOIM OU CASTANHA</a:t>
            </a:r>
            <a:endParaRPr lang="en-US" sz="1700" dirty="0"/>
          </a:p>
        </p:txBody>
      </p:sp>
      <p:sp>
        <p:nvSpPr>
          <p:cNvPr id="11" name="Text 5"/>
          <p:cNvSpPr txBox="1"/>
          <p:nvPr/>
        </p:nvSpPr>
        <p:spPr>
          <a:xfrm>
            <a:off x="791914" y="3251448"/>
            <a:ext cx="5759946" cy="1004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850" dirty="0"/>
          </a:p>
        </p:txBody>
      </p:sp>
      <p:sp>
        <p:nvSpPr>
          <p:cNvPr id="12" name="Text 6"/>
          <p:cNvSpPr txBox="1"/>
          <p:nvPr/>
        </p:nvSpPr>
        <p:spPr>
          <a:xfrm>
            <a:off x="5501283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6634460" y="10162729"/>
            <a:ext cx="2477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54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014" y="720030"/>
            <a:ext cx="1655862" cy="137978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91914" y="791914"/>
            <a:ext cx="57417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</a:t>
            </a:r>
            <a:endParaRPr lang="en-US" sz="1050" dirty="0"/>
          </a:p>
        </p:txBody>
      </p:sp>
      <p:sp>
        <p:nvSpPr>
          <p:cNvPr id="5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OS 10 PULOS DO MAMEDE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791914" y="2198787"/>
            <a:ext cx="575994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0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Dez decisões universais de cozinha, que valem para qualquer ingrediente e qualquer receita.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791914" y="267325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929580" y="2737386"/>
            <a:ext cx="162967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259830" y="2663726"/>
            <a:ext cx="11919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 ANTES DE DOURAR</a:t>
            </a:r>
            <a:endParaRPr lang="en-US" sz="920" dirty="0"/>
          </a:p>
        </p:txBody>
      </p:sp>
      <p:sp>
        <p:nvSpPr>
          <p:cNvPr id="10" name="Text 6"/>
          <p:cNvSpPr txBox="1"/>
          <p:nvPr/>
        </p:nvSpPr>
        <p:spPr>
          <a:xfrm>
            <a:off x="1259830" y="2856607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920" dirty="0"/>
          </a:p>
        </p:txBody>
      </p:sp>
      <p:sp>
        <p:nvSpPr>
          <p:cNvPr id="11" name="Shape 7"/>
          <p:cNvSpPr/>
          <p:nvPr/>
        </p:nvSpPr>
        <p:spPr>
          <a:xfrm>
            <a:off x="791914" y="366459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916632" y="3728730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259830" y="3655070"/>
            <a:ext cx="15246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FRIGIDEIRA QUENTE DE VERDADE</a:t>
            </a:r>
            <a:endParaRPr lang="en-US" sz="920" dirty="0"/>
          </a:p>
        </p:txBody>
      </p:sp>
      <p:sp>
        <p:nvSpPr>
          <p:cNvPr id="14" name="Text 10"/>
          <p:cNvSpPr txBox="1"/>
          <p:nvPr/>
        </p:nvSpPr>
        <p:spPr>
          <a:xfrm>
            <a:off x="1259830" y="3847951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791914" y="4471392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7079" y="4535527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1259830" y="4461867"/>
            <a:ext cx="96559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LOTE A PANELA</a:t>
            </a:r>
            <a:endParaRPr lang="en-US" sz="920" dirty="0"/>
          </a:p>
        </p:txBody>
      </p:sp>
      <p:sp>
        <p:nvSpPr>
          <p:cNvPr id="18" name="Text 14"/>
          <p:cNvSpPr txBox="1"/>
          <p:nvPr/>
        </p:nvSpPr>
        <p:spPr>
          <a:xfrm>
            <a:off x="1259830" y="4654748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791914" y="5278189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911870" y="5342325"/>
            <a:ext cx="198239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259830" y="5268664"/>
            <a:ext cx="1858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NÃO MEXA: DEIXE A CROSTA SE FORMAR</a:t>
            </a:r>
            <a:endParaRPr lang="en-US" sz="920" dirty="0"/>
          </a:p>
        </p:txBody>
      </p:sp>
      <p:sp>
        <p:nvSpPr>
          <p:cNvPr id="22" name="Text 18"/>
          <p:cNvSpPr txBox="1"/>
          <p:nvPr/>
        </p:nvSpPr>
        <p:spPr>
          <a:xfrm>
            <a:off x="1259830" y="5461546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920" dirty="0"/>
          </a:p>
        </p:txBody>
      </p:sp>
      <p:sp>
        <p:nvSpPr>
          <p:cNvPr id="23" name="Shape 19"/>
          <p:cNvSpPr/>
          <p:nvPr/>
        </p:nvSpPr>
        <p:spPr>
          <a:xfrm>
            <a:off x="791914" y="6269534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916632" y="6333669"/>
            <a:ext cx="188714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1259830" y="6260009"/>
            <a:ext cx="1868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SAL COM ANTECEDÊNCIA E EM CAMADAS</a:t>
            </a:r>
            <a:endParaRPr lang="en-US" sz="920" dirty="0"/>
          </a:p>
        </p:txBody>
      </p:sp>
      <p:sp>
        <p:nvSpPr>
          <p:cNvPr id="26" name="Text 22"/>
          <p:cNvSpPr txBox="1"/>
          <p:nvPr/>
        </p:nvSpPr>
        <p:spPr>
          <a:xfrm>
            <a:off x="1259830" y="6452890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920" dirty="0"/>
          </a:p>
        </p:txBody>
      </p:sp>
      <p:sp>
        <p:nvSpPr>
          <p:cNvPr id="27" name="Text 23"/>
          <p:cNvSpPr txBox="1"/>
          <p:nvPr/>
        </p:nvSpPr>
        <p:spPr>
          <a:xfrm>
            <a:off x="5504855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6638032" y="10162729"/>
            <a:ext cx="244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91914" y="791914"/>
            <a:ext cx="179522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spc="231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BÔNUS · CONTINUAÇÃO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791914" y="982214"/>
            <a:ext cx="4247852" cy="1287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4400" spc="-22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MAIS 5 PULOS DO MAMEDE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791914" y="2179737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6632" y="2243872"/>
            <a:ext cx="188863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6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59830" y="2170212"/>
            <a:ext cx="8215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ACIDEZ NO FINAL</a:t>
            </a:r>
            <a:endParaRPr lang="en-US" sz="920" dirty="0"/>
          </a:p>
        </p:txBody>
      </p:sp>
      <p:sp>
        <p:nvSpPr>
          <p:cNvPr id="8" name="Text 5"/>
          <p:cNvSpPr txBox="1"/>
          <p:nvPr/>
        </p:nvSpPr>
        <p:spPr>
          <a:xfrm>
            <a:off x="1259830" y="2363093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920" dirty="0"/>
          </a:p>
        </p:txBody>
      </p:sp>
      <p:sp>
        <p:nvSpPr>
          <p:cNvPr id="9" name="Shape 6"/>
          <p:cNvSpPr/>
          <p:nvPr/>
        </p:nvSpPr>
        <p:spPr>
          <a:xfrm>
            <a:off x="791914" y="3171081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19014" y="3235216"/>
            <a:ext cx="18395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59830" y="3161556"/>
            <a:ext cx="10623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RESPEITE O DESCANSO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1259830" y="3354437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791914" y="3977878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17079" y="4042013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1259830" y="3968353"/>
            <a:ext cx="13139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 FUNDO DA PANELA É OURO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1259830" y="4161234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791914" y="4784675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7079" y="4848811"/>
            <a:ext cx="187970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9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59830" y="4775150"/>
            <a:ext cx="123082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CONTRASTE DE TEXTURAS</a:t>
            </a:r>
            <a:endParaRPr lang="en-US" sz="920" dirty="0"/>
          </a:p>
        </p:txBody>
      </p:sp>
      <p:sp>
        <p:nvSpPr>
          <p:cNvPr id="20" name="Text 17"/>
          <p:cNvSpPr txBox="1"/>
          <p:nvPr/>
        </p:nvSpPr>
        <p:spPr>
          <a:xfrm>
            <a:off x="1259830" y="4968032"/>
            <a:ext cx="550812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Todo prato memorável tem algo cremoso e algo crocante. Sementes tostadas, farofa, chips de casca e pele crocante existem para isso.</a:t>
            </a:r>
            <a:endParaRPr lang="en-US" sz="920" dirty="0"/>
          </a:p>
        </p:txBody>
      </p:sp>
      <p:sp>
        <p:nvSpPr>
          <p:cNvPr id="21" name="Shape 18"/>
          <p:cNvSpPr/>
          <p:nvPr/>
        </p:nvSpPr>
        <p:spPr>
          <a:xfrm>
            <a:off x="791914" y="5591473"/>
            <a:ext cx="323999" cy="323999"/>
          </a:xfrm>
          <a:prstGeom prst="ellipse">
            <a:avLst/>
          </a:prstGeom>
          <a:solidFill>
            <a:srgbClr val="F9601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91927" y="5655608"/>
            <a:ext cx="238125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3E8CC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10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59830" y="5581948"/>
            <a:ext cx="16120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ORGANIZE ANTES DE LIGAR O FOGO</a:t>
            </a:r>
            <a:endParaRPr lang="en-US" sz="920" dirty="0"/>
          </a:p>
        </p:txBody>
      </p:sp>
      <p:sp>
        <p:nvSpPr>
          <p:cNvPr id="24" name="Text 21"/>
          <p:cNvSpPr txBox="1"/>
          <p:nvPr/>
        </p:nvSpPr>
        <p:spPr>
          <a:xfrm>
            <a:off x="1259830" y="5774829"/>
            <a:ext cx="5508129" cy="5310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0"/>
              </a:lnSpc>
              <a:buNone/>
            </a:pPr>
            <a:r>
              <a:rPr lang="en-US" sz="92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920" dirty="0"/>
          </a:p>
        </p:txBody>
      </p:sp>
      <p:sp>
        <p:nvSpPr>
          <p:cNvPr id="25" name="Shape 22"/>
          <p:cNvSpPr/>
          <p:nvPr/>
        </p:nvSpPr>
        <p:spPr>
          <a:xfrm>
            <a:off x="791914" y="6582817"/>
            <a:ext cx="0" cy="253305"/>
          </a:xfrm>
          <a:prstGeom prst="line">
            <a:avLst/>
          </a:prstGeom>
          <a:noFill/>
          <a:ln w="76200">
            <a:solidFill>
              <a:srgbClr val="FFC92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48048" y="6559322"/>
            <a:ext cx="6146101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CHEF É QUEM OLHA PARA O BÁSICO E ENXERGA POSSIBILIDADES.</a:t>
            </a:r>
            <a:endParaRPr lang="en-US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5504706" y="10162729"/>
            <a:ext cx="103152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COZINHA MAMEDE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6637883" y="10162729"/>
            <a:ext cx="2443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26" kern="0" dirty="0">
                <a:solidFill>
                  <a:srgbClr val="18542A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3E8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59873" cy="10691961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0009" y="2191792"/>
            <a:ext cx="3599855" cy="29997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516428" y="5355401"/>
            <a:ext cx="2366629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D52518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COZINHA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3768474" y="5355401"/>
            <a:ext cx="2269784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spc="-27" kern="0" dirty="0">
                <a:solidFill>
                  <a:srgbClr val="F96015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MAMEDE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1259979" y="6267152"/>
            <a:ext cx="5039916" cy="32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259979" y="6701433"/>
            <a:ext cx="5039916" cy="66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40"/>
              </a:lnSpc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228618" y="7476530"/>
            <a:ext cx="51026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8542A"/>
                </a:solidFill>
                <a:latin typeface="Short Stack" pitchFamily="34" charset="0"/>
                <a:ea typeface="Short Stack" pitchFamily="34" charset="-122"/>
                <a:cs typeface="Short Stack" pitchFamily="34" charset="-120"/>
              </a:rPr>
              <a:t>Cozinhe com afeto, com técnica e sem desperdício. Esse é o Jeito Mamede.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2204082" y="7946827"/>
            <a:ext cx="315156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264" kern="0" dirty="0">
                <a:solidFill>
                  <a:srgbClr val="F96015"/>
                </a:solidFill>
                <a:latin typeface="Barlow Condensed SemiBold" pitchFamily="34" charset="0"/>
                <a:ea typeface="Barlow Condensed SemiBold" pitchFamily="34" charset="-122"/>
                <a:cs typeface="Barlow Condensed SemiBold" pitchFamily="34" charset="-120"/>
              </a:rPr>
              <a:t>Bom apetite! · CHEF ALLAN MAMEDE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2026-10-13T17:11:05Z</dcterms:created>
  <dcterms:modified xsi:type="dcterms:W3CDTF">2026-10-13T17:11:05Z</dcterms:modified>
</cp:coreProperties>
</file>