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notesMasterIdLst>
    <p:notesMasterId r:id="rId43"/>
  </p:notesMasterIdLst>
  <p:sldSz cx="7560000" cy="10692000"/>
  <p:notesSz cx="10692000" cy="7560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notesMaster" Target="notesMasters/notes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jp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jp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jp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jp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jp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jp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jp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jp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jpg"/><Relationship Id="rId4" Type="http://schemas.openxmlformats.org/officeDocument/2006/relationships/image" Target="../media/image-1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jpg"/><Relationship Id="rId4" Type="http://schemas.openxmlformats.org/officeDocument/2006/relationships/image" Target="../media/image-2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jpg"/><Relationship Id="rId4" Type="http://schemas.openxmlformats.org/officeDocument/2006/relationships/image" Target="../media/image-2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jpg"/><Relationship Id="rId4" Type="http://schemas.openxmlformats.org/officeDocument/2006/relationships/image" Target="../media/image-2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jpg"/><Relationship Id="rId4" Type="http://schemas.openxmlformats.org/officeDocument/2006/relationships/image" Target="../media/image-2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jpg"/><Relationship Id="rId4" Type="http://schemas.openxmlformats.org/officeDocument/2006/relationships/image" Target="../media/image-2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jpg"/><Relationship Id="rId4" Type="http://schemas.openxmlformats.org/officeDocument/2006/relationships/image" Target="../media/image-2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jpg"/><Relationship Id="rId4" Type="http://schemas.openxmlformats.org/officeDocument/2006/relationships/image" Target="../media/image-3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image" Target="../media/image-32-3.png"/><Relationship Id="rId4" Type="http://schemas.openxmlformats.org/officeDocument/2006/relationships/image" Target="../media/image-32-4.jpg"/><Relationship Id="rId5" Type="http://schemas.openxmlformats.org/officeDocument/2006/relationships/image" Target="../media/image-3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image" Target="../media/image-3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image" Target="../media/image-35-3.jpg"/><Relationship Id="rId4" Type="http://schemas.openxmlformats.org/officeDocument/2006/relationships/image" Target="../media/image-3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image" Target="../media/image-36-3.jpg"/><Relationship Id="rId4" Type="http://schemas.openxmlformats.org/officeDocument/2006/relationships/image" Target="../media/image-3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image" Target="../media/image-37-3.jpg"/><Relationship Id="rId4" Type="http://schemas.openxmlformats.org/officeDocument/2006/relationships/image" Target="../media/image-3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image" Target="../media/image-39-3.jpg"/><Relationship Id="rId4" Type="http://schemas.openxmlformats.org/officeDocument/2006/relationships/image" Target="../media/image-3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jpg"/><Relationship Id="rId3" Type="http://schemas.openxmlformats.org/officeDocument/2006/relationships/image" Target="../media/image-4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7998" y="719882"/>
            <a:ext cx="359866" cy="359866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5764" y="790277"/>
            <a:ext cx="151318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0"/>
              </a:lnSpc>
              <a:buNone/>
            </a:pPr>
            <a:r>
              <a:rPr lang="en-US" sz="750" b="1" spc="105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CHEF ALLAN MAMEDE</a:t>
            </a:r>
            <a:endParaRPr lang="en-US" sz="750" dirty="0"/>
          </a:p>
        </p:txBody>
      </p:sp>
      <p:sp>
        <p:nvSpPr>
          <p:cNvPr id="4" name="Text 1"/>
          <p:cNvSpPr txBox="1"/>
          <p:nvPr/>
        </p:nvSpPr>
        <p:spPr>
          <a:xfrm>
            <a:off x="1115764" y="914102"/>
            <a:ext cx="196324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50"/>
              </a:lnSpc>
              <a:buNone/>
            </a:pPr>
            <a:r>
              <a:rPr lang="en-US" sz="600" spc="72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AFETO · TÉCNICA · APROVEITAMENTO</a:t>
            </a:r>
            <a:endParaRPr lang="en-US" sz="600" dirty="0"/>
          </a:p>
        </p:txBody>
      </p:sp>
      <p:sp>
        <p:nvSpPr>
          <p:cNvPr id="5" name="Text 2"/>
          <p:cNvSpPr txBox="1"/>
          <p:nvPr/>
        </p:nvSpPr>
        <p:spPr>
          <a:xfrm>
            <a:off x="647998" y="2303711"/>
            <a:ext cx="70723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b="1" spc="216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GUIA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647998" y="2311003"/>
            <a:ext cx="3080052" cy="1104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890"/>
              </a:lnSpc>
              <a:buNone/>
            </a:pPr>
            <a:r>
              <a:rPr lang="en-US" sz="6200" spc="-62" kern="0" dirty="0">
                <a:solidFill>
                  <a:srgbClr val="4E5B38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Cozinha</a:t>
            </a:r>
            <a:endParaRPr lang="en-US" sz="6200" dirty="0"/>
          </a:p>
        </p:txBody>
      </p:sp>
      <p:sp>
        <p:nvSpPr>
          <p:cNvPr id="7" name="Text 4"/>
          <p:cNvSpPr txBox="1"/>
          <p:nvPr/>
        </p:nvSpPr>
        <p:spPr>
          <a:xfrm>
            <a:off x="647998" y="3059013"/>
            <a:ext cx="3250240" cy="1104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890"/>
              </a:lnSpc>
              <a:buNone/>
            </a:pPr>
            <a:r>
              <a:rPr lang="en-US" sz="6200" spc="-62" kern="0" dirty="0">
                <a:solidFill>
                  <a:srgbClr val="C2552D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Mamede</a:t>
            </a:r>
            <a:endParaRPr lang="en-US" sz="6200" dirty="0"/>
          </a:p>
        </p:txBody>
      </p:sp>
      <p:sp>
        <p:nvSpPr>
          <p:cNvPr id="8" name="Text 5"/>
          <p:cNvSpPr txBox="1"/>
          <p:nvPr/>
        </p:nvSpPr>
        <p:spPr>
          <a:xfrm>
            <a:off x="647998" y="4050357"/>
            <a:ext cx="206042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b="1" spc="216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 TRANSFORMAÇÕES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647998" y="4481215"/>
            <a:ext cx="575965" cy="11311"/>
          </a:xfrm>
          <a:prstGeom prst="rect">
            <a:avLst/>
          </a:prstGeom>
          <a:solidFill>
            <a:srgbClr val="2F2A25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47998" y="4737050"/>
            <a:ext cx="177872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60"/>
              </a:lnSpc>
              <a:buNone/>
            </a:pPr>
            <a:r>
              <a:rPr lang="en-US" sz="95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 ingredientes do dia a dia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647998" y="4948238"/>
            <a:ext cx="121298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60"/>
              </a:lnSpc>
              <a:buNone/>
            </a:pPr>
            <a:r>
              <a:rPr lang="en-US" sz="95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15 transformações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47998" y="5159425"/>
            <a:ext cx="214893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60"/>
              </a:lnSpc>
              <a:buNone/>
            </a:pPr>
            <a:r>
              <a:rPr lang="en-US" sz="95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Técnica, afeto e aproveitamento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647998" y="6421934"/>
            <a:ext cx="611981" cy="611981"/>
          </a:xfrm>
          <a:prstGeom prst="ellipse">
            <a:avLst/>
          </a:prstGeom>
          <a:solidFill>
            <a:srgbClr val="4E5B38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1914" y="6565850"/>
            <a:ext cx="324148" cy="32414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403896" y="6595318"/>
            <a:ext cx="1172766" cy="2659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00" b="1" spc="98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COZINHE MELHOR</a:t>
            </a:r>
            <a:pPr algn="l" indent="0" marL="0">
              <a:lnSpc>
                <a:spcPts val="1120"/>
              </a:lnSpc>
              <a:buNone/>
            </a:pPr>
            <a:endParaRPr lang="en-US" sz="700" dirty="0"/>
          </a:p>
          <a:p>
            <a:pPr algn="l" indent="0" marL="0">
              <a:lnSpc>
                <a:spcPts val="1120"/>
              </a:lnSpc>
              <a:buNone/>
            </a:pPr>
            <a:r>
              <a:rPr lang="en-US" sz="700" b="1" spc="98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DESPERDICE MENOS</a:t>
            </a:r>
            <a:endParaRPr lang="en-US" sz="700" dirty="0"/>
          </a:p>
        </p:txBody>
      </p:sp>
      <p:pic>
        <p:nvPicPr>
          <p:cNvPr id="16" name="Image 2" descr="/home/user/ebook-luq/versoes/VERSAO COM FOTOGRAFIAS/fotos/capa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3527822" y="2519958"/>
            <a:ext cx="5399931" cy="5399931"/>
          </a:xfrm>
          <a:prstGeom prst="ellipse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0" y="10152013"/>
            <a:ext cx="7559873" cy="539948"/>
          </a:xfrm>
          <a:prstGeom prst="rect">
            <a:avLst/>
          </a:prstGeom>
          <a:solidFill>
            <a:srgbClr val="4E5B38"/>
          </a:solidFill>
          <a:ln/>
        </p:spPr>
      </p:sp>
      <p:sp>
        <p:nvSpPr>
          <p:cNvPr id="18" name="Text 13"/>
          <p:cNvSpPr txBox="1"/>
          <p:nvPr/>
        </p:nvSpPr>
        <p:spPr>
          <a:xfrm>
            <a:off x="2819698" y="10360075"/>
            <a:ext cx="215076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800" b="1" spc="176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POR CHEF ALLAN MAMEDE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827931"/>
            <a:ext cx="96604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BOAS-VINDAS</a:t>
            </a:r>
            <a:endParaRPr lang="en-US" sz="700" dirty="0"/>
          </a:p>
        </p:txBody>
      </p:sp>
      <p:sp>
        <p:nvSpPr>
          <p:cNvPr id="3" name="Shape 1"/>
          <p:cNvSpPr/>
          <p:nvPr/>
        </p:nvSpPr>
        <p:spPr>
          <a:xfrm>
            <a:off x="647998" y="1022598"/>
            <a:ext cx="467916" cy="11311"/>
          </a:xfrm>
          <a:prstGeom prst="rect">
            <a:avLst/>
          </a:prstGeom>
          <a:solidFill>
            <a:srgbClr val="2F2A25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7998" y="1166217"/>
            <a:ext cx="3770471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90"/>
              </a:lnSpc>
              <a:buNone/>
            </a:pPr>
            <a:r>
              <a:rPr lang="en-US" sz="2600" dirty="0">
                <a:solidFill>
                  <a:srgbClr val="2F2A25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Que bom ter você </a:t>
            </a:r>
            <a:pPr algn="l" indent="0" marL="0">
              <a:lnSpc>
                <a:spcPts val="2990"/>
              </a:lnSpc>
              <a:buNone/>
            </a:pPr>
            <a:r>
              <a:rPr lang="en-US" sz="2600" dirty="0">
                <a:solidFill>
                  <a:srgbClr val="C2552D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aqui.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647998" y="1874044"/>
            <a:ext cx="3887986" cy="10364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9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Pare de fazer sempre a mesma comida do mesmo jeito. Você não precisa encher o carrinho com ingredientes caros ou exóticos para sair da rotina: o segredo está em aprender a enxergar novas possibilidades com aquilo que já compra toda semana.</a:t>
            </a:r>
            <a:endParaRPr lang="en-US" sz="990" dirty="0"/>
          </a:p>
        </p:txBody>
      </p:sp>
      <p:sp>
        <p:nvSpPr>
          <p:cNvPr id="6" name="Text 4"/>
          <p:cNvSpPr txBox="1"/>
          <p:nvPr/>
        </p:nvSpPr>
        <p:spPr>
          <a:xfrm>
            <a:off x="647998" y="3049488"/>
            <a:ext cx="3887986" cy="82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9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Este é um guia prático para transformar 5 ingredientes cotidianos em 15 preparações completamente diferentes, unindo técnica profissional, sabor afetivo e aproveitamento integral.</a:t>
            </a:r>
            <a:endParaRPr lang="en-US" sz="990" dirty="0"/>
          </a:p>
        </p:txBody>
      </p:sp>
      <p:sp>
        <p:nvSpPr>
          <p:cNvPr id="7" name="Text 5"/>
          <p:cNvSpPr txBox="1"/>
          <p:nvPr/>
        </p:nvSpPr>
        <p:spPr>
          <a:xfrm>
            <a:off x="647998" y="4008686"/>
            <a:ext cx="3887986" cy="12526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9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Aqui você não vai encontrar receitas soltas. Cada capítulo é dedicado a um ingrediente e mostra o caminho inteiro: como escolher no mercado, como guardar, como cortar, como cozinhar de três jeitos que você talvez nunca tenha imaginado e, no fim, o que fazer com a casca, a rama, o osso e a sobra.</a:t>
            </a:r>
            <a:endParaRPr lang="en-US" sz="990" dirty="0"/>
          </a:p>
        </p:txBody>
      </p:sp>
      <p:sp>
        <p:nvSpPr>
          <p:cNvPr id="8" name="Text 6"/>
          <p:cNvSpPr txBox="1"/>
          <p:nvPr/>
        </p:nvSpPr>
        <p:spPr>
          <a:xfrm>
            <a:off x="647998" y="5400377"/>
            <a:ext cx="3887986" cy="6039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9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Leia com calma, cozinhe com tempo e, principalmente, prove tudo pelo caminho. É assim que a gente aprende a cozinhar de verdade.</a:t>
            </a:r>
            <a:endParaRPr lang="en-US" sz="990" dirty="0"/>
          </a:p>
        </p:txBody>
      </p:sp>
      <p:sp>
        <p:nvSpPr>
          <p:cNvPr id="9" name="Text 7"/>
          <p:cNvSpPr txBox="1"/>
          <p:nvPr/>
        </p:nvSpPr>
        <p:spPr>
          <a:xfrm>
            <a:off x="647998" y="6224885"/>
            <a:ext cx="2409634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40"/>
              </a:lnSpc>
              <a:buNone/>
            </a:pPr>
            <a:r>
              <a:rPr lang="en-US" sz="2800" i="1" dirty="0">
                <a:solidFill>
                  <a:srgbClr val="4E5B3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Vamos cozinhar!</a:t>
            </a:r>
            <a:endParaRPr lang="en-US" sz="28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7998" y="6789688"/>
            <a:ext cx="251966" cy="251966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4895999" y="0"/>
            <a:ext cx="2663875" cy="10691961"/>
          </a:xfrm>
          <a:prstGeom prst="rect">
            <a:avLst/>
          </a:prstGeom>
          <a:solidFill>
            <a:srgbClr val="EEE6D8"/>
          </a:solidFill>
          <a:ln/>
        </p:spPr>
      </p:sp>
      <p:pic>
        <p:nvPicPr>
          <p:cNvPr id="12" name="Image 1" descr="/home/user/ebook-luq/versoes/VERSAO COM FOTOGRAFIAS/fotos/boas-vindas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392067" y="791914"/>
            <a:ext cx="2735907" cy="2735907"/>
          </a:xfrm>
          <a:prstGeom prst="ellipse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4895999" y="8459986"/>
            <a:ext cx="2663875" cy="2231975"/>
          </a:xfrm>
          <a:prstGeom prst="rect">
            <a:avLst/>
          </a:prstGeom>
          <a:solidFill>
            <a:srgbClr val="4E5B38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93904" y="9341941"/>
            <a:ext cx="467916" cy="467916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647998" y="10133856"/>
            <a:ext cx="3600004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17" name="Text 12"/>
          <p:cNvSpPr txBox="1"/>
          <p:nvPr/>
        </p:nvSpPr>
        <p:spPr>
          <a:xfrm>
            <a:off x="4122241" y="10236845"/>
            <a:ext cx="24006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63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611981"/>
            <a:ext cx="112214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800" b="1" spc="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JEITO MAMEDE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713929"/>
            <a:ext cx="248131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0"/>
              </a:lnSpc>
              <a:buNone/>
            </a:pPr>
            <a:r>
              <a:rPr lang="en-US" sz="3400" spc="-17" kern="0" dirty="0">
                <a:solidFill>
                  <a:srgbClr val="4E5B38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de cozinhar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7998" y="1392436"/>
            <a:ext cx="467916" cy="11311"/>
          </a:xfrm>
          <a:prstGeom prst="rect">
            <a:avLst/>
          </a:prstGeom>
          <a:solidFill>
            <a:srgbClr val="2F2A2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7998" y="1638746"/>
            <a:ext cx="484243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2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método que guia todo o material se apoia em três fundamentos.</a:t>
            </a:r>
            <a:endParaRPr lang="en-US" sz="1020" dirty="0"/>
          </a:p>
        </p:txBody>
      </p:sp>
      <p:sp>
        <p:nvSpPr>
          <p:cNvPr id="6" name="Shape 4"/>
          <p:cNvSpPr/>
          <p:nvPr/>
        </p:nvSpPr>
        <p:spPr>
          <a:xfrm>
            <a:off x="647998" y="2042815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9407" y="2124224"/>
            <a:ext cx="197048" cy="19704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187797" y="2042815"/>
            <a:ext cx="48190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Afeto</a:t>
            </a:r>
            <a:endParaRPr lang="en-US" sz="1040" dirty="0"/>
          </a:p>
        </p:txBody>
      </p:sp>
      <p:sp>
        <p:nvSpPr>
          <p:cNvPr id="9" name="Text 6"/>
          <p:cNvSpPr txBox="1"/>
          <p:nvPr/>
        </p:nvSpPr>
        <p:spPr>
          <a:xfrm>
            <a:off x="1187797" y="2242989"/>
            <a:ext cx="5724079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Comida acolhedora, generosa e com memória de casa, sem afetações desnecessárias nem gastronomia distante da realidade.</a:t>
            </a:r>
            <a:endParaRPr lang="en-US" sz="940" dirty="0"/>
          </a:p>
        </p:txBody>
      </p:sp>
      <p:sp>
        <p:nvSpPr>
          <p:cNvPr id="10" name="Shape 7"/>
          <p:cNvSpPr/>
          <p:nvPr/>
        </p:nvSpPr>
        <p:spPr>
          <a:xfrm>
            <a:off x="647998" y="2773859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407" y="2855268"/>
            <a:ext cx="197048" cy="19704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187797" y="2773859"/>
            <a:ext cx="63073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Técnica</a:t>
            </a:r>
            <a:endParaRPr lang="en-US" sz="1040" dirty="0"/>
          </a:p>
        </p:txBody>
      </p:sp>
      <p:sp>
        <p:nvSpPr>
          <p:cNvPr id="13" name="Text 9"/>
          <p:cNvSpPr txBox="1"/>
          <p:nvPr/>
        </p:nvSpPr>
        <p:spPr>
          <a:xfrm>
            <a:off x="1187797" y="2974032"/>
            <a:ext cx="5724079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Decisões simples de chef (ponto de frigideira, cortes, descanso da carne, acidez e texturas) que mudam radicalmente o resultado final.</a:t>
            </a:r>
            <a:endParaRPr lang="en-US" sz="940" dirty="0"/>
          </a:p>
        </p:txBody>
      </p:sp>
      <p:sp>
        <p:nvSpPr>
          <p:cNvPr id="14" name="Shape 10"/>
          <p:cNvSpPr/>
          <p:nvPr/>
        </p:nvSpPr>
        <p:spPr>
          <a:xfrm>
            <a:off x="647998" y="3504902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9407" y="3586311"/>
            <a:ext cx="197048" cy="197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187797" y="3504902"/>
            <a:ext cx="123798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Aproveitamento</a:t>
            </a:r>
            <a:endParaRPr lang="en-US" sz="1040" dirty="0"/>
          </a:p>
        </p:txBody>
      </p:sp>
      <p:sp>
        <p:nvSpPr>
          <p:cNvPr id="17" name="Text 12"/>
          <p:cNvSpPr txBox="1"/>
          <p:nvPr/>
        </p:nvSpPr>
        <p:spPr>
          <a:xfrm>
            <a:off x="1187797" y="3705076"/>
            <a:ext cx="5724079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Um olhar inteligente para cascas, talos, ramas e ossos, transformando o que iria para o lixo em sabor e textura.</a:t>
            </a:r>
            <a:endParaRPr lang="en-US" sz="940" dirty="0"/>
          </a:p>
        </p:txBody>
      </p:sp>
      <p:sp>
        <p:nvSpPr>
          <p:cNvPr id="18" name="Text 13"/>
          <p:cNvSpPr txBox="1"/>
          <p:nvPr/>
        </p:nvSpPr>
        <p:spPr>
          <a:xfrm>
            <a:off x="647998" y="4380012"/>
            <a:ext cx="81959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800" b="1" spc="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COMO USAR</a:t>
            </a:r>
            <a:endParaRPr lang="en-US" sz="800" dirty="0"/>
          </a:p>
        </p:txBody>
      </p:sp>
      <p:sp>
        <p:nvSpPr>
          <p:cNvPr id="19" name="Text 14"/>
          <p:cNvSpPr txBox="1"/>
          <p:nvPr/>
        </p:nvSpPr>
        <p:spPr>
          <a:xfrm>
            <a:off x="647998" y="4491484"/>
            <a:ext cx="1489019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700" spc="-14" kern="0" dirty="0">
                <a:solidFill>
                  <a:srgbClr val="4E5B38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este guia</a:t>
            </a:r>
            <a:endParaRPr lang="en-US" sz="2700" dirty="0"/>
          </a:p>
        </p:txBody>
      </p:sp>
      <p:sp>
        <p:nvSpPr>
          <p:cNvPr id="20" name="Shape 15"/>
          <p:cNvSpPr/>
          <p:nvPr/>
        </p:nvSpPr>
        <p:spPr>
          <a:xfrm>
            <a:off x="647998" y="5069830"/>
            <a:ext cx="467916" cy="11311"/>
          </a:xfrm>
          <a:prstGeom prst="rect">
            <a:avLst/>
          </a:prstGeom>
          <a:solidFill>
            <a:srgbClr val="2F2A25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647998" y="5316141"/>
            <a:ext cx="4499967" cy="378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2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Cada um dos 5 capítulos é dedicado a um ingrediente e segue a mesma jornada:</a:t>
            </a:r>
            <a:endParaRPr lang="en-US" sz="1020" dirty="0"/>
          </a:p>
        </p:txBody>
      </p:sp>
      <p:sp>
        <p:nvSpPr>
          <p:cNvPr id="22" name="Shape 17"/>
          <p:cNvSpPr/>
          <p:nvPr/>
        </p:nvSpPr>
        <p:spPr>
          <a:xfrm>
            <a:off x="647998" y="5927378"/>
            <a:ext cx="6263878" cy="3051572"/>
          </a:xfrm>
          <a:prstGeom prst="roundRect">
            <a:avLst>
              <a:gd name="adj" fmla="val 1061"/>
            </a:avLst>
          </a:prstGeom>
          <a:solidFill>
            <a:srgbClr val="FBF8F3"/>
          </a:solidFill>
          <a:ln w="9525">
            <a:solidFill>
              <a:srgbClr val="DDD2C0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2739033" y="5936903"/>
            <a:ext cx="0" cy="1594693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657523" y="7531596"/>
            <a:ext cx="2081510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0520" y="6152852"/>
            <a:ext cx="305991" cy="305991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227088" y="6566743"/>
            <a:ext cx="93285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Ingrediente</a:t>
            </a:r>
            <a:endParaRPr lang="en-US" sz="900" dirty="0"/>
          </a:p>
        </p:txBody>
      </p:sp>
      <p:sp>
        <p:nvSpPr>
          <p:cNvPr id="27" name="Text 21"/>
          <p:cNvSpPr txBox="1"/>
          <p:nvPr/>
        </p:nvSpPr>
        <p:spPr>
          <a:xfrm>
            <a:off x="801439" y="6762304"/>
            <a:ext cx="1784152" cy="437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60"/>
              </a:lnSpc>
              <a:buNone/>
            </a:pPr>
            <a:r>
              <a:rPr lang="en-US" sz="80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olhar do chef para expandir as possibilidades de uso daquele insumo.</a:t>
            </a:r>
            <a:endParaRPr lang="en-US" sz="800" dirty="0"/>
          </a:p>
        </p:txBody>
      </p:sp>
      <p:sp>
        <p:nvSpPr>
          <p:cNvPr id="28" name="Shape 22"/>
          <p:cNvSpPr/>
          <p:nvPr/>
        </p:nvSpPr>
        <p:spPr>
          <a:xfrm>
            <a:off x="4820692" y="5936903"/>
            <a:ext cx="0" cy="1594693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2739033" y="7531596"/>
            <a:ext cx="2081659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22030" y="6152852"/>
            <a:ext cx="305991" cy="305991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3240792" y="6566743"/>
            <a:ext cx="106846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Antes da Panela</a:t>
            </a:r>
            <a:endParaRPr lang="en-US" sz="900" dirty="0"/>
          </a:p>
        </p:txBody>
      </p:sp>
      <p:sp>
        <p:nvSpPr>
          <p:cNvPr id="32" name="Text 25"/>
          <p:cNvSpPr txBox="1"/>
          <p:nvPr/>
        </p:nvSpPr>
        <p:spPr>
          <a:xfrm>
            <a:off x="2882950" y="6762304"/>
            <a:ext cx="1784300" cy="290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60"/>
              </a:lnSpc>
              <a:buNone/>
            </a:pPr>
            <a:r>
              <a:rPr lang="en-US" sz="80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Como escolher no mercado, como armazenar e como cortar.</a:t>
            </a:r>
            <a:endParaRPr lang="en-US" sz="800" dirty="0"/>
          </a:p>
        </p:txBody>
      </p:sp>
      <p:sp>
        <p:nvSpPr>
          <p:cNvPr id="33" name="Shape 26"/>
          <p:cNvSpPr/>
          <p:nvPr/>
        </p:nvSpPr>
        <p:spPr>
          <a:xfrm>
            <a:off x="4820692" y="7531596"/>
            <a:ext cx="2081659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pic>
        <p:nvPicPr>
          <p:cNvPr id="3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08452" y="6152852"/>
            <a:ext cx="305991" cy="305991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5280874" y="6566743"/>
            <a:ext cx="116114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 Transformações</a:t>
            </a:r>
            <a:endParaRPr lang="en-US" sz="900" dirty="0"/>
          </a:p>
        </p:txBody>
      </p:sp>
      <p:sp>
        <p:nvSpPr>
          <p:cNvPr id="36" name="Text 28"/>
          <p:cNvSpPr txBox="1"/>
          <p:nvPr/>
        </p:nvSpPr>
        <p:spPr>
          <a:xfrm>
            <a:off x="4964609" y="6762304"/>
            <a:ext cx="1793825" cy="5848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60"/>
              </a:lnSpc>
              <a:buNone/>
            </a:pPr>
            <a:r>
              <a:rPr lang="en-US" sz="80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Três caminhos culinários completamente distintos para aquela sensação de “nunca pensei nisso”.</a:t>
            </a:r>
            <a:endParaRPr lang="en-US" sz="800" dirty="0"/>
          </a:p>
        </p:txBody>
      </p:sp>
      <p:sp>
        <p:nvSpPr>
          <p:cNvPr id="37" name="Shape 29"/>
          <p:cNvSpPr/>
          <p:nvPr/>
        </p:nvSpPr>
        <p:spPr>
          <a:xfrm>
            <a:off x="2739033" y="7531596"/>
            <a:ext cx="0" cy="1437829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pic>
        <p:nvPicPr>
          <p:cNvPr id="3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40520" y="7747546"/>
            <a:ext cx="305991" cy="305991"/>
          </a:xfrm>
          <a:prstGeom prst="rect">
            <a:avLst/>
          </a:prstGeom>
        </p:spPr>
      </p:pic>
      <p:sp>
        <p:nvSpPr>
          <p:cNvPr id="39" name="Text 30"/>
          <p:cNvSpPr txBox="1"/>
          <p:nvPr/>
        </p:nvSpPr>
        <p:spPr>
          <a:xfrm>
            <a:off x="1194048" y="8161437"/>
            <a:ext cx="99893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Pulo do Chef</a:t>
            </a:r>
            <a:endParaRPr lang="en-US" sz="900" dirty="0"/>
          </a:p>
        </p:txBody>
      </p:sp>
      <p:sp>
        <p:nvSpPr>
          <p:cNvPr id="40" name="Text 31"/>
          <p:cNvSpPr txBox="1"/>
          <p:nvPr/>
        </p:nvSpPr>
        <p:spPr>
          <a:xfrm>
            <a:off x="801439" y="8356997"/>
            <a:ext cx="1784152" cy="290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60"/>
              </a:lnSpc>
              <a:buNone/>
            </a:pPr>
            <a:r>
              <a:rPr lang="en-US" sz="80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Um erro frequente, desmistificado, com a técnica exata para corrigi-lo.</a:t>
            </a:r>
            <a:endParaRPr lang="en-US" sz="800" dirty="0"/>
          </a:p>
        </p:txBody>
      </p:sp>
      <p:sp>
        <p:nvSpPr>
          <p:cNvPr id="41" name="Shape 32"/>
          <p:cNvSpPr/>
          <p:nvPr/>
        </p:nvSpPr>
        <p:spPr>
          <a:xfrm>
            <a:off x="4820692" y="7531596"/>
            <a:ext cx="0" cy="1437829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pic>
        <p:nvPicPr>
          <p:cNvPr id="4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22030" y="7747546"/>
            <a:ext cx="305991" cy="305991"/>
          </a:xfrm>
          <a:prstGeom prst="rect">
            <a:avLst/>
          </a:prstGeom>
        </p:spPr>
      </p:pic>
      <p:sp>
        <p:nvSpPr>
          <p:cNvPr id="43" name="Text 33"/>
          <p:cNvSpPr txBox="1"/>
          <p:nvPr/>
        </p:nvSpPr>
        <p:spPr>
          <a:xfrm>
            <a:off x="3296543" y="8161437"/>
            <a:ext cx="95711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Não Tem Isso?</a:t>
            </a:r>
            <a:endParaRPr lang="en-US" sz="900" dirty="0"/>
          </a:p>
        </p:txBody>
      </p:sp>
      <p:sp>
        <p:nvSpPr>
          <p:cNvPr id="44" name="Text 34"/>
          <p:cNvSpPr txBox="1"/>
          <p:nvPr/>
        </p:nvSpPr>
        <p:spPr>
          <a:xfrm>
            <a:off x="2882950" y="8356997"/>
            <a:ext cx="1784300" cy="290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60"/>
              </a:lnSpc>
              <a:buNone/>
            </a:pPr>
            <a:r>
              <a:rPr lang="en-US" sz="80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Substituições inteligentes para você cozinhar sem travar.</a:t>
            </a:r>
            <a:endParaRPr lang="en-US" sz="800" dirty="0"/>
          </a:p>
        </p:txBody>
      </p:sp>
      <p:pic>
        <p:nvPicPr>
          <p:cNvPr id="45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08452" y="7747546"/>
            <a:ext cx="305991" cy="305991"/>
          </a:xfrm>
          <a:prstGeom prst="rect">
            <a:avLst/>
          </a:prstGeom>
        </p:spPr>
      </p:pic>
      <p:sp>
        <p:nvSpPr>
          <p:cNvPr id="46" name="Text 35"/>
          <p:cNvSpPr txBox="1"/>
          <p:nvPr/>
        </p:nvSpPr>
        <p:spPr>
          <a:xfrm>
            <a:off x="5086841" y="8161437"/>
            <a:ext cx="154936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Aproveita Isso Também</a:t>
            </a:r>
            <a:endParaRPr lang="en-US" sz="900" dirty="0"/>
          </a:p>
        </p:txBody>
      </p:sp>
      <p:sp>
        <p:nvSpPr>
          <p:cNvPr id="47" name="Text 36"/>
          <p:cNvSpPr txBox="1"/>
          <p:nvPr/>
        </p:nvSpPr>
        <p:spPr>
          <a:xfrm>
            <a:off x="4964609" y="8356997"/>
            <a:ext cx="1793825" cy="437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60"/>
              </a:lnSpc>
              <a:buNone/>
            </a:pPr>
            <a:r>
              <a:rPr lang="en-US" sz="80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Cascas, talos, ramas e aparas transformados em preparações saborosas.</a:t>
            </a:r>
            <a:endParaRPr lang="en-US" sz="800" dirty="0"/>
          </a:p>
        </p:txBody>
      </p:sp>
      <p:sp>
        <p:nvSpPr>
          <p:cNvPr id="48" name="Text 37"/>
          <p:cNvSpPr txBox="1"/>
          <p:nvPr/>
        </p:nvSpPr>
        <p:spPr>
          <a:xfrm>
            <a:off x="647998" y="9240441"/>
            <a:ext cx="626387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30"/>
              </a:lnSpc>
              <a:buNone/>
            </a:pPr>
            <a:r>
              <a:rPr lang="en-US" sz="660" b="1" spc="92" kern="0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MEDIDAS USADAS</a:t>
            </a:r>
            <a:pPr algn="l" indent="0" marL="0">
              <a:lnSpc>
                <a:spcPts val="1230"/>
              </a:lnSpc>
              <a:buNone/>
            </a:pPr>
            <a:r>
              <a:rPr lang="en-US" sz="76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1 xícara = 240 ml · 1 colher (sopa) = 15 ml · 1 colher (chá) = 5 ml · forno sempre preaquecido</a:t>
            </a:r>
            <a:endParaRPr lang="en-US" sz="660" dirty="0"/>
          </a:p>
        </p:txBody>
      </p:sp>
      <p:sp>
        <p:nvSpPr>
          <p:cNvPr id="49" name="Shape 38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50" name="Text 39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51" name="Text 40"/>
          <p:cNvSpPr txBox="1"/>
          <p:nvPr/>
        </p:nvSpPr>
        <p:spPr>
          <a:xfrm>
            <a:off x="6786860" y="10236845"/>
            <a:ext cx="23931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63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611981"/>
            <a:ext cx="76125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800" b="1" spc="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QUE TEM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713929"/>
            <a:ext cx="2151936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0"/>
              </a:lnSpc>
              <a:buNone/>
            </a:pPr>
            <a:r>
              <a:rPr lang="en-US" sz="3400" spc="-17" kern="0" dirty="0">
                <a:solidFill>
                  <a:srgbClr val="4E5B38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neste guia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7998" y="1392436"/>
            <a:ext cx="467916" cy="11311"/>
          </a:xfrm>
          <a:prstGeom prst="rect">
            <a:avLst/>
          </a:prstGeom>
          <a:solidFill>
            <a:srgbClr val="2F2A25"/>
          </a:solidFill>
          <a:ln/>
        </p:spPr>
      </p:sp>
      <p:sp>
        <p:nvSpPr>
          <p:cNvPr id="5" name="Shape 3"/>
          <p:cNvSpPr/>
          <p:nvPr/>
        </p:nvSpPr>
        <p:spPr>
          <a:xfrm>
            <a:off x="647998" y="1698873"/>
            <a:ext cx="251966" cy="251966"/>
          </a:xfrm>
          <a:prstGeom prst="ellipse">
            <a:avLst/>
          </a:prstGeom>
          <a:solidFill>
            <a:srgbClr val="4E5B3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28514" y="1772394"/>
            <a:ext cx="20508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</a:t>
            </a:r>
            <a:endParaRPr lang="en-US" sz="680" dirty="0"/>
          </a:p>
        </p:txBody>
      </p:sp>
      <p:sp>
        <p:nvSpPr>
          <p:cNvPr id="7" name="Text 5"/>
          <p:cNvSpPr txBox="1"/>
          <p:nvPr/>
        </p:nvSpPr>
        <p:spPr>
          <a:xfrm>
            <a:off x="1025872" y="1748582"/>
            <a:ext cx="89579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Boas-vindas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933277" y="1865544"/>
            <a:ext cx="4600724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9" name="Text 7"/>
          <p:cNvSpPr txBox="1"/>
          <p:nvPr/>
        </p:nvSpPr>
        <p:spPr>
          <a:xfrm>
            <a:off x="6660803" y="1758107"/>
            <a:ext cx="25107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8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860" dirty="0"/>
          </a:p>
        </p:txBody>
      </p:sp>
      <p:sp>
        <p:nvSpPr>
          <p:cNvPr id="10" name="Shape 8"/>
          <p:cNvSpPr/>
          <p:nvPr/>
        </p:nvSpPr>
        <p:spPr>
          <a:xfrm>
            <a:off x="647998" y="2152352"/>
            <a:ext cx="251966" cy="251966"/>
          </a:xfrm>
          <a:prstGeom prst="ellipse">
            <a:avLst/>
          </a:prstGeom>
          <a:solidFill>
            <a:srgbClr val="4E5B3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9882" y="2225873"/>
            <a:ext cx="22234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680" dirty="0"/>
          </a:p>
        </p:txBody>
      </p:sp>
      <p:sp>
        <p:nvSpPr>
          <p:cNvPr id="12" name="Text 10"/>
          <p:cNvSpPr txBox="1"/>
          <p:nvPr/>
        </p:nvSpPr>
        <p:spPr>
          <a:xfrm>
            <a:off x="1025872" y="2202061"/>
            <a:ext cx="208242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Jeito Mamede de Cozinhar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011091" y="2319024"/>
            <a:ext cx="3522911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14" name="Text 12"/>
          <p:cNvSpPr txBox="1"/>
          <p:nvPr/>
        </p:nvSpPr>
        <p:spPr>
          <a:xfrm>
            <a:off x="6661696" y="2211586"/>
            <a:ext cx="25018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8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860" dirty="0"/>
          </a:p>
        </p:txBody>
      </p:sp>
      <p:sp>
        <p:nvSpPr>
          <p:cNvPr id="15" name="Shape 13"/>
          <p:cNvSpPr/>
          <p:nvPr/>
        </p:nvSpPr>
        <p:spPr>
          <a:xfrm>
            <a:off x="647998" y="2605832"/>
            <a:ext cx="251966" cy="251966"/>
          </a:xfrm>
          <a:prstGeom prst="ellipse">
            <a:avLst/>
          </a:prstGeom>
          <a:solidFill>
            <a:srgbClr val="4E5B3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20328" y="2679353"/>
            <a:ext cx="22160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680" dirty="0"/>
          </a:p>
        </p:txBody>
      </p:sp>
      <p:sp>
        <p:nvSpPr>
          <p:cNvPr id="17" name="Text 15"/>
          <p:cNvSpPr txBox="1"/>
          <p:nvPr/>
        </p:nvSpPr>
        <p:spPr>
          <a:xfrm>
            <a:off x="1025872" y="2655540"/>
            <a:ext cx="121031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Abóbora Cabotiá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232422" y="2772503"/>
            <a:ext cx="4301579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19" name="Text 17"/>
          <p:cNvSpPr txBox="1"/>
          <p:nvPr/>
        </p:nvSpPr>
        <p:spPr>
          <a:xfrm>
            <a:off x="6660356" y="2665065"/>
            <a:ext cx="25152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8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05</a:t>
            </a:r>
            <a:endParaRPr lang="en-US" sz="860" dirty="0"/>
          </a:p>
        </p:txBody>
      </p:sp>
      <p:sp>
        <p:nvSpPr>
          <p:cNvPr id="20" name="Text 18"/>
          <p:cNvSpPr txBox="1"/>
          <p:nvPr/>
        </p:nvSpPr>
        <p:spPr>
          <a:xfrm>
            <a:off x="1025872" y="2958554"/>
            <a:ext cx="365862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86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Nhoque de abóbora tostado na manteiga de garrafa e sálvia</a:t>
            </a:r>
            <a:endParaRPr lang="en-US" sz="860" dirty="0"/>
          </a:p>
        </p:txBody>
      </p:sp>
      <p:sp>
        <p:nvSpPr>
          <p:cNvPr id="21" name="Shape 19"/>
          <p:cNvSpPr/>
          <p:nvPr/>
        </p:nvSpPr>
        <p:spPr>
          <a:xfrm>
            <a:off x="4418409" y="3065992"/>
            <a:ext cx="2115592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22" name="Text 20"/>
          <p:cNvSpPr txBox="1"/>
          <p:nvPr/>
        </p:nvSpPr>
        <p:spPr>
          <a:xfrm>
            <a:off x="6674495" y="2963317"/>
            <a:ext cx="23738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80"/>
              </a:lnSpc>
              <a:buNone/>
            </a:pPr>
            <a:r>
              <a:rPr lang="en-US" sz="78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07</a:t>
            </a:r>
            <a:endParaRPr lang="en-US" sz="780" dirty="0"/>
          </a:p>
        </p:txBody>
      </p:sp>
      <p:sp>
        <p:nvSpPr>
          <p:cNvPr id="23" name="Text 21"/>
          <p:cNvSpPr txBox="1"/>
          <p:nvPr/>
        </p:nvSpPr>
        <p:spPr>
          <a:xfrm>
            <a:off x="1025872" y="3135064"/>
            <a:ext cx="521198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86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Hambúrguer ou bolinho cremoso assado de abóbora com especiarias e queijo coalho</a:t>
            </a:r>
            <a:endParaRPr lang="en-US" sz="860" dirty="0"/>
          </a:p>
        </p:txBody>
      </p:sp>
      <p:sp>
        <p:nvSpPr>
          <p:cNvPr id="24" name="Shape 22"/>
          <p:cNvSpPr/>
          <p:nvPr/>
        </p:nvSpPr>
        <p:spPr>
          <a:xfrm>
            <a:off x="5805339" y="3242502"/>
            <a:ext cx="728663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25" name="Text 23"/>
          <p:cNvSpPr txBox="1"/>
          <p:nvPr/>
        </p:nvSpPr>
        <p:spPr>
          <a:xfrm>
            <a:off x="6668839" y="3139827"/>
            <a:ext cx="24303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80"/>
              </a:lnSpc>
              <a:buNone/>
            </a:pPr>
            <a:r>
              <a:rPr lang="en-US" sz="78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08</a:t>
            </a:r>
            <a:endParaRPr lang="en-US" sz="780" dirty="0"/>
          </a:p>
        </p:txBody>
      </p:sp>
      <p:sp>
        <p:nvSpPr>
          <p:cNvPr id="26" name="Text 24"/>
          <p:cNvSpPr txBox="1"/>
          <p:nvPr/>
        </p:nvSpPr>
        <p:spPr>
          <a:xfrm>
            <a:off x="1025872" y="3311575"/>
            <a:ext cx="473142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86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Crepúsculo: doce de abóbora cremoso de colher com coco e raspas de laranja</a:t>
            </a:r>
            <a:endParaRPr lang="en-US" sz="860" dirty="0"/>
          </a:p>
        </p:txBody>
      </p:sp>
      <p:sp>
        <p:nvSpPr>
          <p:cNvPr id="27" name="Shape 25"/>
          <p:cNvSpPr/>
          <p:nvPr/>
        </p:nvSpPr>
        <p:spPr>
          <a:xfrm>
            <a:off x="5376267" y="3419012"/>
            <a:ext cx="1157734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28" name="Text 26"/>
          <p:cNvSpPr txBox="1"/>
          <p:nvPr/>
        </p:nvSpPr>
        <p:spPr>
          <a:xfrm>
            <a:off x="6671667" y="3316337"/>
            <a:ext cx="2402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80"/>
              </a:lnSpc>
              <a:buNone/>
            </a:pPr>
            <a:r>
              <a:rPr lang="en-US" sz="78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09</a:t>
            </a:r>
            <a:endParaRPr lang="en-US" sz="780" dirty="0"/>
          </a:p>
        </p:txBody>
      </p:sp>
      <p:sp>
        <p:nvSpPr>
          <p:cNvPr id="29" name="Shape 27"/>
          <p:cNvSpPr/>
          <p:nvPr/>
        </p:nvSpPr>
        <p:spPr>
          <a:xfrm>
            <a:off x="647998" y="3588841"/>
            <a:ext cx="251966" cy="251966"/>
          </a:xfrm>
          <a:prstGeom prst="ellipse">
            <a:avLst/>
          </a:prstGeom>
          <a:solidFill>
            <a:srgbClr val="4E5B38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15714" y="3662362"/>
            <a:ext cx="23083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04</a:t>
            </a:r>
            <a:endParaRPr lang="en-US" sz="680" dirty="0"/>
          </a:p>
        </p:txBody>
      </p:sp>
      <p:sp>
        <p:nvSpPr>
          <p:cNvPr id="31" name="Text 29"/>
          <p:cNvSpPr txBox="1"/>
          <p:nvPr/>
        </p:nvSpPr>
        <p:spPr>
          <a:xfrm>
            <a:off x="1025872" y="3638550"/>
            <a:ext cx="12011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Banana-da-Terra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2224236" y="3755513"/>
            <a:ext cx="4309765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33" name="Text 31"/>
          <p:cNvSpPr txBox="1"/>
          <p:nvPr/>
        </p:nvSpPr>
        <p:spPr>
          <a:xfrm>
            <a:off x="6692503" y="3648075"/>
            <a:ext cx="21937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8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12</a:t>
            </a:r>
            <a:endParaRPr lang="en-US" sz="860" dirty="0"/>
          </a:p>
        </p:txBody>
      </p:sp>
      <p:sp>
        <p:nvSpPr>
          <p:cNvPr id="34" name="Text 32"/>
          <p:cNvSpPr txBox="1"/>
          <p:nvPr/>
        </p:nvSpPr>
        <p:spPr>
          <a:xfrm>
            <a:off x="1025872" y="3941564"/>
            <a:ext cx="419019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86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Moqueca expressa de frigideira com banana, leite de coco e pimenta</a:t>
            </a:r>
            <a:endParaRPr lang="en-US" sz="860" dirty="0"/>
          </a:p>
        </p:txBody>
      </p:sp>
      <p:sp>
        <p:nvSpPr>
          <p:cNvPr id="35" name="Shape 33"/>
          <p:cNvSpPr/>
          <p:nvPr/>
        </p:nvSpPr>
        <p:spPr>
          <a:xfrm>
            <a:off x="4893022" y="4049002"/>
            <a:ext cx="1640979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36" name="Text 34"/>
          <p:cNvSpPr txBox="1"/>
          <p:nvPr/>
        </p:nvSpPr>
        <p:spPr>
          <a:xfrm>
            <a:off x="6696373" y="3946327"/>
            <a:ext cx="21550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80"/>
              </a:lnSpc>
              <a:buNone/>
            </a:pPr>
            <a:r>
              <a:rPr lang="en-US" sz="78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14</a:t>
            </a:r>
            <a:endParaRPr lang="en-US" sz="780" dirty="0"/>
          </a:p>
        </p:txBody>
      </p:sp>
      <p:sp>
        <p:nvSpPr>
          <p:cNvPr id="37" name="Text 35"/>
          <p:cNvSpPr txBox="1"/>
          <p:nvPr/>
        </p:nvSpPr>
        <p:spPr>
          <a:xfrm>
            <a:off x="1025872" y="4118074"/>
            <a:ext cx="339075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86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Purê aveludado de banana grelhada com noz-moscada</a:t>
            </a:r>
            <a:endParaRPr lang="en-US" sz="860" dirty="0"/>
          </a:p>
        </p:txBody>
      </p:sp>
      <p:sp>
        <p:nvSpPr>
          <p:cNvPr id="38" name="Shape 36"/>
          <p:cNvSpPr/>
          <p:nvPr/>
        </p:nvSpPr>
        <p:spPr>
          <a:xfrm>
            <a:off x="4179243" y="4225512"/>
            <a:ext cx="2354759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39" name="Text 37"/>
          <p:cNvSpPr txBox="1"/>
          <p:nvPr/>
        </p:nvSpPr>
        <p:spPr>
          <a:xfrm>
            <a:off x="6705749" y="4122837"/>
            <a:ext cx="20612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80"/>
              </a:lnSpc>
              <a:buNone/>
            </a:pPr>
            <a:r>
              <a:rPr lang="en-US" sz="78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15</a:t>
            </a:r>
            <a:endParaRPr lang="en-US" sz="780" dirty="0"/>
          </a:p>
        </p:txBody>
      </p:sp>
      <p:sp>
        <p:nvSpPr>
          <p:cNvPr id="40" name="Text 38"/>
          <p:cNvSpPr txBox="1"/>
          <p:nvPr/>
        </p:nvSpPr>
        <p:spPr>
          <a:xfrm>
            <a:off x="1025872" y="4294584"/>
            <a:ext cx="506546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86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Bananas flambadas no rum ou na cachaça com crosta de açúcar mascavo e canela</a:t>
            </a:r>
            <a:endParaRPr lang="en-US" sz="860" dirty="0"/>
          </a:p>
        </p:txBody>
      </p:sp>
      <p:sp>
        <p:nvSpPr>
          <p:cNvPr id="41" name="Shape 39"/>
          <p:cNvSpPr/>
          <p:nvPr/>
        </p:nvSpPr>
        <p:spPr>
          <a:xfrm>
            <a:off x="5674519" y="4402022"/>
            <a:ext cx="859482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42" name="Text 40"/>
          <p:cNvSpPr txBox="1"/>
          <p:nvPr/>
        </p:nvSpPr>
        <p:spPr>
          <a:xfrm>
            <a:off x="6701433" y="4299347"/>
            <a:ext cx="21044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80"/>
              </a:lnSpc>
              <a:buNone/>
            </a:pPr>
            <a:r>
              <a:rPr lang="en-US" sz="78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16</a:t>
            </a:r>
            <a:endParaRPr lang="en-US" sz="780" dirty="0"/>
          </a:p>
        </p:txBody>
      </p:sp>
      <p:sp>
        <p:nvSpPr>
          <p:cNvPr id="43" name="Shape 41"/>
          <p:cNvSpPr/>
          <p:nvPr/>
        </p:nvSpPr>
        <p:spPr>
          <a:xfrm>
            <a:off x="647998" y="4571851"/>
            <a:ext cx="251966" cy="251966"/>
          </a:xfrm>
          <a:prstGeom prst="ellipse">
            <a:avLst/>
          </a:prstGeom>
          <a:solidFill>
            <a:srgbClr val="4E5B38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719733" y="4645372"/>
            <a:ext cx="22264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05</a:t>
            </a:r>
            <a:endParaRPr lang="en-US" sz="680" dirty="0"/>
          </a:p>
        </p:txBody>
      </p:sp>
      <p:sp>
        <p:nvSpPr>
          <p:cNvPr id="45" name="Text 43"/>
          <p:cNvSpPr txBox="1"/>
          <p:nvPr/>
        </p:nvSpPr>
        <p:spPr>
          <a:xfrm>
            <a:off x="1025872" y="4621560"/>
            <a:ext cx="152119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Sobrecoxa de Frango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2509986" y="4738522"/>
            <a:ext cx="4024015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47" name="Text 45"/>
          <p:cNvSpPr txBox="1"/>
          <p:nvPr/>
        </p:nvSpPr>
        <p:spPr>
          <a:xfrm>
            <a:off x="6687592" y="4631085"/>
            <a:ext cx="22428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8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19</a:t>
            </a:r>
            <a:endParaRPr lang="en-US" sz="860" dirty="0"/>
          </a:p>
        </p:txBody>
      </p:sp>
      <p:sp>
        <p:nvSpPr>
          <p:cNvPr id="48" name="Text 46"/>
          <p:cNvSpPr txBox="1"/>
          <p:nvPr/>
        </p:nvSpPr>
        <p:spPr>
          <a:xfrm>
            <a:off x="1025872" y="4924574"/>
            <a:ext cx="478293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86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Sobrecoxa desossada com pele ultracrocante ao molho rústico de limão e alho</a:t>
            </a:r>
            <a:endParaRPr lang="en-US" sz="860" dirty="0"/>
          </a:p>
        </p:txBody>
      </p:sp>
      <p:sp>
        <p:nvSpPr>
          <p:cNvPr id="49" name="Shape 47"/>
          <p:cNvSpPr/>
          <p:nvPr/>
        </p:nvSpPr>
        <p:spPr>
          <a:xfrm>
            <a:off x="5422255" y="5032011"/>
            <a:ext cx="1111746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50" name="Text 48"/>
          <p:cNvSpPr txBox="1"/>
          <p:nvPr/>
        </p:nvSpPr>
        <p:spPr>
          <a:xfrm>
            <a:off x="6705600" y="4929336"/>
            <a:ext cx="20627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80"/>
              </a:lnSpc>
              <a:buNone/>
            </a:pPr>
            <a:r>
              <a:rPr lang="en-US" sz="78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21</a:t>
            </a:r>
            <a:endParaRPr lang="en-US" sz="780" dirty="0"/>
          </a:p>
        </p:txBody>
      </p:sp>
      <p:sp>
        <p:nvSpPr>
          <p:cNvPr id="51" name="Text 49"/>
          <p:cNvSpPr txBox="1"/>
          <p:nvPr/>
        </p:nvSpPr>
        <p:spPr>
          <a:xfrm>
            <a:off x="1025872" y="5101084"/>
            <a:ext cx="382681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86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Frango desfiado suculento ao molho de tomate caseiro e ervas</a:t>
            </a:r>
            <a:endParaRPr lang="en-US" sz="860" dirty="0"/>
          </a:p>
        </p:txBody>
      </p:sp>
      <p:sp>
        <p:nvSpPr>
          <p:cNvPr id="52" name="Shape 50"/>
          <p:cNvSpPr/>
          <p:nvPr/>
        </p:nvSpPr>
        <p:spPr>
          <a:xfrm>
            <a:off x="4568577" y="5208522"/>
            <a:ext cx="1965424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53" name="Text 51"/>
          <p:cNvSpPr txBox="1"/>
          <p:nvPr/>
        </p:nvSpPr>
        <p:spPr>
          <a:xfrm>
            <a:off x="6685062" y="5105846"/>
            <a:ext cx="22681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80"/>
              </a:lnSpc>
              <a:buNone/>
            </a:pPr>
            <a:r>
              <a:rPr lang="en-US" sz="78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22</a:t>
            </a:r>
            <a:endParaRPr lang="en-US" sz="780" dirty="0"/>
          </a:p>
        </p:txBody>
      </p:sp>
      <p:sp>
        <p:nvSpPr>
          <p:cNvPr id="54" name="Text 52"/>
          <p:cNvSpPr txBox="1"/>
          <p:nvPr/>
        </p:nvSpPr>
        <p:spPr>
          <a:xfrm>
            <a:off x="1025872" y="5277594"/>
            <a:ext cx="408251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86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Sobrecoxa marinada no iogurte com especiarias, assada até dourar</a:t>
            </a:r>
            <a:endParaRPr lang="en-US" sz="860" dirty="0"/>
          </a:p>
        </p:txBody>
      </p:sp>
      <p:sp>
        <p:nvSpPr>
          <p:cNvPr id="55" name="Shape 53"/>
          <p:cNvSpPr/>
          <p:nvPr/>
        </p:nvSpPr>
        <p:spPr>
          <a:xfrm>
            <a:off x="4796879" y="5385032"/>
            <a:ext cx="1737122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56" name="Text 54"/>
          <p:cNvSpPr txBox="1"/>
          <p:nvPr/>
        </p:nvSpPr>
        <p:spPr>
          <a:xfrm>
            <a:off x="6685508" y="5282357"/>
            <a:ext cx="2263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80"/>
              </a:lnSpc>
              <a:buNone/>
            </a:pPr>
            <a:r>
              <a:rPr lang="en-US" sz="78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23</a:t>
            </a:r>
            <a:endParaRPr lang="en-US" sz="780" dirty="0"/>
          </a:p>
        </p:txBody>
      </p:sp>
      <p:sp>
        <p:nvSpPr>
          <p:cNvPr id="57" name="Shape 55"/>
          <p:cNvSpPr/>
          <p:nvPr/>
        </p:nvSpPr>
        <p:spPr>
          <a:xfrm>
            <a:off x="647998" y="5554861"/>
            <a:ext cx="251966" cy="251966"/>
          </a:xfrm>
          <a:prstGeom prst="ellipse">
            <a:avLst/>
          </a:prstGeom>
          <a:solidFill>
            <a:srgbClr val="4E5B38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717947" y="5628382"/>
            <a:ext cx="22636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06</a:t>
            </a:r>
            <a:endParaRPr lang="en-US" sz="680" dirty="0"/>
          </a:p>
        </p:txBody>
      </p:sp>
      <p:sp>
        <p:nvSpPr>
          <p:cNvPr id="59" name="Text 57"/>
          <p:cNvSpPr txBox="1"/>
          <p:nvPr/>
        </p:nvSpPr>
        <p:spPr>
          <a:xfrm>
            <a:off x="1025872" y="5604570"/>
            <a:ext cx="74905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Mandioca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1786533" y="5721532"/>
            <a:ext cx="4747468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61" name="Text 59"/>
          <p:cNvSpPr txBox="1"/>
          <p:nvPr/>
        </p:nvSpPr>
        <p:spPr>
          <a:xfrm>
            <a:off x="6665565" y="5614095"/>
            <a:ext cx="24631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8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26</a:t>
            </a:r>
            <a:endParaRPr lang="en-US" sz="860" dirty="0"/>
          </a:p>
        </p:txBody>
      </p:sp>
      <p:sp>
        <p:nvSpPr>
          <p:cNvPr id="62" name="Text 60"/>
          <p:cNvSpPr txBox="1"/>
          <p:nvPr/>
        </p:nvSpPr>
        <p:spPr>
          <a:xfrm>
            <a:off x="1025872" y="5907584"/>
            <a:ext cx="251564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86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Rösti de mandioca recheado na frigideira</a:t>
            </a:r>
            <a:endParaRPr lang="en-US" sz="860" dirty="0"/>
          </a:p>
        </p:txBody>
      </p:sp>
      <p:sp>
        <p:nvSpPr>
          <p:cNvPr id="63" name="Shape 61"/>
          <p:cNvSpPr/>
          <p:nvPr/>
        </p:nvSpPr>
        <p:spPr>
          <a:xfrm>
            <a:off x="3397895" y="6015021"/>
            <a:ext cx="3136106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64" name="Text 62"/>
          <p:cNvSpPr txBox="1"/>
          <p:nvPr/>
        </p:nvSpPr>
        <p:spPr>
          <a:xfrm>
            <a:off x="6678216" y="5912346"/>
            <a:ext cx="23366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80"/>
              </a:lnSpc>
              <a:buNone/>
            </a:pPr>
            <a:r>
              <a:rPr lang="en-US" sz="78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28</a:t>
            </a:r>
            <a:endParaRPr lang="en-US" sz="780" dirty="0"/>
          </a:p>
        </p:txBody>
      </p:sp>
      <p:sp>
        <p:nvSpPr>
          <p:cNvPr id="65" name="Text 63"/>
          <p:cNvSpPr txBox="1"/>
          <p:nvPr/>
        </p:nvSpPr>
        <p:spPr>
          <a:xfrm>
            <a:off x="1025872" y="6084094"/>
            <a:ext cx="426253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86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Caldo aveludado de mandioca com gengibre e bacon (ou cogumelos)</a:t>
            </a:r>
            <a:endParaRPr lang="en-US" sz="860" dirty="0"/>
          </a:p>
        </p:txBody>
      </p:sp>
      <p:sp>
        <p:nvSpPr>
          <p:cNvPr id="66" name="Shape 64"/>
          <p:cNvSpPr/>
          <p:nvPr/>
        </p:nvSpPr>
        <p:spPr>
          <a:xfrm>
            <a:off x="4957614" y="6191531"/>
            <a:ext cx="1576388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67" name="Text 65"/>
          <p:cNvSpPr txBox="1"/>
          <p:nvPr/>
        </p:nvSpPr>
        <p:spPr>
          <a:xfrm>
            <a:off x="6681043" y="6088856"/>
            <a:ext cx="23083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80"/>
              </a:lnSpc>
              <a:buNone/>
            </a:pPr>
            <a:r>
              <a:rPr lang="en-US" sz="78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29</a:t>
            </a:r>
            <a:endParaRPr lang="en-US" sz="780" dirty="0"/>
          </a:p>
        </p:txBody>
      </p:sp>
      <p:sp>
        <p:nvSpPr>
          <p:cNvPr id="68" name="Text 66"/>
          <p:cNvSpPr txBox="1"/>
          <p:nvPr/>
        </p:nvSpPr>
        <p:spPr>
          <a:xfrm>
            <a:off x="1025872" y="6260604"/>
            <a:ext cx="273384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86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Biscoito de polvilho e mandioca de assadeira</a:t>
            </a:r>
            <a:endParaRPr lang="en-US" sz="860" dirty="0"/>
          </a:p>
        </p:txBody>
      </p:sp>
      <p:sp>
        <p:nvSpPr>
          <p:cNvPr id="69" name="Shape 67"/>
          <p:cNvSpPr/>
          <p:nvPr/>
        </p:nvSpPr>
        <p:spPr>
          <a:xfrm>
            <a:off x="3592711" y="6368042"/>
            <a:ext cx="2941290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70" name="Text 68"/>
          <p:cNvSpPr txBox="1"/>
          <p:nvPr/>
        </p:nvSpPr>
        <p:spPr>
          <a:xfrm>
            <a:off x="6676132" y="6265366"/>
            <a:ext cx="23574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80"/>
              </a:lnSpc>
              <a:buNone/>
            </a:pPr>
            <a:r>
              <a:rPr lang="en-US" sz="78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30</a:t>
            </a:r>
            <a:endParaRPr lang="en-US" sz="780" dirty="0"/>
          </a:p>
        </p:txBody>
      </p:sp>
      <p:sp>
        <p:nvSpPr>
          <p:cNvPr id="71" name="Shape 69"/>
          <p:cNvSpPr/>
          <p:nvPr/>
        </p:nvSpPr>
        <p:spPr>
          <a:xfrm>
            <a:off x="647998" y="6537871"/>
            <a:ext cx="251966" cy="251966"/>
          </a:xfrm>
          <a:prstGeom prst="ellipse">
            <a:avLst/>
          </a:prstGeom>
          <a:solidFill>
            <a:srgbClr val="4E5B38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718989" y="6611392"/>
            <a:ext cx="22428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07</a:t>
            </a:r>
            <a:endParaRPr lang="en-US" sz="680" dirty="0"/>
          </a:p>
        </p:txBody>
      </p:sp>
      <p:sp>
        <p:nvSpPr>
          <p:cNvPr id="73" name="Text 71"/>
          <p:cNvSpPr txBox="1"/>
          <p:nvPr/>
        </p:nvSpPr>
        <p:spPr>
          <a:xfrm>
            <a:off x="1025872" y="6587579"/>
            <a:ext cx="65529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Cenoura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1692771" y="6704542"/>
            <a:ext cx="4841230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75" name="Text 73"/>
          <p:cNvSpPr txBox="1"/>
          <p:nvPr/>
        </p:nvSpPr>
        <p:spPr>
          <a:xfrm>
            <a:off x="6671072" y="6597104"/>
            <a:ext cx="24080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8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33</a:t>
            </a:r>
            <a:endParaRPr lang="en-US" sz="860" dirty="0"/>
          </a:p>
        </p:txBody>
      </p:sp>
      <p:sp>
        <p:nvSpPr>
          <p:cNvPr id="76" name="Text 74"/>
          <p:cNvSpPr txBox="1"/>
          <p:nvPr/>
        </p:nvSpPr>
        <p:spPr>
          <a:xfrm>
            <a:off x="1025872" y="6890593"/>
            <a:ext cx="494445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86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Cenouras assadas inteiras, caramelizadas no mel ou melaço com azeite e tomilho</a:t>
            </a:r>
            <a:endParaRPr lang="en-US" sz="860" dirty="0"/>
          </a:p>
        </p:txBody>
      </p:sp>
      <p:sp>
        <p:nvSpPr>
          <p:cNvPr id="77" name="Shape 75"/>
          <p:cNvSpPr/>
          <p:nvPr/>
        </p:nvSpPr>
        <p:spPr>
          <a:xfrm>
            <a:off x="5566470" y="6998029"/>
            <a:ext cx="967532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78" name="Text 76"/>
          <p:cNvSpPr txBox="1"/>
          <p:nvPr/>
        </p:nvSpPr>
        <p:spPr>
          <a:xfrm>
            <a:off x="6686699" y="6895356"/>
            <a:ext cx="22517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80"/>
              </a:lnSpc>
              <a:buNone/>
            </a:pPr>
            <a:r>
              <a:rPr lang="en-US" sz="78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35</a:t>
            </a:r>
            <a:endParaRPr lang="en-US" sz="780" dirty="0"/>
          </a:p>
        </p:txBody>
      </p:sp>
      <p:sp>
        <p:nvSpPr>
          <p:cNvPr id="79" name="Text 77"/>
          <p:cNvSpPr txBox="1"/>
          <p:nvPr/>
        </p:nvSpPr>
        <p:spPr>
          <a:xfrm>
            <a:off x="1025872" y="7067104"/>
            <a:ext cx="412618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86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Hambúrguer rústico ou bolinho de cenoura com aveia e especiarias</a:t>
            </a:r>
            <a:endParaRPr lang="en-US" sz="860" dirty="0"/>
          </a:p>
        </p:txBody>
      </p:sp>
      <p:sp>
        <p:nvSpPr>
          <p:cNvPr id="80" name="Shape 78"/>
          <p:cNvSpPr/>
          <p:nvPr/>
        </p:nvSpPr>
        <p:spPr>
          <a:xfrm>
            <a:off x="4835872" y="7174539"/>
            <a:ext cx="1698129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81" name="Text 79"/>
          <p:cNvSpPr txBox="1"/>
          <p:nvPr/>
        </p:nvSpPr>
        <p:spPr>
          <a:xfrm>
            <a:off x="6681341" y="7071866"/>
            <a:ext cx="23053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80"/>
              </a:lnSpc>
              <a:buNone/>
            </a:pPr>
            <a:r>
              <a:rPr lang="en-US" sz="78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36</a:t>
            </a:r>
            <a:endParaRPr lang="en-US" sz="780" dirty="0"/>
          </a:p>
        </p:txBody>
      </p:sp>
      <p:sp>
        <p:nvSpPr>
          <p:cNvPr id="82" name="Text 80"/>
          <p:cNvSpPr txBox="1"/>
          <p:nvPr/>
        </p:nvSpPr>
        <p:spPr>
          <a:xfrm>
            <a:off x="1025872" y="7243614"/>
            <a:ext cx="471659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86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Bolo de cenoura da vovó com técnica de chef e calda de chocolate espelhada</a:t>
            </a:r>
            <a:endParaRPr lang="en-US" sz="860" dirty="0"/>
          </a:p>
        </p:txBody>
      </p:sp>
      <p:sp>
        <p:nvSpPr>
          <p:cNvPr id="83" name="Shape 81"/>
          <p:cNvSpPr/>
          <p:nvPr/>
        </p:nvSpPr>
        <p:spPr>
          <a:xfrm>
            <a:off x="5363021" y="7351049"/>
            <a:ext cx="1170980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84" name="Text 82"/>
          <p:cNvSpPr txBox="1"/>
          <p:nvPr/>
        </p:nvSpPr>
        <p:spPr>
          <a:xfrm>
            <a:off x="6684615" y="7248376"/>
            <a:ext cx="22726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80"/>
              </a:lnSpc>
              <a:buNone/>
            </a:pPr>
            <a:r>
              <a:rPr lang="en-US" sz="78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37</a:t>
            </a:r>
            <a:endParaRPr lang="en-US" sz="780" dirty="0"/>
          </a:p>
        </p:txBody>
      </p:sp>
      <p:sp>
        <p:nvSpPr>
          <p:cNvPr id="85" name="Shape 83"/>
          <p:cNvSpPr/>
          <p:nvPr/>
        </p:nvSpPr>
        <p:spPr>
          <a:xfrm>
            <a:off x="647998" y="7520880"/>
            <a:ext cx="251966" cy="251966"/>
          </a:xfrm>
          <a:prstGeom prst="ellipse">
            <a:avLst/>
          </a:prstGeom>
          <a:solidFill>
            <a:srgbClr val="4E5B38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716756" y="7594402"/>
            <a:ext cx="2286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08</a:t>
            </a:r>
            <a:endParaRPr lang="en-US" sz="680" dirty="0"/>
          </a:p>
        </p:txBody>
      </p:sp>
      <p:sp>
        <p:nvSpPr>
          <p:cNvPr id="87" name="Text 85"/>
          <p:cNvSpPr txBox="1"/>
          <p:nvPr/>
        </p:nvSpPr>
        <p:spPr>
          <a:xfrm>
            <a:off x="1025872" y="7570589"/>
            <a:ext cx="225344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Bônus: Os 10 Pulos do Mamede</a:t>
            </a:r>
            <a:endParaRPr lang="en-US" sz="1000" dirty="0"/>
          </a:p>
        </p:txBody>
      </p:sp>
      <p:sp>
        <p:nvSpPr>
          <p:cNvPr id="88" name="Shape 86"/>
          <p:cNvSpPr/>
          <p:nvPr/>
        </p:nvSpPr>
        <p:spPr>
          <a:xfrm>
            <a:off x="3163788" y="7687549"/>
            <a:ext cx="3370213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89" name="Text 87"/>
          <p:cNvSpPr txBox="1"/>
          <p:nvPr/>
        </p:nvSpPr>
        <p:spPr>
          <a:xfrm>
            <a:off x="6649938" y="7580114"/>
            <a:ext cx="26193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8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40</a:t>
            </a:r>
            <a:endParaRPr lang="en-US" sz="860" dirty="0"/>
          </a:p>
        </p:txBody>
      </p:sp>
      <p:sp>
        <p:nvSpPr>
          <p:cNvPr id="90" name="Shape 88"/>
          <p:cNvSpPr/>
          <p:nvPr/>
        </p:nvSpPr>
        <p:spPr>
          <a:xfrm>
            <a:off x="647998" y="7974360"/>
            <a:ext cx="251966" cy="251966"/>
          </a:xfrm>
          <a:prstGeom prst="ellipse">
            <a:avLst/>
          </a:prstGeom>
          <a:solidFill>
            <a:srgbClr val="4E5B38"/>
          </a:solidFill>
          <a:ln/>
        </p:spPr>
      </p:sp>
      <p:sp>
        <p:nvSpPr>
          <p:cNvPr id="91" name="Text 89"/>
          <p:cNvSpPr txBox="1"/>
          <p:nvPr/>
        </p:nvSpPr>
        <p:spPr>
          <a:xfrm>
            <a:off x="717947" y="8047881"/>
            <a:ext cx="22636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09</a:t>
            </a:r>
            <a:endParaRPr lang="en-US" sz="680" dirty="0"/>
          </a:p>
        </p:txBody>
      </p:sp>
      <p:sp>
        <p:nvSpPr>
          <p:cNvPr id="92" name="Text 90"/>
          <p:cNvSpPr txBox="1"/>
          <p:nvPr/>
        </p:nvSpPr>
        <p:spPr>
          <a:xfrm>
            <a:off x="1025872" y="8024068"/>
            <a:ext cx="169554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Para seguir cozinhando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2665661" y="8141029"/>
            <a:ext cx="3868341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94" name="Text 92"/>
          <p:cNvSpPr txBox="1"/>
          <p:nvPr/>
        </p:nvSpPr>
        <p:spPr>
          <a:xfrm>
            <a:off x="6684615" y="8033593"/>
            <a:ext cx="22726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8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41</a:t>
            </a:r>
            <a:endParaRPr lang="en-US" sz="860" dirty="0"/>
          </a:p>
        </p:txBody>
      </p:sp>
      <p:sp>
        <p:nvSpPr>
          <p:cNvPr id="95" name="Shape 93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96" name="Text 94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97" name="Text 95"/>
          <p:cNvSpPr txBox="1"/>
          <p:nvPr/>
        </p:nvSpPr>
        <p:spPr>
          <a:xfrm>
            <a:off x="6778377" y="10236845"/>
            <a:ext cx="24779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04</a:t>
            </a:r>
            <a:endParaRPr lang="en-US" sz="63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755898"/>
            <a:ext cx="76914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800" b="1" spc="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CAPÍTULO 1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838795"/>
            <a:ext cx="3527971" cy="1232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80"/>
              </a:lnSpc>
              <a:buNone/>
            </a:pPr>
            <a:r>
              <a:rPr lang="en-US" sz="4000" spc="-20" kern="0" dirty="0">
                <a:solidFill>
                  <a:srgbClr val="C2552D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Abóbora Cabotiá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47998" y="2132112"/>
            <a:ext cx="467916" cy="11311"/>
          </a:xfrm>
          <a:prstGeom prst="rect">
            <a:avLst/>
          </a:prstGeom>
          <a:solidFill>
            <a:srgbClr val="2F2A2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7998" y="2287488"/>
            <a:ext cx="1489019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400" i="1" dirty="0">
                <a:solidFill>
                  <a:srgbClr val="6B645B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ou abóbora japonesa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7998" y="2715071"/>
            <a:ext cx="3527971" cy="585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2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Versátil, barata e símbolo de comida afetiva. E 100% aproveitável, da casca à semente: exatamente o que pede o consumo consciente.</a:t>
            </a:r>
            <a:endParaRPr lang="en-US" sz="1020" dirty="0"/>
          </a:p>
        </p:txBody>
      </p:sp>
      <p:pic>
        <p:nvPicPr>
          <p:cNvPr id="7" name="Image 0" descr="/home/user/ebook-luq/versoes/VERSAO COM FOTOGRAFIAS/fotos/cap1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823966" y="396032"/>
            <a:ext cx="3311872" cy="3311872"/>
          </a:xfrm>
          <a:prstGeom prst="ellipse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47998" y="3779937"/>
            <a:ext cx="108663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INGREDIENTE</a:t>
            </a:r>
            <a:endParaRPr lang="en-US" sz="700" dirty="0"/>
          </a:p>
        </p:txBody>
      </p:sp>
      <p:sp>
        <p:nvSpPr>
          <p:cNvPr id="9" name="Text 6"/>
          <p:cNvSpPr txBox="1"/>
          <p:nvPr/>
        </p:nvSpPr>
        <p:spPr>
          <a:xfrm>
            <a:off x="647998" y="4003179"/>
            <a:ext cx="6263878" cy="3876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9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cabotiá é a abóbora mais generosa da feira. Tem polpa densa, pouca água e doçura natural, e é justamente isso que permite levá-la do nhoque ao doce de colher sem perder identidade.</a:t>
            </a:r>
            <a:endParaRPr lang="en-US" sz="990" dirty="0"/>
          </a:p>
        </p:txBody>
      </p:sp>
      <p:sp>
        <p:nvSpPr>
          <p:cNvPr id="10" name="Text 7"/>
          <p:cNvSpPr txBox="1"/>
          <p:nvPr/>
        </p:nvSpPr>
        <p:spPr>
          <a:xfrm>
            <a:off x="647998" y="4529882"/>
            <a:ext cx="6263878" cy="6039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9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erro mais comum é tratá-la sempre do mesmo jeito: cozida na água, no refogado, como acompanhamento. Quando você assa a cabotiá, a água evapora, os açúcares caramelizam e o sabor se concentra. É outra abóbora.</a:t>
            </a:r>
            <a:endParaRPr lang="en-US" sz="990" dirty="0"/>
          </a:p>
        </p:txBody>
      </p:sp>
      <p:sp>
        <p:nvSpPr>
          <p:cNvPr id="11" name="Text 8"/>
          <p:cNvSpPr txBox="1"/>
          <p:nvPr/>
        </p:nvSpPr>
        <p:spPr>
          <a:xfrm>
            <a:off x="647998" y="5272832"/>
            <a:ext cx="6263878" cy="3876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9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 tem mais: a casca é comestível e as sementes viram petisco. Da cabotiá, quase nada vai para o lixo.</a:t>
            </a:r>
            <a:endParaRPr lang="en-US" sz="990" dirty="0"/>
          </a:p>
        </p:txBody>
      </p:sp>
      <p:sp>
        <p:nvSpPr>
          <p:cNvPr id="12" name="Text 9"/>
          <p:cNvSpPr txBox="1"/>
          <p:nvPr/>
        </p:nvSpPr>
        <p:spPr>
          <a:xfrm>
            <a:off x="647998" y="5892701"/>
            <a:ext cx="16477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AS 3 TRANSFORMAÇÕES</a:t>
            </a:r>
            <a:endParaRPr lang="en-US" sz="700" dirty="0"/>
          </a:p>
        </p:txBody>
      </p:sp>
      <p:sp>
        <p:nvSpPr>
          <p:cNvPr id="13" name="Shape 10"/>
          <p:cNvSpPr/>
          <p:nvPr/>
        </p:nvSpPr>
        <p:spPr>
          <a:xfrm>
            <a:off x="647998" y="6748909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47998" y="6287393"/>
            <a:ext cx="251966" cy="251966"/>
          </a:xfrm>
          <a:prstGeom prst="ellipse">
            <a:avLst/>
          </a:prstGeom>
          <a:solidFill>
            <a:srgbClr val="C2552D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28514" y="6360914"/>
            <a:ext cx="20508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</a:t>
            </a:r>
            <a:endParaRPr lang="en-US" sz="680" dirty="0"/>
          </a:p>
        </p:txBody>
      </p:sp>
      <p:sp>
        <p:nvSpPr>
          <p:cNvPr id="16" name="Text 13"/>
          <p:cNvSpPr txBox="1"/>
          <p:nvPr/>
        </p:nvSpPr>
        <p:spPr>
          <a:xfrm>
            <a:off x="1025872" y="6202561"/>
            <a:ext cx="130116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b="1" spc="115" kern="0" dirty="0">
                <a:solidFill>
                  <a:srgbClr val="C255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CLÁSSICO AFETIVO</a:t>
            </a:r>
            <a:endParaRPr lang="en-US" sz="640" dirty="0"/>
          </a:p>
        </p:txBody>
      </p:sp>
      <p:sp>
        <p:nvSpPr>
          <p:cNvPr id="17" name="Text 14"/>
          <p:cNvSpPr txBox="1"/>
          <p:nvPr/>
        </p:nvSpPr>
        <p:spPr>
          <a:xfrm>
            <a:off x="1025872" y="6319391"/>
            <a:ext cx="431988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Nhoque de abóbora tostado na manteiga de garrafa e sálvia </a:t>
            </a:r>
            <a:pPr algn="l" indent="0" marL="0">
              <a:lnSpc>
                <a:spcPts val="1250"/>
              </a:lnSpc>
              <a:buNone/>
            </a:pPr>
            <a:r>
              <a:rPr lang="en-US" sz="1000" i="1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(conforto refinado)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5471666" y="6454062"/>
            <a:ext cx="1062335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19" name="Text 16"/>
          <p:cNvSpPr txBox="1"/>
          <p:nvPr/>
        </p:nvSpPr>
        <p:spPr>
          <a:xfrm>
            <a:off x="6658273" y="6346627"/>
            <a:ext cx="25360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8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07</a:t>
            </a:r>
            <a:endParaRPr lang="en-US" sz="860" dirty="0"/>
          </a:p>
        </p:txBody>
      </p:sp>
      <p:sp>
        <p:nvSpPr>
          <p:cNvPr id="20" name="Shape 17"/>
          <p:cNvSpPr/>
          <p:nvPr/>
        </p:nvSpPr>
        <p:spPr>
          <a:xfrm>
            <a:off x="647998" y="7410450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47998" y="6948934"/>
            <a:ext cx="251966" cy="251966"/>
          </a:xfrm>
          <a:prstGeom prst="ellipse">
            <a:avLst/>
          </a:prstGeom>
          <a:solidFill>
            <a:srgbClr val="C2552D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719882" y="7022455"/>
            <a:ext cx="22234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680" dirty="0"/>
          </a:p>
        </p:txBody>
      </p:sp>
      <p:sp>
        <p:nvSpPr>
          <p:cNvPr id="23" name="Text 20"/>
          <p:cNvSpPr txBox="1"/>
          <p:nvPr/>
        </p:nvSpPr>
        <p:spPr>
          <a:xfrm>
            <a:off x="1025872" y="6864102"/>
            <a:ext cx="84043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b="1" spc="115" kern="0" dirty="0">
                <a:solidFill>
                  <a:srgbClr val="C255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INUSITADO</a:t>
            </a:r>
            <a:endParaRPr lang="en-US" sz="640" dirty="0"/>
          </a:p>
        </p:txBody>
      </p:sp>
      <p:sp>
        <p:nvSpPr>
          <p:cNvPr id="24" name="Text 21"/>
          <p:cNvSpPr txBox="1"/>
          <p:nvPr/>
        </p:nvSpPr>
        <p:spPr>
          <a:xfrm>
            <a:off x="1025872" y="6980932"/>
            <a:ext cx="431988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Hambúrguer ou bolinho cremoso assado de abóbora com especiarias e queijo coalho </a:t>
            </a:r>
            <a:pPr algn="l" indent="0" marL="0">
              <a:lnSpc>
                <a:spcPts val="1250"/>
              </a:lnSpc>
              <a:buNone/>
            </a:pPr>
            <a:r>
              <a:rPr lang="en-US" sz="1000" i="1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(o lado salgado que ninguém espera)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5471666" y="7115603"/>
            <a:ext cx="1062335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26" name="Text 23"/>
          <p:cNvSpPr txBox="1"/>
          <p:nvPr/>
        </p:nvSpPr>
        <p:spPr>
          <a:xfrm>
            <a:off x="6652915" y="7008168"/>
            <a:ext cx="25896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8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08</a:t>
            </a:r>
            <a:endParaRPr lang="en-US" sz="860" dirty="0"/>
          </a:p>
        </p:txBody>
      </p:sp>
      <p:sp>
        <p:nvSpPr>
          <p:cNvPr id="27" name="Shape 24"/>
          <p:cNvSpPr/>
          <p:nvPr/>
        </p:nvSpPr>
        <p:spPr>
          <a:xfrm>
            <a:off x="647998" y="8071991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47998" y="7610475"/>
            <a:ext cx="251966" cy="251966"/>
          </a:xfrm>
          <a:prstGeom prst="ellipse">
            <a:avLst/>
          </a:prstGeom>
          <a:solidFill>
            <a:srgbClr val="C2552D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720328" y="7683996"/>
            <a:ext cx="22160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680" dirty="0"/>
          </a:p>
        </p:txBody>
      </p:sp>
      <p:sp>
        <p:nvSpPr>
          <p:cNvPr id="30" name="Text 27"/>
          <p:cNvSpPr txBox="1"/>
          <p:nvPr/>
        </p:nvSpPr>
        <p:spPr>
          <a:xfrm>
            <a:off x="1025872" y="7525643"/>
            <a:ext cx="88106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b="1" spc="115" kern="0" dirty="0">
                <a:solidFill>
                  <a:srgbClr val="C255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LADO DOCE</a:t>
            </a:r>
            <a:endParaRPr lang="en-US" sz="640" dirty="0"/>
          </a:p>
        </p:txBody>
      </p:sp>
      <p:sp>
        <p:nvSpPr>
          <p:cNvPr id="31" name="Text 28"/>
          <p:cNvSpPr txBox="1"/>
          <p:nvPr/>
        </p:nvSpPr>
        <p:spPr>
          <a:xfrm>
            <a:off x="1025872" y="7642473"/>
            <a:ext cx="431988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Crepúsculo: doce de abóbora cremoso de colher com coco e raspas de laranja </a:t>
            </a:r>
            <a:pPr algn="l" indent="0" marL="0">
              <a:lnSpc>
                <a:spcPts val="1250"/>
              </a:lnSpc>
              <a:buNone/>
            </a:pPr>
            <a:r>
              <a:rPr lang="en-US" sz="1000" i="1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(uma sobremesa de memória afetiva)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5471666" y="7777144"/>
            <a:ext cx="1062335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33" name="Text 30"/>
          <p:cNvSpPr txBox="1"/>
          <p:nvPr/>
        </p:nvSpPr>
        <p:spPr>
          <a:xfrm>
            <a:off x="6655743" y="7669709"/>
            <a:ext cx="25613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8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09</a:t>
            </a:r>
            <a:endParaRPr lang="en-US" sz="860" dirty="0"/>
          </a:p>
        </p:txBody>
      </p:sp>
      <p:sp>
        <p:nvSpPr>
          <p:cNvPr id="34" name="Shape 31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36" name="Text 33"/>
          <p:cNvSpPr txBox="1"/>
          <p:nvPr/>
        </p:nvSpPr>
        <p:spPr>
          <a:xfrm>
            <a:off x="6785967" y="10236845"/>
            <a:ext cx="24020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05</a:t>
            </a:r>
            <a:endParaRPr lang="en-US" sz="63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611981"/>
            <a:ext cx="69309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800" b="1" spc="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ANTES DA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713929"/>
            <a:ext cx="141251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0"/>
              </a:lnSpc>
              <a:buNone/>
            </a:pPr>
            <a:r>
              <a:rPr lang="en-US" sz="3400" spc="-17" kern="0" dirty="0">
                <a:solidFill>
                  <a:srgbClr val="4E5B38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panela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7998" y="1392436"/>
            <a:ext cx="467916" cy="11311"/>
          </a:xfrm>
          <a:prstGeom prst="rect">
            <a:avLst/>
          </a:prstGeom>
          <a:solidFill>
            <a:srgbClr val="2F2A2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7998" y="1638746"/>
            <a:ext cx="4499967" cy="378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2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Escolher bem, guardar direito e cortar do jeito certo: metade do prato se resolve aqui.</a:t>
            </a:r>
            <a:endParaRPr lang="en-US" sz="1020" dirty="0"/>
          </a:p>
        </p:txBody>
      </p:sp>
      <p:sp>
        <p:nvSpPr>
          <p:cNvPr id="6" name="Shape 4"/>
          <p:cNvSpPr/>
          <p:nvPr/>
        </p:nvSpPr>
        <p:spPr>
          <a:xfrm>
            <a:off x="647998" y="2249984"/>
            <a:ext cx="3041898" cy="3115121"/>
          </a:xfrm>
          <a:prstGeom prst="roundRect">
            <a:avLst>
              <a:gd name="adj" fmla="val 1067"/>
            </a:avLst>
          </a:prstGeom>
          <a:solidFill>
            <a:srgbClr val="FBF8F3"/>
          </a:solidFill>
          <a:ln w="9525">
            <a:solidFill>
              <a:srgbClr val="DDD2C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37456" y="2439442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865" y="2520851"/>
            <a:ext cx="197048" cy="19704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323231" y="2557463"/>
            <a:ext cx="174088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800" b="1" spc="11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NA HORA DE ESCOLHER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855456" y="2993617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999456" y="2944267"/>
            <a:ext cx="2500981" cy="53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Pegue na mão: ela deve parecer pesada para o tamanho. Isso indica polpa densa e pouca água.</a:t>
            </a:r>
            <a:endParaRPr lang="en-US" sz="940" dirty="0"/>
          </a:p>
        </p:txBody>
      </p:sp>
      <p:sp>
        <p:nvSpPr>
          <p:cNvPr id="12" name="Shape 9"/>
          <p:cNvSpPr/>
          <p:nvPr/>
        </p:nvSpPr>
        <p:spPr>
          <a:xfrm>
            <a:off x="855456" y="3620481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999456" y="3571131"/>
            <a:ext cx="2500981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Casca firme, sem partes moles, rachaduras ou manchas úmidas.</a:t>
            </a:r>
            <a:endParaRPr lang="en-US" sz="940" dirty="0"/>
          </a:p>
        </p:txBody>
      </p:sp>
      <p:sp>
        <p:nvSpPr>
          <p:cNvPr id="14" name="Shape 11"/>
          <p:cNvSpPr/>
          <p:nvPr/>
        </p:nvSpPr>
        <p:spPr>
          <a:xfrm>
            <a:off x="855456" y="4062352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99456" y="4013002"/>
            <a:ext cx="2500981" cy="53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Cabinho seco e bem preso. Se estiver verde e úmido, ela foi colhida cedo demais.</a:t>
            </a:r>
            <a:endParaRPr lang="en-US" sz="940" dirty="0"/>
          </a:p>
        </p:txBody>
      </p:sp>
      <p:sp>
        <p:nvSpPr>
          <p:cNvPr id="16" name="Shape 13"/>
          <p:cNvSpPr/>
          <p:nvPr/>
        </p:nvSpPr>
        <p:spPr>
          <a:xfrm>
            <a:off x="855456" y="4689216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999456" y="4639866"/>
            <a:ext cx="2500981" cy="53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Comprando em pedaço: procure polpa laranja intensa e sementes bem formadas.</a:t>
            </a:r>
            <a:endParaRPr lang="en-US" sz="940" dirty="0"/>
          </a:p>
        </p:txBody>
      </p:sp>
      <p:sp>
        <p:nvSpPr>
          <p:cNvPr id="18" name="Shape 15"/>
          <p:cNvSpPr/>
          <p:nvPr/>
        </p:nvSpPr>
        <p:spPr>
          <a:xfrm>
            <a:off x="3869829" y="2249984"/>
            <a:ext cx="3042047" cy="3115121"/>
          </a:xfrm>
          <a:prstGeom prst="roundRect">
            <a:avLst>
              <a:gd name="adj" fmla="val 1067"/>
            </a:avLst>
          </a:prstGeom>
          <a:solidFill>
            <a:srgbClr val="FBF8F3"/>
          </a:solidFill>
          <a:ln w="9525">
            <a:solidFill>
              <a:srgbClr val="DDD2C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059287" y="2439442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0696" y="2520851"/>
            <a:ext cx="197048" cy="197048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4545062" y="2557463"/>
            <a:ext cx="120548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800" b="1" spc="11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COMO GUARDAR</a:t>
            </a:r>
            <a:endParaRPr lang="en-US" sz="800" dirty="0"/>
          </a:p>
        </p:txBody>
      </p:sp>
      <p:sp>
        <p:nvSpPr>
          <p:cNvPr id="22" name="Shape 18"/>
          <p:cNvSpPr/>
          <p:nvPr/>
        </p:nvSpPr>
        <p:spPr>
          <a:xfrm>
            <a:off x="4077287" y="2993617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3" name="Text 19"/>
          <p:cNvSpPr txBox="1"/>
          <p:nvPr/>
        </p:nvSpPr>
        <p:spPr>
          <a:xfrm>
            <a:off x="4221287" y="2944267"/>
            <a:ext cx="2501130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Inteira: em local fresco, seco e arejado, fora da geladeira, por até 1 a 2 meses.</a:t>
            </a:r>
            <a:endParaRPr lang="en-US" sz="940" dirty="0"/>
          </a:p>
        </p:txBody>
      </p:sp>
      <p:sp>
        <p:nvSpPr>
          <p:cNvPr id="24" name="Shape 20"/>
          <p:cNvSpPr/>
          <p:nvPr/>
        </p:nvSpPr>
        <p:spPr>
          <a:xfrm>
            <a:off x="4077287" y="3435487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4221287" y="3386138"/>
            <a:ext cx="2501130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Cortada: retire as sementes, envolva em filme e guarde na geladeira por até 5 dias.</a:t>
            </a:r>
            <a:endParaRPr lang="en-US" sz="940" dirty="0"/>
          </a:p>
        </p:txBody>
      </p:sp>
      <p:sp>
        <p:nvSpPr>
          <p:cNvPr id="26" name="Shape 22"/>
          <p:cNvSpPr/>
          <p:nvPr/>
        </p:nvSpPr>
        <p:spPr>
          <a:xfrm>
            <a:off x="4077287" y="3877358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4221287" y="3828008"/>
            <a:ext cx="2501130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Assada ou cozida: em porções no freezer por até 3 meses.</a:t>
            </a:r>
            <a:endParaRPr lang="en-US" sz="940" dirty="0"/>
          </a:p>
        </p:txBody>
      </p:sp>
      <p:sp>
        <p:nvSpPr>
          <p:cNvPr id="28" name="Shape 24"/>
          <p:cNvSpPr/>
          <p:nvPr/>
        </p:nvSpPr>
        <p:spPr>
          <a:xfrm>
            <a:off x="647998" y="5545038"/>
            <a:ext cx="6263878" cy="2190155"/>
          </a:xfrm>
          <a:prstGeom prst="roundRect">
            <a:avLst>
              <a:gd name="adj" fmla="val 2059"/>
            </a:avLst>
          </a:prstGeom>
          <a:solidFill>
            <a:srgbClr val="FBF8F3"/>
          </a:solidFill>
          <a:ln w="9525">
            <a:solidFill>
              <a:srgbClr val="DDD2C0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837456" y="5734496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865" y="5815905"/>
            <a:ext cx="197048" cy="197048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1323231" y="5852517"/>
            <a:ext cx="179339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800" b="1" spc="11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PRÉ-PREPARO E CORTES</a:t>
            </a:r>
            <a:endParaRPr lang="en-US" sz="800" dirty="0"/>
          </a:p>
        </p:txBody>
      </p:sp>
      <p:sp>
        <p:nvSpPr>
          <p:cNvPr id="32" name="Shape 27"/>
          <p:cNvSpPr/>
          <p:nvPr/>
        </p:nvSpPr>
        <p:spPr>
          <a:xfrm>
            <a:off x="855456" y="6288671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3" name="Text 28"/>
          <p:cNvSpPr txBox="1"/>
          <p:nvPr/>
        </p:nvSpPr>
        <p:spPr>
          <a:xfrm>
            <a:off x="999381" y="6239321"/>
            <a:ext cx="500145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Estabilize primeiro: corte uma fatia fina da base para ela não rolar na tábua.</a:t>
            </a:r>
            <a:endParaRPr lang="en-US" sz="940" dirty="0"/>
          </a:p>
        </p:txBody>
      </p:sp>
      <p:sp>
        <p:nvSpPr>
          <p:cNvPr id="34" name="Shape 29"/>
          <p:cNvSpPr/>
          <p:nvPr/>
        </p:nvSpPr>
        <p:spPr>
          <a:xfrm>
            <a:off x="855456" y="6545549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5" name="Text 30"/>
          <p:cNvSpPr txBox="1"/>
          <p:nvPr/>
        </p:nvSpPr>
        <p:spPr>
          <a:xfrm>
            <a:off x="999456" y="6496199"/>
            <a:ext cx="5722961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Use a faca mais pesada que você tiver e corte ao meio, de cima para baixo. Retire as sementes com uma colher.</a:t>
            </a:r>
            <a:endParaRPr lang="en-US" sz="940" dirty="0"/>
          </a:p>
        </p:txBody>
      </p:sp>
      <p:sp>
        <p:nvSpPr>
          <p:cNvPr id="36" name="Shape 31"/>
          <p:cNvSpPr/>
          <p:nvPr/>
        </p:nvSpPr>
        <p:spPr>
          <a:xfrm>
            <a:off x="855456" y="6987420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7" name="Text 32"/>
          <p:cNvSpPr txBox="1"/>
          <p:nvPr/>
        </p:nvSpPr>
        <p:spPr>
          <a:xfrm>
            <a:off x="999456" y="6938070"/>
            <a:ext cx="5722961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Gomos com casca para assar; cubos de 2 cm para refogar e cozinhar; ralada para bolinhos e massas.</a:t>
            </a:r>
            <a:endParaRPr lang="en-US" sz="940" dirty="0"/>
          </a:p>
        </p:txBody>
      </p:sp>
      <p:sp>
        <p:nvSpPr>
          <p:cNvPr id="38" name="Shape 33"/>
          <p:cNvSpPr/>
          <p:nvPr/>
        </p:nvSpPr>
        <p:spPr>
          <a:xfrm>
            <a:off x="855456" y="7429290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9" name="Text 34"/>
          <p:cNvSpPr txBox="1"/>
          <p:nvPr/>
        </p:nvSpPr>
        <p:spPr>
          <a:xfrm>
            <a:off x="999381" y="7379940"/>
            <a:ext cx="628411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Para descascar, apoie o gomo deitado na tábua e corte a casca com a faca, de cima para baixo.</a:t>
            </a:r>
            <a:endParaRPr lang="en-US" sz="940" dirty="0"/>
          </a:p>
        </p:txBody>
      </p:sp>
      <p:sp>
        <p:nvSpPr>
          <p:cNvPr id="40" name="Shape 35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41" name="Text 36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42" name="Text 37"/>
          <p:cNvSpPr txBox="1"/>
          <p:nvPr/>
        </p:nvSpPr>
        <p:spPr>
          <a:xfrm>
            <a:off x="6782544" y="10236845"/>
            <a:ext cx="24363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06</a:t>
            </a:r>
            <a:endParaRPr lang="en-US" sz="63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611981"/>
            <a:ext cx="238896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RECEITA 1.1 · O CLÁSSICO AFETIVO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759023"/>
            <a:ext cx="4031903" cy="11555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500" dirty="0">
                <a:solidFill>
                  <a:srgbClr val="4E5B38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Nhoque de abóbora tostado na manteiga de garrafa e sálvia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647998" y="1926134"/>
            <a:ext cx="115047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90"/>
              </a:lnSpc>
              <a:buNone/>
            </a:pPr>
            <a:r>
              <a:rPr lang="en-US" sz="1300" i="1" dirty="0">
                <a:solidFill>
                  <a:srgbClr val="C255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conforto refinado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7998" y="2320528"/>
            <a:ext cx="287982" cy="287982"/>
          </a:xfrm>
          <a:prstGeom prst="ellipse">
            <a:avLst/>
          </a:prstGeom>
          <a:ln w="9525">
            <a:solidFill>
              <a:srgbClr val="2F2A2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398" y="2383929"/>
            <a:ext cx="161181" cy="16118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25872" y="2340025"/>
            <a:ext cx="33932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740" b="1" spc="44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1H15</a:t>
            </a:r>
            <a:endParaRPr lang="en-US" sz="740" dirty="0"/>
          </a:p>
        </p:txBody>
      </p:sp>
      <p:sp>
        <p:nvSpPr>
          <p:cNvPr id="8" name="Text 5"/>
          <p:cNvSpPr txBox="1"/>
          <p:nvPr/>
        </p:nvSpPr>
        <p:spPr>
          <a:xfrm>
            <a:off x="1025872" y="2493615"/>
            <a:ext cx="47580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spc="90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TEMPO</a:t>
            </a:r>
            <a:endParaRPr lang="en-US" sz="640" dirty="0"/>
          </a:p>
        </p:txBody>
      </p:sp>
      <p:sp>
        <p:nvSpPr>
          <p:cNvPr id="9" name="Shape 6"/>
          <p:cNvSpPr/>
          <p:nvPr/>
        </p:nvSpPr>
        <p:spPr>
          <a:xfrm>
            <a:off x="1675358" y="2320528"/>
            <a:ext cx="287982" cy="287982"/>
          </a:xfrm>
          <a:prstGeom prst="ellipse">
            <a:avLst/>
          </a:prstGeom>
          <a:ln w="9525">
            <a:solidFill>
              <a:srgbClr val="2F2A25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8759" y="2383929"/>
            <a:ext cx="161181" cy="161181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053233" y="2340025"/>
            <a:ext cx="73610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740" b="1" spc="44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 PORÇÕES</a:t>
            </a:r>
            <a:endParaRPr lang="en-US" sz="740" dirty="0"/>
          </a:p>
        </p:txBody>
      </p:sp>
      <p:sp>
        <p:nvSpPr>
          <p:cNvPr id="12" name="Text 8"/>
          <p:cNvSpPr txBox="1"/>
          <p:nvPr/>
        </p:nvSpPr>
        <p:spPr>
          <a:xfrm>
            <a:off x="2053233" y="2493615"/>
            <a:ext cx="80992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spc="90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RENDIMENTO</a:t>
            </a:r>
            <a:endParaRPr lang="en-US" sz="640" dirty="0"/>
          </a:p>
        </p:txBody>
      </p:sp>
      <p:pic>
        <p:nvPicPr>
          <p:cNvPr id="13" name="Image 2" descr="/home/user/ebook-luq/versoes/VERSAO COM FOTOGRAFIAS/fotos/r1-1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615880" y="252115"/>
            <a:ext cx="2375892" cy="2375892"/>
          </a:xfrm>
          <a:prstGeom prst="ellipse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647998" y="3157091"/>
            <a:ext cx="2159943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647998" y="2951857"/>
            <a:ext cx="105891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60" b="1" spc="12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INGREDIENTES</a:t>
            </a:r>
            <a:endParaRPr lang="en-US" sz="760" dirty="0"/>
          </a:p>
        </p:txBody>
      </p:sp>
      <p:sp>
        <p:nvSpPr>
          <p:cNvPr id="16" name="Text 11"/>
          <p:cNvSpPr txBox="1"/>
          <p:nvPr/>
        </p:nvSpPr>
        <p:spPr>
          <a:xfrm>
            <a:off x="647998" y="3264991"/>
            <a:ext cx="49232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30"/>
              </a:lnSpc>
              <a:buNone/>
            </a:pPr>
            <a:r>
              <a:rPr lang="en-US" sz="660" b="1" spc="106" kern="0" dirty="0">
                <a:solidFill>
                  <a:srgbClr val="C255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MASSA</a:t>
            </a:r>
            <a:endParaRPr lang="en-US" sz="660" dirty="0"/>
          </a:p>
        </p:txBody>
      </p:sp>
      <p:sp>
        <p:nvSpPr>
          <p:cNvPr id="17" name="Shape 12"/>
          <p:cNvSpPr/>
          <p:nvPr/>
        </p:nvSpPr>
        <p:spPr>
          <a:xfrm>
            <a:off x="665998" y="3492042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8" name="Text 13"/>
          <p:cNvSpPr txBox="1"/>
          <p:nvPr/>
        </p:nvSpPr>
        <p:spPr>
          <a:xfrm>
            <a:off x="809998" y="3433167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800 g de abóbora cabotiá com casca (cerca de 600 g de polpa)</a:t>
            </a:r>
            <a:endParaRPr lang="en-US" sz="890" dirty="0"/>
          </a:p>
        </p:txBody>
      </p:sp>
      <p:sp>
        <p:nvSpPr>
          <p:cNvPr id="19" name="Shape 14"/>
          <p:cNvSpPr/>
          <p:nvPr/>
        </p:nvSpPr>
        <p:spPr>
          <a:xfrm>
            <a:off x="665998" y="3873340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0" name="Text 15"/>
          <p:cNvSpPr txBox="1"/>
          <p:nvPr/>
        </p:nvSpPr>
        <p:spPr>
          <a:xfrm>
            <a:off x="809923" y="3814465"/>
            <a:ext cx="51688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gema</a:t>
            </a:r>
            <a:endParaRPr lang="en-US" sz="890" dirty="0"/>
          </a:p>
        </p:txBody>
      </p:sp>
      <p:sp>
        <p:nvSpPr>
          <p:cNvPr id="21" name="Shape 16"/>
          <p:cNvSpPr/>
          <p:nvPr/>
        </p:nvSpPr>
        <p:spPr>
          <a:xfrm>
            <a:off x="665998" y="4090927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2" name="Text 17"/>
          <p:cNvSpPr txBox="1"/>
          <p:nvPr/>
        </p:nvSpPr>
        <p:spPr>
          <a:xfrm>
            <a:off x="809923" y="4032052"/>
            <a:ext cx="184206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 g de parmesão ralado fino</a:t>
            </a:r>
            <a:endParaRPr lang="en-US" sz="890" dirty="0"/>
          </a:p>
        </p:txBody>
      </p:sp>
      <p:sp>
        <p:nvSpPr>
          <p:cNvPr id="23" name="Shape 18"/>
          <p:cNvSpPr/>
          <p:nvPr/>
        </p:nvSpPr>
        <p:spPr>
          <a:xfrm>
            <a:off x="665998" y="4308513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4" name="Text 19"/>
          <p:cNvSpPr txBox="1"/>
          <p:nvPr/>
        </p:nvSpPr>
        <p:spPr>
          <a:xfrm>
            <a:off x="809998" y="4249638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180 a 220 g de farinha de trigo (mais um pouco para polvilhar)</a:t>
            </a:r>
            <a:endParaRPr lang="en-US" sz="890" dirty="0"/>
          </a:p>
        </p:txBody>
      </p:sp>
      <p:sp>
        <p:nvSpPr>
          <p:cNvPr id="25" name="Shape 20"/>
          <p:cNvSpPr/>
          <p:nvPr/>
        </p:nvSpPr>
        <p:spPr>
          <a:xfrm>
            <a:off x="665998" y="4689811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6" name="Text 21"/>
          <p:cNvSpPr txBox="1"/>
          <p:nvPr/>
        </p:nvSpPr>
        <p:spPr>
          <a:xfrm>
            <a:off x="809923" y="4630936"/>
            <a:ext cx="211993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Sal e noz-moscada ralada na hora</a:t>
            </a:r>
            <a:endParaRPr lang="en-US" sz="890" dirty="0"/>
          </a:p>
        </p:txBody>
      </p:sp>
      <p:sp>
        <p:nvSpPr>
          <p:cNvPr id="27" name="Text 22"/>
          <p:cNvSpPr txBox="1"/>
          <p:nvPr/>
        </p:nvSpPr>
        <p:spPr>
          <a:xfrm>
            <a:off x="647998" y="4893022"/>
            <a:ext cx="103629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30"/>
              </a:lnSpc>
              <a:buNone/>
            </a:pPr>
            <a:r>
              <a:rPr lang="en-US" sz="660" b="1" spc="106" kern="0" dirty="0">
                <a:solidFill>
                  <a:srgbClr val="C255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PARA FINALIZAR</a:t>
            </a:r>
            <a:endParaRPr lang="en-US" sz="660" dirty="0"/>
          </a:p>
        </p:txBody>
      </p:sp>
      <p:sp>
        <p:nvSpPr>
          <p:cNvPr id="28" name="Shape 23"/>
          <p:cNvSpPr/>
          <p:nvPr/>
        </p:nvSpPr>
        <p:spPr>
          <a:xfrm>
            <a:off x="665998" y="5120073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9" name="Text 24"/>
          <p:cNvSpPr txBox="1"/>
          <p:nvPr/>
        </p:nvSpPr>
        <p:spPr>
          <a:xfrm>
            <a:off x="809998" y="5061198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 colheres (sopa) de manteiga de garrafa</a:t>
            </a:r>
            <a:endParaRPr lang="en-US" sz="890" dirty="0"/>
          </a:p>
        </p:txBody>
      </p:sp>
      <p:sp>
        <p:nvSpPr>
          <p:cNvPr id="30" name="Shape 25"/>
          <p:cNvSpPr/>
          <p:nvPr/>
        </p:nvSpPr>
        <p:spPr>
          <a:xfrm>
            <a:off x="665998" y="5501371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1" name="Text 26"/>
          <p:cNvSpPr txBox="1"/>
          <p:nvPr/>
        </p:nvSpPr>
        <p:spPr>
          <a:xfrm>
            <a:off x="809923" y="5442496"/>
            <a:ext cx="151318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12 folhas de sálvia fresca</a:t>
            </a:r>
            <a:endParaRPr lang="en-US" sz="890" dirty="0"/>
          </a:p>
        </p:txBody>
      </p:sp>
      <p:sp>
        <p:nvSpPr>
          <p:cNvPr id="32" name="Shape 27"/>
          <p:cNvSpPr/>
          <p:nvPr/>
        </p:nvSpPr>
        <p:spPr>
          <a:xfrm>
            <a:off x="665998" y="5718957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3" name="Text 28"/>
          <p:cNvSpPr txBox="1"/>
          <p:nvPr/>
        </p:nvSpPr>
        <p:spPr>
          <a:xfrm>
            <a:off x="809998" y="5660082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Pimenta-do-reino e parmesão a gosto</a:t>
            </a:r>
            <a:endParaRPr lang="en-US" sz="890" dirty="0"/>
          </a:p>
        </p:txBody>
      </p:sp>
      <p:sp>
        <p:nvSpPr>
          <p:cNvPr id="34" name="Shape 29"/>
          <p:cNvSpPr/>
          <p:nvPr/>
        </p:nvSpPr>
        <p:spPr>
          <a:xfrm>
            <a:off x="3131939" y="3157091"/>
            <a:ext cx="3779937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3131939" y="2951857"/>
            <a:ext cx="141434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60" b="1" spc="12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MODO DE PREPARO</a:t>
            </a:r>
            <a:endParaRPr lang="en-US" sz="760" dirty="0"/>
          </a:p>
        </p:txBody>
      </p:sp>
      <p:sp>
        <p:nvSpPr>
          <p:cNvPr id="36" name="Shape 31"/>
          <p:cNvSpPr/>
          <p:nvPr/>
        </p:nvSpPr>
        <p:spPr>
          <a:xfrm>
            <a:off x="3131939" y="3275707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7" name="Text 32"/>
          <p:cNvSpPr txBox="1"/>
          <p:nvPr/>
        </p:nvSpPr>
        <p:spPr>
          <a:xfrm>
            <a:off x="3206651" y="3317974"/>
            <a:ext cx="14481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630" dirty="0"/>
          </a:p>
        </p:txBody>
      </p:sp>
      <p:sp>
        <p:nvSpPr>
          <p:cNvPr id="38" name="Text 33"/>
          <p:cNvSpPr txBox="1"/>
          <p:nvPr/>
        </p:nvSpPr>
        <p:spPr>
          <a:xfrm>
            <a:off x="3419773" y="3284041"/>
            <a:ext cx="3492103" cy="528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Corte a abóbora em gomos, sem tirar a casca, e asse a 200 °C por 35 a 40 minutos, até ficar bem macia. </a:t>
            </a:r>
            <a:pPr algn="l" indent="0" marL="0">
              <a:lnSpc>
                <a:spcPts val="1440"/>
              </a:lnSpc>
              <a:buNone/>
            </a:pPr>
            <a:r>
              <a:rPr lang="en-US" sz="93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Assar, e não cozinhar na água</a:t>
            </a:r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, é o que garante um nhoque leve.</a:t>
            </a:r>
            <a:endParaRPr lang="en-US" sz="930" dirty="0"/>
          </a:p>
        </p:txBody>
      </p:sp>
      <p:sp>
        <p:nvSpPr>
          <p:cNvPr id="39" name="Shape 34"/>
          <p:cNvSpPr/>
          <p:nvPr/>
        </p:nvSpPr>
        <p:spPr>
          <a:xfrm>
            <a:off x="3131939" y="3918347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0" name="Text 35"/>
          <p:cNvSpPr txBox="1"/>
          <p:nvPr/>
        </p:nvSpPr>
        <p:spPr>
          <a:xfrm>
            <a:off x="3198614" y="3960614"/>
            <a:ext cx="1607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630" dirty="0"/>
          </a:p>
        </p:txBody>
      </p:sp>
      <p:sp>
        <p:nvSpPr>
          <p:cNvPr id="41" name="Text 36"/>
          <p:cNvSpPr txBox="1"/>
          <p:nvPr/>
        </p:nvSpPr>
        <p:spPr>
          <a:xfrm>
            <a:off x="3419773" y="3926681"/>
            <a:ext cx="3492103" cy="528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Raspe a polpa da casca e passe pelo espremedor (ou amasse muito bem com um garfo). Espalhe o purê numa travessa e deixe esfriar descoberto, para o vapor ir embora.</a:t>
            </a:r>
            <a:endParaRPr lang="en-US" sz="930" dirty="0"/>
          </a:p>
        </p:txBody>
      </p:sp>
      <p:sp>
        <p:nvSpPr>
          <p:cNvPr id="42" name="Shape 37"/>
          <p:cNvSpPr/>
          <p:nvPr/>
        </p:nvSpPr>
        <p:spPr>
          <a:xfrm>
            <a:off x="3131939" y="4560987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3" name="Text 38"/>
          <p:cNvSpPr txBox="1"/>
          <p:nvPr/>
        </p:nvSpPr>
        <p:spPr>
          <a:xfrm>
            <a:off x="3198614" y="4603254"/>
            <a:ext cx="1607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630" dirty="0"/>
          </a:p>
        </p:txBody>
      </p:sp>
      <p:sp>
        <p:nvSpPr>
          <p:cNvPr id="44" name="Text 39"/>
          <p:cNvSpPr txBox="1"/>
          <p:nvPr/>
        </p:nvSpPr>
        <p:spPr>
          <a:xfrm>
            <a:off x="3419773" y="4569321"/>
            <a:ext cx="3492103" cy="7111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Junte a gema, o parmesão, sal e noz-moscada. Acrescente a farinha aos poucos, misturando com as mãos só até a massa ficar macia e soltar dos dedos. Ela pode continuar levemente úmida.</a:t>
            </a:r>
            <a:endParaRPr lang="en-US" sz="930" dirty="0"/>
          </a:p>
        </p:txBody>
      </p:sp>
      <p:sp>
        <p:nvSpPr>
          <p:cNvPr id="45" name="Shape 40"/>
          <p:cNvSpPr/>
          <p:nvPr/>
        </p:nvSpPr>
        <p:spPr>
          <a:xfrm>
            <a:off x="3131939" y="5386685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6" name="Text 41"/>
          <p:cNvSpPr txBox="1"/>
          <p:nvPr/>
        </p:nvSpPr>
        <p:spPr>
          <a:xfrm>
            <a:off x="3194745" y="5428952"/>
            <a:ext cx="16847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630" dirty="0"/>
          </a:p>
        </p:txBody>
      </p:sp>
      <p:sp>
        <p:nvSpPr>
          <p:cNvPr id="47" name="Text 42"/>
          <p:cNvSpPr txBox="1"/>
          <p:nvPr/>
        </p:nvSpPr>
        <p:spPr>
          <a:xfrm>
            <a:off x="3419773" y="5395020"/>
            <a:ext cx="3492103" cy="528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Faça um teste: modele uma bolinha e cozinhe em água fervente. Se desmanchar, acrescente mais 1 ou 2 colheres de farinha.</a:t>
            </a:r>
            <a:endParaRPr lang="en-US" sz="930" dirty="0"/>
          </a:p>
        </p:txBody>
      </p:sp>
      <p:sp>
        <p:nvSpPr>
          <p:cNvPr id="48" name="Shape 43"/>
          <p:cNvSpPr/>
          <p:nvPr/>
        </p:nvSpPr>
        <p:spPr>
          <a:xfrm>
            <a:off x="3131939" y="6029325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9" name="Text 44"/>
          <p:cNvSpPr txBox="1"/>
          <p:nvPr/>
        </p:nvSpPr>
        <p:spPr>
          <a:xfrm>
            <a:off x="3198465" y="6071592"/>
            <a:ext cx="16103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630" dirty="0"/>
          </a:p>
        </p:txBody>
      </p:sp>
      <p:sp>
        <p:nvSpPr>
          <p:cNvPr id="50" name="Text 45"/>
          <p:cNvSpPr txBox="1"/>
          <p:nvPr/>
        </p:nvSpPr>
        <p:spPr>
          <a:xfrm>
            <a:off x="3419773" y="6037659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Divida a massa, faça rolinhos de 2 cm de espessura sobre a bancada enfarinhada e corte em pedaços de 2 cm.</a:t>
            </a:r>
            <a:endParaRPr lang="en-US" sz="930" dirty="0"/>
          </a:p>
        </p:txBody>
      </p:sp>
      <p:sp>
        <p:nvSpPr>
          <p:cNvPr id="51" name="Shape 46"/>
          <p:cNvSpPr/>
          <p:nvPr/>
        </p:nvSpPr>
        <p:spPr>
          <a:xfrm>
            <a:off x="3131939" y="6488906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52" name="Text 47"/>
          <p:cNvSpPr txBox="1"/>
          <p:nvPr/>
        </p:nvSpPr>
        <p:spPr>
          <a:xfrm>
            <a:off x="3196828" y="6531173"/>
            <a:ext cx="16445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</a:t>
            </a:r>
            <a:endParaRPr lang="en-US" sz="630" dirty="0"/>
          </a:p>
        </p:txBody>
      </p:sp>
      <p:sp>
        <p:nvSpPr>
          <p:cNvPr id="53" name="Text 48"/>
          <p:cNvSpPr txBox="1"/>
          <p:nvPr/>
        </p:nvSpPr>
        <p:spPr>
          <a:xfrm>
            <a:off x="3419773" y="6497241"/>
            <a:ext cx="3492103" cy="528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Cozinhe em água fervente com sal, em levas. Quando os nhoques subirem, conte 30 segundos e retire com escumadeira.</a:t>
            </a:r>
            <a:endParaRPr lang="en-US" sz="930" dirty="0"/>
          </a:p>
        </p:txBody>
      </p:sp>
      <p:sp>
        <p:nvSpPr>
          <p:cNvPr id="54" name="Shape 49"/>
          <p:cNvSpPr/>
          <p:nvPr/>
        </p:nvSpPr>
        <p:spPr>
          <a:xfrm>
            <a:off x="3131939" y="7131546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55" name="Text 50"/>
          <p:cNvSpPr txBox="1"/>
          <p:nvPr/>
        </p:nvSpPr>
        <p:spPr>
          <a:xfrm>
            <a:off x="3197572" y="7173813"/>
            <a:ext cx="16281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</a:t>
            </a:r>
            <a:endParaRPr lang="en-US" sz="630" dirty="0"/>
          </a:p>
        </p:txBody>
      </p:sp>
      <p:sp>
        <p:nvSpPr>
          <p:cNvPr id="56" name="Text 51"/>
          <p:cNvSpPr txBox="1"/>
          <p:nvPr/>
        </p:nvSpPr>
        <p:spPr>
          <a:xfrm>
            <a:off x="3419773" y="7139880"/>
            <a:ext cx="3492103" cy="7111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Numa frigideira grande, aqueça a manteiga de garrafa e frite as folhas de sálvia até ficarem crocantes. Junte os nhoques escorridos e deixe dourar 2 minutos sem mexer. Vire, finalize com pimenta e parmesão e sirva na hora.</a:t>
            </a:r>
            <a:endParaRPr lang="en-US" sz="930" dirty="0"/>
          </a:p>
        </p:txBody>
      </p:sp>
      <p:sp>
        <p:nvSpPr>
          <p:cNvPr id="57" name="Shape 52"/>
          <p:cNvSpPr/>
          <p:nvPr/>
        </p:nvSpPr>
        <p:spPr>
          <a:xfrm>
            <a:off x="647998" y="9026723"/>
            <a:ext cx="6263878" cy="873175"/>
          </a:xfrm>
          <a:prstGeom prst="roundRect">
            <a:avLst>
              <a:gd name="adj" fmla="val 12953"/>
            </a:avLst>
          </a:prstGeom>
          <a:solidFill>
            <a:srgbClr val="EEE6D8"/>
          </a:solidFill>
          <a:ln/>
        </p:spPr>
      </p:sp>
      <p:sp>
        <p:nvSpPr>
          <p:cNvPr id="58" name="Shape 53"/>
          <p:cNvSpPr/>
          <p:nvPr/>
        </p:nvSpPr>
        <p:spPr>
          <a:xfrm>
            <a:off x="827931" y="9188648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5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9340" y="9270057"/>
            <a:ext cx="197048" cy="197048"/>
          </a:xfrm>
          <a:prstGeom prst="rect">
            <a:avLst/>
          </a:prstGeom>
        </p:spPr>
      </p:pic>
      <p:sp>
        <p:nvSpPr>
          <p:cNvPr id="60" name="Text 54"/>
          <p:cNvSpPr txBox="1"/>
          <p:nvPr/>
        </p:nvSpPr>
        <p:spPr>
          <a:xfrm>
            <a:off x="1331714" y="9188648"/>
            <a:ext cx="131733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12" kern="0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TOQUE DO MAMEDE</a:t>
            </a:r>
            <a:endParaRPr lang="en-US" sz="700" dirty="0"/>
          </a:p>
        </p:txBody>
      </p:sp>
      <p:sp>
        <p:nvSpPr>
          <p:cNvPr id="61" name="Text 55"/>
          <p:cNvSpPr txBox="1"/>
          <p:nvPr/>
        </p:nvSpPr>
        <p:spPr>
          <a:xfrm>
            <a:off x="1331714" y="9329291"/>
            <a:ext cx="5400229" cy="4138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150" i="1" dirty="0">
                <a:solidFill>
                  <a:srgbClr val="2F2A2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Os nhoques podem ser congelados crus, espalhados numa assadeira enfarinhada. Depois de firmes, passe para um saco. Cozinhe direto do congelador, sem descongelar.</a:t>
            </a:r>
            <a:endParaRPr lang="en-US" sz="1150" dirty="0"/>
          </a:p>
        </p:txBody>
      </p:sp>
      <p:sp>
        <p:nvSpPr>
          <p:cNvPr id="62" name="Shape 56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63" name="Text 57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64" name="Text 58"/>
          <p:cNvSpPr txBox="1"/>
          <p:nvPr/>
        </p:nvSpPr>
        <p:spPr>
          <a:xfrm>
            <a:off x="6784479" y="10236845"/>
            <a:ext cx="241697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07</a:t>
            </a:r>
            <a:endParaRPr lang="en-US" sz="63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611981"/>
            <a:ext cx="18634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RECEITA 1.2 · O INUSITADO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759023"/>
            <a:ext cx="4031903" cy="15046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500" dirty="0">
                <a:solidFill>
                  <a:srgbClr val="4E5B38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Hambúrguer ou bolinho cremoso assado de abóbora com especiarias e queijo coalho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647998" y="2275284"/>
            <a:ext cx="23089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90"/>
              </a:lnSpc>
              <a:buNone/>
            </a:pPr>
            <a:r>
              <a:rPr lang="en-US" sz="1300" i="1" dirty="0">
                <a:solidFill>
                  <a:srgbClr val="C255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o lado salgado que ninguém espera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7998" y="2687538"/>
            <a:ext cx="287982" cy="287982"/>
          </a:xfrm>
          <a:prstGeom prst="ellipse">
            <a:avLst/>
          </a:prstGeom>
          <a:ln w="9525">
            <a:solidFill>
              <a:srgbClr val="2F2A2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398" y="2750939"/>
            <a:ext cx="161181" cy="16118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25872" y="2669679"/>
            <a:ext cx="1408956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740" b="1" spc="44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1H (MAIS 30 MIN DE GELADEIRA)</a:t>
            </a:r>
            <a:endParaRPr lang="en-US" sz="740" dirty="0"/>
          </a:p>
        </p:txBody>
      </p:sp>
      <p:sp>
        <p:nvSpPr>
          <p:cNvPr id="8" name="Text 5"/>
          <p:cNvSpPr txBox="1"/>
          <p:nvPr/>
        </p:nvSpPr>
        <p:spPr>
          <a:xfrm>
            <a:off x="1025872" y="2898279"/>
            <a:ext cx="47580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spc="90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TEMPO</a:t>
            </a:r>
            <a:endParaRPr lang="en-US" sz="640" dirty="0"/>
          </a:p>
        </p:txBody>
      </p:sp>
      <p:sp>
        <p:nvSpPr>
          <p:cNvPr id="9" name="Shape 6"/>
          <p:cNvSpPr/>
          <p:nvPr/>
        </p:nvSpPr>
        <p:spPr>
          <a:xfrm>
            <a:off x="2722811" y="2687538"/>
            <a:ext cx="287982" cy="287982"/>
          </a:xfrm>
          <a:prstGeom prst="ellipse">
            <a:avLst/>
          </a:prstGeom>
          <a:ln w="9525">
            <a:solidFill>
              <a:srgbClr val="2F2A25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6211" y="2750939"/>
            <a:ext cx="161181" cy="161181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100685" y="2669679"/>
            <a:ext cx="157921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740" b="1" spc="44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12 BOLINHOS OU 6 HAMBÚRGUERES</a:t>
            </a:r>
            <a:endParaRPr lang="en-US" sz="740" dirty="0"/>
          </a:p>
        </p:txBody>
      </p:sp>
      <p:sp>
        <p:nvSpPr>
          <p:cNvPr id="12" name="Text 8"/>
          <p:cNvSpPr txBox="1"/>
          <p:nvPr/>
        </p:nvSpPr>
        <p:spPr>
          <a:xfrm>
            <a:off x="3100685" y="2898279"/>
            <a:ext cx="80992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spc="90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RENDIMENTO</a:t>
            </a:r>
            <a:endParaRPr lang="en-US" sz="640" dirty="0"/>
          </a:p>
        </p:txBody>
      </p:sp>
      <p:pic>
        <p:nvPicPr>
          <p:cNvPr id="13" name="Image 2" descr="/home/user/ebook-luq/versoes/VERSAO COM FOTOGRAFIAS/fotos/r1-2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615880" y="252115"/>
            <a:ext cx="2375892" cy="2375892"/>
          </a:xfrm>
          <a:prstGeom prst="ellipse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647998" y="3306663"/>
            <a:ext cx="2159943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647998" y="3101429"/>
            <a:ext cx="105891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60" b="1" spc="12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INGREDIENTES</a:t>
            </a:r>
            <a:endParaRPr lang="en-US" sz="760" dirty="0"/>
          </a:p>
        </p:txBody>
      </p:sp>
      <p:sp>
        <p:nvSpPr>
          <p:cNvPr id="16" name="Shape 11"/>
          <p:cNvSpPr/>
          <p:nvPr/>
        </p:nvSpPr>
        <p:spPr>
          <a:xfrm>
            <a:off x="665998" y="3482964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809998" y="3424089"/>
            <a:ext cx="1997942" cy="4798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500 g de abóbora cabotiá assada e amassada (veja o passo 1 do nhoque)</a:t>
            </a:r>
            <a:endParaRPr lang="en-US" sz="890" dirty="0"/>
          </a:p>
        </p:txBody>
      </p:sp>
      <p:sp>
        <p:nvSpPr>
          <p:cNvPr id="18" name="Shape 13"/>
          <p:cNvSpPr/>
          <p:nvPr/>
        </p:nvSpPr>
        <p:spPr>
          <a:xfrm>
            <a:off x="665998" y="4027972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809998" y="3969097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150 g de queijo coalho em cubinhos</a:t>
            </a:r>
            <a:endParaRPr lang="en-US" sz="890" dirty="0"/>
          </a:p>
        </p:txBody>
      </p:sp>
      <p:sp>
        <p:nvSpPr>
          <p:cNvPr id="20" name="Shape 15"/>
          <p:cNvSpPr/>
          <p:nvPr/>
        </p:nvSpPr>
        <p:spPr>
          <a:xfrm>
            <a:off x="665998" y="4409270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809923" y="4350395"/>
            <a:ext cx="38427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ovo</a:t>
            </a:r>
            <a:endParaRPr lang="en-US" sz="890" dirty="0"/>
          </a:p>
        </p:txBody>
      </p:sp>
      <p:sp>
        <p:nvSpPr>
          <p:cNvPr id="22" name="Shape 17"/>
          <p:cNvSpPr/>
          <p:nvPr/>
        </p:nvSpPr>
        <p:spPr>
          <a:xfrm>
            <a:off x="665998" y="4626857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809998" y="4567982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 colheres (sopa) de farinha de rosca (ou de aveia em flocos finos)</a:t>
            </a:r>
            <a:endParaRPr lang="en-US" sz="890" dirty="0"/>
          </a:p>
        </p:txBody>
      </p:sp>
      <p:sp>
        <p:nvSpPr>
          <p:cNvPr id="24" name="Shape 19"/>
          <p:cNvSpPr/>
          <p:nvPr/>
        </p:nvSpPr>
        <p:spPr>
          <a:xfrm>
            <a:off x="665998" y="5008154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5" name="Text 20"/>
          <p:cNvSpPr txBox="1"/>
          <p:nvPr/>
        </p:nvSpPr>
        <p:spPr>
          <a:xfrm>
            <a:off x="809923" y="4949279"/>
            <a:ext cx="181939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½ cebola picada bem miúda</a:t>
            </a:r>
            <a:endParaRPr lang="en-US" sz="890" dirty="0"/>
          </a:p>
        </p:txBody>
      </p:sp>
      <p:sp>
        <p:nvSpPr>
          <p:cNvPr id="26" name="Shape 21"/>
          <p:cNvSpPr/>
          <p:nvPr/>
        </p:nvSpPr>
        <p:spPr>
          <a:xfrm>
            <a:off x="665998" y="5225741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7" name="Text 22"/>
          <p:cNvSpPr txBox="1"/>
          <p:nvPr/>
        </p:nvSpPr>
        <p:spPr>
          <a:xfrm>
            <a:off x="809923" y="5166866"/>
            <a:ext cx="141801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dente de alho picado</a:t>
            </a:r>
            <a:endParaRPr lang="en-US" sz="890" dirty="0"/>
          </a:p>
        </p:txBody>
      </p:sp>
      <p:sp>
        <p:nvSpPr>
          <p:cNvPr id="28" name="Shape 23"/>
          <p:cNvSpPr/>
          <p:nvPr/>
        </p:nvSpPr>
        <p:spPr>
          <a:xfrm>
            <a:off x="665998" y="5443328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9" name="Text 24"/>
          <p:cNvSpPr txBox="1"/>
          <p:nvPr/>
        </p:nvSpPr>
        <p:spPr>
          <a:xfrm>
            <a:off x="809923" y="5384453"/>
            <a:ext cx="206042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colher (chá) de cominho em pó</a:t>
            </a:r>
            <a:endParaRPr lang="en-US" sz="890" dirty="0"/>
          </a:p>
        </p:txBody>
      </p:sp>
      <p:sp>
        <p:nvSpPr>
          <p:cNvPr id="30" name="Shape 25"/>
          <p:cNvSpPr/>
          <p:nvPr/>
        </p:nvSpPr>
        <p:spPr>
          <a:xfrm>
            <a:off x="665998" y="5660914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1" name="Text 26"/>
          <p:cNvSpPr txBox="1"/>
          <p:nvPr/>
        </p:nvSpPr>
        <p:spPr>
          <a:xfrm>
            <a:off x="809923" y="5602039"/>
            <a:ext cx="221827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colher (chá) de páprica defumada</a:t>
            </a:r>
            <a:endParaRPr lang="en-US" sz="890" dirty="0"/>
          </a:p>
        </p:txBody>
      </p:sp>
      <p:sp>
        <p:nvSpPr>
          <p:cNvPr id="32" name="Shape 27"/>
          <p:cNvSpPr/>
          <p:nvPr/>
        </p:nvSpPr>
        <p:spPr>
          <a:xfrm>
            <a:off x="665998" y="5878501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3" name="Text 28"/>
          <p:cNvSpPr txBox="1"/>
          <p:nvPr/>
        </p:nvSpPr>
        <p:spPr>
          <a:xfrm>
            <a:off x="809998" y="5819626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 colheres (sopa) de cheiro-verde picado</a:t>
            </a:r>
            <a:endParaRPr lang="en-US" sz="890" dirty="0"/>
          </a:p>
        </p:txBody>
      </p:sp>
      <p:sp>
        <p:nvSpPr>
          <p:cNvPr id="34" name="Shape 29"/>
          <p:cNvSpPr/>
          <p:nvPr/>
        </p:nvSpPr>
        <p:spPr>
          <a:xfrm>
            <a:off x="665998" y="6259799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5" name="Text 30"/>
          <p:cNvSpPr txBox="1"/>
          <p:nvPr/>
        </p:nvSpPr>
        <p:spPr>
          <a:xfrm>
            <a:off x="809923" y="6200924"/>
            <a:ext cx="189040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Sal, pimenta-do-reino e azeite</a:t>
            </a:r>
            <a:endParaRPr lang="en-US" sz="890" dirty="0"/>
          </a:p>
        </p:txBody>
      </p:sp>
      <p:sp>
        <p:nvSpPr>
          <p:cNvPr id="36" name="Shape 31"/>
          <p:cNvSpPr/>
          <p:nvPr/>
        </p:nvSpPr>
        <p:spPr>
          <a:xfrm>
            <a:off x="3131939" y="3306663"/>
            <a:ext cx="3779937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7" name="Text 32"/>
          <p:cNvSpPr txBox="1"/>
          <p:nvPr/>
        </p:nvSpPr>
        <p:spPr>
          <a:xfrm>
            <a:off x="3131939" y="3101429"/>
            <a:ext cx="141434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60" b="1" spc="12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MODO DE PREPARO</a:t>
            </a:r>
            <a:endParaRPr lang="en-US" sz="760" dirty="0"/>
          </a:p>
        </p:txBody>
      </p:sp>
      <p:sp>
        <p:nvSpPr>
          <p:cNvPr id="38" name="Shape 33"/>
          <p:cNvSpPr/>
          <p:nvPr/>
        </p:nvSpPr>
        <p:spPr>
          <a:xfrm>
            <a:off x="3131939" y="3425279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9" name="Text 34"/>
          <p:cNvSpPr txBox="1"/>
          <p:nvPr/>
        </p:nvSpPr>
        <p:spPr>
          <a:xfrm>
            <a:off x="3206651" y="3467546"/>
            <a:ext cx="14481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630" dirty="0"/>
          </a:p>
        </p:txBody>
      </p:sp>
      <p:sp>
        <p:nvSpPr>
          <p:cNvPr id="40" name="Text 35"/>
          <p:cNvSpPr txBox="1"/>
          <p:nvPr/>
        </p:nvSpPr>
        <p:spPr>
          <a:xfrm>
            <a:off x="3419773" y="3433614"/>
            <a:ext cx="3492103" cy="528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Refogue a cebola e o alho num fio de azeite até ficarem macios. Junte o cominho e a páprica e mexa por 30 segundos, só para despertar o aroma das especiarias.</a:t>
            </a:r>
            <a:endParaRPr lang="en-US" sz="930" dirty="0"/>
          </a:p>
        </p:txBody>
      </p:sp>
      <p:sp>
        <p:nvSpPr>
          <p:cNvPr id="41" name="Shape 36"/>
          <p:cNvSpPr/>
          <p:nvPr/>
        </p:nvSpPr>
        <p:spPr>
          <a:xfrm>
            <a:off x="3131939" y="4067919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2" name="Text 37"/>
          <p:cNvSpPr txBox="1"/>
          <p:nvPr/>
        </p:nvSpPr>
        <p:spPr>
          <a:xfrm>
            <a:off x="3198614" y="4110186"/>
            <a:ext cx="1607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630" dirty="0"/>
          </a:p>
        </p:txBody>
      </p:sp>
      <p:sp>
        <p:nvSpPr>
          <p:cNvPr id="43" name="Text 38"/>
          <p:cNvSpPr txBox="1"/>
          <p:nvPr/>
        </p:nvSpPr>
        <p:spPr>
          <a:xfrm>
            <a:off x="3419773" y="4076254"/>
            <a:ext cx="3492103" cy="528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Numa tigela, misture o purê de abóbora, o refogado, o ovo, a farinha de rosca e o cheiro-verde. Tempere com sal e pimenta. Por último, incorpore o queijo coalho.</a:t>
            </a:r>
            <a:endParaRPr lang="en-US" sz="930" dirty="0"/>
          </a:p>
        </p:txBody>
      </p:sp>
      <p:sp>
        <p:nvSpPr>
          <p:cNvPr id="44" name="Shape 39"/>
          <p:cNvSpPr/>
          <p:nvPr/>
        </p:nvSpPr>
        <p:spPr>
          <a:xfrm>
            <a:off x="3131939" y="4710559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5" name="Text 40"/>
          <p:cNvSpPr txBox="1"/>
          <p:nvPr/>
        </p:nvSpPr>
        <p:spPr>
          <a:xfrm>
            <a:off x="3198614" y="4752826"/>
            <a:ext cx="1607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630" dirty="0"/>
          </a:p>
        </p:txBody>
      </p:sp>
      <p:sp>
        <p:nvSpPr>
          <p:cNvPr id="46" name="Text 41"/>
          <p:cNvSpPr txBox="1"/>
          <p:nvPr/>
        </p:nvSpPr>
        <p:spPr>
          <a:xfrm>
            <a:off x="3419773" y="4718893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Cubra e leve à geladeira por 30 minutos. A massa firma e fica muito mais fácil de modelar.</a:t>
            </a:r>
            <a:endParaRPr lang="en-US" sz="930" dirty="0"/>
          </a:p>
        </p:txBody>
      </p:sp>
      <p:sp>
        <p:nvSpPr>
          <p:cNvPr id="47" name="Shape 42"/>
          <p:cNvSpPr/>
          <p:nvPr/>
        </p:nvSpPr>
        <p:spPr>
          <a:xfrm>
            <a:off x="3131939" y="5170140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8" name="Text 43"/>
          <p:cNvSpPr txBox="1"/>
          <p:nvPr/>
        </p:nvSpPr>
        <p:spPr>
          <a:xfrm>
            <a:off x="3194745" y="5212407"/>
            <a:ext cx="16847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630" dirty="0"/>
          </a:p>
        </p:txBody>
      </p:sp>
      <p:sp>
        <p:nvSpPr>
          <p:cNvPr id="49" name="Text 44"/>
          <p:cNvSpPr txBox="1"/>
          <p:nvPr/>
        </p:nvSpPr>
        <p:spPr>
          <a:xfrm>
            <a:off x="3419773" y="5178475"/>
            <a:ext cx="3492103" cy="528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 as mãos untadas, modele bolinhos ou discos de hambúrguer. Disponha numa assadeira com papel-manteiga e pincele azeite por cima.</a:t>
            </a:r>
            <a:endParaRPr lang="en-US" sz="930" dirty="0"/>
          </a:p>
        </p:txBody>
      </p:sp>
      <p:sp>
        <p:nvSpPr>
          <p:cNvPr id="50" name="Shape 45"/>
          <p:cNvSpPr/>
          <p:nvPr/>
        </p:nvSpPr>
        <p:spPr>
          <a:xfrm>
            <a:off x="3131939" y="5812780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51" name="Text 46"/>
          <p:cNvSpPr txBox="1"/>
          <p:nvPr/>
        </p:nvSpPr>
        <p:spPr>
          <a:xfrm>
            <a:off x="3198465" y="5855047"/>
            <a:ext cx="16103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630" dirty="0"/>
          </a:p>
        </p:txBody>
      </p:sp>
      <p:sp>
        <p:nvSpPr>
          <p:cNvPr id="52" name="Text 47"/>
          <p:cNvSpPr txBox="1"/>
          <p:nvPr/>
        </p:nvSpPr>
        <p:spPr>
          <a:xfrm>
            <a:off x="3419773" y="5821114"/>
            <a:ext cx="3492103" cy="7111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Asse a 200 °C por 25 a 30 minutos, virando na metade do tempo, até dourar. Para hambúrgueres, também dá para dourar numa frigideira bem quente, 4 minutos de cada lado.</a:t>
            </a:r>
            <a:endParaRPr lang="en-US" sz="930" dirty="0"/>
          </a:p>
        </p:txBody>
      </p:sp>
      <p:sp>
        <p:nvSpPr>
          <p:cNvPr id="53" name="Shape 48"/>
          <p:cNvSpPr/>
          <p:nvPr/>
        </p:nvSpPr>
        <p:spPr>
          <a:xfrm>
            <a:off x="647998" y="9026723"/>
            <a:ext cx="6263878" cy="873175"/>
          </a:xfrm>
          <a:prstGeom prst="roundRect">
            <a:avLst>
              <a:gd name="adj" fmla="val 12953"/>
            </a:avLst>
          </a:prstGeom>
          <a:solidFill>
            <a:srgbClr val="EEE6D8"/>
          </a:solidFill>
          <a:ln/>
        </p:spPr>
      </p:sp>
      <p:sp>
        <p:nvSpPr>
          <p:cNvPr id="54" name="Shape 49"/>
          <p:cNvSpPr/>
          <p:nvPr/>
        </p:nvSpPr>
        <p:spPr>
          <a:xfrm>
            <a:off x="827931" y="9188648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5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9340" y="9270057"/>
            <a:ext cx="197048" cy="197048"/>
          </a:xfrm>
          <a:prstGeom prst="rect">
            <a:avLst/>
          </a:prstGeom>
        </p:spPr>
      </p:pic>
      <p:sp>
        <p:nvSpPr>
          <p:cNvPr id="56" name="Text 50"/>
          <p:cNvSpPr txBox="1"/>
          <p:nvPr/>
        </p:nvSpPr>
        <p:spPr>
          <a:xfrm>
            <a:off x="1331714" y="9188648"/>
            <a:ext cx="131733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12" kern="0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TOQUE DO MAMEDE</a:t>
            </a:r>
            <a:endParaRPr lang="en-US" sz="700" dirty="0"/>
          </a:p>
        </p:txBody>
      </p:sp>
      <p:sp>
        <p:nvSpPr>
          <p:cNvPr id="57" name="Text 51"/>
          <p:cNvSpPr txBox="1"/>
          <p:nvPr/>
        </p:nvSpPr>
        <p:spPr>
          <a:xfrm>
            <a:off x="1331714" y="9329291"/>
            <a:ext cx="5400229" cy="4138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150" i="1" dirty="0">
                <a:solidFill>
                  <a:srgbClr val="2F2A2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O queijo coalho derrete só em parte e cria um coração cremoso, com pontos tostados por fora. Sirva com um molho de iogurte, limão e hortelã.</a:t>
            </a:r>
            <a:endParaRPr lang="en-US" sz="1150" dirty="0"/>
          </a:p>
        </p:txBody>
      </p:sp>
      <p:sp>
        <p:nvSpPr>
          <p:cNvPr id="58" name="Shape 52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59" name="Text 53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60" name="Text 54"/>
          <p:cNvSpPr txBox="1"/>
          <p:nvPr/>
        </p:nvSpPr>
        <p:spPr>
          <a:xfrm>
            <a:off x="6780461" y="10236845"/>
            <a:ext cx="24571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08</a:t>
            </a:r>
            <a:endParaRPr lang="en-US" sz="63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611981"/>
            <a:ext cx="191307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RECEITA 1.3 · O LADO DOCE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759023"/>
            <a:ext cx="4031903" cy="11555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500" dirty="0">
                <a:solidFill>
                  <a:srgbClr val="4E5B38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Crepúsculo: doce de abóbora cremoso de colher com coco e raspas de laranja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647998" y="1926134"/>
            <a:ext cx="23717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90"/>
              </a:lnSpc>
              <a:buNone/>
            </a:pPr>
            <a:r>
              <a:rPr lang="en-US" sz="1300" i="1" dirty="0">
                <a:solidFill>
                  <a:srgbClr val="C255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uma sobremesa de memória afetiva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7998" y="2320528"/>
            <a:ext cx="287982" cy="287982"/>
          </a:xfrm>
          <a:prstGeom prst="ellipse">
            <a:avLst/>
          </a:prstGeom>
          <a:ln w="9525">
            <a:solidFill>
              <a:srgbClr val="2F2A2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398" y="2383929"/>
            <a:ext cx="161181" cy="16118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25872" y="2340025"/>
            <a:ext cx="34781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740" b="1" spc="44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1H10</a:t>
            </a:r>
            <a:endParaRPr lang="en-US" sz="740" dirty="0"/>
          </a:p>
        </p:txBody>
      </p:sp>
      <p:sp>
        <p:nvSpPr>
          <p:cNvPr id="8" name="Text 5"/>
          <p:cNvSpPr txBox="1"/>
          <p:nvPr/>
        </p:nvSpPr>
        <p:spPr>
          <a:xfrm>
            <a:off x="1025872" y="2493615"/>
            <a:ext cx="47580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spc="90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TEMPO</a:t>
            </a:r>
            <a:endParaRPr lang="en-US" sz="640" dirty="0"/>
          </a:p>
        </p:txBody>
      </p:sp>
      <p:sp>
        <p:nvSpPr>
          <p:cNvPr id="9" name="Shape 6"/>
          <p:cNvSpPr/>
          <p:nvPr/>
        </p:nvSpPr>
        <p:spPr>
          <a:xfrm>
            <a:off x="1675358" y="2320528"/>
            <a:ext cx="287982" cy="287982"/>
          </a:xfrm>
          <a:prstGeom prst="ellipse">
            <a:avLst/>
          </a:prstGeom>
          <a:ln w="9525">
            <a:solidFill>
              <a:srgbClr val="2F2A25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8759" y="2383929"/>
            <a:ext cx="161181" cy="161181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053233" y="2340025"/>
            <a:ext cx="91454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740" b="1" spc="44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CERCA DE 1 KG</a:t>
            </a:r>
            <a:endParaRPr lang="en-US" sz="740" dirty="0"/>
          </a:p>
        </p:txBody>
      </p:sp>
      <p:sp>
        <p:nvSpPr>
          <p:cNvPr id="12" name="Text 8"/>
          <p:cNvSpPr txBox="1"/>
          <p:nvPr/>
        </p:nvSpPr>
        <p:spPr>
          <a:xfrm>
            <a:off x="2053233" y="2493615"/>
            <a:ext cx="80992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spc="90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RENDIMENTO</a:t>
            </a:r>
            <a:endParaRPr lang="en-US" sz="640" dirty="0"/>
          </a:p>
        </p:txBody>
      </p:sp>
      <p:pic>
        <p:nvPicPr>
          <p:cNvPr id="13" name="Image 2" descr="/home/user/ebook-luq/versoes/VERSAO COM FOTOGRAFIAS/fotos/r1-3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615880" y="252115"/>
            <a:ext cx="2375892" cy="2375892"/>
          </a:xfrm>
          <a:prstGeom prst="ellipse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647998" y="3157091"/>
            <a:ext cx="2159943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647998" y="2951857"/>
            <a:ext cx="105891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60" b="1" spc="12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INGREDIENTES</a:t>
            </a:r>
            <a:endParaRPr lang="en-US" sz="760" dirty="0"/>
          </a:p>
        </p:txBody>
      </p:sp>
      <p:sp>
        <p:nvSpPr>
          <p:cNvPr id="16" name="Shape 11"/>
          <p:cNvSpPr/>
          <p:nvPr/>
        </p:nvSpPr>
        <p:spPr>
          <a:xfrm>
            <a:off x="665998" y="3333391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809998" y="3274516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kg de polpa de abóbora cabotiá em cubos</a:t>
            </a:r>
            <a:endParaRPr lang="en-US" sz="890" dirty="0"/>
          </a:p>
        </p:txBody>
      </p:sp>
      <p:sp>
        <p:nvSpPr>
          <p:cNvPr id="18" name="Shape 13"/>
          <p:cNvSpPr/>
          <p:nvPr/>
        </p:nvSpPr>
        <p:spPr>
          <a:xfrm>
            <a:off x="665998" y="3714689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809923" y="3655814"/>
            <a:ext cx="102036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300 g de açúcar</a:t>
            </a:r>
            <a:endParaRPr lang="en-US" sz="890" dirty="0"/>
          </a:p>
        </p:txBody>
      </p:sp>
      <p:sp>
        <p:nvSpPr>
          <p:cNvPr id="20" name="Shape 15"/>
          <p:cNvSpPr/>
          <p:nvPr/>
        </p:nvSpPr>
        <p:spPr>
          <a:xfrm>
            <a:off x="665998" y="3932276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809923" y="3873401"/>
            <a:ext cx="108063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½ xícara de água</a:t>
            </a:r>
            <a:endParaRPr lang="en-US" sz="890" dirty="0"/>
          </a:p>
        </p:txBody>
      </p:sp>
      <p:sp>
        <p:nvSpPr>
          <p:cNvPr id="22" name="Shape 17"/>
          <p:cNvSpPr/>
          <p:nvPr/>
        </p:nvSpPr>
        <p:spPr>
          <a:xfrm>
            <a:off x="665998" y="4149862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809923" y="4090987"/>
            <a:ext cx="146518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200 ml de leite de coco</a:t>
            </a:r>
            <a:endParaRPr lang="en-US" sz="890" dirty="0"/>
          </a:p>
        </p:txBody>
      </p:sp>
      <p:sp>
        <p:nvSpPr>
          <p:cNvPr id="24" name="Shape 19"/>
          <p:cNvSpPr/>
          <p:nvPr/>
        </p:nvSpPr>
        <p:spPr>
          <a:xfrm>
            <a:off x="665998" y="4367449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5" name="Text 20"/>
          <p:cNvSpPr txBox="1"/>
          <p:nvPr/>
        </p:nvSpPr>
        <p:spPr>
          <a:xfrm>
            <a:off x="809923" y="4308574"/>
            <a:ext cx="122982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 g de coco ralado</a:t>
            </a:r>
            <a:endParaRPr lang="en-US" sz="890" dirty="0"/>
          </a:p>
        </p:txBody>
      </p:sp>
      <p:sp>
        <p:nvSpPr>
          <p:cNvPr id="26" name="Shape 21"/>
          <p:cNvSpPr/>
          <p:nvPr/>
        </p:nvSpPr>
        <p:spPr>
          <a:xfrm>
            <a:off x="665998" y="4585036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7" name="Text 22"/>
          <p:cNvSpPr txBox="1"/>
          <p:nvPr/>
        </p:nvSpPr>
        <p:spPr>
          <a:xfrm>
            <a:off x="809923" y="4526161"/>
            <a:ext cx="218644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pau de canela e 3 cravos-da-índia</a:t>
            </a:r>
            <a:endParaRPr lang="en-US" sz="890" dirty="0"/>
          </a:p>
        </p:txBody>
      </p:sp>
      <p:sp>
        <p:nvSpPr>
          <p:cNvPr id="28" name="Shape 23"/>
          <p:cNvSpPr/>
          <p:nvPr/>
        </p:nvSpPr>
        <p:spPr>
          <a:xfrm>
            <a:off x="665998" y="4802623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9" name="Text 24"/>
          <p:cNvSpPr txBox="1"/>
          <p:nvPr/>
        </p:nvSpPr>
        <p:spPr>
          <a:xfrm>
            <a:off x="809923" y="4743748"/>
            <a:ext cx="118014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Raspas de 1 laranja</a:t>
            </a:r>
            <a:endParaRPr lang="en-US" sz="890" dirty="0"/>
          </a:p>
        </p:txBody>
      </p:sp>
      <p:sp>
        <p:nvSpPr>
          <p:cNvPr id="30" name="Shape 25"/>
          <p:cNvSpPr/>
          <p:nvPr/>
        </p:nvSpPr>
        <p:spPr>
          <a:xfrm>
            <a:off x="665998" y="5020209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1" name="Text 26"/>
          <p:cNvSpPr txBox="1"/>
          <p:nvPr/>
        </p:nvSpPr>
        <p:spPr>
          <a:xfrm>
            <a:off x="809923" y="4961334"/>
            <a:ext cx="90041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pitada de sal</a:t>
            </a:r>
            <a:endParaRPr lang="en-US" sz="890" dirty="0"/>
          </a:p>
        </p:txBody>
      </p:sp>
      <p:sp>
        <p:nvSpPr>
          <p:cNvPr id="32" name="Shape 27"/>
          <p:cNvSpPr/>
          <p:nvPr/>
        </p:nvSpPr>
        <p:spPr>
          <a:xfrm>
            <a:off x="3131939" y="3157091"/>
            <a:ext cx="3779937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3131939" y="2951857"/>
            <a:ext cx="141434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60" b="1" spc="12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MODO DE PREPARO</a:t>
            </a:r>
            <a:endParaRPr lang="en-US" sz="760" dirty="0"/>
          </a:p>
        </p:txBody>
      </p:sp>
      <p:sp>
        <p:nvSpPr>
          <p:cNvPr id="34" name="Shape 29"/>
          <p:cNvSpPr/>
          <p:nvPr/>
        </p:nvSpPr>
        <p:spPr>
          <a:xfrm>
            <a:off x="3131939" y="3275707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5" name="Text 30"/>
          <p:cNvSpPr txBox="1"/>
          <p:nvPr/>
        </p:nvSpPr>
        <p:spPr>
          <a:xfrm>
            <a:off x="3206651" y="3317974"/>
            <a:ext cx="14481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630" dirty="0"/>
          </a:p>
        </p:txBody>
      </p:sp>
      <p:sp>
        <p:nvSpPr>
          <p:cNvPr id="36" name="Text 31"/>
          <p:cNvSpPr txBox="1"/>
          <p:nvPr/>
        </p:nvSpPr>
        <p:spPr>
          <a:xfrm>
            <a:off x="3419773" y="3284041"/>
            <a:ext cx="3492103" cy="528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Numa panela de fundo grosso, cozinhe a abóbora com a água, tampada, em fogo médio, até ficar bem macia (cerca de 15 minutos).</a:t>
            </a:r>
            <a:endParaRPr lang="en-US" sz="930" dirty="0"/>
          </a:p>
        </p:txBody>
      </p:sp>
      <p:sp>
        <p:nvSpPr>
          <p:cNvPr id="37" name="Shape 32"/>
          <p:cNvSpPr/>
          <p:nvPr/>
        </p:nvSpPr>
        <p:spPr>
          <a:xfrm>
            <a:off x="3131939" y="3918347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8" name="Text 33"/>
          <p:cNvSpPr txBox="1"/>
          <p:nvPr/>
        </p:nvSpPr>
        <p:spPr>
          <a:xfrm>
            <a:off x="3198614" y="3960614"/>
            <a:ext cx="1607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630" dirty="0"/>
          </a:p>
        </p:txBody>
      </p:sp>
      <p:sp>
        <p:nvSpPr>
          <p:cNvPr id="39" name="Text 34"/>
          <p:cNvSpPr txBox="1"/>
          <p:nvPr/>
        </p:nvSpPr>
        <p:spPr>
          <a:xfrm>
            <a:off x="3419773" y="3926681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Amasse a abóbora na própria panela. Junte o açúcar, a canela e os cravos.</a:t>
            </a:r>
            <a:endParaRPr lang="en-US" sz="930" dirty="0"/>
          </a:p>
        </p:txBody>
      </p:sp>
      <p:sp>
        <p:nvSpPr>
          <p:cNvPr id="40" name="Shape 35"/>
          <p:cNvSpPr/>
          <p:nvPr/>
        </p:nvSpPr>
        <p:spPr>
          <a:xfrm>
            <a:off x="3131939" y="4377928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1" name="Text 36"/>
          <p:cNvSpPr txBox="1"/>
          <p:nvPr/>
        </p:nvSpPr>
        <p:spPr>
          <a:xfrm>
            <a:off x="3198614" y="4420195"/>
            <a:ext cx="1607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630" dirty="0"/>
          </a:p>
        </p:txBody>
      </p:sp>
      <p:sp>
        <p:nvSpPr>
          <p:cNvPr id="42" name="Text 37"/>
          <p:cNvSpPr txBox="1"/>
          <p:nvPr/>
        </p:nvSpPr>
        <p:spPr>
          <a:xfrm>
            <a:off x="3419773" y="4386263"/>
            <a:ext cx="3492103" cy="7111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Cozinhe em fogo baixo, mexendo com frequência, até o doce começar a desgrudar do fundo da panela, por 30 a 40 minutos. Cuidado: ele espirra. Use uma colher de cabo longo.</a:t>
            </a:r>
            <a:endParaRPr lang="en-US" sz="930" dirty="0"/>
          </a:p>
        </p:txBody>
      </p:sp>
      <p:sp>
        <p:nvSpPr>
          <p:cNvPr id="43" name="Shape 38"/>
          <p:cNvSpPr/>
          <p:nvPr/>
        </p:nvSpPr>
        <p:spPr>
          <a:xfrm>
            <a:off x="3131939" y="5203627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4" name="Text 39"/>
          <p:cNvSpPr txBox="1"/>
          <p:nvPr/>
        </p:nvSpPr>
        <p:spPr>
          <a:xfrm>
            <a:off x="3194745" y="5245894"/>
            <a:ext cx="16847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630" dirty="0"/>
          </a:p>
        </p:txBody>
      </p:sp>
      <p:sp>
        <p:nvSpPr>
          <p:cNvPr id="45" name="Text 40"/>
          <p:cNvSpPr txBox="1"/>
          <p:nvPr/>
        </p:nvSpPr>
        <p:spPr>
          <a:xfrm>
            <a:off x="3419773" y="5211961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Acrescente o leite de coco e o coco ralado e cozinhe por mais 10 minutos, mexendo.</a:t>
            </a:r>
            <a:endParaRPr lang="en-US" sz="930" dirty="0"/>
          </a:p>
        </p:txBody>
      </p:sp>
      <p:sp>
        <p:nvSpPr>
          <p:cNvPr id="46" name="Shape 41"/>
          <p:cNvSpPr/>
          <p:nvPr/>
        </p:nvSpPr>
        <p:spPr>
          <a:xfrm>
            <a:off x="3131939" y="5663208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7" name="Text 42"/>
          <p:cNvSpPr txBox="1"/>
          <p:nvPr/>
        </p:nvSpPr>
        <p:spPr>
          <a:xfrm>
            <a:off x="3198465" y="5705475"/>
            <a:ext cx="16103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630" dirty="0"/>
          </a:p>
        </p:txBody>
      </p:sp>
      <p:sp>
        <p:nvSpPr>
          <p:cNvPr id="48" name="Text 43"/>
          <p:cNvSpPr txBox="1"/>
          <p:nvPr/>
        </p:nvSpPr>
        <p:spPr>
          <a:xfrm>
            <a:off x="3419773" y="5671542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Desligue o fogo, retire a canela e os cravos e só então junte as raspas de laranja e a pitada de sal.</a:t>
            </a:r>
            <a:endParaRPr lang="en-US" sz="930" dirty="0"/>
          </a:p>
        </p:txBody>
      </p:sp>
      <p:sp>
        <p:nvSpPr>
          <p:cNvPr id="49" name="Shape 44"/>
          <p:cNvSpPr/>
          <p:nvPr/>
        </p:nvSpPr>
        <p:spPr>
          <a:xfrm>
            <a:off x="3131939" y="6122789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50" name="Text 45"/>
          <p:cNvSpPr txBox="1"/>
          <p:nvPr/>
        </p:nvSpPr>
        <p:spPr>
          <a:xfrm>
            <a:off x="3196828" y="6165056"/>
            <a:ext cx="16445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</a:t>
            </a:r>
            <a:endParaRPr lang="en-US" sz="630" dirty="0"/>
          </a:p>
        </p:txBody>
      </p:sp>
      <p:sp>
        <p:nvSpPr>
          <p:cNvPr id="51" name="Text 46"/>
          <p:cNvSpPr txBox="1"/>
          <p:nvPr/>
        </p:nvSpPr>
        <p:spPr>
          <a:xfrm>
            <a:off x="3419773" y="6131123"/>
            <a:ext cx="3492103" cy="528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Ponto certo: ao passar a colher no fundo, o doce abre um caminho que demora a se fechar. Lembre que ele engrossa bastante ao esfriar.</a:t>
            </a:r>
            <a:endParaRPr lang="en-US" sz="930" dirty="0"/>
          </a:p>
        </p:txBody>
      </p:sp>
      <p:sp>
        <p:nvSpPr>
          <p:cNvPr id="52" name="Shape 47"/>
          <p:cNvSpPr/>
          <p:nvPr/>
        </p:nvSpPr>
        <p:spPr>
          <a:xfrm>
            <a:off x="647998" y="9026723"/>
            <a:ext cx="6263878" cy="873175"/>
          </a:xfrm>
          <a:prstGeom prst="roundRect">
            <a:avLst>
              <a:gd name="adj" fmla="val 12953"/>
            </a:avLst>
          </a:prstGeom>
          <a:solidFill>
            <a:srgbClr val="EEE6D8"/>
          </a:solidFill>
          <a:ln/>
        </p:spPr>
      </p:sp>
      <p:sp>
        <p:nvSpPr>
          <p:cNvPr id="53" name="Shape 48"/>
          <p:cNvSpPr/>
          <p:nvPr/>
        </p:nvSpPr>
        <p:spPr>
          <a:xfrm>
            <a:off x="827931" y="9188648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5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9340" y="9270057"/>
            <a:ext cx="197048" cy="197048"/>
          </a:xfrm>
          <a:prstGeom prst="rect">
            <a:avLst/>
          </a:prstGeom>
        </p:spPr>
      </p:pic>
      <p:sp>
        <p:nvSpPr>
          <p:cNvPr id="55" name="Text 49"/>
          <p:cNvSpPr txBox="1"/>
          <p:nvPr/>
        </p:nvSpPr>
        <p:spPr>
          <a:xfrm>
            <a:off x="1331714" y="9188648"/>
            <a:ext cx="131733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12" kern="0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TOQUE DO MAMEDE</a:t>
            </a:r>
            <a:endParaRPr lang="en-US" sz="700" dirty="0"/>
          </a:p>
        </p:txBody>
      </p:sp>
      <p:sp>
        <p:nvSpPr>
          <p:cNvPr id="56" name="Text 50"/>
          <p:cNvSpPr txBox="1"/>
          <p:nvPr/>
        </p:nvSpPr>
        <p:spPr>
          <a:xfrm>
            <a:off x="1331714" y="9329291"/>
            <a:ext cx="5400229" cy="4138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150" i="1" dirty="0">
                <a:solidFill>
                  <a:srgbClr val="2F2A2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Raspas de cítricos vão sempre no final, com o fogo desligado: o calor prolongado evapora os óleos aromáticos da casca. A pitada de sal não salga, ela faz o doce parecer mais doce e menos enjoativo.</a:t>
            </a:r>
            <a:endParaRPr lang="en-US" sz="1150" dirty="0"/>
          </a:p>
        </p:txBody>
      </p:sp>
      <p:sp>
        <p:nvSpPr>
          <p:cNvPr id="57" name="Shape 51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58" name="Text 52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59" name="Text 53"/>
          <p:cNvSpPr txBox="1"/>
          <p:nvPr/>
        </p:nvSpPr>
        <p:spPr>
          <a:xfrm>
            <a:off x="6782544" y="10236845"/>
            <a:ext cx="24363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09</a:t>
            </a:r>
            <a:endParaRPr lang="en-US" sz="63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611981"/>
            <a:ext cx="55602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800" b="1" spc="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PULO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713929"/>
            <a:ext cx="1548027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0"/>
              </a:lnSpc>
              <a:buNone/>
            </a:pPr>
            <a:r>
              <a:rPr lang="en-US" sz="3400" spc="-17" kern="0" dirty="0">
                <a:solidFill>
                  <a:srgbClr val="4E5B38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do chef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7998" y="1392436"/>
            <a:ext cx="467916" cy="11311"/>
          </a:xfrm>
          <a:prstGeom prst="rect">
            <a:avLst/>
          </a:prstGeom>
          <a:solidFill>
            <a:srgbClr val="2F2A2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7998" y="1574304"/>
            <a:ext cx="3104888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20"/>
              </a:lnSpc>
              <a:buNone/>
            </a:pPr>
            <a:r>
              <a:rPr lang="en-US" sz="1700" i="1" dirty="0">
                <a:solidFill>
                  <a:srgbClr val="C255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Nhoque de abóbora que vira chiclete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47998" y="2033587"/>
            <a:ext cx="2703909" cy="2983111"/>
          </a:xfrm>
          <a:prstGeom prst="roundRect">
            <a:avLst>
              <a:gd name="adj" fmla="val 1351"/>
            </a:avLst>
          </a:prstGeom>
          <a:solidFill>
            <a:srgbClr val="FBF8F3"/>
          </a:solidFill>
          <a:ln w="9525">
            <a:solidFill>
              <a:srgbClr val="DDD2C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37456" y="2223046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C2552D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865" y="2304455"/>
            <a:ext cx="197048" cy="19704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323231" y="2341066"/>
            <a:ext cx="61510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800" b="1" spc="11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ERRO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37456" y="2727871"/>
            <a:ext cx="2324993" cy="1307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Cozinhar a abóbora na água. Ela absorve líquido, a massa fica mole e a única saída parece ser jogar mais e mais farinha. O resultado é um nhoque pesado, borrachudo e com gosto de farinha, em vez de gosto de abóbora.</a:t>
            </a:r>
            <a:endParaRPr lang="en-US" sz="940" dirty="0"/>
          </a:p>
        </p:txBody>
      </p:sp>
      <p:sp>
        <p:nvSpPr>
          <p:cNvPr id="11" name="Shape 8"/>
          <p:cNvSpPr/>
          <p:nvPr/>
        </p:nvSpPr>
        <p:spPr>
          <a:xfrm>
            <a:off x="3531840" y="2033587"/>
            <a:ext cx="3380036" cy="2983111"/>
          </a:xfrm>
          <a:prstGeom prst="roundRect">
            <a:avLst>
              <a:gd name="adj" fmla="val 1110"/>
            </a:avLst>
          </a:prstGeom>
          <a:solidFill>
            <a:srgbClr val="EEE6D8"/>
          </a:solidFill>
          <a:ln/>
        </p:spPr>
      </p:sp>
      <p:sp>
        <p:nvSpPr>
          <p:cNvPr id="12" name="Shape 9"/>
          <p:cNvSpPr/>
          <p:nvPr/>
        </p:nvSpPr>
        <p:spPr>
          <a:xfrm>
            <a:off x="3711773" y="2213521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3182" y="2294930"/>
            <a:ext cx="197048" cy="197048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4197548" y="2331541"/>
            <a:ext cx="81036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800" b="1" spc="11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TÉCNICA</a:t>
            </a:r>
            <a:endParaRPr lang="en-US" sz="800" dirty="0"/>
          </a:p>
        </p:txBody>
      </p:sp>
      <p:sp>
        <p:nvSpPr>
          <p:cNvPr id="15" name="Text 11"/>
          <p:cNvSpPr txBox="1"/>
          <p:nvPr/>
        </p:nvSpPr>
        <p:spPr>
          <a:xfrm>
            <a:off x="3711773" y="2699296"/>
            <a:ext cx="133350" cy="1850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940" dirty="0"/>
          </a:p>
        </p:txBody>
      </p:sp>
      <p:sp>
        <p:nvSpPr>
          <p:cNvPr id="16" name="Text 12"/>
          <p:cNvSpPr txBox="1"/>
          <p:nvPr/>
        </p:nvSpPr>
        <p:spPr>
          <a:xfrm>
            <a:off x="3873774" y="2718346"/>
            <a:ext cx="2858169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Asse</a:t>
            </a:r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a abóbora em vez de cozinhar: a água evapora e o sabor concentra.</a:t>
            </a:r>
            <a:endParaRPr lang="en-US" sz="940" dirty="0"/>
          </a:p>
        </p:txBody>
      </p:sp>
      <p:sp>
        <p:nvSpPr>
          <p:cNvPr id="17" name="Text 13"/>
          <p:cNvSpPr txBox="1"/>
          <p:nvPr/>
        </p:nvSpPr>
        <p:spPr>
          <a:xfrm>
            <a:off x="3711773" y="3141166"/>
            <a:ext cx="133350" cy="1850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940" dirty="0"/>
          </a:p>
        </p:txBody>
      </p:sp>
      <p:sp>
        <p:nvSpPr>
          <p:cNvPr id="18" name="Text 14"/>
          <p:cNvSpPr txBox="1"/>
          <p:nvPr/>
        </p:nvSpPr>
        <p:spPr>
          <a:xfrm>
            <a:off x="3873774" y="3160216"/>
            <a:ext cx="2858169" cy="53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Deixe o vapor sair:</a:t>
            </a:r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espalhe o purê numa travessa e espere amornar antes de juntar a farinha.</a:t>
            </a:r>
            <a:endParaRPr lang="en-US" sz="940" dirty="0"/>
          </a:p>
        </p:txBody>
      </p:sp>
      <p:sp>
        <p:nvSpPr>
          <p:cNvPr id="19" name="Text 15"/>
          <p:cNvSpPr txBox="1"/>
          <p:nvPr/>
        </p:nvSpPr>
        <p:spPr>
          <a:xfrm>
            <a:off x="3711773" y="3768030"/>
            <a:ext cx="133350" cy="1850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940" dirty="0"/>
          </a:p>
        </p:txBody>
      </p:sp>
      <p:sp>
        <p:nvSpPr>
          <p:cNvPr id="20" name="Text 16"/>
          <p:cNvSpPr txBox="1"/>
          <p:nvPr/>
        </p:nvSpPr>
        <p:spPr>
          <a:xfrm>
            <a:off x="3873774" y="3787080"/>
            <a:ext cx="2858169" cy="53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Farinha aos poucos:</a:t>
            </a:r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pare assim que a massa deixar de grudar. Massa de nhoque é úmida mesmo.</a:t>
            </a:r>
            <a:endParaRPr lang="en-US" sz="940" dirty="0"/>
          </a:p>
        </p:txBody>
      </p:sp>
      <p:sp>
        <p:nvSpPr>
          <p:cNvPr id="21" name="Text 17"/>
          <p:cNvSpPr txBox="1"/>
          <p:nvPr/>
        </p:nvSpPr>
        <p:spPr>
          <a:xfrm>
            <a:off x="3711773" y="4394895"/>
            <a:ext cx="133350" cy="1850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940" dirty="0"/>
          </a:p>
        </p:txBody>
      </p:sp>
      <p:sp>
        <p:nvSpPr>
          <p:cNvPr id="22" name="Text 18"/>
          <p:cNvSpPr txBox="1"/>
          <p:nvPr/>
        </p:nvSpPr>
        <p:spPr>
          <a:xfrm>
            <a:off x="3873774" y="4413945"/>
            <a:ext cx="2858169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Não sove:</a:t>
            </a:r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misture só o necessário. Quanto mais você trabalha a massa, mais elástica ela fica.</a:t>
            </a:r>
            <a:endParaRPr lang="en-US" sz="940" dirty="0"/>
          </a:p>
        </p:txBody>
      </p:sp>
      <p:sp>
        <p:nvSpPr>
          <p:cNvPr id="23" name="Text 19"/>
          <p:cNvSpPr txBox="1"/>
          <p:nvPr/>
        </p:nvSpPr>
        <p:spPr>
          <a:xfrm>
            <a:off x="647998" y="5340697"/>
            <a:ext cx="64665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800" b="1" spc="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NÃO TEM</a:t>
            </a:r>
            <a:endParaRPr lang="en-US" sz="800" dirty="0"/>
          </a:p>
        </p:txBody>
      </p:sp>
      <p:sp>
        <p:nvSpPr>
          <p:cNvPr id="24" name="Text 20"/>
          <p:cNvSpPr txBox="1"/>
          <p:nvPr/>
        </p:nvSpPr>
        <p:spPr>
          <a:xfrm>
            <a:off x="647998" y="5452170"/>
            <a:ext cx="857399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700" spc="-14" kern="0" dirty="0">
                <a:solidFill>
                  <a:srgbClr val="4E5B38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isso?</a:t>
            </a:r>
            <a:endParaRPr lang="en-US" sz="2700" dirty="0"/>
          </a:p>
        </p:txBody>
      </p:sp>
      <p:sp>
        <p:nvSpPr>
          <p:cNvPr id="25" name="Shape 21"/>
          <p:cNvSpPr/>
          <p:nvPr/>
        </p:nvSpPr>
        <p:spPr>
          <a:xfrm>
            <a:off x="647998" y="6030516"/>
            <a:ext cx="467916" cy="11311"/>
          </a:xfrm>
          <a:prstGeom prst="rect">
            <a:avLst/>
          </a:prstGeom>
          <a:solidFill>
            <a:srgbClr val="2F2A25"/>
          </a:solidFill>
          <a:ln/>
        </p:spPr>
      </p:sp>
      <p:sp>
        <p:nvSpPr>
          <p:cNvPr id="26" name="Shape 22"/>
          <p:cNvSpPr/>
          <p:nvPr/>
        </p:nvSpPr>
        <p:spPr>
          <a:xfrm>
            <a:off x="647998" y="6257776"/>
            <a:ext cx="1655862" cy="291703"/>
          </a:xfrm>
          <a:prstGeom prst="roundRect">
            <a:avLst>
              <a:gd name="adj" fmla="val 77373"/>
            </a:avLst>
          </a:prstGeom>
          <a:solidFill>
            <a:srgbClr val="4E5B38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791914" y="6351240"/>
            <a:ext cx="99625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spc="109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 NÃO TIVER…</a:t>
            </a:r>
            <a:endParaRPr lang="en-US" sz="680" dirty="0"/>
          </a:p>
        </p:txBody>
      </p:sp>
      <p:sp>
        <p:nvSpPr>
          <p:cNvPr id="28" name="Shape 24"/>
          <p:cNvSpPr/>
          <p:nvPr/>
        </p:nvSpPr>
        <p:spPr>
          <a:xfrm>
            <a:off x="2303859" y="6257776"/>
            <a:ext cx="4608016" cy="291703"/>
          </a:xfrm>
          <a:prstGeom prst="rect">
            <a:avLst/>
          </a:prstGeom>
          <a:solidFill>
            <a:srgbClr val="4E5B38"/>
          </a:solidFill>
          <a:ln/>
        </p:spPr>
      </p:sp>
      <p:sp>
        <p:nvSpPr>
          <p:cNvPr id="29" name="Text 25"/>
          <p:cNvSpPr txBox="1"/>
          <p:nvPr/>
        </p:nvSpPr>
        <p:spPr>
          <a:xfrm>
            <a:off x="2447776" y="6351240"/>
            <a:ext cx="41999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spc="109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USE…</a:t>
            </a:r>
            <a:endParaRPr lang="en-US" sz="680" dirty="0"/>
          </a:p>
        </p:txBody>
      </p:sp>
      <p:sp>
        <p:nvSpPr>
          <p:cNvPr id="30" name="Shape 26"/>
          <p:cNvSpPr/>
          <p:nvPr/>
        </p:nvSpPr>
        <p:spPr>
          <a:xfrm>
            <a:off x="647998" y="7091511"/>
            <a:ext cx="1655862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791914" y="6642943"/>
            <a:ext cx="104864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4E5B38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Abóbora cabotiá</a:t>
            </a:r>
            <a:endParaRPr lang="en-US" sz="1000" dirty="0"/>
          </a:p>
        </p:txBody>
      </p:sp>
      <p:sp>
        <p:nvSpPr>
          <p:cNvPr id="32" name="Shape 28"/>
          <p:cNvSpPr/>
          <p:nvPr/>
        </p:nvSpPr>
        <p:spPr>
          <a:xfrm>
            <a:off x="2303859" y="7091511"/>
            <a:ext cx="4608016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2447859" y="6652468"/>
            <a:ext cx="4320017" cy="337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92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Abóbora-paulista ou moranga (têm mais água: asse por mais tempo e escorra o purê numa peneira) ou batata-doce.</a:t>
            </a:r>
            <a:endParaRPr lang="en-US" sz="920" dirty="0"/>
          </a:p>
        </p:txBody>
      </p:sp>
      <p:sp>
        <p:nvSpPr>
          <p:cNvPr id="34" name="Shape 30"/>
          <p:cNvSpPr/>
          <p:nvPr/>
        </p:nvSpPr>
        <p:spPr>
          <a:xfrm>
            <a:off x="647998" y="7638306"/>
            <a:ext cx="1655862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791914" y="7189738"/>
            <a:ext cx="125465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4E5B38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Manteiga de garrafa</a:t>
            </a:r>
            <a:endParaRPr lang="en-US" sz="1000" dirty="0"/>
          </a:p>
        </p:txBody>
      </p:sp>
      <p:sp>
        <p:nvSpPr>
          <p:cNvPr id="36" name="Shape 32"/>
          <p:cNvSpPr/>
          <p:nvPr/>
        </p:nvSpPr>
        <p:spPr>
          <a:xfrm>
            <a:off x="2303859" y="7638306"/>
            <a:ext cx="4608016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2447859" y="7199263"/>
            <a:ext cx="4320017" cy="337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92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Ghee ou manteiga comum com um fio de azeite (que evita que ela queime).</a:t>
            </a:r>
            <a:endParaRPr lang="en-US" sz="920" dirty="0"/>
          </a:p>
        </p:txBody>
      </p:sp>
      <p:sp>
        <p:nvSpPr>
          <p:cNvPr id="38" name="Shape 34"/>
          <p:cNvSpPr/>
          <p:nvPr/>
        </p:nvSpPr>
        <p:spPr>
          <a:xfrm>
            <a:off x="647998" y="8009930"/>
            <a:ext cx="1655862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791914" y="7736532"/>
            <a:ext cx="82257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4E5B38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Sálvia fresca</a:t>
            </a:r>
            <a:endParaRPr lang="en-US" sz="1000" dirty="0"/>
          </a:p>
        </p:txBody>
      </p:sp>
      <p:sp>
        <p:nvSpPr>
          <p:cNvPr id="40" name="Shape 36"/>
          <p:cNvSpPr/>
          <p:nvPr/>
        </p:nvSpPr>
        <p:spPr>
          <a:xfrm>
            <a:off x="2303859" y="8009930"/>
            <a:ext cx="4608016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2447776" y="7746057"/>
            <a:ext cx="177438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92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Alecrim ou tomilho frescos.</a:t>
            </a:r>
            <a:endParaRPr lang="en-US" sz="920" dirty="0"/>
          </a:p>
        </p:txBody>
      </p:sp>
      <p:sp>
        <p:nvSpPr>
          <p:cNvPr id="42" name="Shape 38"/>
          <p:cNvSpPr/>
          <p:nvPr/>
        </p:nvSpPr>
        <p:spPr>
          <a:xfrm>
            <a:off x="647998" y="8381554"/>
            <a:ext cx="1655862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791914" y="8108156"/>
            <a:ext cx="87868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4E5B38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Queijo coalho</a:t>
            </a:r>
            <a:endParaRPr lang="en-US" sz="1000" dirty="0"/>
          </a:p>
        </p:txBody>
      </p:sp>
      <p:sp>
        <p:nvSpPr>
          <p:cNvPr id="44" name="Shape 40"/>
          <p:cNvSpPr/>
          <p:nvPr/>
        </p:nvSpPr>
        <p:spPr>
          <a:xfrm>
            <a:off x="2303859" y="8381554"/>
            <a:ext cx="4608016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2447776" y="8117681"/>
            <a:ext cx="269700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92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Queijo meia-cura ou muçarela em cubos.</a:t>
            </a:r>
            <a:endParaRPr lang="en-US" sz="920" dirty="0"/>
          </a:p>
        </p:txBody>
      </p:sp>
      <p:sp>
        <p:nvSpPr>
          <p:cNvPr id="46" name="Shape 42"/>
          <p:cNvSpPr/>
          <p:nvPr/>
        </p:nvSpPr>
        <p:spPr>
          <a:xfrm>
            <a:off x="647998" y="8753177"/>
            <a:ext cx="1655862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791914" y="8479780"/>
            <a:ext cx="84832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4E5B38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Leite de coco</a:t>
            </a:r>
            <a:endParaRPr lang="en-US" sz="1000" dirty="0"/>
          </a:p>
        </p:txBody>
      </p:sp>
      <p:sp>
        <p:nvSpPr>
          <p:cNvPr id="48" name="Shape 44"/>
          <p:cNvSpPr/>
          <p:nvPr/>
        </p:nvSpPr>
        <p:spPr>
          <a:xfrm>
            <a:off x="2303859" y="8753177"/>
            <a:ext cx="4608016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2447776" y="8489305"/>
            <a:ext cx="389215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92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200 ml de leite com 2 colheres (sopa) a mais de coco ralado.</a:t>
            </a:r>
            <a:endParaRPr lang="en-US" sz="920" dirty="0"/>
          </a:p>
        </p:txBody>
      </p:sp>
      <p:sp>
        <p:nvSpPr>
          <p:cNvPr id="50" name="Shape 46"/>
          <p:cNvSpPr/>
          <p:nvPr/>
        </p:nvSpPr>
        <p:spPr>
          <a:xfrm>
            <a:off x="647998" y="9124801"/>
            <a:ext cx="1655862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791914" y="8851404"/>
            <a:ext cx="54128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4E5B38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Laranja</a:t>
            </a:r>
            <a:endParaRPr lang="en-US" sz="1000" dirty="0"/>
          </a:p>
        </p:txBody>
      </p:sp>
      <p:sp>
        <p:nvSpPr>
          <p:cNvPr id="52" name="Shape 48"/>
          <p:cNvSpPr/>
          <p:nvPr/>
        </p:nvSpPr>
        <p:spPr>
          <a:xfrm>
            <a:off x="2303859" y="9124801"/>
            <a:ext cx="4608016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2447776" y="8860929"/>
            <a:ext cx="402033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92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Tangerina, ou metade da quantidade de raspas de limão-taiti.</a:t>
            </a:r>
            <a:endParaRPr lang="en-US" sz="920" dirty="0"/>
          </a:p>
        </p:txBody>
      </p:sp>
      <p:sp>
        <p:nvSpPr>
          <p:cNvPr id="54" name="Shape 50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56" name="Text 52"/>
          <p:cNvSpPr txBox="1"/>
          <p:nvPr/>
        </p:nvSpPr>
        <p:spPr>
          <a:xfrm>
            <a:off x="6802189" y="10236845"/>
            <a:ext cx="22398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</a:t>
            </a:r>
            <a:endParaRPr lang="en-US" sz="63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827931"/>
            <a:ext cx="77256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800" b="1" spc="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APROVEITA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929878"/>
            <a:ext cx="2695004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0"/>
              </a:lnSpc>
              <a:buNone/>
            </a:pPr>
            <a:r>
              <a:rPr lang="en-US" sz="3400" spc="-17" kern="0" dirty="0">
                <a:solidFill>
                  <a:srgbClr val="4E5B38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isso também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7998" y="1608386"/>
            <a:ext cx="467916" cy="11311"/>
          </a:xfrm>
          <a:prstGeom prst="rect">
            <a:avLst/>
          </a:prstGeom>
          <a:solidFill>
            <a:srgbClr val="2F2A2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7998" y="1854696"/>
            <a:ext cx="424286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2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Cascas, talos, ramas e aparas: o que ia para o lixo vira sabor.</a:t>
            </a:r>
            <a:endParaRPr lang="en-US" sz="1020" dirty="0"/>
          </a:p>
        </p:txBody>
      </p:sp>
      <p:sp>
        <p:nvSpPr>
          <p:cNvPr id="6" name="Shape 4"/>
          <p:cNvSpPr/>
          <p:nvPr/>
        </p:nvSpPr>
        <p:spPr>
          <a:xfrm>
            <a:off x="647998" y="2258764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9407" y="2340173"/>
            <a:ext cx="197048" cy="19704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169789" y="2258764"/>
            <a:ext cx="273050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en-US" sz="10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Casca: chips crocantes temperados</a:t>
            </a:r>
            <a:endParaRPr lang="en-US" sz="1060" dirty="0"/>
          </a:p>
        </p:txBody>
      </p:sp>
      <p:sp>
        <p:nvSpPr>
          <p:cNvPr id="9" name="Text 6"/>
          <p:cNvSpPr txBox="1"/>
          <p:nvPr/>
        </p:nvSpPr>
        <p:spPr>
          <a:xfrm>
            <a:off x="1169789" y="2492425"/>
            <a:ext cx="3366195" cy="1148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96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Quando a receita pedir abóbora descascada, tire a casca em tiras finas com um descascador de legumes. Misture com um fio de azeite, sal e páprica e espalhe sem amontoar. Leve à airfryer a 180 °C por 8 a 12 minutos, chacoalhando na metade, ou ao forno a 160 °C por 20 a 25 minutos. Elas ficam crocantes ao esfriar.</a:t>
            </a:r>
            <a:endParaRPr lang="en-US" sz="960" dirty="0"/>
          </a:p>
        </p:txBody>
      </p:sp>
      <p:sp>
        <p:nvSpPr>
          <p:cNvPr id="10" name="Shape 7"/>
          <p:cNvSpPr/>
          <p:nvPr/>
        </p:nvSpPr>
        <p:spPr>
          <a:xfrm>
            <a:off x="647998" y="3873401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407" y="3954810"/>
            <a:ext cx="197048" cy="19704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169789" y="3873401"/>
            <a:ext cx="343276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en-US" sz="10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Sementes: snack crocante com páprica e sal</a:t>
            </a:r>
            <a:endParaRPr lang="en-US" sz="1060" dirty="0"/>
          </a:p>
        </p:txBody>
      </p:sp>
      <p:sp>
        <p:nvSpPr>
          <p:cNvPr id="13" name="Text 9"/>
          <p:cNvSpPr txBox="1"/>
          <p:nvPr/>
        </p:nvSpPr>
        <p:spPr>
          <a:xfrm>
            <a:off x="1169789" y="4107061"/>
            <a:ext cx="3366195" cy="1148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96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Lave as sementes numa peneira, separando as fibras, e seque muito bem com um pano. Tempere com um fio de azeite, sal e páprica defumada e asse a 160 °C por 20 a 25 minutos, mexendo de vez em quando, até dourarem e estalarem. Use como petisco ou para dar crocância a saladas, sopas e ao próprio nhoque.</a:t>
            </a:r>
            <a:endParaRPr lang="en-US" sz="960" dirty="0"/>
          </a:p>
        </p:txBody>
      </p:sp>
      <p:sp>
        <p:nvSpPr>
          <p:cNvPr id="14" name="Shape 10"/>
          <p:cNvSpPr/>
          <p:nvPr/>
        </p:nvSpPr>
        <p:spPr>
          <a:xfrm>
            <a:off x="4895999" y="0"/>
            <a:ext cx="2663875" cy="10691961"/>
          </a:xfrm>
          <a:prstGeom prst="rect">
            <a:avLst/>
          </a:prstGeom>
          <a:solidFill>
            <a:srgbClr val="EEE6D8"/>
          </a:solidFill>
          <a:ln/>
        </p:spPr>
      </p:sp>
      <p:pic>
        <p:nvPicPr>
          <p:cNvPr id="15" name="Image 2" descr="/home/user/ebook-luq/versoes/VERSAO COM FOTOGRAFIAS/fotos/aproveita1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392067" y="791914"/>
            <a:ext cx="2735907" cy="2735907"/>
          </a:xfrm>
          <a:prstGeom prst="ellipse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4895999" y="8459986"/>
            <a:ext cx="2663875" cy="2231975"/>
          </a:xfrm>
          <a:prstGeom prst="rect">
            <a:avLst/>
          </a:prstGeom>
          <a:solidFill>
            <a:srgbClr val="4E5B38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3904" y="9341941"/>
            <a:ext cx="467916" cy="467916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647998" y="10133856"/>
            <a:ext cx="3600004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20" name="Text 14"/>
          <p:cNvSpPr txBox="1"/>
          <p:nvPr/>
        </p:nvSpPr>
        <p:spPr>
          <a:xfrm>
            <a:off x="4161532" y="10236845"/>
            <a:ext cx="20076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11</a:t>
            </a:r>
            <a:endParaRPr lang="en-US" sz="63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755898"/>
            <a:ext cx="78953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800" b="1" spc="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CAPÍTULO 2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838795"/>
            <a:ext cx="3527971" cy="1232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80"/>
              </a:lnSpc>
              <a:buNone/>
            </a:pPr>
            <a:r>
              <a:rPr lang="en-US" sz="4000" spc="-20" kern="0" dirty="0">
                <a:solidFill>
                  <a:srgbClr val="C2552D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Banana-da-Terra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47998" y="2132112"/>
            <a:ext cx="467916" cy="11311"/>
          </a:xfrm>
          <a:prstGeom prst="rect">
            <a:avLst/>
          </a:prstGeom>
          <a:solidFill>
            <a:srgbClr val="2F2A2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7998" y="2287488"/>
            <a:ext cx="169404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400" i="1" dirty="0">
                <a:solidFill>
                  <a:srgbClr val="6B645B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ou banana-prata firme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7998" y="2715071"/>
            <a:ext cx="3527971" cy="585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2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ingrediente nacional por excelência. Transita entre o salgado e o doce e leva sofisticação ao prato sem pesar no bolso.</a:t>
            </a:r>
            <a:endParaRPr lang="en-US" sz="1020" dirty="0"/>
          </a:p>
        </p:txBody>
      </p:sp>
      <p:pic>
        <p:nvPicPr>
          <p:cNvPr id="7" name="Image 0" descr="/home/user/ebook-luq/versoes/VERSAO COM FOTOGRAFIAS/fotos/cap2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823966" y="396032"/>
            <a:ext cx="3311872" cy="3311872"/>
          </a:xfrm>
          <a:prstGeom prst="ellipse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47998" y="3779937"/>
            <a:ext cx="108663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INGREDIENTE</a:t>
            </a:r>
            <a:endParaRPr lang="en-US" sz="700" dirty="0"/>
          </a:p>
        </p:txBody>
      </p:sp>
      <p:sp>
        <p:nvSpPr>
          <p:cNvPr id="9" name="Text 6"/>
          <p:cNvSpPr txBox="1"/>
          <p:nvPr/>
        </p:nvSpPr>
        <p:spPr>
          <a:xfrm>
            <a:off x="647998" y="4003179"/>
            <a:ext cx="6263878" cy="3876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9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banana-da-terra é uma banana de cozinhar. Crua, ela é dura e pouco agradável; no fogo, vira outra coisa: macia, caramelizada, cheia de sabor.</a:t>
            </a:r>
            <a:endParaRPr lang="en-US" sz="990" dirty="0"/>
          </a:p>
        </p:txBody>
      </p:sp>
      <p:sp>
        <p:nvSpPr>
          <p:cNvPr id="10" name="Text 7"/>
          <p:cNvSpPr txBox="1"/>
          <p:nvPr/>
        </p:nvSpPr>
        <p:spPr>
          <a:xfrm>
            <a:off x="647998" y="4529882"/>
            <a:ext cx="6263878" cy="6039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9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segredo está no estágio de maturação. Verde, ela é rica em amido e se comporta quase como uma batata. Amarela com pintinhas pretas, fica no ponto mais versátil: doce, mas firme. Com a casca quase toda preta, está doce e macia, perfeita para purês e sobremesas.</a:t>
            </a:r>
            <a:endParaRPr lang="en-US" sz="990" dirty="0"/>
          </a:p>
        </p:txBody>
      </p:sp>
      <p:sp>
        <p:nvSpPr>
          <p:cNvPr id="11" name="Text 8"/>
          <p:cNvSpPr txBox="1"/>
          <p:nvPr/>
        </p:nvSpPr>
        <p:spPr>
          <a:xfrm>
            <a:off x="647998" y="5272832"/>
            <a:ext cx="6263878" cy="3876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9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Aprender a ler a casca é aprender a escolher o que fazer com ela. E, no fim, a própria casca ainda vira recheio.</a:t>
            </a:r>
            <a:endParaRPr lang="en-US" sz="990" dirty="0"/>
          </a:p>
        </p:txBody>
      </p:sp>
      <p:sp>
        <p:nvSpPr>
          <p:cNvPr id="12" name="Text 9"/>
          <p:cNvSpPr txBox="1"/>
          <p:nvPr/>
        </p:nvSpPr>
        <p:spPr>
          <a:xfrm>
            <a:off x="647998" y="5892701"/>
            <a:ext cx="16477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AS 3 TRANSFORMAÇÕES</a:t>
            </a:r>
            <a:endParaRPr lang="en-US" sz="700" dirty="0"/>
          </a:p>
        </p:txBody>
      </p:sp>
      <p:sp>
        <p:nvSpPr>
          <p:cNvPr id="13" name="Shape 10"/>
          <p:cNvSpPr/>
          <p:nvPr/>
        </p:nvSpPr>
        <p:spPr>
          <a:xfrm>
            <a:off x="647998" y="6748909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47998" y="6287393"/>
            <a:ext cx="251966" cy="251966"/>
          </a:xfrm>
          <a:prstGeom prst="ellipse">
            <a:avLst/>
          </a:prstGeom>
          <a:solidFill>
            <a:srgbClr val="C2552D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28514" y="6360914"/>
            <a:ext cx="20508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</a:t>
            </a:r>
            <a:endParaRPr lang="en-US" sz="680" dirty="0"/>
          </a:p>
        </p:txBody>
      </p:sp>
      <p:sp>
        <p:nvSpPr>
          <p:cNvPr id="16" name="Text 13"/>
          <p:cNvSpPr txBox="1"/>
          <p:nvPr/>
        </p:nvSpPr>
        <p:spPr>
          <a:xfrm>
            <a:off x="1025872" y="6202561"/>
            <a:ext cx="156202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b="1" spc="115" kern="0" dirty="0">
                <a:solidFill>
                  <a:srgbClr val="C255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RÁPIDA DE FRIGIDEIRA</a:t>
            </a:r>
            <a:endParaRPr lang="en-US" sz="640" dirty="0"/>
          </a:p>
        </p:txBody>
      </p:sp>
      <p:sp>
        <p:nvSpPr>
          <p:cNvPr id="17" name="Text 14"/>
          <p:cNvSpPr txBox="1"/>
          <p:nvPr/>
        </p:nvSpPr>
        <p:spPr>
          <a:xfrm>
            <a:off x="1025872" y="6319391"/>
            <a:ext cx="431988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Moqueca expressa de frigideira com banana, leite de coco e pimenta </a:t>
            </a:r>
            <a:pPr algn="l" indent="0" marL="0">
              <a:lnSpc>
                <a:spcPts val="1250"/>
              </a:lnSpc>
              <a:buNone/>
            </a:pPr>
            <a:r>
              <a:rPr lang="en-US" sz="1000" i="1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(sem peixe, mas cheia de sabor)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5471666" y="6454062"/>
            <a:ext cx="1062335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19" name="Text 16"/>
          <p:cNvSpPr txBox="1"/>
          <p:nvPr/>
        </p:nvSpPr>
        <p:spPr>
          <a:xfrm>
            <a:off x="6681936" y="6346627"/>
            <a:ext cx="22993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8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14</a:t>
            </a:r>
            <a:endParaRPr lang="en-US" sz="860" dirty="0"/>
          </a:p>
        </p:txBody>
      </p:sp>
      <p:sp>
        <p:nvSpPr>
          <p:cNvPr id="20" name="Shape 17"/>
          <p:cNvSpPr/>
          <p:nvPr/>
        </p:nvSpPr>
        <p:spPr>
          <a:xfrm>
            <a:off x="647998" y="7410450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47998" y="6948934"/>
            <a:ext cx="251966" cy="251966"/>
          </a:xfrm>
          <a:prstGeom prst="ellipse">
            <a:avLst/>
          </a:prstGeom>
          <a:solidFill>
            <a:srgbClr val="C2552D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719882" y="7022455"/>
            <a:ext cx="22234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680" dirty="0"/>
          </a:p>
        </p:txBody>
      </p:sp>
      <p:sp>
        <p:nvSpPr>
          <p:cNvPr id="23" name="Text 20"/>
          <p:cNvSpPr txBox="1"/>
          <p:nvPr/>
        </p:nvSpPr>
        <p:spPr>
          <a:xfrm>
            <a:off x="1025872" y="6864102"/>
            <a:ext cx="177688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b="1" spc="115" kern="0" dirty="0">
                <a:solidFill>
                  <a:srgbClr val="C255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TEXTURA SURPREENDENTE</a:t>
            </a:r>
            <a:endParaRPr lang="en-US" sz="640" dirty="0"/>
          </a:p>
        </p:txBody>
      </p:sp>
      <p:sp>
        <p:nvSpPr>
          <p:cNvPr id="24" name="Text 21"/>
          <p:cNvSpPr txBox="1"/>
          <p:nvPr/>
        </p:nvSpPr>
        <p:spPr>
          <a:xfrm>
            <a:off x="1025872" y="6980932"/>
            <a:ext cx="431988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Purê aveludado de banana grelhada com noz-moscada </a:t>
            </a:r>
            <a:pPr algn="l" indent="0" marL="0">
              <a:lnSpc>
                <a:spcPts val="1250"/>
              </a:lnSpc>
              <a:buNone/>
            </a:pPr>
            <a:r>
              <a:rPr lang="en-US" sz="1000" i="1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(para acompanhar carnes ou legumes assados)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5471666" y="7115603"/>
            <a:ext cx="1062335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26" name="Text 23"/>
          <p:cNvSpPr txBox="1"/>
          <p:nvPr/>
        </p:nvSpPr>
        <p:spPr>
          <a:xfrm>
            <a:off x="6692205" y="7008168"/>
            <a:ext cx="21967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8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15</a:t>
            </a:r>
            <a:endParaRPr lang="en-US" sz="860" dirty="0"/>
          </a:p>
        </p:txBody>
      </p:sp>
      <p:sp>
        <p:nvSpPr>
          <p:cNvPr id="27" name="Shape 24"/>
          <p:cNvSpPr/>
          <p:nvPr/>
        </p:nvSpPr>
        <p:spPr>
          <a:xfrm>
            <a:off x="647998" y="8071991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47998" y="7610475"/>
            <a:ext cx="251966" cy="251966"/>
          </a:xfrm>
          <a:prstGeom prst="ellipse">
            <a:avLst/>
          </a:prstGeom>
          <a:solidFill>
            <a:srgbClr val="C2552D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720328" y="7683996"/>
            <a:ext cx="22160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680" dirty="0"/>
          </a:p>
        </p:txBody>
      </p:sp>
      <p:sp>
        <p:nvSpPr>
          <p:cNvPr id="30" name="Text 27"/>
          <p:cNvSpPr txBox="1"/>
          <p:nvPr/>
        </p:nvSpPr>
        <p:spPr>
          <a:xfrm>
            <a:off x="1025872" y="7525643"/>
            <a:ext cx="145101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b="1" spc="115" kern="0" dirty="0">
                <a:solidFill>
                  <a:srgbClr val="C255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SOBREMESA DE CHEF</a:t>
            </a:r>
            <a:endParaRPr lang="en-US" sz="640" dirty="0"/>
          </a:p>
        </p:txBody>
      </p:sp>
      <p:sp>
        <p:nvSpPr>
          <p:cNvPr id="31" name="Text 28"/>
          <p:cNvSpPr txBox="1"/>
          <p:nvPr/>
        </p:nvSpPr>
        <p:spPr>
          <a:xfrm>
            <a:off x="1025872" y="7642473"/>
            <a:ext cx="431988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Bananas flambadas no rum ou na cachaça com crosta de açúcar mascavo e canela </a:t>
            </a:r>
            <a:pPr algn="l" indent="0" marL="0">
              <a:lnSpc>
                <a:spcPts val="1250"/>
              </a:lnSpc>
              <a:buNone/>
            </a:pPr>
            <a:r>
              <a:rPr lang="en-US" sz="1000" i="1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(a sobremesa de restaurante feita em casa)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5471666" y="7777144"/>
            <a:ext cx="1062335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33" name="Text 30"/>
          <p:cNvSpPr txBox="1"/>
          <p:nvPr/>
        </p:nvSpPr>
        <p:spPr>
          <a:xfrm>
            <a:off x="6687592" y="7669709"/>
            <a:ext cx="22428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8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16</a:t>
            </a:r>
            <a:endParaRPr lang="en-US" sz="860" dirty="0"/>
          </a:p>
        </p:txBody>
      </p:sp>
      <p:sp>
        <p:nvSpPr>
          <p:cNvPr id="34" name="Shape 31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36" name="Text 33"/>
          <p:cNvSpPr txBox="1"/>
          <p:nvPr/>
        </p:nvSpPr>
        <p:spPr>
          <a:xfrm>
            <a:off x="6809333" y="10236845"/>
            <a:ext cx="21684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12</a:t>
            </a:r>
            <a:endParaRPr lang="en-US" sz="63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611981"/>
            <a:ext cx="69309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800" b="1" spc="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ANTES DA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713929"/>
            <a:ext cx="141251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0"/>
              </a:lnSpc>
              <a:buNone/>
            </a:pPr>
            <a:r>
              <a:rPr lang="en-US" sz="3400" spc="-17" kern="0" dirty="0">
                <a:solidFill>
                  <a:srgbClr val="4E5B38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panela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7998" y="1392436"/>
            <a:ext cx="467916" cy="11311"/>
          </a:xfrm>
          <a:prstGeom prst="rect">
            <a:avLst/>
          </a:prstGeom>
          <a:solidFill>
            <a:srgbClr val="2F2A2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7998" y="1638746"/>
            <a:ext cx="4499967" cy="378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2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Escolher bem, guardar direito e cortar do jeito certo: metade do prato se resolve aqui.</a:t>
            </a:r>
            <a:endParaRPr lang="en-US" sz="1020" dirty="0"/>
          </a:p>
        </p:txBody>
      </p:sp>
      <p:sp>
        <p:nvSpPr>
          <p:cNvPr id="6" name="Shape 4"/>
          <p:cNvSpPr/>
          <p:nvPr/>
        </p:nvSpPr>
        <p:spPr>
          <a:xfrm>
            <a:off x="647998" y="2249984"/>
            <a:ext cx="3041898" cy="2930128"/>
          </a:xfrm>
          <a:prstGeom prst="roundRect">
            <a:avLst>
              <a:gd name="adj" fmla="val 1150"/>
            </a:avLst>
          </a:prstGeom>
          <a:solidFill>
            <a:srgbClr val="FBF8F3"/>
          </a:solidFill>
          <a:ln w="9525">
            <a:solidFill>
              <a:srgbClr val="DDD2C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37456" y="2439442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865" y="2520851"/>
            <a:ext cx="197048" cy="19704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323231" y="2557463"/>
            <a:ext cx="174088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800" b="1" spc="11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NA HORA DE ESCOLHER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855456" y="2993617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999456" y="2944267"/>
            <a:ext cx="2500981" cy="7169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Escolha pelo uso: amarela com pintas para as receitas deste capítulo; mais verde se for fritar em chips; bem madura para doces.</a:t>
            </a:r>
            <a:endParaRPr lang="en-US" sz="940" dirty="0"/>
          </a:p>
        </p:txBody>
      </p:sp>
      <p:sp>
        <p:nvSpPr>
          <p:cNvPr id="12" name="Shape 9"/>
          <p:cNvSpPr/>
          <p:nvPr/>
        </p:nvSpPr>
        <p:spPr>
          <a:xfrm>
            <a:off x="855456" y="3805474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999456" y="3756124"/>
            <a:ext cx="2500981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fruta deve estar firme ao toque, sem partes afundadas.</a:t>
            </a:r>
            <a:endParaRPr lang="en-US" sz="940" dirty="0"/>
          </a:p>
        </p:txBody>
      </p:sp>
      <p:sp>
        <p:nvSpPr>
          <p:cNvPr id="14" name="Shape 11"/>
          <p:cNvSpPr/>
          <p:nvPr/>
        </p:nvSpPr>
        <p:spPr>
          <a:xfrm>
            <a:off x="855456" y="4247345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99456" y="4197995"/>
            <a:ext cx="2500981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Evite pontas com bolor ou casca rachada, por onde a fruta resseca.</a:t>
            </a:r>
            <a:endParaRPr lang="en-US" sz="940" dirty="0"/>
          </a:p>
        </p:txBody>
      </p:sp>
      <p:sp>
        <p:nvSpPr>
          <p:cNvPr id="16" name="Shape 13"/>
          <p:cNvSpPr/>
          <p:nvPr/>
        </p:nvSpPr>
        <p:spPr>
          <a:xfrm>
            <a:off x="3869829" y="2249984"/>
            <a:ext cx="3042047" cy="2930128"/>
          </a:xfrm>
          <a:prstGeom prst="roundRect">
            <a:avLst>
              <a:gd name="adj" fmla="val 1150"/>
            </a:avLst>
          </a:prstGeom>
          <a:solidFill>
            <a:srgbClr val="FBF8F3"/>
          </a:solidFill>
          <a:ln w="9525">
            <a:solidFill>
              <a:srgbClr val="DDD2C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059287" y="2439442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0696" y="2520851"/>
            <a:ext cx="197048" cy="197048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4545062" y="2557463"/>
            <a:ext cx="120548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800" b="1" spc="11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COMO GUARDAR</a:t>
            </a:r>
            <a:endParaRPr lang="en-US" sz="800" dirty="0"/>
          </a:p>
        </p:txBody>
      </p:sp>
      <p:sp>
        <p:nvSpPr>
          <p:cNvPr id="20" name="Shape 16"/>
          <p:cNvSpPr/>
          <p:nvPr/>
        </p:nvSpPr>
        <p:spPr>
          <a:xfrm>
            <a:off x="4077287" y="2993617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4221287" y="2944267"/>
            <a:ext cx="2501130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Fora da geladeira, de preferência penduradas, longe de outras frutas.</a:t>
            </a:r>
            <a:endParaRPr lang="en-US" sz="940" dirty="0"/>
          </a:p>
        </p:txBody>
      </p:sp>
      <p:sp>
        <p:nvSpPr>
          <p:cNvPr id="22" name="Shape 18"/>
          <p:cNvSpPr/>
          <p:nvPr/>
        </p:nvSpPr>
        <p:spPr>
          <a:xfrm>
            <a:off x="4077287" y="3435487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3" name="Text 19"/>
          <p:cNvSpPr txBox="1"/>
          <p:nvPr/>
        </p:nvSpPr>
        <p:spPr>
          <a:xfrm>
            <a:off x="4221287" y="3386138"/>
            <a:ext cx="2501130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Para amadurecer mais rápido, guarde num saco de papel fechado.</a:t>
            </a:r>
            <a:endParaRPr lang="en-US" sz="940" dirty="0"/>
          </a:p>
        </p:txBody>
      </p:sp>
      <p:sp>
        <p:nvSpPr>
          <p:cNvPr id="24" name="Shape 20"/>
          <p:cNvSpPr/>
          <p:nvPr/>
        </p:nvSpPr>
        <p:spPr>
          <a:xfrm>
            <a:off x="4077287" y="3877358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4221287" y="3828008"/>
            <a:ext cx="2501130" cy="53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Para frear o amadurecimento, leve à geladeira: a casca escurece, mas a polpa se mantém.</a:t>
            </a:r>
            <a:endParaRPr lang="en-US" sz="940" dirty="0"/>
          </a:p>
        </p:txBody>
      </p:sp>
      <p:sp>
        <p:nvSpPr>
          <p:cNvPr id="26" name="Shape 22"/>
          <p:cNvSpPr/>
          <p:nvPr/>
        </p:nvSpPr>
        <p:spPr>
          <a:xfrm>
            <a:off x="4077287" y="4504222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4221287" y="4454872"/>
            <a:ext cx="2501130" cy="53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Maduras demais? Descasque, corte e congele em saco fechado por até 3 meses.</a:t>
            </a:r>
            <a:endParaRPr lang="en-US" sz="940" dirty="0"/>
          </a:p>
        </p:txBody>
      </p:sp>
      <p:sp>
        <p:nvSpPr>
          <p:cNvPr id="28" name="Shape 24"/>
          <p:cNvSpPr/>
          <p:nvPr/>
        </p:nvSpPr>
        <p:spPr>
          <a:xfrm>
            <a:off x="647998" y="5360045"/>
            <a:ext cx="6263878" cy="1748284"/>
          </a:xfrm>
          <a:prstGeom prst="roundRect">
            <a:avLst>
              <a:gd name="adj" fmla="val 3231"/>
            </a:avLst>
          </a:prstGeom>
          <a:solidFill>
            <a:srgbClr val="FBF8F3"/>
          </a:solidFill>
          <a:ln w="9525">
            <a:solidFill>
              <a:srgbClr val="DDD2C0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837456" y="5549503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865" y="5630912"/>
            <a:ext cx="197048" cy="197048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1323231" y="5667524"/>
            <a:ext cx="179339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800" b="1" spc="11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PRÉ-PREPARO E CORTES</a:t>
            </a:r>
            <a:endParaRPr lang="en-US" sz="800" dirty="0"/>
          </a:p>
        </p:txBody>
      </p:sp>
      <p:sp>
        <p:nvSpPr>
          <p:cNvPr id="32" name="Shape 27"/>
          <p:cNvSpPr/>
          <p:nvPr/>
        </p:nvSpPr>
        <p:spPr>
          <a:xfrm>
            <a:off x="855456" y="6103678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3" name="Text 28"/>
          <p:cNvSpPr txBox="1"/>
          <p:nvPr/>
        </p:nvSpPr>
        <p:spPr>
          <a:xfrm>
            <a:off x="999456" y="6054328"/>
            <a:ext cx="5722961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Para descascar a banana-da-terra: corte as duas pontas, faça um talho raso ao longo da casca e solte-a com o polegar.</a:t>
            </a:r>
            <a:endParaRPr lang="en-US" sz="940" dirty="0"/>
          </a:p>
        </p:txBody>
      </p:sp>
      <p:sp>
        <p:nvSpPr>
          <p:cNvPr id="34" name="Shape 29"/>
          <p:cNvSpPr/>
          <p:nvPr/>
        </p:nvSpPr>
        <p:spPr>
          <a:xfrm>
            <a:off x="855456" y="6545549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5" name="Text 30"/>
          <p:cNvSpPr txBox="1"/>
          <p:nvPr/>
        </p:nvSpPr>
        <p:spPr>
          <a:xfrm>
            <a:off x="999381" y="6496199"/>
            <a:ext cx="417552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Rodelas grossas em diagonal (2 cm) para frigideira e moqueca.</a:t>
            </a:r>
            <a:endParaRPr lang="en-US" sz="940" dirty="0"/>
          </a:p>
        </p:txBody>
      </p:sp>
      <p:sp>
        <p:nvSpPr>
          <p:cNvPr id="36" name="Shape 31"/>
          <p:cNvSpPr/>
          <p:nvPr/>
        </p:nvSpPr>
        <p:spPr>
          <a:xfrm>
            <a:off x="855456" y="6802426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7" name="Text 32"/>
          <p:cNvSpPr txBox="1"/>
          <p:nvPr/>
        </p:nvSpPr>
        <p:spPr>
          <a:xfrm>
            <a:off x="999381" y="6753076"/>
            <a:ext cx="328924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Lâminas no comprimento para grelhar e flambar.</a:t>
            </a:r>
            <a:endParaRPr lang="en-US" sz="940" dirty="0"/>
          </a:p>
        </p:txBody>
      </p:sp>
      <p:sp>
        <p:nvSpPr>
          <p:cNvPr id="38" name="Shape 33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9" name="Text 34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40" name="Text 35"/>
          <p:cNvSpPr txBox="1"/>
          <p:nvPr/>
        </p:nvSpPr>
        <p:spPr>
          <a:xfrm>
            <a:off x="6809333" y="10236845"/>
            <a:ext cx="21684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13</a:t>
            </a:r>
            <a:endParaRPr lang="en-US" sz="63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611981"/>
            <a:ext cx="270367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RECEITA 2.1 · A RÁPIDA DE FRIGIDEIRA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759023"/>
            <a:ext cx="4031903" cy="11555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500" dirty="0">
                <a:solidFill>
                  <a:srgbClr val="4E5B38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Moqueca expressa de frigideira com banana, leite de coco e pimenta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647998" y="1926134"/>
            <a:ext cx="19594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90"/>
              </a:lnSpc>
              <a:buNone/>
            </a:pPr>
            <a:r>
              <a:rPr lang="en-US" sz="1300" i="1" dirty="0">
                <a:solidFill>
                  <a:srgbClr val="C255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sem peixe, mas cheia de sabor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7998" y="2320528"/>
            <a:ext cx="287982" cy="287982"/>
          </a:xfrm>
          <a:prstGeom prst="ellipse">
            <a:avLst/>
          </a:prstGeom>
          <a:ln w="9525">
            <a:solidFill>
              <a:srgbClr val="2F2A2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398" y="2383929"/>
            <a:ext cx="161181" cy="16118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25872" y="2340025"/>
            <a:ext cx="48771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740" b="1" spc="44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30 MIN</a:t>
            </a:r>
            <a:endParaRPr lang="en-US" sz="740" dirty="0"/>
          </a:p>
        </p:txBody>
      </p:sp>
      <p:sp>
        <p:nvSpPr>
          <p:cNvPr id="8" name="Text 5"/>
          <p:cNvSpPr txBox="1"/>
          <p:nvPr/>
        </p:nvSpPr>
        <p:spPr>
          <a:xfrm>
            <a:off x="1025872" y="2493615"/>
            <a:ext cx="47580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spc="90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TEMPO</a:t>
            </a:r>
            <a:endParaRPr lang="en-US" sz="640" dirty="0"/>
          </a:p>
        </p:txBody>
      </p:sp>
      <p:sp>
        <p:nvSpPr>
          <p:cNvPr id="9" name="Shape 6"/>
          <p:cNvSpPr/>
          <p:nvPr/>
        </p:nvSpPr>
        <p:spPr>
          <a:xfrm>
            <a:off x="1687264" y="2320528"/>
            <a:ext cx="287982" cy="287982"/>
          </a:xfrm>
          <a:prstGeom prst="ellipse">
            <a:avLst/>
          </a:prstGeom>
          <a:ln w="9525">
            <a:solidFill>
              <a:srgbClr val="2F2A25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0665" y="2383929"/>
            <a:ext cx="161181" cy="161181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065139" y="2340025"/>
            <a:ext cx="72687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740" b="1" spc="44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 PORÇÕES</a:t>
            </a:r>
            <a:endParaRPr lang="en-US" sz="740" dirty="0"/>
          </a:p>
        </p:txBody>
      </p:sp>
      <p:sp>
        <p:nvSpPr>
          <p:cNvPr id="12" name="Text 8"/>
          <p:cNvSpPr txBox="1"/>
          <p:nvPr/>
        </p:nvSpPr>
        <p:spPr>
          <a:xfrm>
            <a:off x="2065139" y="2493615"/>
            <a:ext cx="80992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spc="90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RENDIMENTO</a:t>
            </a:r>
            <a:endParaRPr lang="en-US" sz="640" dirty="0"/>
          </a:p>
        </p:txBody>
      </p:sp>
      <p:pic>
        <p:nvPicPr>
          <p:cNvPr id="13" name="Image 2" descr="/home/user/ebook-luq/versoes/VERSAO COM FOTOGRAFIAS/fotos/r2-1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615880" y="252115"/>
            <a:ext cx="2375892" cy="2375892"/>
          </a:xfrm>
          <a:prstGeom prst="ellipse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647998" y="3157091"/>
            <a:ext cx="2159943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647998" y="2951857"/>
            <a:ext cx="105891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60" b="1" spc="12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INGREDIENTES</a:t>
            </a:r>
            <a:endParaRPr lang="en-US" sz="760" dirty="0"/>
          </a:p>
        </p:txBody>
      </p:sp>
      <p:sp>
        <p:nvSpPr>
          <p:cNvPr id="16" name="Shape 11"/>
          <p:cNvSpPr/>
          <p:nvPr/>
        </p:nvSpPr>
        <p:spPr>
          <a:xfrm>
            <a:off x="665998" y="3333391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809998" y="3274516"/>
            <a:ext cx="1997942" cy="4798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 bananas-da-terra maduras e firmes, em rodelas diagonais de 2 cm</a:t>
            </a:r>
            <a:endParaRPr lang="en-US" sz="890" dirty="0"/>
          </a:p>
        </p:txBody>
      </p:sp>
      <p:sp>
        <p:nvSpPr>
          <p:cNvPr id="18" name="Shape 13"/>
          <p:cNvSpPr/>
          <p:nvPr/>
        </p:nvSpPr>
        <p:spPr>
          <a:xfrm>
            <a:off x="665998" y="3878400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809998" y="3819525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 colheres (sopa) de azeite de dendê</a:t>
            </a:r>
            <a:endParaRPr lang="en-US" sz="890" dirty="0"/>
          </a:p>
        </p:txBody>
      </p:sp>
      <p:sp>
        <p:nvSpPr>
          <p:cNvPr id="20" name="Shape 15"/>
          <p:cNvSpPr/>
          <p:nvPr/>
        </p:nvSpPr>
        <p:spPr>
          <a:xfrm>
            <a:off x="665998" y="4259698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809923" y="4200823"/>
            <a:ext cx="123715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cebola em rodelas</a:t>
            </a:r>
            <a:endParaRPr lang="en-US" sz="890" dirty="0"/>
          </a:p>
        </p:txBody>
      </p:sp>
      <p:sp>
        <p:nvSpPr>
          <p:cNvPr id="22" name="Shape 17"/>
          <p:cNvSpPr/>
          <p:nvPr/>
        </p:nvSpPr>
        <p:spPr>
          <a:xfrm>
            <a:off x="665998" y="4477284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809923" y="4418409"/>
            <a:ext cx="187756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pimentão vermelho em tiras</a:t>
            </a:r>
            <a:endParaRPr lang="en-US" sz="890" dirty="0"/>
          </a:p>
        </p:txBody>
      </p:sp>
      <p:sp>
        <p:nvSpPr>
          <p:cNvPr id="24" name="Shape 19"/>
          <p:cNvSpPr/>
          <p:nvPr/>
        </p:nvSpPr>
        <p:spPr>
          <a:xfrm>
            <a:off x="665998" y="4694871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5" name="Text 20"/>
          <p:cNvSpPr txBox="1"/>
          <p:nvPr/>
        </p:nvSpPr>
        <p:spPr>
          <a:xfrm>
            <a:off x="809923" y="4635996"/>
            <a:ext cx="136733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 tomates em rodelas</a:t>
            </a:r>
            <a:endParaRPr lang="en-US" sz="890" dirty="0"/>
          </a:p>
        </p:txBody>
      </p:sp>
      <p:sp>
        <p:nvSpPr>
          <p:cNvPr id="26" name="Shape 21"/>
          <p:cNvSpPr/>
          <p:nvPr/>
        </p:nvSpPr>
        <p:spPr>
          <a:xfrm>
            <a:off x="665998" y="4912458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7" name="Text 22"/>
          <p:cNvSpPr txBox="1"/>
          <p:nvPr/>
        </p:nvSpPr>
        <p:spPr>
          <a:xfrm>
            <a:off x="809923" y="4853583"/>
            <a:ext cx="156769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 dentes de alho picados</a:t>
            </a:r>
            <a:endParaRPr lang="en-US" sz="890" dirty="0"/>
          </a:p>
        </p:txBody>
      </p:sp>
      <p:sp>
        <p:nvSpPr>
          <p:cNvPr id="28" name="Shape 23"/>
          <p:cNvSpPr/>
          <p:nvPr/>
        </p:nvSpPr>
        <p:spPr>
          <a:xfrm>
            <a:off x="665998" y="5130045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9" name="Text 24"/>
          <p:cNvSpPr txBox="1"/>
          <p:nvPr/>
        </p:nvSpPr>
        <p:spPr>
          <a:xfrm>
            <a:off x="809923" y="5071170"/>
            <a:ext cx="146518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200 ml de leite de coco</a:t>
            </a:r>
            <a:endParaRPr lang="en-US" sz="890" dirty="0"/>
          </a:p>
        </p:txBody>
      </p:sp>
      <p:sp>
        <p:nvSpPr>
          <p:cNvPr id="30" name="Shape 25"/>
          <p:cNvSpPr/>
          <p:nvPr/>
        </p:nvSpPr>
        <p:spPr>
          <a:xfrm>
            <a:off x="665998" y="5347631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1" name="Text 26"/>
          <p:cNvSpPr txBox="1"/>
          <p:nvPr/>
        </p:nvSpPr>
        <p:spPr>
          <a:xfrm>
            <a:off x="809998" y="5288756"/>
            <a:ext cx="1997942" cy="4798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pimenta dedo-de-moça (ou pimenta-de-cheiro) picada, sem sementes</a:t>
            </a:r>
            <a:endParaRPr lang="en-US" sz="890" dirty="0"/>
          </a:p>
        </p:txBody>
      </p:sp>
      <p:sp>
        <p:nvSpPr>
          <p:cNvPr id="32" name="Shape 27"/>
          <p:cNvSpPr/>
          <p:nvPr/>
        </p:nvSpPr>
        <p:spPr>
          <a:xfrm>
            <a:off x="665998" y="5892640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3" name="Text 28"/>
          <p:cNvSpPr txBox="1"/>
          <p:nvPr/>
        </p:nvSpPr>
        <p:spPr>
          <a:xfrm>
            <a:off x="809923" y="5833765"/>
            <a:ext cx="10611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Suco de ½ limão</a:t>
            </a:r>
            <a:endParaRPr lang="en-US" sz="890" dirty="0"/>
          </a:p>
        </p:txBody>
      </p:sp>
      <p:sp>
        <p:nvSpPr>
          <p:cNvPr id="34" name="Shape 29"/>
          <p:cNvSpPr/>
          <p:nvPr/>
        </p:nvSpPr>
        <p:spPr>
          <a:xfrm>
            <a:off x="665998" y="6110227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5" name="Text 30"/>
          <p:cNvSpPr txBox="1"/>
          <p:nvPr/>
        </p:nvSpPr>
        <p:spPr>
          <a:xfrm>
            <a:off x="809998" y="6051352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Coentro (ou cheiro-verde) e sal a gosto</a:t>
            </a:r>
            <a:endParaRPr lang="en-US" sz="890" dirty="0"/>
          </a:p>
        </p:txBody>
      </p:sp>
      <p:sp>
        <p:nvSpPr>
          <p:cNvPr id="36" name="Shape 31"/>
          <p:cNvSpPr/>
          <p:nvPr/>
        </p:nvSpPr>
        <p:spPr>
          <a:xfrm>
            <a:off x="3131939" y="3157091"/>
            <a:ext cx="3779937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7" name="Text 32"/>
          <p:cNvSpPr txBox="1"/>
          <p:nvPr/>
        </p:nvSpPr>
        <p:spPr>
          <a:xfrm>
            <a:off x="3131939" y="2951857"/>
            <a:ext cx="141434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60" b="1" spc="12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MODO DE PREPARO</a:t>
            </a:r>
            <a:endParaRPr lang="en-US" sz="760" dirty="0"/>
          </a:p>
        </p:txBody>
      </p:sp>
      <p:sp>
        <p:nvSpPr>
          <p:cNvPr id="38" name="Shape 33"/>
          <p:cNvSpPr/>
          <p:nvPr/>
        </p:nvSpPr>
        <p:spPr>
          <a:xfrm>
            <a:off x="3131939" y="3275707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9" name="Text 34"/>
          <p:cNvSpPr txBox="1"/>
          <p:nvPr/>
        </p:nvSpPr>
        <p:spPr>
          <a:xfrm>
            <a:off x="3206651" y="3317974"/>
            <a:ext cx="14481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630" dirty="0"/>
          </a:p>
        </p:txBody>
      </p:sp>
      <p:sp>
        <p:nvSpPr>
          <p:cNvPr id="40" name="Text 35"/>
          <p:cNvSpPr txBox="1"/>
          <p:nvPr/>
        </p:nvSpPr>
        <p:spPr>
          <a:xfrm>
            <a:off x="3419773" y="3284041"/>
            <a:ext cx="3492103" cy="528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Aqueça 1 colher de dendê numa frigideira grande. Doure as rodelas de banana, 2 minutos de cada lado, sem mexer. Tempere com uma pitada de sal e reserve.</a:t>
            </a:r>
            <a:endParaRPr lang="en-US" sz="930" dirty="0"/>
          </a:p>
        </p:txBody>
      </p:sp>
      <p:sp>
        <p:nvSpPr>
          <p:cNvPr id="41" name="Shape 36"/>
          <p:cNvSpPr/>
          <p:nvPr/>
        </p:nvSpPr>
        <p:spPr>
          <a:xfrm>
            <a:off x="3131939" y="3918347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2" name="Text 37"/>
          <p:cNvSpPr txBox="1"/>
          <p:nvPr/>
        </p:nvSpPr>
        <p:spPr>
          <a:xfrm>
            <a:off x="3198614" y="3960614"/>
            <a:ext cx="1607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630" dirty="0"/>
          </a:p>
        </p:txBody>
      </p:sp>
      <p:sp>
        <p:nvSpPr>
          <p:cNvPr id="43" name="Text 38"/>
          <p:cNvSpPr txBox="1"/>
          <p:nvPr/>
        </p:nvSpPr>
        <p:spPr>
          <a:xfrm>
            <a:off x="3419773" y="3926681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Na mesma frigideira, com o restante do dendê, refogue a cebola, o pimentão e o alho por 3 minutos.</a:t>
            </a:r>
            <a:endParaRPr lang="en-US" sz="930" dirty="0"/>
          </a:p>
        </p:txBody>
      </p:sp>
      <p:sp>
        <p:nvSpPr>
          <p:cNvPr id="44" name="Shape 39"/>
          <p:cNvSpPr/>
          <p:nvPr/>
        </p:nvSpPr>
        <p:spPr>
          <a:xfrm>
            <a:off x="3131939" y="4377928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5" name="Text 40"/>
          <p:cNvSpPr txBox="1"/>
          <p:nvPr/>
        </p:nvSpPr>
        <p:spPr>
          <a:xfrm>
            <a:off x="3198614" y="4420195"/>
            <a:ext cx="1607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630" dirty="0"/>
          </a:p>
        </p:txBody>
      </p:sp>
      <p:sp>
        <p:nvSpPr>
          <p:cNvPr id="46" name="Text 41"/>
          <p:cNvSpPr txBox="1"/>
          <p:nvPr/>
        </p:nvSpPr>
        <p:spPr>
          <a:xfrm>
            <a:off x="3419773" y="4386263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Junte o tomate e a pimenta e cozinhe até o tomate começar a desmanchar.</a:t>
            </a:r>
            <a:endParaRPr lang="en-US" sz="930" dirty="0"/>
          </a:p>
        </p:txBody>
      </p:sp>
      <p:sp>
        <p:nvSpPr>
          <p:cNvPr id="47" name="Shape 42"/>
          <p:cNvSpPr/>
          <p:nvPr/>
        </p:nvSpPr>
        <p:spPr>
          <a:xfrm>
            <a:off x="3131939" y="4837509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8" name="Text 43"/>
          <p:cNvSpPr txBox="1"/>
          <p:nvPr/>
        </p:nvSpPr>
        <p:spPr>
          <a:xfrm>
            <a:off x="3194745" y="4879777"/>
            <a:ext cx="16847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630" dirty="0"/>
          </a:p>
        </p:txBody>
      </p:sp>
      <p:sp>
        <p:nvSpPr>
          <p:cNvPr id="49" name="Text 44"/>
          <p:cNvSpPr txBox="1"/>
          <p:nvPr/>
        </p:nvSpPr>
        <p:spPr>
          <a:xfrm>
            <a:off x="3419773" y="4845844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Acrescente o leite de coco e deixe ferver por 5 minutos, até engrossar levemente. Acerte o sal.</a:t>
            </a:r>
            <a:endParaRPr lang="en-US" sz="930" dirty="0"/>
          </a:p>
        </p:txBody>
      </p:sp>
      <p:sp>
        <p:nvSpPr>
          <p:cNvPr id="50" name="Shape 45"/>
          <p:cNvSpPr/>
          <p:nvPr/>
        </p:nvSpPr>
        <p:spPr>
          <a:xfrm>
            <a:off x="3131939" y="5297091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51" name="Text 46"/>
          <p:cNvSpPr txBox="1"/>
          <p:nvPr/>
        </p:nvSpPr>
        <p:spPr>
          <a:xfrm>
            <a:off x="3198465" y="5339358"/>
            <a:ext cx="16103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630" dirty="0"/>
          </a:p>
        </p:txBody>
      </p:sp>
      <p:sp>
        <p:nvSpPr>
          <p:cNvPr id="52" name="Text 47"/>
          <p:cNvSpPr txBox="1"/>
          <p:nvPr/>
        </p:nvSpPr>
        <p:spPr>
          <a:xfrm>
            <a:off x="3419773" y="5305425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Volte as bananas para a frigideira e cozinhe só por 3 a 4 minutos, para aquecerem no molho sem desmanchar.</a:t>
            </a:r>
            <a:endParaRPr lang="en-US" sz="930" dirty="0"/>
          </a:p>
        </p:txBody>
      </p:sp>
      <p:sp>
        <p:nvSpPr>
          <p:cNvPr id="53" name="Shape 48"/>
          <p:cNvSpPr/>
          <p:nvPr/>
        </p:nvSpPr>
        <p:spPr>
          <a:xfrm>
            <a:off x="3131939" y="5756672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54" name="Text 49"/>
          <p:cNvSpPr txBox="1"/>
          <p:nvPr/>
        </p:nvSpPr>
        <p:spPr>
          <a:xfrm>
            <a:off x="3196828" y="5798939"/>
            <a:ext cx="16445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</a:t>
            </a:r>
            <a:endParaRPr lang="en-US" sz="630" dirty="0"/>
          </a:p>
        </p:txBody>
      </p:sp>
      <p:sp>
        <p:nvSpPr>
          <p:cNvPr id="55" name="Text 50"/>
          <p:cNvSpPr txBox="1"/>
          <p:nvPr/>
        </p:nvSpPr>
        <p:spPr>
          <a:xfrm>
            <a:off x="3419773" y="5765006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Desligue o fogo, regue com o suco de limão e finalize com coentro.</a:t>
            </a:r>
            <a:endParaRPr lang="en-US" sz="930" dirty="0"/>
          </a:p>
        </p:txBody>
      </p:sp>
      <p:sp>
        <p:nvSpPr>
          <p:cNvPr id="56" name="Shape 51"/>
          <p:cNvSpPr/>
          <p:nvPr/>
        </p:nvSpPr>
        <p:spPr>
          <a:xfrm>
            <a:off x="647998" y="9026723"/>
            <a:ext cx="6263878" cy="873175"/>
          </a:xfrm>
          <a:prstGeom prst="roundRect">
            <a:avLst>
              <a:gd name="adj" fmla="val 12953"/>
            </a:avLst>
          </a:prstGeom>
          <a:solidFill>
            <a:srgbClr val="EEE6D8"/>
          </a:solidFill>
          <a:ln/>
        </p:spPr>
      </p:sp>
      <p:sp>
        <p:nvSpPr>
          <p:cNvPr id="57" name="Shape 52"/>
          <p:cNvSpPr/>
          <p:nvPr/>
        </p:nvSpPr>
        <p:spPr>
          <a:xfrm>
            <a:off x="827931" y="9188648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5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9340" y="9270057"/>
            <a:ext cx="197048" cy="197048"/>
          </a:xfrm>
          <a:prstGeom prst="rect">
            <a:avLst/>
          </a:prstGeom>
        </p:spPr>
      </p:pic>
      <p:sp>
        <p:nvSpPr>
          <p:cNvPr id="59" name="Text 53"/>
          <p:cNvSpPr txBox="1"/>
          <p:nvPr/>
        </p:nvSpPr>
        <p:spPr>
          <a:xfrm>
            <a:off x="1331714" y="9188648"/>
            <a:ext cx="131733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12" kern="0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TOQUE DO MAMEDE</a:t>
            </a:r>
            <a:endParaRPr lang="en-US" sz="700" dirty="0"/>
          </a:p>
        </p:txBody>
      </p:sp>
      <p:sp>
        <p:nvSpPr>
          <p:cNvPr id="60" name="Text 54"/>
          <p:cNvSpPr txBox="1"/>
          <p:nvPr/>
        </p:nvSpPr>
        <p:spPr>
          <a:xfrm>
            <a:off x="1331714" y="9329291"/>
            <a:ext cx="5400229" cy="4138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150" i="1" dirty="0">
                <a:solidFill>
                  <a:srgbClr val="2F2A2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Dourar a banana antes é o que dá estrutura e sabor à moqueca. Sirva com arroz branco e farofa de dendê.</a:t>
            </a:r>
            <a:endParaRPr lang="en-US" sz="1150" dirty="0"/>
          </a:p>
        </p:txBody>
      </p:sp>
      <p:sp>
        <p:nvSpPr>
          <p:cNvPr id="61" name="Shape 55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62" name="Text 56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63" name="Text 57"/>
          <p:cNvSpPr txBox="1"/>
          <p:nvPr/>
        </p:nvSpPr>
        <p:spPr>
          <a:xfrm>
            <a:off x="6801594" y="10236845"/>
            <a:ext cx="22458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14</a:t>
            </a:r>
            <a:endParaRPr lang="en-US" sz="63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611981"/>
            <a:ext cx="296353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RECEITA 2.2 · A TEXTURA SURPREENDENTE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759023"/>
            <a:ext cx="4031903" cy="806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500" dirty="0">
                <a:solidFill>
                  <a:srgbClr val="4E5B38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Purê aveludado de banana grelhada com noz-moscada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647998" y="1576983"/>
            <a:ext cx="300670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90"/>
              </a:lnSpc>
              <a:buNone/>
            </a:pPr>
            <a:r>
              <a:rPr lang="en-US" sz="1300" i="1" dirty="0">
                <a:solidFill>
                  <a:srgbClr val="C255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para acompanhar carnes ou legumes assados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7998" y="1971377"/>
            <a:ext cx="287982" cy="287982"/>
          </a:xfrm>
          <a:prstGeom prst="ellipse">
            <a:avLst/>
          </a:prstGeom>
          <a:ln w="9525">
            <a:solidFill>
              <a:srgbClr val="2F2A2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398" y="2034778"/>
            <a:ext cx="161181" cy="16118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25872" y="1990874"/>
            <a:ext cx="47937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740" b="1" spc="44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25 MIN</a:t>
            </a:r>
            <a:endParaRPr lang="en-US" sz="740" dirty="0"/>
          </a:p>
        </p:txBody>
      </p:sp>
      <p:sp>
        <p:nvSpPr>
          <p:cNvPr id="8" name="Text 5"/>
          <p:cNvSpPr txBox="1"/>
          <p:nvPr/>
        </p:nvSpPr>
        <p:spPr>
          <a:xfrm>
            <a:off x="1025872" y="2144464"/>
            <a:ext cx="47580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spc="90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TEMPO</a:t>
            </a:r>
            <a:endParaRPr lang="en-US" sz="640" dirty="0"/>
          </a:p>
        </p:txBody>
      </p:sp>
      <p:sp>
        <p:nvSpPr>
          <p:cNvPr id="9" name="Shape 6"/>
          <p:cNvSpPr/>
          <p:nvPr/>
        </p:nvSpPr>
        <p:spPr>
          <a:xfrm>
            <a:off x="1678930" y="1971377"/>
            <a:ext cx="287982" cy="287982"/>
          </a:xfrm>
          <a:prstGeom prst="ellipse">
            <a:avLst/>
          </a:prstGeom>
          <a:ln w="9525">
            <a:solidFill>
              <a:srgbClr val="2F2A25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2331" y="2034778"/>
            <a:ext cx="161181" cy="161181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056805" y="1990874"/>
            <a:ext cx="237546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740" b="1" spc="44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 PORÇÕES COMO ACOMPANHAMENTO</a:t>
            </a:r>
            <a:endParaRPr lang="en-US" sz="740" dirty="0"/>
          </a:p>
        </p:txBody>
      </p:sp>
      <p:sp>
        <p:nvSpPr>
          <p:cNvPr id="12" name="Text 8"/>
          <p:cNvSpPr txBox="1"/>
          <p:nvPr/>
        </p:nvSpPr>
        <p:spPr>
          <a:xfrm>
            <a:off x="2056805" y="2144464"/>
            <a:ext cx="80992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spc="90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RENDIMENTO</a:t>
            </a:r>
            <a:endParaRPr lang="en-US" sz="640" dirty="0"/>
          </a:p>
        </p:txBody>
      </p:sp>
      <p:pic>
        <p:nvPicPr>
          <p:cNvPr id="13" name="Image 2" descr="/home/user/ebook-luq/versoes/VERSAO COM FOTOGRAFIAS/fotos/r2-2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615880" y="252115"/>
            <a:ext cx="2375892" cy="2375892"/>
          </a:xfrm>
          <a:prstGeom prst="ellipse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647998" y="3157091"/>
            <a:ext cx="2159943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647998" y="2951857"/>
            <a:ext cx="105891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60" b="1" spc="12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INGREDIENTES</a:t>
            </a:r>
            <a:endParaRPr lang="en-US" sz="760" dirty="0"/>
          </a:p>
        </p:txBody>
      </p:sp>
      <p:sp>
        <p:nvSpPr>
          <p:cNvPr id="16" name="Shape 11"/>
          <p:cNvSpPr/>
          <p:nvPr/>
        </p:nvSpPr>
        <p:spPr>
          <a:xfrm>
            <a:off x="665998" y="3333391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809923" y="3274516"/>
            <a:ext cx="179639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 bananas-da-terra maduras</a:t>
            </a:r>
            <a:endParaRPr lang="en-US" sz="890" dirty="0"/>
          </a:p>
        </p:txBody>
      </p:sp>
      <p:sp>
        <p:nvSpPr>
          <p:cNvPr id="18" name="Shape 13"/>
          <p:cNvSpPr/>
          <p:nvPr/>
        </p:nvSpPr>
        <p:spPr>
          <a:xfrm>
            <a:off x="665998" y="3550978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809923" y="3492103"/>
            <a:ext cx="189890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 colheres (sopa) de manteiga</a:t>
            </a:r>
            <a:endParaRPr lang="en-US" sz="890" dirty="0"/>
          </a:p>
        </p:txBody>
      </p:sp>
      <p:sp>
        <p:nvSpPr>
          <p:cNvPr id="20" name="Shape 15"/>
          <p:cNvSpPr/>
          <p:nvPr/>
        </p:nvSpPr>
        <p:spPr>
          <a:xfrm>
            <a:off x="665998" y="3768565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809998" y="3709690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150 ml de leite quente (ou caldo de frango)</a:t>
            </a:r>
            <a:endParaRPr lang="en-US" sz="890" dirty="0"/>
          </a:p>
        </p:txBody>
      </p:sp>
      <p:sp>
        <p:nvSpPr>
          <p:cNvPr id="22" name="Shape 17"/>
          <p:cNvSpPr/>
          <p:nvPr/>
        </p:nvSpPr>
        <p:spPr>
          <a:xfrm>
            <a:off x="665998" y="4149862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809923" y="4090987"/>
            <a:ext cx="180805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Noz-moscada ralada na hora</a:t>
            </a:r>
            <a:endParaRPr lang="en-US" sz="890" dirty="0"/>
          </a:p>
        </p:txBody>
      </p:sp>
      <p:sp>
        <p:nvSpPr>
          <p:cNvPr id="24" name="Shape 19"/>
          <p:cNvSpPr/>
          <p:nvPr/>
        </p:nvSpPr>
        <p:spPr>
          <a:xfrm>
            <a:off x="665998" y="4367449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5" name="Text 20"/>
          <p:cNvSpPr txBox="1"/>
          <p:nvPr/>
        </p:nvSpPr>
        <p:spPr>
          <a:xfrm>
            <a:off x="809998" y="4308574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Sal, pimenta-do-reino e algumas gotas de limão</a:t>
            </a:r>
            <a:endParaRPr lang="en-US" sz="890" dirty="0"/>
          </a:p>
        </p:txBody>
      </p:sp>
      <p:sp>
        <p:nvSpPr>
          <p:cNvPr id="26" name="Shape 21"/>
          <p:cNvSpPr/>
          <p:nvPr/>
        </p:nvSpPr>
        <p:spPr>
          <a:xfrm>
            <a:off x="3131939" y="3157091"/>
            <a:ext cx="3779937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3131939" y="2951857"/>
            <a:ext cx="141434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60" b="1" spc="12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MODO DE PREPARO</a:t>
            </a:r>
            <a:endParaRPr lang="en-US" sz="760" dirty="0"/>
          </a:p>
        </p:txBody>
      </p:sp>
      <p:sp>
        <p:nvSpPr>
          <p:cNvPr id="28" name="Shape 23"/>
          <p:cNvSpPr/>
          <p:nvPr/>
        </p:nvSpPr>
        <p:spPr>
          <a:xfrm>
            <a:off x="3131939" y="3275707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9" name="Text 24"/>
          <p:cNvSpPr txBox="1"/>
          <p:nvPr/>
        </p:nvSpPr>
        <p:spPr>
          <a:xfrm>
            <a:off x="3206651" y="3317974"/>
            <a:ext cx="14481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630" dirty="0"/>
          </a:p>
        </p:txBody>
      </p:sp>
      <p:sp>
        <p:nvSpPr>
          <p:cNvPr id="30" name="Text 25"/>
          <p:cNvSpPr txBox="1"/>
          <p:nvPr/>
        </p:nvSpPr>
        <p:spPr>
          <a:xfrm>
            <a:off x="3419773" y="3284041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Descasque as bananas e corte em lâminas no sentido do comprimento.</a:t>
            </a:r>
            <a:endParaRPr lang="en-US" sz="930" dirty="0"/>
          </a:p>
        </p:txBody>
      </p:sp>
      <p:sp>
        <p:nvSpPr>
          <p:cNvPr id="31" name="Shape 26"/>
          <p:cNvSpPr/>
          <p:nvPr/>
        </p:nvSpPr>
        <p:spPr>
          <a:xfrm>
            <a:off x="3131939" y="3735288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2" name="Text 27"/>
          <p:cNvSpPr txBox="1"/>
          <p:nvPr/>
        </p:nvSpPr>
        <p:spPr>
          <a:xfrm>
            <a:off x="3198614" y="3777555"/>
            <a:ext cx="1607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630" dirty="0"/>
          </a:p>
        </p:txBody>
      </p:sp>
      <p:sp>
        <p:nvSpPr>
          <p:cNvPr id="33" name="Text 28"/>
          <p:cNvSpPr txBox="1"/>
          <p:nvPr/>
        </p:nvSpPr>
        <p:spPr>
          <a:xfrm>
            <a:off x="3419773" y="3743623"/>
            <a:ext cx="3492103" cy="7111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Aqueça 1 colher de manteiga numa frigideira e grelhe as lâminas em fogo médio-alto até ficarem bem douradas dos dois lados. É essa caramelização que dá profundidade ao purê.</a:t>
            </a:r>
            <a:endParaRPr lang="en-US" sz="930" dirty="0"/>
          </a:p>
        </p:txBody>
      </p:sp>
      <p:sp>
        <p:nvSpPr>
          <p:cNvPr id="34" name="Shape 29"/>
          <p:cNvSpPr/>
          <p:nvPr/>
        </p:nvSpPr>
        <p:spPr>
          <a:xfrm>
            <a:off x="3131939" y="4560987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5" name="Text 30"/>
          <p:cNvSpPr txBox="1"/>
          <p:nvPr/>
        </p:nvSpPr>
        <p:spPr>
          <a:xfrm>
            <a:off x="3198614" y="4603254"/>
            <a:ext cx="1607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630" dirty="0"/>
          </a:p>
        </p:txBody>
      </p:sp>
      <p:sp>
        <p:nvSpPr>
          <p:cNvPr id="36" name="Text 31"/>
          <p:cNvSpPr txBox="1"/>
          <p:nvPr/>
        </p:nvSpPr>
        <p:spPr>
          <a:xfrm>
            <a:off x="3419773" y="4569321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Transfira para uma panela, junte o leite quente e amasse bem com um garfo ou espremedor, em fogo baixo.</a:t>
            </a:r>
            <a:endParaRPr lang="en-US" sz="930" dirty="0"/>
          </a:p>
        </p:txBody>
      </p:sp>
      <p:sp>
        <p:nvSpPr>
          <p:cNvPr id="37" name="Shape 32"/>
          <p:cNvSpPr/>
          <p:nvPr/>
        </p:nvSpPr>
        <p:spPr>
          <a:xfrm>
            <a:off x="3131939" y="5020568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8" name="Text 33"/>
          <p:cNvSpPr txBox="1"/>
          <p:nvPr/>
        </p:nvSpPr>
        <p:spPr>
          <a:xfrm>
            <a:off x="3194745" y="5062835"/>
            <a:ext cx="16847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630" dirty="0"/>
          </a:p>
        </p:txBody>
      </p:sp>
      <p:sp>
        <p:nvSpPr>
          <p:cNvPr id="39" name="Text 34"/>
          <p:cNvSpPr txBox="1"/>
          <p:nvPr/>
        </p:nvSpPr>
        <p:spPr>
          <a:xfrm>
            <a:off x="3419773" y="5028902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Acrescente a manteiga restante e mexa até ficar aveludado. Se quiser mais liso, passe por uma peneira.</a:t>
            </a:r>
            <a:endParaRPr lang="en-US" sz="930" dirty="0"/>
          </a:p>
        </p:txBody>
      </p:sp>
      <p:sp>
        <p:nvSpPr>
          <p:cNvPr id="40" name="Shape 35"/>
          <p:cNvSpPr/>
          <p:nvPr/>
        </p:nvSpPr>
        <p:spPr>
          <a:xfrm>
            <a:off x="3131939" y="5480149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1" name="Text 36"/>
          <p:cNvSpPr txBox="1"/>
          <p:nvPr/>
        </p:nvSpPr>
        <p:spPr>
          <a:xfrm>
            <a:off x="3198465" y="5522416"/>
            <a:ext cx="16103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630" dirty="0"/>
          </a:p>
        </p:txBody>
      </p:sp>
      <p:sp>
        <p:nvSpPr>
          <p:cNvPr id="42" name="Text 37"/>
          <p:cNvSpPr txBox="1"/>
          <p:nvPr/>
        </p:nvSpPr>
        <p:spPr>
          <a:xfrm>
            <a:off x="3419773" y="5488484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Tempere com sal, pimenta e noz-moscada. Se estiver doce demais, equilibre com algumas gotas de limão.</a:t>
            </a:r>
            <a:endParaRPr lang="en-US" sz="930" dirty="0"/>
          </a:p>
        </p:txBody>
      </p:sp>
      <p:sp>
        <p:nvSpPr>
          <p:cNvPr id="43" name="Shape 38"/>
          <p:cNvSpPr/>
          <p:nvPr/>
        </p:nvSpPr>
        <p:spPr>
          <a:xfrm>
            <a:off x="647998" y="9026723"/>
            <a:ext cx="6263878" cy="873175"/>
          </a:xfrm>
          <a:prstGeom prst="roundRect">
            <a:avLst>
              <a:gd name="adj" fmla="val 12953"/>
            </a:avLst>
          </a:prstGeom>
          <a:solidFill>
            <a:srgbClr val="EEE6D8"/>
          </a:solidFill>
          <a:ln/>
        </p:spPr>
      </p:sp>
      <p:sp>
        <p:nvSpPr>
          <p:cNvPr id="44" name="Shape 39"/>
          <p:cNvSpPr/>
          <p:nvPr/>
        </p:nvSpPr>
        <p:spPr>
          <a:xfrm>
            <a:off x="827931" y="9188648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4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9340" y="9270057"/>
            <a:ext cx="197048" cy="197048"/>
          </a:xfrm>
          <a:prstGeom prst="rect">
            <a:avLst/>
          </a:prstGeom>
        </p:spPr>
      </p:pic>
      <p:sp>
        <p:nvSpPr>
          <p:cNvPr id="46" name="Text 40"/>
          <p:cNvSpPr txBox="1"/>
          <p:nvPr/>
        </p:nvSpPr>
        <p:spPr>
          <a:xfrm>
            <a:off x="1331714" y="9188648"/>
            <a:ext cx="131733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12" kern="0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TOQUE DO MAMEDE</a:t>
            </a:r>
            <a:endParaRPr lang="en-US" sz="700" dirty="0"/>
          </a:p>
        </p:txBody>
      </p:sp>
      <p:sp>
        <p:nvSpPr>
          <p:cNvPr id="47" name="Text 41"/>
          <p:cNvSpPr txBox="1"/>
          <p:nvPr/>
        </p:nvSpPr>
        <p:spPr>
          <a:xfrm>
            <a:off x="1331714" y="9329291"/>
            <a:ext cx="5400229" cy="4138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150" i="1" dirty="0">
                <a:solidFill>
                  <a:srgbClr val="2F2A2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É um acompanhamento salgado de respeito: fica perfeito com carne de sol, frango assado ou peixe grelhado.</a:t>
            </a:r>
            <a:endParaRPr lang="en-US" sz="1150" dirty="0"/>
          </a:p>
        </p:txBody>
      </p:sp>
      <p:sp>
        <p:nvSpPr>
          <p:cNvPr id="48" name="Shape 42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49" name="Text 43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50" name="Text 44"/>
          <p:cNvSpPr txBox="1"/>
          <p:nvPr/>
        </p:nvSpPr>
        <p:spPr>
          <a:xfrm>
            <a:off x="6809184" y="10236845"/>
            <a:ext cx="21699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15</a:t>
            </a:r>
            <a:endParaRPr lang="en-US" sz="63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611981"/>
            <a:ext cx="259849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RECEITA 2.3 · A SOBREMESA DE CHEF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759023"/>
            <a:ext cx="4031903" cy="11555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500" dirty="0">
                <a:solidFill>
                  <a:srgbClr val="4E5B38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Bananas flambadas no rum ou na cachaça com crosta de açúcar mascavo e canela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647998" y="1926134"/>
            <a:ext cx="269350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90"/>
              </a:lnSpc>
              <a:buNone/>
            </a:pPr>
            <a:r>
              <a:rPr lang="en-US" sz="1300" i="1" dirty="0">
                <a:solidFill>
                  <a:srgbClr val="C255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 sobremesa de restaurante feita em casa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7998" y="2320528"/>
            <a:ext cx="287982" cy="287982"/>
          </a:xfrm>
          <a:prstGeom prst="ellipse">
            <a:avLst/>
          </a:prstGeom>
          <a:ln w="9525">
            <a:solidFill>
              <a:srgbClr val="2F2A2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398" y="2383929"/>
            <a:ext cx="161181" cy="16118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25872" y="2340025"/>
            <a:ext cx="46047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740" b="1" spc="44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15 MIN</a:t>
            </a:r>
            <a:endParaRPr lang="en-US" sz="740" dirty="0"/>
          </a:p>
        </p:txBody>
      </p:sp>
      <p:sp>
        <p:nvSpPr>
          <p:cNvPr id="8" name="Text 5"/>
          <p:cNvSpPr txBox="1"/>
          <p:nvPr/>
        </p:nvSpPr>
        <p:spPr>
          <a:xfrm>
            <a:off x="1025872" y="2493615"/>
            <a:ext cx="47580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spc="90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TEMPO</a:t>
            </a:r>
            <a:endParaRPr lang="en-US" sz="640" dirty="0"/>
          </a:p>
        </p:txBody>
      </p:sp>
      <p:sp>
        <p:nvSpPr>
          <p:cNvPr id="9" name="Shape 6"/>
          <p:cNvSpPr/>
          <p:nvPr/>
        </p:nvSpPr>
        <p:spPr>
          <a:xfrm>
            <a:off x="1675358" y="2320528"/>
            <a:ext cx="287982" cy="287982"/>
          </a:xfrm>
          <a:prstGeom prst="ellipse">
            <a:avLst/>
          </a:prstGeom>
          <a:ln w="9525">
            <a:solidFill>
              <a:srgbClr val="2F2A25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8759" y="2383929"/>
            <a:ext cx="161181" cy="161181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053233" y="2340025"/>
            <a:ext cx="73610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740" b="1" spc="44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 PORÇÕES</a:t>
            </a:r>
            <a:endParaRPr lang="en-US" sz="740" dirty="0"/>
          </a:p>
        </p:txBody>
      </p:sp>
      <p:sp>
        <p:nvSpPr>
          <p:cNvPr id="12" name="Text 8"/>
          <p:cNvSpPr txBox="1"/>
          <p:nvPr/>
        </p:nvSpPr>
        <p:spPr>
          <a:xfrm>
            <a:off x="2053233" y="2493615"/>
            <a:ext cx="80992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spc="90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RENDIMENTO</a:t>
            </a:r>
            <a:endParaRPr lang="en-US" sz="640" dirty="0"/>
          </a:p>
        </p:txBody>
      </p:sp>
      <p:pic>
        <p:nvPicPr>
          <p:cNvPr id="13" name="Image 2" descr="/home/user/ebook-luq/versoes/VERSAO COM FOTOGRAFIAS/fotos/r2-3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615880" y="252115"/>
            <a:ext cx="2375892" cy="2375892"/>
          </a:xfrm>
          <a:prstGeom prst="ellipse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647998" y="3157091"/>
            <a:ext cx="2159943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647998" y="2951857"/>
            <a:ext cx="105891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60" b="1" spc="12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INGREDIENTES</a:t>
            </a:r>
            <a:endParaRPr lang="en-US" sz="760" dirty="0"/>
          </a:p>
        </p:txBody>
      </p:sp>
      <p:sp>
        <p:nvSpPr>
          <p:cNvPr id="16" name="Shape 11"/>
          <p:cNvSpPr/>
          <p:nvPr/>
        </p:nvSpPr>
        <p:spPr>
          <a:xfrm>
            <a:off x="665998" y="3333391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809998" y="3274516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 bananas-da-terra ou 4 bananas-prata firmes</a:t>
            </a:r>
            <a:endParaRPr lang="en-US" sz="890" dirty="0"/>
          </a:p>
        </p:txBody>
      </p:sp>
      <p:sp>
        <p:nvSpPr>
          <p:cNvPr id="18" name="Shape 13"/>
          <p:cNvSpPr/>
          <p:nvPr/>
        </p:nvSpPr>
        <p:spPr>
          <a:xfrm>
            <a:off x="665998" y="3714689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809998" y="3655814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 colheres (sopa) de açúcar mascavo</a:t>
            </a:r>
            <a:endParaRPr lang="en-US" sz="890" dirty="0"/>
          </a:p>
        </p:txBody>
      </p:sp>
      <p:sp>
        <p:nvSpPr>
          <p:cNvPr id="20" name="Shape 15"/>
          <p:cNvSpPr/>
          <p:nvPr/>
        </p:nvSpPr>
        <p:spPr>
          <a:xfrm>
            <a:off x="665998" y="4095987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809923" y="4037112"/>
            <a:ext cx="190890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colher (chá) de canela em pó</a:t>
            </a:r>
            <a:endParaRPr lang="en-US" sz="890" dirty="0"/>
          </a:p>
        </p:txBody>
      </p:sp>
      <p:sp>
        <p:nvSpPr>
          <p:cNvPr id="22" name="Shape 17"/>
          <p:cNvSpPr/>
          <p:nvPr/>
        </p:nvSpPr>
        <p:spPr>
          <a:xfrm>
            <a:off x="665998" y="4313573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809923" y="4254698"/>
            <a:ext cx="189890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 colheres (sopa) de manteiga</a:t>
            </a:r>
            <a:endParaRPr lang="en-US" sz="890" dirty="0"/>
          </a:p>
        </p:txBody>
      </p:sp>
      <p:sp>
        <p:nvSpPr>
          <p:cNvPr id="24" name="Shape 19"/>
          <p:cNvSpPr/>
          <p:nvPr/>
        </p:nvSpPr>
        <p:spPr>
          <a:xfrm>
            <a:off x="665998" y="4531160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5" name="Text 20"/>
          <p:cNvSpPr txBox="1"/>
          <p:nvPr/>
        </p:nvSpPr>
        <p:spPr>
          <a:xfrm>
            <a:off x="809923" y="4472285"/>
            <a:ext cx="160820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 ml de rum ou cachaça</a:t>
            </a:r>
            <a:endParaRPr lang="en-US" sz="890" dirty="0"/>
          </a:p>
        </p:txBody>
      </p:sp>
      <p:sp>
        <p:nvSpPr>
          <p:cNvPr id="26" name="Shape 21"/>
          <p:cNvSpPr/>
          <p:nvPr/>
        </p:nvSpPr>
        <p:spPr>
          <a:xfrm>
            <a:off x="665998" y="4748747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7" name="Text 22"/>
          <p:cNvSpPr txBox="1"/>
          <p:nvPr/>
        </p:nvSpPr>
        <p:spPr>
          <a:xfrm>
            <a:off x="809923" y="4689872"/>
            <a:ext cx="104596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Suco de 1 laranja</a:t>
            </a:r>
            <a:endParaRPr lang="en-US" sz="890" dirty="0"/>
          </a:p>
        </p:txBody>
      </p:sp>
      <p:sp>
        <p:nvSpPr>
          <p:cNvPr id="28" name="Shape 23"/>
          <p:cNvSpPr/>
          <p:nvPr/>
        </p:nvSpPr>
        <p:spPr>
          <a:xfrm>
            <a:off x="665998" y="4966334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9" name="Text 24"/>
          <p:cNvSpPr txBox="1"/>
          <p:nvPr/>
        </p:nvSpPr>
        <p:spPr>
          <a:xfrm>
            <a:off x="809923" y="4907459"/>
            <a:ext cx="90041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pitada de sal</a:t>
            </a:r>
            <a:endParaRPr lang="en-US" sz="890" dirty="0"/>
          </a:p>
        </p:txBody>
      </p:sp>
      <p:sp>
        <p:nvSpPr>
          <p:cNvPr id="30" name="Shape 25"/>
          <p:cNvSpPr/>
          <p:nvPr/>
        </p:nvSpPr>
        <p:spPr>
          <a:xfrm>
            <a:off x="665998" y="5183920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1" name="Text 26"/>
          <p:cNvSpPr txBox="1"/>
          <p:nvPr/>
        </p:nvSpPr>
        <p:spPr>
          <a:xfrm>
            <a:off x="809923" y="5125045"/>
            <a:ext cx="180489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Sorvete de creme para servir</a:t>
            </a:r>
            <a:endParaRPr lang="en-US" sz="890" dirty="0"/>
          </a:p>
        </p:txBody>
      </p:sp>
      <p:sp>
        <p:nvSpPr>
          <p:cNvPr id="32" name="Shape 27"/>
          <p:cNvSpPr/>
          <p:nvPr/>
        </p:nvSpPr>
        <p:spPr>
          <a:xfrm>
            <a:off x="3131939" y="3157091"/>
            <a:ext cx="3779937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3131939" y="2951857"/>
            <a:ext cx="141434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60" b="1" spc="12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MODO DE PREPARO</a:t>
            </a:r>
            <a:endParaRPr lang="en-US" sz="760" dirty="0"/>
          </a:p>
        </p:txBody>
      </p:sp>
      <p:sp>
        <p:nvSpPr>
          <p:cNvPr id="34" name="Shape 29"/>
          <p:cNvSpPr/>
          <p:nvPr/>
        </p:nvSpPr>
        <p:spPr>
          <a:xfrm>
            <a:off x="3131939" y="3275707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5" name="Text 30"/>
          <p:cNvSpPr txBox="1"/>
          <p:nvPr/>
        </p:nvSpPr>
        <p:spPr>
          <a:xfrm>
            <a:off x="3206651" y="3317974"/>
            <a:ext cx="14481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630" dirty="0"/>
          </a:p>
        </p:txBody>
      </p:sp>
      <p:sp>
        <p:nvSpPr>
          <p:cNvPr id="36" name="Text 31"/>
          <p:cNvSpPr txBox="1"/>
          <p:nvPr/>
        </p:nvSpPr>
        <p:spPr>
          <a:xfrm>
            <a:off x="3419773" y="3284041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Corte as bananas ao meio no sentido do comprimento (e ao meio na largura, se forem grandes).</a:t>
            </a:r>
            <a:endParaRPr lang="en-US" sz="930" dirty="0"/>
          </a:p>
        </p:txBody>
      </p:sp>
      <p:sp>
        <p:nvSpPr>
          <p:cNvPr id="37" name="Shape 32"/>
          <p:cNvSpPr/>
          <p:nvPr/>
        </p:nvSpPr>
        <p:spPr>
          <a:xfrm>
            <a:off x="3131939" y="3735288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8" name="Text 33"/>
          <p:cNvSpPr txBox="1"/>
          <p:nvPr/>
        </p:nvSpPr>
        <p:spPr>
          <a:xfrm>
            <a:off x="3198614" y="3777555"/>
            <a:ext cx="1607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630" dirty="0"/>
          </a:p>
        </p:txBody>
      </p:sp>
      <p:sp>
        <p:nvSpPr>
          <p:cNvPr id="39" name="Text 34"/>
          <p:cNvSpPr txBox="1"/>
          <p:nvPr/>
        </p:nvSpPr>
        <p:spPr>
          <a:xfrm>
            <a:off x="3419773" y="3743623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Misture o açúcar mascavo com a canela e o sal e polvilhe sobre o lado cortado das bananas, pressionando.</a:t>
            </a:r>
            <a:endParaRPr lang="en-US" sz="930" dirty="0"/>
          </a:p>
        </p:txBody>
      </p:sp>
      <p:sp>
        <p:nvSpPr>
          <p:cNvPr id="40" name="Shape 35"/>
          <p:cNvSpPr/>
          <p:nvPr/>
        </p:nvSpPr>
        <p:spPr>
          <a:xfrm>
            <a:off x="3131939" y="4194870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1" name="Text 36"/>
          <p:cNvSpPr txBox="1"/>
          <p:nvPr/>
        </p:nvSpPr>
        <p:spPr>
          <a:xfrm>
            <a:off x="3198614" y="4237137"/>
            <a:ext cx="1607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630" dirty="0"/>
          </a:p>
        </p:txBody>
      </p:sp>
      <p:sp>
        <p:nvSpPr>
          <p:cNvPr id="42" name="Text 37"/>
          <p:cNvSpPr txBox="1"/>
          <p:nvPr/>
        </p:nvSpPr>
        <p:spPr>
          <a:xfrm>
            <a:off x="3419773" y="4203204"/>
            <a:ext cx="3492103" cy="7111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Aqueça a manteiga numa frigideira até espumar. Coloque as bananas com o lado do açúcar para baixo e não mexa por 2 a 3 minutos, até formar uma crosta. Vire com cuidado.</a:t>
            </a:r>
            <a:endParaRPr lang="en-US" sz="930" dirty="0"/>
          </a:p>
        </p:txBody>
      </p:sp>
      <p:sp>
        <p:nvSpPr>
          <p:cNvPr id="43" name="Shape 38"/>
          <p:cNvSpPr/>
          <p:nvPr/>
        </p:nvSpPr>
        <p:spPr>
          <a:xfrm>
            <a:off x="3131939" y="5020568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4" name="Text 39"/>
          <p:cNvSpPr txBox="1"/>
          <p:nvPr/>
        </p:nvSpPr>
        <p:spPr>
          <a:xfrm>
            <a:off x="3194745" y="5062835"/>
            <a:ext cx="16847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630" dirty="0"/>
          </a:p>
        </p:txBody>
      </p:sp>
      <p:sp>
        <p:nvSpPr>
          <p:cNvPr id="45" name="Text 40"/>
          <p:cNvSpPr txBox="1"/>
          <p:nvPr/>
        </p:nvSpPr>
        <p:spPr>
          <a:xfrm>
            <a:off x="3419773" y="5028902"/>
            <a:ext cx="3492103" cy="8941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Flambe com segurança: desligue o fogo, coloque o rum medido num copinho e despeje na frigideira. Afaste o rosto, religue o fogo e incline levemente a frigideira (ou acenda com um fósforo longo). Deixe a chama apagar sozinha.</a:t>
            </a:r>
            <a:endParaRPr lang="en-US" sz="930" dirty="0"/>
          </a:p>
        </p:txBody>
      </p:sp>
      <p:sp>
        <p:nvSpPr>
          <p:cNvPr id="46" name="Shape 41"/>
          <p:cNvSpPr/>
          <p:nvPr/>
        </p:nvSpPr>
        <p:spPr>
          <a:xfrm>
            <a:off x="3131939" y="6029325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7" name="Text 42"/>
          <p:cNvSpPr txBox="1"/>
          <p:nvPr/>
        </p:nvSpPr>
        <p:spPr>
          <a:xfrm>
            <a:off x="3198465" y="6071592"/>
            <a:ext cx="16103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630" dirty="0"/>
          </a:p>
        </p:txBody>
      </p:sp>
      <p:sp>
        <p:nvSpPr>
          <p:cNvPr id="48" name="Text 43"/>
          <p:cNvSpPr txBox="1"/>
          <p:nvPr/>
        </p:nvSpPr>
        <p:spPr>
          <a:xfrm>
            <a:off x="3419773" y="6037659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Junte o suco de laranja e deixe borbulhar por 1 minuto, até formar uma calda.</a:t>
            </a:r>
            <a:endParaRPr lang="en-US" sz="930" dirty="0"/>
          </a:p>
        </p:txBody>
      </p:sp>
      <p:sp>
        <p:nvSpPr>
          <p:cNvPr id="49" name="Shape 44"/>
          <p:cNvSpPr/>
          <p:nvPr/>
        </p:nvSpPr>
        <p:spPr>
          <a:xfrm>
            <a:off x="3131939" y="6488906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50" name="Text 45"/>
          <p:cNvSpPr txBox="1"/>
          <p:nvPr/>
        </p:nvSpPr>
        <p:spPr>
          <a:xfrm>
            <a:off x="3196828" y="6531173"/>
            <a:ext cx="16445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</a:t>
            </a:r>
            <a:endParaRPr lang="en-US" sz="630" dirty="0"/>
          </a:p>
        </p:txBody>
      </p:sp>
      <p:sp>
        <p:nvSpPr>
          <p:cNvPr id="51" name="Text 46"/>
          <p:cNvSpPr txBox="1"/>
          <p:nvPr/>
        </p:nvSpPr>
        <p:spPr>
          <a:xfrm>
            <a:off x="3419773" y="6497241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Sirva as bananas quentes com a calda e uma bola de sorvete.</a:t>
            </a:r>
            <a:endParaRPr lang="en-US" sz="930" dirty="0"/>
          </a:p>
        </p:txBody>
      </p:sp>
      <p:sp>
        <p:nvSpPr>
          <p:cNvPr id="52" name="Shape 47"/>
          <p:cNvSpPr/>
          <p:nvPr/>
        </p:nvSpPr>
        <p:spPr>
          <a:xfrm>
            <a:off x="647998" y="9026723"/>
            <a:ext cx="6263878" cy="873175"/>
          </a:xfrm>
          <a:prstGeom prst="roundRect">
            <a:avLst>
              <a:gd name="adj" fmla="val 12953"/>
            </a:avLst>
          </a:prstGeom>
          <a:solidFill>
            <a:srgbClr val="EEE6D8"/>
          </a:solidFill>
          <a:ln/>
        </p:spPr>
      </p:sp>
      <p:sp>
        <p:nvSpPr>
          <p:cNvPr id="53" name="Shape 48"/>
          <p:cNvSpPr/>
          <p:nvPr/>
        </p:nvSpPr>
        <p:spPr>
          <a:xfrm>
            <a:off x="827931" y="9188648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5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9340" y="9270057"/>
            <a:ext cx="197048" cy="197048"/>
          </a:xfrm>
          <a:prstGeom prst="rect">
            <a:avLst/>
          </a:prstGeom>
        </p:spPr>
      </p:pic>
      <p:sp>
        <p:nvSpPr>
          <p:cNvPr id="55" name="Text 49"/>
          <p:cNvSpPr txBox="1"/>
          <p:nvPr/>
        </p:nvSpPr>
        <p:spPr>
          <a:xfrm>
            <a:off x="1331714" y="9188648"/>
            <a:ext cx="131733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12" kern="0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TOQUE DO MAMEDE</a:t>
            </a:r>
            <a:endParaRPr lang="en-US" sz="700" dirty="0"/>
          </a:p>
        </p:txBody>
      </p:sp>
      <p:sp>
        <p:nvSpPr>
          <p:cNvPr id="56" name="Text 50"/>
          <p:cNvSpPr txBox="1"/>
          <p:nvPr/>
        </p:nvSpPr>
        <p:spPr>
          <a:xfrm>
            <a:off x="1331714" y="9329291"/>
            <a:ext cx="5400229" cy="4138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150" i="1" dirty="0">
                <a:solidFill>
                  <a:srgbClr val="2F2A2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Nunca despeje a bebida direto da garrafa perto do fogo, e desligue o exaustor durante a flambagem. Flambar queima o álcool e deixa só o aroma da bebida na calda.</a:t>
            </a:r>
            <a:endParaRPr lang="en-US" sz="1150" dirty="0"/>
          </a:p>
        </p:txBody>
      </p:sp>
      <p:sp>
        <p:nvSpPr>
          <p:cNvPr id="57" name="Shape 51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58" name="Text 52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59" name="Text 53"/>
          <p:cNvSpPr txBox="1"/>
          <p:nvPr/>
        </p:nvSpPr>
        <p:spPr>
          <a:xfrm>
            <a:off x="6805761" y="10236845"/>
            <a:ext cx="22041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16</a:t>
            </a:r>
            <a:endParaRPr lang="en-US" sz="63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611981"/>
            <a:ext cx="55602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800" b="1" spc="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PULO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713929"/>
            <a:ext cx="1548027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0"/>
              </a:lnSpc>
              <a:buNone/>
            </a:pPr>
            <a:r>
              <a:rPr lang="en-US" sz="3400" spc="-17" kern="0" dirty="0">
                <a:solidFill>
                  <a:srgbClr val="4E5B38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do chef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7998" y="1392436"/>
            <a:ext cx="467916" cy="11311"/>
          </a:xfrm>
          <a:prstGeom prst="rect">
            <a:avLst/>
          </a:prstGeom>
          <a:solidFill>
            <a:srgbClr val="2F2A2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7998" y="1574304"/>
            <a:ext cx="3134225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20"/>
              </a:lnSpc>
              <a:buNone/>
            </a:pPr>
            <a:r>
              <a:rPr lang="en-US" sz="1700" i="1" dirty="0">
                <a:solidFill>
                  <a:srgbClr val="C255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Banana que vira papa na frigideira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47998" y="2033587"/>
            <a:ext cx="2703909" cy="2798118"/>
          </a:xfrm>
          <a:prstGeom prst="roundRect">
            <a:avLst>
              <a:gd name="adj" fmla="val 1351"/>
            </a:avLst>
          </a:prstGeom>
          <a:solidFill>
            <a:srgbClr val="FBF8F3"/>
          </a:solidFill>
          <a:ln w="9525">
            <a:solidFill>
              <a:srgbClr val="DDD2C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37456" y="2223046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C2552D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865" y="2304455"/>
            <a:ext cx="197048" cy="19704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323231" y="2341066"/>
            <a:ext cx="61510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800" b="1" spc="11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ERRO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37456" y="2727871"/>
            <a:ext cx="2324993" cy="734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Colocar a banana em frigideira morna e ficar mexendo. Ela solta líquido, cozinha no próprio vapor e desmancha antes de dourar.</a:t>
            </a:r>
            <a:endParaRPr lang="en-US" sz="940" dirty="0"/>
          </a:p>
        </p:txBody>
      </p:sp>
      <p:sp>
        <p:nvSpPr>
          <p:cNvPr id="11" name="Shape 8"/>
          <p:cNvSpPr/>
          <p:nvPr/>
        </p:nvSpPr>
        <p:spPr>
          <a:xfrm>
            <a:off x="3531840" y="2033587"/>
            <a:ext cx="3380036" cy="2798118"/>
          </a:xfrm>
          <a:prstGeom prst="roundRect">
            <a:avLst>
              <a:gd name="adj" fmla="val 1261"/>
            </a:avLst>
          </a:prstGeom>
          <a:solidFill>
            <a:srgbClr val="EEE6D8"/>
          </a:solidFill>
          <a:ln/>
        </p:spPr>
      </p:sp>
      <p:sp>
        <p:nvSpPr>
          <p:cNvPr id="12" name="Shape 9"/>
          <p:cNvSpPr/>
          <p:nvPr/>
        </p:nvSpPr>
        <p:spPr>
          <a:xfrm>
            <a:off x="3711773" y="2213521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3182" y="2294930"/>
            <a:ext cx="197048" cy="197048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4197548" y="2331541"/>
            <a:ext cx="81036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800" b="1" spc="11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TÉCNICA</a:t>
            </a:r>
            <a:endParaRPr lang="en-US" sz="800" dirty="0"/>
          </a:p>
        </p:txBody>
      </p:sp>
      <p:sp>
        <p:nvSpPr>
          <p:cNvPr id="15" name="Text 11"/>
          <p:cNvSpPr txBox="1"/>
          <p:nvPr/>
        </p:nvSpPr>
        <p:spPr>
          <a:xfrm>
            <a:off x="3711773" y="2699296"/>
            <a:ext cx="133350" cy="1850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940" dirty="0"/>
          </a:p>
        </p:txBody>
      </p:sp>
      <p:sp>
        <p:nvSpPr>
          <p:cNvPr id="16" name="Text 12"/>
          <p:cNvSpPr txBox="1"/>
          <p:nvPr/>
        </p:nvSpPr>
        <p:spPr>
          <a:xfrm>
            <a:off x="3873774" y="2718346"/>
            <a:ext cx="2858169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Frigideira quente de verdade</a:t>
            </a:r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, com a gordura já brilhando, antes de a banana entrar.</a:t>
            </a:r>
            <a:endParaRPr lang="en-US" sz="940" dirty="0"/>
          </a:p>
        </p:txBody>
      </p:sp>
      <p:sp>
        <p:nvSpPr>
          <p:cNvPr id="17" name="Text 13"/>
          <p:cNvSpPr txBox="1"/>
          <p:nvPr/>
        </p:nvSpPr>
        <p:spPr>
          <a:xfrm>
            <a:off x="3711773" y="3141166"/>
            <a:ext cx="133350" cy="1850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940" dirty="0"/>
          </a:p>
        </p:txBody>
      </p:sp>
      <p:sp>
        <p:nvSpPr>
          <p:cNvPr id="18" name="Text 14"/>
          <p:cNvSpPr txBox="1"/>
          <p:nvPr/>
        </p:nvSpPr>
        <p:spPr>
          <a:xfrm>
            <a:off x="3873774" y="3160216"/>
            <a:ext cx="2858169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Espaço:</a:t>
            </a:r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não amontoe. Se precisar, doure em duas levas.</a:t>
            </a:r>
            <a:endParaRPr lang="en-US" sz="940" dirty="0"/>
          </a:p>
        </p:txBody>
      </p:sp>
      <p:sp>
        <p:nvSpPr>
          <p:cNvPr id="19" name="Text 15"/>
          <p:cNvSpPr txBox="1"/>
          <p:nvPr/>
        </p:nvSpPr>
        <p:spPr>
          <a:xfrm>
            <a:off x="3711773" y="3583037"/>
            <a:ext cx="133350" cy="1850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940" dirty="0"/>
          </a:p>
        </p:txBody>
      </p:sp>
      <p:sp>
        <p:nvSpPr>
          <p:cNvPr id="20" name="Text 16"/>
          <p:cNvSpPr txBox="1"/>
          <p:nvPr/>
        </p:nvSpPr>
        <p:spPr>
          <a:xfrm>
            <a:off x="3873774" y="3602087"/>
            <a:ext cx="2858169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Não mexa:</a:t>
            </a:r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deixe 2 minutos parada e vire uma única vez.</a:t>
            </a:r>
            <a:endParaRPr lang="en-US" sz="940" dirty="0"/>
          </a:p>
        </p:txBody>
      </p:sp>
      <p:sp>
        <p:nvSpPr>
          <p:cNvPr id="21" name="Text 17"/>
          <p:cNvSpPr txBox="1"/>
          <p:nvPr/>
        </p:nvSpPr>
        <p:spPr>
          <a:xfrm>
            <a:off x="3711773" y="4024908"/>
            <a:ext cx="133350" cy="1850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940" dirty="0"/>
          </a:p>
        </p:txBody>
      </p:sp>
      <p:sp>
        <p:nvSpPr>
          <p:cNvPr id="22" name="Text 18"/>
          <p:cNvSpPr txBox="1"/>
          <p:nvPr/>
        </p:nvSpPr>
        <p:spPr>
          <a:xfrm>
            <a:off x="3873774" y="4043958"/>
            <a:ext cx="2858169" cy="53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Banana no ponto:</a:t>
            </a:r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amarela com pintinhas. Preta demais desmancha; verde demais não carameliza.</a:t>
            </a:r>
            <a:endParaRPr lang="en-US" sz="940" dirty="0"/>
          </a:p>
        </p:txBody>
      </p:sp>
      <p:sp>
        <p:nvSpPr>
          <p:cNvPr id="23" name="Text 19"/>
          <p:cNvSpPr txBox="1"/>
          <p:nvPr/>
        </p:nvSpPr>
        <p:spPr>
          <a:xfrm>
            <a:off x="647998" y="5155704"/>
            <a:ext cx="64665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800" b="1" spc="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NÃO TEM</a:t>
            </a:r>
            <a:endParaRPr lang="en-US" sz="800" dirty="0"/>
          </a:p>
        </p:txBody>
      </p:sp>
      <p:sp>
        <p:nvSpPr>
          <p:cNvPr id="24" name="Text 20"/>
          <p:cNvSpPr txBox="1"/>
          <p:nvPr/>
        </p:nvSpPr>
        <p:spPr>
          <a:xfrm>
            <a:off x="647998" y="5267176"/>
            <a:ext cx="857399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700" spc="-14" kern="0" dirty="0">
                <a:solidFill>
                  <a:srgbClr val="4E5B38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isso?</a:t>
            </a:r>
            <a:endParaRPr lang="en-US" sz="2700" dirty="0"/>
          </a:p>
        </p:txBody>
      </p:sp>
      <p:sp>
        <p:nvSpPr>
          <p:cNvPr id="25" name="Shape 21"/>
          <p:cNvSpPr/>
          <p:nvPr/>
        </p:nvSpPr>
        <p:spPr>
          <a:xfrm>
            <a:off x="647998" y="5845522"/>
            <a:ext cx="467916" cy="11311"/>
          </a:xfrm>
          <a:prstGeom prst="rect">
            <a:avLst/>
          </a:prstGeom>
          <a:solidFill>
            <a:srgbClr val="2F2A25"/>
          </a:solidFill>
          <a:ln/>
        </p:spPr>
      </p:sp>
      <p:sp>
        <p:nvSpPr>
          <p:cNvPr id="26" name="Shape 22"/>
          <p:cNvSpPr/>
          <p:nvPr/>
        </p:nvSpPr>
        <p:spPr>
          <a:xfrm>
            <a:off x="647998" y="6072783"/>
            <a:ext cx="1655862" cy="291703"/>
          </a:xfrm>
          <a:prstGeom prst="roundRect">
            <a:avLst>
              <a:gd name="adj" fmla="val 77373"/>
            </a:avLst>
          </a:prstGeom>
          <a:solidFill>
            <a:srgbClr val="4E5B38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791914" y="6166247"/>
            <a:ext cx="99625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spc="109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 NÃO TIVER…</a:t>
            </a:r>
            <a:endParaRPr lang="en-US" sz="680" dirty="0"/>
          </a:p>
        </p:txBody>
      </p:sp>
      <p:sp>
        <p:nvSpPr>
          <p:cNvPr id="28" name="Shape 24"/>
          <p:cNvSpPr/>
          <p:nvPr/>
        </p:nvSpPr>
        <p:spPr>
          <a:xfrm>
            <a:off x="2303859" y="6072783"/>
            <a:ext cx="4608016" cy="291703"/>
          </a:xfrm>
          <a:prstGeom prst="rect">
            <a:avLst/>
          </a:prstGeom>
          <a:solidFill>
            <a:srgbClr val="4E5B38"/>
          </a:solidFill>
          <a:ln/>
        </p:spPr>
      </p:sp>
      <p:sp>
        <p:nvSpPr>
          <p:cNvPr id="29" name="Text 25"/>
          <p:cNvSpPr txBox="1"/>
          <p:nvPr/>
        </p:nvSpPr>
        <p:spPr>
          <a:xfrm>
            <a:off x="2447776" y="6166247"/>
            <a:ext cx="41999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spc="109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USE…</a:t>
            </a:r>
            <a:endParaRPr lang="en-US" sz="680" dirty="0"/>
          </a:p>
        </p:txBody>
      </p:sp>
      <p:sp>
        <p:nvSpPr>
          <p:cNvPr id="30" name="Shape 26"/>
          <p:cNvSpPr/>
          <p:nvPr/>
        </p:nvSpPr>
        <p:spPr>
          <a:xfrm>
            <a:off x="647998" y="6731347"/>
            <a:ext cx="1655862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791914" y="6457950"/>
            <a:ext cx="103837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4E5B38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Banana-da-terra</a:t>
            </a:r>
            <a:endParaRPr lang="en-US" sz="1000" dirty="0"/>
          </a:p>
        </p:txBody>
      </p:sp>
      <p:sp>
        <p:nvSpPr>
          <p:cNvPr id="32" name="Shape 28"/>
          <p:cNvSpPr/>
          <p:nvPr/>
        </p:nvSpPr>
        <p:spPr>
          <a:xfrm>
            <a:off x="2303859" y="6731347"/>
            <a:ext cx="4608016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2447776" y="6467475"/>
            <a:ext cx="482760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92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Banana-prata firme (cozinha mais rápido: reduza os tempos pela metade).</a:t>
            </a:r>
            <a:endParaRPr lang="en-US" sz="920" dirty="0"/>
          </a:p>
        </p:txBody>
      </p:sp>
      <p:sp>
        <p:nvSpPr>
          <p:cNvPr id="34" name="Shape 30"/>
          <p:cNvSpPr/>
          <p:nvPr/>
        </p:nvSpPr>
        <p:spPr>
          <a:xfrm>
            <a:off x="647998" y="7102971"/>
            <a:ext cx="1655862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791914" y="6829574"/>
            <a:ext cx="100607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4E5B38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Azeite de dendê</a:t>
            </a:r>
            <a:endParaRPr lang="en-US" sz="1000" dirty="0"/>
          </a:p>
        </p:txBody>
      </p:sp>
      <p:sp>
        <p:nvSpPr>
          <p:cNvPr id="36" name="Shape 32"/>
          <p:cNvSpPr/>
          <p:nvPr/>
        </p:nvSpPr>
        <p:spPr>
          <a:xfrm>
            <a:off x="2303859" y="7102971"/>
            <a:ext cx="4608016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2447776" y="6839099"/>
            <a:ext cx="399850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92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Azeite comum com 1 colher (chá) de colorau ou páprica doce.</a:t>
            </a:r>
            <a:endParaRPr lang="en-US" sz="920" dirty="0"/>
          </a:p>
        </p:txBody>
      </p:sp>
      <p:sp>
        <p:nvSpPr>
          <p:cNvPr id="38" name="Shape 34"/>
          <p:cNvSpPr/>
          <p:nvPr/>
        </p:nvSpPr>
        <p:spPr>
          <a:xfrm>
            <a:off x="647998" y="7474595"/>
            <a:ext cx="1655862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791914" y="7201198"/>
            <a:ext cx="84832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4E5B38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Leite de coco</a:t>
            </a:r>
            <a:endParaRPr lang="en-US" sz="1000" dirty="0"/>
          </a:p>
        </p:txBody>
      </p:sp>
      <p:sp>
        <p:nvSpPr>
          <p:cNvPr id="40" name="Shape 36"/>
          <p:cNvSpPr/>
          <p:nvPr/>
        </p:nvSpPr>
        <p:spPr>
          <a:xfrm>
            <a:off x="2303859" y="7474595"/>
            <a:ext cx="4608016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2447776" y="7210723"/>
            <a:ext cx="341676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92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Creme de leite com 2 colheres (sopa) de coco ralado.</a:t>
            </a:r>
            <a:endParaRPr lang="en-US" sz="920" dirty="0"/>
          </a:p>
        </p:txBody>
      </p:sp>
      <p:sp>
        <p:nvSpPr>
          <p:cNvPr id="42" name="Shape 38"/>
          <p:cNvSpPr/>
          <p:nvPr/>
        </p:nvSpPr>
        <p:spPr>
          <a:xfrm>
            <a:off x="647998" y="8021389"/>
            <a:ext cx="1655862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791914" y="7572821"/>
            <a:ext cx="1024086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4E5B38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Rum ou cachaça</a:t>
            </a:r>
            <a:endParaRPr lang="en-US" sz="1000" dirty="0"/>
          </a:p>
        </p:txBody>
      </p:sp>
      <p:sp>
        <p:nvSpPr>
          <p:cNvPr id="44" name="Shape 40"/>
          <p:cNvSpPr/>
          <p:nvPr/>
        </p:nvSpPr>
        <p:spPr>
          <a:xfrm>
            <a:off x="2303859" y="8021389"/>
            <a:ext cx="4608016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2447859" y="7582346"/>
            <a:ext cx="4320017" cy="337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92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Conhaque ou uísque. Sem álcool: dobre o suco de laranja e pule a flambagem.</a:t>
            </a:r>
            <a:endParaRPr lang="en-US" sz="920" dirty="0"/>
          </a:p>
        </p:txBody>
      </p:sp>
      <p:sp>
        <p:nvSpPr>
          <p:cNvPr id="46" name="Shape 42"/>
          <p:cNvSpPr/>
          <p:nvPr/>
        </p:nvSpPr>
        <p:spPr>
          <a:xfrm>
            <a:off x="647998" y="8393013"/>
            <a:ext cx="1655862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791914" y="8119616"/>
            <a:ext cx="102810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4E5B38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Açúcar mascavo</a:t>
            </a:r>
            <a:endParaRPr lang="en-US" sz="1000" dirty="0"/>
          </a:p>
        </p:txBody>
      </p:sp>
      <p:sp>
        <p:nvSpPr>
          <p:cNvPr id="48" name="Shape 44"/>
          <p:cNvSpPr/>
          <p:nvPr/>
        </p:nvSpPr>
        <p:spPr>
          <a:xfrm>
            <a:off x="2303859" y="8393013"/>
            <a:ext cx="4608016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2447776" y="8129141"/>
            <a:ext cx="435904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92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Açúcar demerara, ou açúcar comum com 1 colher (chá) de melado.</a:t>
            </a:r>
            <a:endParaRPr lang="en-US" sz="920" dirty="0"/>
          </a:p>
        </p:txBody>
      </p:sp>
      <p:sp>
        <p:nvSpPr>
          <p:cNvPr id="50" name="Shape 46"/>
          <p:cNvSpPr/>
          <p:nvPr/>
        </p:nvSpPr>
        <p:spPr>
          <a:xfrm>
            <a:off x="647998" y="8764637"/>
            <a:ext cx="1655862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791914" y="8491240"/>
            <a:ext cx="86379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4E5B38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Noz-moscada</a:t>
            </a:r>
            <a:endParaRPr lang="en-US" sz="1000" dirty="0"/>
          </a:p>
        </p:txBody>
      </p:sp>
      <p:sp>
        <p:nvSpPr>
          <p:cNvPr id="52" name="Shape 48"/>
          <p:cNvSpPr/>
          <p:nvPr/>
        </p:nvSpPr>
        <p:spPr>
          <a:xfrm>
            <a:off x="2303859" y="8764637"/>
            <a:ext cx="4608016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2447776" y="8500765"/>
            <a:ext cx="270533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92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Uma pitada de canela ou de cravo em pó.</a:t>
            </a:r>
            <a:endParaRPr lang="en-US" sz="920" dirty="0"/>
          </a:p>
        </p:txBody>
      </p:sp>
      <p:sp>
        <p:nvSpPr>
          <p:cNvPr id="54" name="Shape 50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56" name="Text 52"/>
          <p:cNvSpPr txBox="1"/>
          <p:nvPr/>
        </p:nvSpPr>
        <p:spPr>
          <a:xfrm>
            <a:off x="6807250" y="10236845"/>
            <a:ext cx="21892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17</a:t>
            </a:r>
            <a:endParaRPr lang="en-US" sz="63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827931"/>
            <a:ext cx="77256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800" b="1" spc="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APROVEITA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929878"/>
            <a:ext cx="2695004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0"/>
              </a:lnSpc>
              <a:buNone/>
            </a:pPr>
            <a:r>
              <a:rPr lang="en-US" sz="3400" spc="-17" kern="0" dirty="0">
                <a:solidFill>
                  <a:srgbClr val="4E5B38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isso também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7998" y="1608386"/>
            <a:ext cx="467916" cy="11311"/>
          </a:xfrm>
          <a:prstGeom prst="rect">
            <a:avLst/>
          </a:prstGeom>
          <a:solidFill>
            <a:srgbClr val="2F2A2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7998" y="1854696"/>
            <a:ext cx="424286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2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Cascas, talos, ramas e aparas: o que ia para o lixo vira sabor.</a:t>
            </a:r>
            <a:endParaRPr lang="en-US" sz="1020" dirty="0"/>
          </a:p>
        </p:txBody>
      </p:sp>
      <p:sp>
        <p:nvSpPr>
          <p:cNvPr id="6" name="Shape 4"/>
          <p:cNvSpPr/>
          <p:nvPr/>
        </p:nvSpPr>
        <p:spPr>
          <a:xfrm>
            <a:off x="647998" y="2258764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9407" y="2340173"/>
            <a:ext cx="197048" cy="19704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169789" y="2258764"/>
            <a:ext cx="345659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en-US" sz="10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Casca: “carne” vegetal desfiada e temperada</a:t>
            </a:r>
            <a:endParaRPr lang="en-US" sz="1060" dirty="0"/>
          </a:p>
        </p:txBody>
      </p:sp>
      <p:sp>
        <p:nvSpPr>
          <p:cNvPr id="9" name="Text 6"/>
          <p:cNvSpPr txBox="1"/>
          <p:nvPr/>
        </p:nvSpPr>
        <p:spPr>
          <a:xfrm>
            <a:off x="1169789" y="2492425"/>
            <a:ext cx="3366195" cy="1938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96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Funciona melhor com cascas de banana-prata ou nanica, maduras e bem lavadas (a da banana-da-terra é mais grossa: cozinhe antes por 15 minutos em água). Corte as pontas e desfie as cascas no comprimento com um garfo. Deixe de molho em água com limão por 10 minutos e escorra. Refogue cebola, alho e tomate, junte as cascas, cominho, páprica e colorau e cozinhe em fogo baixo, tampado, por 15 a 20 minutos, pingando água se secar. Ajuste o sal e finalize com cheiro-verde.</a:t>
            </a:r>
            <a:endParaRPr lang="en-US" sz="960" dirty="0"/>
          </a:p>
        </p:txBody>
      </p:sp>
      <p:sp>
        <p:nvSpPr>
          <p:cNvPr id="10" name="Shape 7"/>
          <p:cNvSpPr/>
          <p:nvPr/>
        </p:nvSpPr>
        <p:spPr>
          <a:xfrm>
            <a:off x="647998" y="4662785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407" y="4744194"/>
            <a:ext cx="197048" cy="19704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169789" y="4662785"/>
            <a:ext cx="832396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en-US" sz="10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Onde usar</a:t>
            </a:r>
            <a:endParaRPr lang="en-US" sz="1060" dirty="0"/>
          </a:p>
        </p:txBody>
      </p:sp>
      <p:sp>
        <p:nvSpPr>
          <p:cNvPr id="13" name="Text 9"/>
          <p:cNvSpPr txBox="1"/>
          <p:nvPr/>
        </p:nvSpPr>
        <p:spPr>
          <a:xfrm>
            <a:off x="1169789" y="4896445"/>
            <a:ext cx="3366195" cy="753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96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Recheio de pastel, tapioca e torta; fricassê com creme de leite e queijo gratinado; refogado para servir com arroz e feijão. Com as cascas de 5 bananas você faz recheio para uns 10 pastéis.</a:t>
            </a:r>
            <a:endParaRPr lang="en-US" sz="960" dirty="0"/>
          </a:p>
        </p:txBody>
      </p:sp>
      <p:sp>
        <p:nvSpPr>
          <p:cNvPr id="14" name="Shape 10"/>
          <p:cNvSpPr/>
          <p:nvPr/>
        </p:nvSpPr>
        <p:spPr>
          <a:xfrm>
            <a:off x="4895999" y="0"/>
            <a:ext cx="2663875" cy="10691961"/>
          </a:xfrm>
          <a:prstGeom prst="rect">
            <a:avLst/>
          </a:prstGeom>
          <a:solidFill>
            <a:srgbClr val="EEE6D8"/>
          </a:solidFill>
          <a:ln/>
        </p:spPr>
      </p:sp>
      <p:pic>
        <p:nvPicPr>
          <p:cNvPr id="15" name="Image 2" descr="/home/user/ebook-luq/versoes/VERSAO COM FOTOGRAFIAS/fotos/aproveita2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392067" y="791914"/>
            <a:ext cx="2735907" cy="2735907"/>
          </a:xfrm>
          <a:prstGeom prst="ellipse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4895999" y="8459986"/>
            <a:ext cx="2663875" cy="2231975"/>
          </a:xfrm>
          <a:prstGeom prst="rect">
            <a:avLst/>
          </a:prstGeom>
          <a:solidFill>
            <a:srgbClr val="4E5B38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3904" y="9341941"/>
            <a:ext cx="467916" cy="467916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647998" y="10133856"/>
            <a:ext cx="3600004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20" name="Text 14"/>
          <p:cNvSpPr txBox="1"/>
          <p:nvPr/>
        </p:nvSpPr>
        <p:spPr>
          <a:xfrm>
            <a:off x="4139952" y="10236845"/>
            <a:ext cx="22234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18</a:t>
            </a:r>
            <a:endParaRPr lang="en-US" sz="63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755898"/>
            <a:ext cx="78953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800" b="1" spc="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CAPÍTULO 3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838795"/>
            <a:ext cx="3527971" cy="1232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80"/>
              </a:lnSpc>
              <a:buNone/>
            </a:pPr>
            <a:r>
              <a:rPr lang="en-US" sz="4000" spc="-20" kern="0" dirty="0">
                <a:solidFill>
                  <a:srgbClr val="C2552D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Sobrecoxa de Frango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47998" y="2132112"/>
            <a:ext cx="467916" cy="11311"/>
          </a:xfrm>
          <a:prstGeom prst="rect">
            <a:avLst/>
          </a:prstGeom>
          <a:solidFill>
            <a:srgbClr val="2F2A2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7998" y="2287488"/>
            <a:ext cx="103599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400" i="1" dirty="0">
                <a:solidFill>
                  <a:srgbClr val="6B645B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com osso e pele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7998" y="2715071"/>
            <a:ext cx="3527971" cy="7929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2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proteína é um dos itens que mais pesam no orçamento da família. A sobrecoxa é muito mais saborosa, suculenta e barata que o peito, e com técnica de chef você passa a dominá-la.</a:t>
            </a:r>
            <a:endParaRPr lang="en-US" sz="1020" dirty="0"/>
          </a:p>
        </p:txBody>
      </p:sp>
      <p:pic>
        <p:nvPicPr>
          <p:cNvPr id="7" name="Image 0" descr="/home/user/ebook-luq/versoes/VERSAO COM FOTOGRAFIAS/fotos/cap3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823966" y="396032"/>
            <a:ext cx="3311872" cy="3311872"/>
          </a:xfrm>
          <a:prstGeom prst="ellipse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47998" y="3779937"/>
            <a:ext cx="108663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INGREDIENTE</a:t>
            </a:r>
            <a:endParaRPr lang="en-US" sz="700" dirty="0"/>
          </a:p>
        </p:txBody>
      </p:sp>
      <p:sp>
        <p:nvSpPr>
          <p:cNvPr id="9" name="Text 6"/>
          <p:cNvSpPr txBox="1"/>
          <p:nvPr/>
        </p:nvSpPr>
        <p:spPr>
          <a:xfrm>
            <a:off x="647998" y="4003179"/>
            <a:ext cx="6263878" cy="3876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9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 existe um corte que perdoa, é a sobrecoxa. Por ser carne escura, tem mais gordura e mais colágeno: aguenta mais tempo de fogo, continua suculenta e tem muito mais sabor que o peito.</a:t>
            </a:r>
            <a:endParaRPr lang="en-US" sz="990" dirty="0"/>
          </a:p>
        </p:txBody>
      </p:sp>
      <p:sp>
        <p:nvSpPr>
          <p:cNvPr id="10" name="Text 7"/>
          <p:cNvSpPr txBox="1"/>
          <p:nvPr/>
        </p:nvSpPr>
        <p:spPr>
          <a:xfrm>
            <a:off x="647998" y="4529882"/>
            <a:ext cx="6263878" cy="6039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9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 ela vem com dois presentes que quase todo mundo joga fora. A pele, que bem trabalhada fica crocante como um torresmo. E o osso, que vira um caldo capaz de transformar qualquer arroz, molho ou sopa.</a:t>
            </a:r>
            <a:endParaRPr lang="en-US" sz="990" dirty="0"/>
          </a:p>
        </p:txBody>
      </p:sp>
      <p:sp>
        <p:nvSpPr>
          <p:cNvPr id="11" name="Text 8"/>
          <p:cNvSpPr txBox="1"/>
          <p:nvPr/>
        </p:nvSpPr>
        <p:spPr>
          <a:xfrm>
            <a:off x="647998" y="5272832"/>
            <a:ext cx="6263878" cy="3876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9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Neste capítulo, a mesma peça vai para a frigideira, para a panela e para o forno, cada vez com uma técnica e um resultado diferentes.</a:t>
            </a:r>
            <a:endParaRPr lang="en-US" sz="990" dirty="0"/>
          </a:p>
        </p:txBody>
      </p:sp>
      <p:sp>
        <p:nvSpPr>
          <p:cNvPr id="12" name="Text 9"/>
          <p:cNvSpPr txBox="1"/>
          <p:nvPr/>
        </p:nvSpPr>
        <p:spPr>
          <a:xfrm>
            <a:off x="647998" y="5892701"/>
            <a:ext cx="16477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AS 3 TRANSFORMAÇÕES</a:t>
            </a:r>
            <a:endParaRPr lang="en-US" sz="700" dirty="0"/>
          </a:p>
        </p:txBody>
      </p:sp>
      <p:sp>
        <p:nvSpPr>
          <p:cNvPr id="13" name="Shape 10"/>
          <p:cNvSpPr/>
          <p:nvPr/>
        </p:nvSpPr>
        <p:spPr>
          <a:xfrm>
            <a:off x="647998" y="6748909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47998" y="6287393"/>
            <a:ext cx="251966" cy="251966"/>
          </a:xfrm>
          <a:prstGeom prst="ellipse">
            <a:avLst/>
          </a:prstGeom>
          <a:solidFill>
            <a:srgbClr val="C2552D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28514" y="6360914"/>
            <a:ext cx="20508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</a:t>
            </a:r>
            <a:endParaRPr lang="en-US" sz="680" dirty="0"/>
          </a:p>
        </p:txBody>
      </p:sp>
      <p:sp>
        <p:nvSpPr>
          <p:cNvPr id="16" name="Text 13"/>
          <p:cNvSpPr txBox="1"/>
          <p:nvPr/>
        </p:nvSpPr>
        <p:spPr>
          <a:xfrm>
            <a:off x="1025872" y="6202561"/>
            <a:ext cx="162937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b="1" spc="115" kern="0" dirty="0">
                <a:solidFill>
                  <a:srgbClr val="C255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TÉCNICA DA FRIGIDEIRA</a:t>
            </a:r>
            <a:endParaRPr lang="en-US" sz="640" dirty="0"/>
          </a:p>
        </p:txBody>
      </p:sp>
      <p:sp>
        <p:nvSpPr>
          <p:cNvPr id="17" name="Text 14"/>
          <p:cNvSpPr txBox="1"/>
          <p:nvPr/>
        </p:nvSpPr>
        <p:spPr>
          <a:xfrm>
            <a:off x="1025872" y="6319391"/>
            <a:ext cx="431988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Sobrecoxa desossada com pele ultracrocante ao molho rústico de limão e alho </a:t>
            </a:r>
            <a:pPr algn="l" indent="0" marL="0">
              <a:lnSpc>
                <a:spcPts val="1250"/>
              </a:lnSpc>
              <a:buNone/>
            </a:pPr>
            <a:r>
              <a:rPr lang="en-US" sz="1000" i="1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(a pele mais crocante que você já fez)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5471666" y="6454062"/>
            <a:ext cx="1062335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19" name="Text 16"/>
          <p:cNvSpPr txBox="1"/>
          <p:nvPr/>
        </p:nvSpPr>
        <p:spPr>
          <a:xfrm>
            <a:off x="6692503" y="6346627"/>
            <a:ext cx="21937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8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21</a:t>
            </a:r>
            <a:endParaRPr lang="en-US" sz="860" dirty="0"/>
          </a:p>
        </p:txBody>
      </p:sp>
      <p:sp>
        <p:nvSpPr>
          <p:cNvPr id="20" name="Shape 17"/>
          <p:cNvSpPr/>
          <p:nvPr/>
        </p:nvSpPr>
        <p:spPr>
          <a:xfrm>
            <a:off x="647998" y="7410450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47998" y="6948934"/>
            <a:ext cx="251966" cy="251966"/>
          </a:xfrm>
          <a:prstGeom prst="ellipse">
            <a:avLst/>
          </a:prstGeom>
          <a:solidFill>
            <a:srgbClr val="C2552D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719882" y="7022455"/>
            <a:ext cx="22234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680" dirty="0"/>
          </a:p>
        </p:txBody>
      </p:sp>
      <p:sp>
        <p:nvSpPr>
          <p:cNvPr id="23" name="Text 20"/>
          <p:cNvSpPr txBox="1"/>
          <p:nvPr/>
        </p:nvSpPr>
        <p:spPr>
          <a:xfrm>
            <a:off x="1025872" y="6864102"/>
            <a:ext cx="130299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b="1" spc="115" kern="0" dirty="0">
                <a:solidFill>
                  <a:srgbClr val="C255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COZIMENTO LENTO</a:t>
            </a:r>
            <a:endParaRPr lang="en-US" sz="640" dirty="0"/>
          </a:p>
        </p:txBody>
      </p:sp>
      <p:sp>
        <p:nvSpPr>
          <p:cNvPr id="24" name="Text 21"/>
          <p:cNvSpPr txBox="1"/>
          <p:nvPr/>
        </p:nvSpPr>
        <p:spPr>
          <a:xfrm>
            <a:off x="1025872" y="6980932"/>
            <a:ext cx="431988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Frango desfiado suculento ao molho de tomate caseiro e ervas </a:t>
            </a:r>
            <a:pPr algn="l" indent="0" marL="0">
              <a:lnSpc>
                <a:spcPts val="1250"/>
              </a:lnSpc>
              <a:buNone/>
            </a:pPr>
            <a:r>
              <a:rPr lang="en-US" sz="1000" i="1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(para massas, tortas e sanduíches)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5471666" y="7115603"/>
            <a:ext cx="1062335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26" name="Text 23"/>
          <p:cNvSpPr txBox="1"/>
          <p:nvPr/>
        </p:nvSpPr>
        <p:spPr>
          <a:xfrm>
            <a:off x="6670477" y="7008168"/>
            <a:ext cx="24139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8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22</a:t>
            </a:r>
            <a:endParaRPr lang="en-US" sz="860" dirty="0"/>
          </a:p>
        </p:txBody>
      </p:sp>
      <p:sp>
        <p:nvSpPr>
          <p:cNvPr id="27" name="Shape 24"/>
          <p:cNvSpPr/>
          <p:nvPr/>
        </p:nvSpPr>
        <p:spPr>
          <a:xfrm>
            <a:off x="647998" y="8071991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47998" y="7610475"/>
            <a:ext cx="251966" cy="251966"/>
          </a:xfrm>
          <a:prstGeom prst="ellipse">
            <a:avLst/>
          </a:prstGeom>
          <a:solidFill>
            <a:srgbClr val="C2552D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720328" y="7683996"/>
            <a:ext cx="22160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680" dirty="0"/>
          </a:p>
        </p:txBody>
      </p:sp>
      <p:sp>
        <p:nvSpPr>
          <p:cNvPr id="30" name="Text 27"/>
          <p:cNvSpPr txBox="1"/>
          <p:nvPr/>
        </p:nvSpPr>
        <p:spPr>
          <a:xfrm>
            <a:off x="1025872" y="7525643"/>
            <a:ext cx="155469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b="1" spc="115" kern="0" dirty="0">
                <a:solidFill>
                  <a:srgbClr val="C255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ASSADO TECNOLÓGICO</a:t>
            </a:r>
            <a:endParaRPr lang="en-US" sz="640" dirty="0"/>
          </a:p>
        </p:txBody>
      </p:sp>
      <p:sp>
        <p:nvSpPr>
          <p:cNvPr id="31" name="Text 28"/>
          <p:cNvSpPr txBox="1"/>
          <p:nvPr/>
        </p:nvSpPr>
        <p:spPr>
          <a:xfrm>
            <a:off x="1025872" y="7642473"/>
            <a:ext cx="431988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Sobrecoxa marinada no iogurte com especiarias, assada até dourar </a:t>
            </a:r>
            <a:pPr algn="l" indent="0" marL="0">
              <a:lnSpc>
                <a:spcPts val="1250"/>
              </a:lnSpc>
              <a:buNone/>
            </a:pPr>
            <a:r>
              <a:rPr lang="en-US" sz="1000" i="1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(maciez extrema, no forno ou na airfryer)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5471666" y="7777144"/>
            <a:ext cx="1062335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33" name="Text 30"/>
          <p:cNvSpPr txBox="1"/>
          <p:nvPr/>
        </p:nvSpPr>
        <p:spPr>
          <a:xfrm>
            <a:off x="6670477" y="7669709"/>
            <a:ext cx="24139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8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23</a:t>
            </a:r>
            <a:endParaRPr lang="en-US" sz="860" dirty="0"/>
          </a:p>
        </p:txBody>
      </p:sp>
      <p:sp>
        <p:nvSpPr>
          <p:cNvPr id="34" name="Shape 31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36" name="Text 33"/>
          <p:cNvSpPr txBox="1"/>
          <p:nvPr/>
        </p:nvSpPr>
        <p:spPr>
          <a:xfrm>
            <a:off x="6805761" y="10236845"/>
            <a:ext cx="22041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19</a:t>
            </a:r>
            <a:endParaRPr lang="en-US" sz="63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611981"/>
            <a:ext cx="69309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800" b="1" spc="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ANTES DA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713929"/>
            <a:ext cx="141251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0"/>
              </a:lnSpc>
              <a:buNone/>
            </a:pPr>
            <a:r>
              <a:rPr lang="en-US" sz="3400" spc="-17" kern="0" dirty="0">
                <a:solidFill>
                  <a:srgbClr val="4E5B38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panela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7998" y="1392436"/>
            <a:ext cx="467916" cy="11311"/>
          </a:xfrm>
          <a:prstGeom prst="rect">
            <a:avLst/>
          </a:prstGeom>
          <a:solidFill>
            <a:srgbClr val="2F2A2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7998" y="1638746"/>
            <a:ext cx="4499967" cy="378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2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Escolher bem, guardar direito e cortar do jeito certo: metade do prato se resolve aqui.</a:t>
            </a:r>
            <a:endParaRPr lang="en-US" sz="1020" dirty="0"/>
          </a:p>
        </p:txBody>
      </p:sp>
      <p:sp>
        <p:nvSpPr>
          <p:cNvPr id="6" name="Shape 4"/>
          <p:cNvSpPr/>
          <p:nvPr/>
        </p:nvSpPr>
        <p:spPr>
          <a:xfrm>
            <a:off x="647998" y="2249984"/>
            <a:ext cx="3041898" cy="2303264"/>
          </a:xfrm>
          <a:prstGeom prst="roundRect">
            <a:avLst>
              <a:gd name="adj" fmla="val 1862"/>
            </a:avLst>
          </a:prstGeom>
          <a:solidFill>
            <a:srgbClr val="FBF8F3"/>
          </a:solidFill>
          <a:ln w="9525">
            <a:solidFill>
              <a:srgbClr val="DDD2C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37456" y="2439442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865" y="2520851"/>
            <a:ext cx="197048" cy="19704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323231" y="2557463"/>
            <a:ext cx="174088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800" b="1" spc="11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NA HORA DE ESCOLHER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855456" y="2993617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999456" y="2944267"/>
            <a:ext cx="2500981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Pele inteira, de cor clara e uniforme, sem manchas escuras.</a:t>
            </a:r>
            <a:endParaRPr lang="en-US" sz="940" dirty="0"/>
          </a:p>
        </p:txBody>
      </p:sp>
      <p:sp>
        <p:nvSpPr>
          <p:cNvPr id="12" name="Shape 9"/>
          <p:cNvSpPr/>
          <p:nvPr/>
        </p:nvSpPr>
        <p:spPr>
          <a:xfrm>
            <a:off x="855456" y="3435487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999456" y="3386138"/>
            <a:ext cx="2500981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Pouco líquido na bandeja e nenhum cheiro forte.</a:t>
            </a:r>
            <a:endParaRPr lang="en-US" sz="940" dirty="0"/>
          </a:p>
        </p:txBody>
      </p:sp>
      <p:sp>
        <p:nvSpPr>
          <p:cNvPr id="14" name="Shape 11"/>
          <p:cNvSpPr/>
          <p:nvPr/>
        </p:nvSpPr>
        <p:spPr>
          <a:xfrm>
            <a:off x="855456" y="3877358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99456" y="3828008"/>
            <a:ext cx="2500981" cy="53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Congelada: sem cristais grossos de gelo, que indicam que ela descongelou e congelou de novo.</a:t>
            </a:r>
            <a:endParaRPr lang="en-US" sz="940" dirty="0"/>
          </a:p>
        </p:txBody>
      </p:sp>
      <p:sp>
        <p:nvSpPr>
          <p:cNvPr id="16" name="Shape 13"/>
          <p:cNvSpPr/>
          <p:nvPr/>
        </p:nvSpPr>
        <p:spPr>
          <a:xfrm>
            <a:off x="3869829" y="2249984"/>
            <a:ext cx="3042047" cy="2303264"/>
          </a:xfrm>
          <a:prstGeom prst="roundRect">
            <a:avLst>
              <a:gd name="adj" fmla="val 1862"/>
            </a:avLst>
          </a:prstGeom>
          <a:solidFill>
            <a:srgbClr val="FBF8F3"/>
          </a:solidFill>
          <a:ln w="9525">
            <a:solidFill>
              <a:srgbClr val="DDD2C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059287" y="2439442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0696" y="2520851"/>
            <a:ext cx="197048" cy="197048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4545062" y="2557463"/>
            <a:ext cx="120548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800" b="1" spc="11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COMO GUARDAR</a:t>
            </a:r>
            <a:endParaRPr lang="en-US" sz="800" dirty="0"/>
          </a:p>
        </p:txBody>
      </p:sp>
      <p:sp>
        <p:nvSpPr>
          <p:cNvPr id="20" name="Shape 16"/>
          <p:cNvSpPr/>
          <p:nvPr/>
        </p:nvSpPr>
        <p:spPr>
          <a:xfrm>
            <a:off x="4077287" y="2993617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4221287" y="2944267"/>
            <a:ext cx="2501130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Na geladeira, na prateleira de baixo, por até 2 dias.</a:t>
            </a:r>
            <a:endParaRPr lang="en-US" sz="940" dirty="0"/>
          </a:p>
        </p:txBody>
      </p:sp>
      <p:sp>
        <p:nvSpPr>
          <p:cNvPr id="22" name="Shape 18"/>
          <p:cNvSpPr/>
          <p:nvPr/>
        </p:nvSpPr>
        <p:spPr>
          <a:xfrm>
            <a:off x="4077287" y="3435487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3" name="Text 19"/>
          <p:cNvSpPr txBox="1"/>
          <p:nvPr/>
        </p:nvSpPr>
        <p:spPr>
          <a:xfrm>
            <a:off x="4221287" y="3386138"/>
            <a:ext cx="2501130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 freezer, em porções achatadas dentro de sacos, por até 3 meses.</a:t>
            </a:r>
            <a:endParaRPr lang="en-US" sz="940" dirty="0"/>
          </a:p>
        </p:txBody>
      </p:sp>
      <p:sp>
        <p:nvSpPr>
          <p:cNvPr id="24" name="Shape 20"/>
          <p:cNvSpPr/>
          <p:nvPr/>
        </p:nvSpPr>
        <p:spPr>
          <a:xfrm>
            <a:off x="4077287" y="3877358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4221287" y="3828008"/>
            <a:ext cx="2501130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Descongele sempre na geladeira, de um dia para o outro. Nunca na pia.</a:t>
            </a:r>
            <a:endParaRPr lang="en-US" sz="940" dirty="0"/>
          </a:p>
        </p:txBody>
      </p:sp>
      <p:sp>
        <p:nvSpPr>
          <p:cNvPr id="26" name="Shape 22"/>
          <p:cNvSpPr/>
          <p:nvPr/>
        </p:nvSpPr>
        <p:spPr>
          <a:xfrm>
            <a:off x="647998" y="4733181"/>
            <a:ext cx="6263878" cy="1933277"/>
          </a:xfrm>
          <a:prstGeom prst="roundRect">
            <a:avLst>
              <a:gd name="adj" fmla="val 2642"/>
            </a:avLst>
          </a:prstGeom>
          <a:solidFill>
            <a:srgbClr val="FBF8F3"/>
          </a:solidFill>
          <a:ln w="9525">
            <a:solidFill>
              <a:srgbClr val="DDD2C0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837456" y="4922639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2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865" y="5004048"/>
            <a:ext cx="197048" cy="197048"/>
          </a:xfrm>
          <a:prstGeom prst="rect">
            <a:avLst/>
          </a:prstGeom>
        </p:spPr>
      </p:pic>
      <p:sp>
        <p:nvSpPr>
          <p:cNvPr id="29" name="Text 24"/>
          <p:cNvSpPr txBox="1"/>
          <p:nvPr/>
        </p:nvSpPr>
        <p:spPr>
          <a:xfrm>
            <a:off x="1323231" y="5040660"/>
            <a:ext cx="179339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800" b="1" spc="11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PRÉ-PREPARO E CORTES</a:t>
            </a:r>
            <a:endParaRPr lang="en-US" sz="800" dirty="0"/>
          </a:p>
        </p:txBody>
      </p:sp>
      <p:sp>
        <p:nvSpPr>
          <p:cNvPr id="30" name="Shape 25"/>
          <p:cNvSpPr/>
          <p:nvPr/>
        </p:nvSpPr>
        <p:spPr>
          <a:xfrm>
            <a:off x="855456" y="5476814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1" name="Text 26"/>
          <p:cNvSpPr txBox="1"/>
          <p:nvPr/>
        </p:nvSpPr>
        <p:spPr>
          <a:xfrm>
            <a:off x="999381" y="5427464"/>
            <a:ext cx="601125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Seque bem</a:t>
            </a:r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com papel-toalha antes de qualquer preparo. Pele molhada não fica crocante.</a:t>
            </a:r>
            <a:endParaRPr lang="en-US" sz="940" dirty="0"/>
          </a:p>
        </p:txBody>
      </p:sp>
      <p:sp>
        <p:nvSpPr>
          <p:cNvPr id="32" name="Shape 27"/>
          <p:cNvSpPr/>
          <p:nvPr/>
        </p:nvSpPr>
        <p:spPr>
          <a:xfrm>
            <a:off x="855456" y="5733691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3" name="Text 28"/>
          <p:cNvSpPr txBox="1"/>
          <p:nvPr/>
        </p:nvSpPr>
        <p:spPr>
          <a:xfrm>
            <a:off x="999456" y="5684341"/>
            <a:ext cx="5722961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Para desossar:</a:t>
            </a:r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com a pele para baixo, faça um corte ao longo do osso, raspe a carne em volta com a ponta da faca e solte a articulação. Guarde o osso no freezer para o caldo.</a:t>
            </a:r>
            <a:endParaRPr lang="en-US" sz="940" dirty="0"/>
          </a:p>
        </p:txBody>
      </p:sp>
      <p:sp>
        <p:nvSpPr>
          <p:cNvPr id="34" name="Shape 29"/>
          <p:cNvSpPr/>
          <p:nvPr/>
        </p:nvSpPr>
        <p:spPr>
          <a:xfrm>
            <a:off x="855456" y="6175562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5" name="Text 30"/>
          <p:cNvSpPr txBox="1"/>
          <p:nvPr/>
        </p:nvSpPr>
        <p:spPr>
          <a:xfrm>
            <a:off x="999456" y="6126212"/>
            <a:ext cx="5722961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Salga antecipada:</a:t>
            </a:r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1 colher (chá) de sal para cada 500 g, de 1 hora até 24 horas antes, na geladeira e descoberta. A carne fica mais temperada e a pele, mais seca.</a:t>
            </a:r>
            <a:endParaRPr lang="en-US" sz="940" dirty="0"/>
          </a:p>
        </p:txBody>
      </p:sp>
      <p:sp>
        <p:nvSpPr>
          <p:cNvPr id="36" name="Shape 31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7" name="Text 32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38" name="Text 33"/>
          <p:cNvSpPr txBox="1"/>
          <p:nvPr/>
        </p:nvSpPr>
        <p:spPr>
          <a:xfrm>
            <a:off x="6786116" y="10236845"/>
            <a:ext cx="24006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</a:t>
            </a:r>
            <a:endParaRPr lang="en-US" sz="63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611981"/>
            <a:ext cx="277834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RECEITA 3.1 · A TÉCNICA DA FRIGIDEIRA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759023"/>
            <a:ext cx="4031903" cy="11555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500" dirty="0">
                <a:solidFill>
                  <a:srgbClr val="4E5B38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Sobrecoxa desossada com pele ultracrocante ao molho rústico de limão e alho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647998" y="1926134"/>
            <a:ext cx="229862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90"/>
              </a:lnSpc>
              <a:buNone/>
            </a:pPr>
            <a:r>
              <a:rPr lang="en-US" sz="1300" i="1" dirty="0">
                <a:solidFill>
                  <a:srgbClr val="C255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 pele mais crocante que você já fez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7998" y="2320528"/>
            <a:ext cx="287982" cy="287982"/>
          </a:xfrm>
          <a:prstGeom prst="ellipse">
            <a:avLst/>
          </a:prstGeom>
          <a:ln w="9525">
            <a:solidFill>
              <a:srgbClr val="2F2A2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398" y="2383929"/>
            <a:ext cx="161181" cy="16118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25872" y="2340025"/>
            <a:ext cx="47833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740" b="1" spc="44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35 MIN</a:t>
            </a:r>
            <a:endParaRPr lang="en-US" sz="740" dirty="0"/>
          </a:p>
        </p:txBody>
      </p:sp>
      <p:sp>
        <p:nvSpPr>
          <p:cNvPr id="8" name="Text 5"/>
          <p:cNvSpPr txBox="1"/>
          <p:nvPr/>
        </p:nvSpPr>
        <p:spPr>
          <a:xfrm>
            <a:off x="1025872" y="2493615"/>
            <a:ext cx="47580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spc="90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TEMPO</a:t>
            </a:r>
            <a:endParaRPr lang="en-US" sz="640" dirty="0"/>
          </a:p>
        </p:txBody>
      </p:sp>
      <p:sp>
        <p:nvSpPr>
          <p:cNvPr id="9" name="Shape 6"/>
          <p:cNvSpPr/>
          <p:nvPr/>
        </p:nvSpPr>
        <p:spPr>
          <a:xfrm>
            <a:off x="1677888" y="2320528"/>
            <a:ext cx="287982" cy="287982"/>
          </a:xfrm>
          <a:prstGeom prst="ellipse">
            <a:avLst/>
          </a:prstGeom>
          <a:ln w="9525">
            <a:solidFill>
              <a:srgbClr val="2F2A25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1289" y="2383929"/>
            <a:ext cx="161181" cy="161181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055763" y="2340025"/>
            <a:ext cx="93538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740" b="1" spc="44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 A 4 PORÇÕES</a:t>
            </a:r>
            <a:endParaRPr lang="en-US" sz="740" dirty="0"/>
          </a:p>
        </p:txBody>
      </p:sp>
      <p:sp>
        <p:nvSpPr>
          <p:cNvPr id="12" name="Text 8"/>
          <p:cNvSpPr txBox="1"/>
          <p:nvPr/>
        </p:nvSpPr>
        <p:spPr>
          <a:xfrm>
            <a:off x="2055763" y="2493615"/>
            <a:ext cx="80992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spc="90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RENDIMENTO</a:t>
            </a:r>
            <a:endParaRPr lang="en-US" sz="640" dirty="0"/>
          </a:p>
        </p:txBody>
      </p:sp>
      <p:pic>
        <p:nvPicPr>
          <p:cNvPr id="13" name="Image 2" descr="/home/user/ebook-luq/versoes/VERSAO COM FOTOGRAFIAS/fotos/r3-1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615880" y="252115"/>
            <a:ext cx="2375892" cy="2375892"/>
          </a:xfrm>
          <a:prstGeom prst="ellipse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647998" y="3157091"/>
            <a:ext cx="2159943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647998" y="2951857"/>
            <a:ext cx="105891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60" b="1" spc="12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INGREDIENTES</a:t>
            </a:r>
            <a:endParaRPr lang="en-US" sz="760" dirty="0"/>
          </a:p>
        </p:txBody>
      </p:sp>
      <p:sp>
        <p:nvSpPr>
          <p:cNvPr id="16" name="Text 11"/>
          <p:cNvSpPr txBox="1"/>
          <p:nvPr/>
        </p:nvSpPr>
        <p:spPr>
          <a:xfrm>
            <a:off x="647998" y="3264991"/>
            <a:ext cx="57537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30"/>
              </a:lnSpc>
              <a:buNone/>
            </a:pPr>
            <a:r>
              <a:rPr lang="en-US" sz="660" b="1" spc="106" kern="0" dirty="0">
                <a:solidFill>
                  <a:srgbClr val="C255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FRANGO</a:t>
            </a:r>
            <a:endParaRPr lang="en-US" sz="660" dirty="0"/>
          </a:p>
        </p:txBody>
      </p:sp>
      <p:sp>
        <p:nvSpPr>
          <p:cNvPr id="17" name="Shape 12"/>
          <p:cNvSpPr/>
          <p:nvPr/>
        </p:nvSpPr>
        <p:spPr>
          <a:xfrm>
            <a:off x="665998" y="3492042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8" name="Text 13"/>
          <p:cNvSpPr txBox="1"/>
          <p:nvPr/>
        </p:nvSpPr>
        <p:spPr>
          <a:xfrm>
            <a:off x="809923" y="3433167"/>
            <a:ext cx="222527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 sobrecoxas desossadas, com pele</a:t>
            </a:r>
            <a:endParaRPr lang="en-US" sz="890" dirty="0"/>
          </a:p>
        </p:txBody>
      </p:sp>
      <p:sp>
        <p:nvSpPr>
          <p:cNvPr id="19" name="Shape 14"/>
          <p:cNvSpPr/>
          <p:nvPr/>
        </p:nvSpPr>
        <p:spPr>
          <a:xfrm>
            <a:off x="665998" y="3709629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0" name="Text 15"/>
          <p:cNvSpPr txBox="1"/>
          <p:nvPr/>
        </p:nvSpPr>
        <p:spPr>
          <a:xfrm>
            <a:off x="809923" y="3650754"/>
            <a:ext cx="145751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Sal e pimenta-do-reino</a:t>
            </a:r>
            <a:endParaRPr lang="en-US" sz="890" dirty="0"/>
          </a:p>
        </p:txBody>
      </p:sp>
      <p:sp>
        <p:nvSpPr>
          <p:cNvPr id="21" name="Shape 16"/>
          <p:cNvSpPr/>
          <p:nvPr/>
        </p:nvSpPr>
        <p:spPr>
          <a:xfrm>
            <a:off x="665998" y="3927216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2" name="Text 17"/>
          <p:cNvSpPr txBox="1"/>
          <p:nvPr/>
        </p:nvSpPr>
        <p:spPr>
          <a:xfrm>
            <a:off x="809923" y="3868341"/>
            <a:ext cx="131949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colher (chá) de óleo</a:t>
            </a:r>
            <a:endParaRPr lang="en-US" sz="890" dirty="0"/>
          </a:p>
        </p:txBody>
      </p:sp>
      <p:sp>
        <p:nvSpPr>
          <p:cNvPr id="23" name="Text 18"/>
          <p:cNvSpPr txBox="1"/>
          <p:nvPr/>
        </p:nvSpPr>
        <p:spPr>
          <a:xfrm>
            <a:off x="647998" y="4130427"/>
            <a:ext cx="52060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30"/>
              </a:lnSpc>
              <a:buNone/>
            </a:pPr>
            <a:r>
              <a:rPr lang="en-US" sz="660" b="1" spc="106" kern="0" dirty="0">
                <a:solidFill>
                  <a:srgbClr val="C255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MOLHO</a:t>
            </a:r>
            <a:endParaRPr lang="en-US" sz="660" dirty="0"/>
          </a:p>
        </p:txBody>
      </p:sp>
      <p:sp>
        <p:nvSpPr>
          <p:cNvPr id="24" name="Shape 19"/>
          <p:cNvSpPr/>
          <p:nvPr/>
        </p:nvSpPr>
        <p:spPr>
          <a:xfrm>
            <a:off x="665998" y="4357478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5" name="Text 20"/>
          <p:cNvSpPr txBox="1"/>
          <p:nvPr/>
        </p:nvSpPr>
        <p:spPr>
          <a:xfrm>
            <a:off x="809923" y="4298603"/>
            <a:ext cx="159003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 dentes de alho fatiados</a:t>
            </a:r>
            <a:endParaRPr lang="en-US" sz="890" dirty="0"/>
          </a:p>
        </p:txBody>
      </p:sp>
      <p:sp>
        <p:nvSpPr>
          <p:cNvPr id="26" name="Shape 21"/>
          <p:cNvSpPr/>
          <p:nvPr/>
        </p:nvSpPr>
        <p:spPr>
          <a:xfrm>
            <a:off x="665998" y="4575064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7" name="Text 22"/>
          <p:cNvSpPr txBox="1"/>
          <p:nvPr/>
        </p:nvSpPr>
        <p:spPr>
          <a:xfrm>
            <a:off x="809998" y="4516189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100 ml de caldo de frango (ou água)</a:t>
            </a:r>
            <a:endParaRPr lang="en-US" sz="890" dirty="0"/>
          </a:p>
        </p:txBody>
      </p:sp>
      <p:sp>
        <p:nvSpPr>
          <p:cNvPr id="28" name="Shape 23"/>
          <p:cNvSpPr/>
          <p:nvPr/>
        </p:nvSpPr>
        <p:spPr>
          <a:xfrm>
            <a:off x="665998" y="4956362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9" name="Text 24"/>
          <p:cNvSpPr txBox="1"/>
          <p:nvPr/>
        </p:nvSpPr>
        <p:spPr>
          <a:xfrm>
            <a:off x="809923" y="4897487"/>
            <a:ext cx="152235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Suco e raspas de 1 limão</a:t>
            </a:r>
            <a:endParaRPr lang="en-US" sz="890" dirty="0"/>
          </a:p>
        </p:txBody>
      </p:sp>
      <p:sp>
        <p:nvSpPr>
          <p:cNvPr id="30" name="Shape 25"/>
          <p:cNvSpPr/>
          <p:nvPr/>
        </p:nvSpPr>
        <p:spPr>
          <a:xfrm>
            <a:off x="665998" y="5173949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1" name="Text 26"/>
          <p:cNvSpPr txBox="1"/>
          <p:nvPr/>
        </p:nvSpPr>
        <p:spPr>
          <a:xfrm>
            <a:off x="809998" y="5115074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 colheres (sopa) de manteiga gelada</a:t>
            </a:r>
            <a:endParaRPr lang="en-US" sz="890" dirty="0"/>
          </a:p>
        </p:txBody>
      </p:sp>
      <p:sp>
        <p:nvSpPr>
          <p:cNvPr id="32" name="Shape 27"/>
          <p:cNvSpPr/>
          <p:nvPr/>
        </p:nvSpPr>
        <p:spPr>
          <a:xfrm>
            <a:off x="665998" y="5555246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3" name="Text 28"/>
          <p:cNvSpPr txBox="1"/>
          <p:nvPr/>
        </p:nvSpPr>
        <p:spPr>
          <a:xfrm>
            <a:off x="809923" y="5496371"/>
            <a:ext cx="99580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Salsinha picada</a:t>
            </a:r>
            <a:endParaRPr lang="en-US" sz="890" dirty="0"/>
          </a:p>
        </p:txBody>
      </p:sp>
      <p:sp>
        <p:nvSpPr>
          <p:cNvPr id="34" name="Shape 29"/>
          <p:cNvSpPr/>
          <p:nvPr/>
        </p:nvSpPr>
        <p:spPr>
          <a:xfrm>
            <a:off x="3131939" y="3157091"/>
            <a:ext cx="3779937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3131939" y="2951857"/>
            <a:ext cx="141434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60" b="1" spc="12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MODO DE PREPARO</a:t>
            </a:r>
            <a:endParaRPr lang="en-US" sz="760" dirty="0"/>
          </a:p>
        </p:txBody>
      </p:sp>
      <p:sp>
        <p:nvSpPr>
          <p:cNvPr id="36" name="Shape 31"/>
          <p:cNvSpPr/>
          <p:nvPr/>
        </p:nvSpPr>
        <p:spPr>
          <a:xfrm>
            <a:off x="3131939" y="3275707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7" name="Text 32"/>
          <p:cNvSpPr txBox="1"/>
          <p:nvPr/>
        </p:nvSpPr>
        <p:spPr>
          <a:xfrm>
            <a:off x="3206651" y="3317974"/>
            <a:ext cx="14481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630" dirty="0"/>
          </a:p>
        </p:txBody>
      </p:sp>
      <p:sp>
        <p:nvSpPr>
          <p:cNvPr id="38" name="Text 33"/>
          <p:cNvSpPr txBox="1"/>
          <p:nvPr/>
        </p:nvSpPr>
        <p:spPr>
          <a:xfrm>
            <a:off x="3419773" y="3284041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Seque muito bem as sobrecoxas e tempere com sal e pimenta dos dois lados.</a:t>
            </a:r>
            <a:endParaRPr lang="en-US" sz="930" dirty="0"/>
          </a:p>
        </p:txBody>
      </p:sp>
      <p:sp>
        <p:nvSpPr>
          <p:cNvPr id="39" name="Shape 34"/>
          <p:cNvSpPr/>
          <p:nvPr/>
        </p:nvSpPr>
        <p:spPr>
          <a:xfrm>
            <a:off x="3131939" y="3735288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0" name="Text 35"/>
          <p:cNvSpPr txBox="1"/>
          <p:nvPr/>
        </p:nvSpPr>
        <p:spPr>
          <a:xfrm>
            <a:off x="3198614" y="3777555"/>
            <a:ext cx="1607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630" dirty="0"/>
          </a:p>
        </p:txBody>
      </p:sp>
      <p:sp>
        <p:nvSpPr>
          <p:cNvPr id="41" name="Text 36"/>
          <p:cNvSpPr txBox="1"/>
          <p:nvPr/>
        </p:nvSpPr>
        <p:spPr>
          <a:xfrm>
            <a:off x="3419773" y="3743623"/>
            <a:ext cx="3492103" cy="528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Coloque o óleo numa frigideira de fundo grosso e disponha as sobrecoxas com a pele para baixo, ainda com a frigideira fria. Ligue em fogo médio.</a:t>
            </a:r>
            <a:endParaRPr lang="en-US" sz="930" dirty="0"/>
          </a:p>
        </p:txBody>
      </p:sp>
      <p:sp>
        <p:nvSpPr>
          <p:cNvPr id="42" name="Shape 37"/>
          <p:cNvSpPr/>
          <p:nvPr/>
        </p:nvSpPr>
        <p:spPr>
          <a:xfrm>
            <a:off x="3131939" y="4377928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3" name="Text 38"/>
          <p:cNvSpPr txBox="1"/>
          <p:nvPr/>
        </p:nvSpPr>
        <p:spPr>
          <a:xfrm>
            <a:off x="3198614" y="4420195"/>
            <a:ext cx="1607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630" dirty="0"/>
          </a:p>
        </p:txBody>
      </p:sp>
      <p:sp>
        <p:nvSpPr>
          <p:cNvPr id="44" name="Text 39"/>
          <p:cNvSpPr txBox="1"/>
          <p:nvPr/>
        </p:nvSpPr>
        <p:spPr>
          <a:xfrm>
            <a:off x="3419773" y="4386263"/>
            <a:ext cx="3492103" cy="7111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Coloque um peso por cima (uma panela menor com água, por exemplo) e deixe por 12 a 15 minutos </a:t>
            </a:r>
            <a:pPr algn="l" indent="0" marL="0">
              <a:lnSpc>
                <a:spcPts val="1440"/>
              </a:lnSpc>
              <a:buNone/>
            </a:pPr>
            <a:r>
              <a:rPr lang="en-US" sz="93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sem mexer</a:t>
            </a:r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. A gordura da pele derrete aos poucos e ela frita na própria gordura até ficar dourada e crocante.</a:t>
            </a:r>
            <a:endParaRPr lang="en-US" sz="930" dirty="0"/>
          </a:p>
        </p:txBody>
      </p:sp>
      <p:sp>
        <p:nvSpPr>
          <p:cNvPr id="45" name="Shape 40"/>
          <p:cNvSpPr/>
          <p:nvPr/>
        </p:nvSpPr>
        <p:spPr>
          <a:xfrm>
            <a:off x="3131939" y="5203627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6" name="Text 41"/>
          <p:cNvSpPr txBox="1"/>
          <p:nvPr/>
        </p:nvSpPr>
        <p:spPr>
          <a:xfrm>
            <a:off x="3194745" y="5245894"/>
            <a:ext cx="16847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630" dirty="0"/>
          </a:p>
        </p:txBody>
      </p:sp>
      <p:sp>
        <p:nvSpPr>
          <p:cNvPr id="47" name="Text 42"/>
          <p:cNvSpPr txBox="1"/>
          <p:nvPr/>
        </p:nvSpPr>
        <p:spPr>
          <a:xfrm>
            <a:off x="3419773" y="5211961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Vire e cozinhe por mais 4 a 6 minutos, até o centro atingir 75 °C ou o suco sair transparente ao furar.</a:t>
            </a:r>
            <a:endParaRPr lang="en-US" sz="930" dirty="0"/>
          </a:p>
        </p:txBody>
      </p:sp>
      <p:sp>
        <p:nvSpPr>
          <p:cNvPr id="48" name="Shape 43"/>
          <p:cNvSpPr/>
          <p:nvPr/>
        </p:nvSpPr>
        <p:spPr>
          <a:xfrm>
            <a:off x="3131939" y="5663208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9" name="Text 44"/>
          <p:cNvSpPr txBox="1"/>
          <p:nvPr/>
        </p:nvSpPr>
        <p:spPr>
          <a:xfrm>
            <a:off x="3198465" y="5705475"/>
            <a:ext cx="16103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630" dirty="0"/>
          </a:p>
        </p:txBody>
      </p:sp>
      <p:sp>
        <p:nvSpPr>
          <p:cNvPr id="50" name="Text 45"/>
          <p:cNvSpPr txBox="1"/>
          <p:nvPr/>
        </p:nvSpPr>
        <p:spPr>
          <a:xfrm>
            <a:off x="3419773" y="5671542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Transfira para uma grade ou prato, com a pele para cima, e deixe descansar 5 minutos.</a:t>
            </a:r>
            <a:endParaRPr lang="en-US" sz="930" dirty="0"/>
          </a:p>
        </p:txBody>
      </p:sp>
      <p:sp>
        <p:nvSpPr>
          <p:cNvPr id="51" name="Shape 46"/>
          <p:cNvSpPr/>
          <p:nvPr/>
        </p:nvSpPr>
        <p:spPr>
          <a:xfrm>
            <a:off x="3131939" y="6122789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52" name="Text 47"/>
          <p:cNvSpPr txBox="1"/>
          <p:nvPr/>
        </p:nvSpPr>
        <p:spPr>
          <a:xfrm>
            <a:off x="3196828" y="6165056"/>
            <a:ext cx="16445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</a:t>
            </a:r>
            <a:endParaRPr lang="en-US" sz="630" dirty="0"/>
          </a:p>
        </p:txBody>
      </p:sp>
      <p:sp>
        <p:nvSpPr>
          <p:cNvPr id="53" name="Text 48"/>
          <p:cNvSpPr txBox="1"/>
          <p:nvPr/>
        </p:nvSpPr>
        <p:spPr>
          <a:xfrm>
            <a:off x="3419773" y="6131123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Retire o excesso de gordura da frigideira, deixando cerca de 1 colher. Em fogo baixo, doure o alho por 1 minuto.</a:t>
            </a:r>
            <a:endParaRPr lang="en-US" sz="930" dirty="0"/>
          </a:p>
        </p:txBody>
      </p:sp>
      <p:sp>
        <p:nvSpPr>
          <p:cNvPr id="54" name="Shape 49"/>
          <p:cNvSpPr/>
          <p:nvPr/>
        </p:nvSpPr>
        <p:spPr>
          <a:xfrm>
            <a:off x="3131939" y="6582370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55" name="Text 50"/>
          <p:cNvSpPr txBox="1"/>
          <p:nvPr/>
        </p:nvSpPr>
        <p:spPr>
          <a:xfrm>
            <a:off x="3197572" y="6624637"/>
            <a:ext cx="16281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</a:t>
            </a:r>
            <a:endParaRPr lang="en-US" sz="630" dirty="0"/>
          </a:p>
        </p:txBody>
      </p:sp>
      <p:sp>
        <p:nvSpPr>
          <p:cNvPr id="56" name="Text 51"/>
          <p:cNvSpPr txBox="1"/>
          <p:nvPr/>
        </p:nvSpPr>
        <p:spPr>
          <a:xfrm>
            <a:off x="3419773" y="6590705"/>
            <a:ext cx="3492103" cy="7111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Junte o caldo e raspe bem o fundo com uma colher de pau. Deixe reduzir à metade. Desligue o fogo, junte o suco e as raspas de limão e a manteiga gelada, mexendo até o molho engrossar e brilhar. Finalize com salsinha.</a:t>
            </a:r>
            <a:endParaRPr lang="en-US" sz="930" dirty="0"/>
          </a:p>
        </p:txBody>
      </p:sp>
      <p:sp>
        <p:nvSpPr>
          <p:cNvPr id="57" name="Shape 52"/>
          <p:cNvSpPr/>
          <p:nvPr/>
        </p:nvSpPr>
        <p:spPr>
          <a:xfrm>
            <a:off x="3131939" y="7408069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58" name="Text 53"/>
          <p:cNvSpPr txBox="1"/>
          <p:nvPr/>
        </p:nvSpPr>
        <p:spPr>
          <a:xfrm>
            <a:off x="3195786" y="7450336"/>
            <a:ext cx="16639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</a:t>
            </a:r>
            <a:endParaRPr lang="en-US" sz="630" dirty="0"/>
          </a:p>
        </p:txBody>
      </p:sp>
      <p:sp>
        <p:nvSpPr>
          <p:cNvPr id="59" name="Text 54"/>
          <p:cNvSpPr txBox="1"/>
          <p:nvPr/>
        </p:nvSpPr>
        <p:spPr>
          <a:xfrm>
            <a:off x="3419773" y="7416403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Sirva o molho no fundo do prato e o frango por cima, para a pele continuar crocante.</a:t>
            </a:r>
            <a:endParaRPr lang="en-US" sz="930" dirty="0"/>
          </a:p>
        </p:txBody>
      </p:sp>
      <p:sp>
        <p:nvSpPr>
          <p:cNvPr id="60" name="Shape 55"/>
          <p:cNvSpPr/>
          <p:nvPr/>
        </p:nvSpPr>
        <p:spPr>
          <a:xfrm>
            <a:off x="647998" y="9026723"/>
            <a:ext cx="6263878" cy="873175"/>
          </a:xfrm>
          <a:prstGeom prst="roundRect">
            <a:avLst>
              <a:gd name="adj" fmla="val 12953"/>
            </a:avLst>
          </a:prstGeom>
          <a:solidFill>
            <a:srgbClr val="EEE6D8"/>
          </a:solidFill>
          <a:ln/>
        </p:spPr>
      </p:sp>
      <p:sp>
        <p:nvSpPr>
          <p:cNvPr id="61" name="Shape 56"/>
          <p:cNvSpPr/>
          <p:nvPr/>
        </p:nvSpPr>
        <p:spPr>
          <a:xfrm>
            <a:off x="827931" y="9188648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6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9340" y="9270057"/>
            <a:ext cx="197048" cy="197048"/>
          </a:xfrm>
          <a:prstGeom prst="rect">
            <a:avLst/>
          </a:prstGeom>
        </p:spPr>
      </p:pic>
      <p:sp>
        <p:nvSpPr>
          <p:cNvPr id="63" name="Text 57"/>
          <p:cNvSpPr txBox="1"/>
          <p:nvPr/>
        </p:nvSpPr>
        <p:spPr>
          <a:xfrm>
            <a:off x="1331714" y="9188648"/>
            <a:ext cx="131733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12" kern="0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TOQUE DO MAMEDE</a:t>
            </a:r>
            <a:endParaRPr lang="en-US" sz="700" dirty="0"/>
          </a:p>
        </p:txBody>
      </p:sp>
      <p:sp>
        <p:nvSpPr>
          <p:cNvPr id="64" name="Text 58"/>
          <p:cNvSpPr txBox="1"/>
          <p:nvPr/>
        </p:nvSpPr>
        <p:spPr>
          <a:xfrm>
            <a:off x="1331714" y="9329291"/>
            <a:ext cx="5400229" cy="4138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150" i="1" dirty="0">
                <a:solidFill>
                  <a:srgbClr val="2F2A2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Aquele fundo grudado na frigideira é sabor puro. Soltá-lo com um líquido (deglaçar) transforma o que iria para a pia no melhor molho do prato.</a:t>
            </a:r>
            <a:endParaRPr lang="en-US" sz="1150" dirty="0"/>
          </a:p>
        </p:txBody>
      </p:sp>
      <p:sp>
        <p:nvSpPr>
          <p:cNvPr id="65" name="Shape 59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66" name="Text 60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67" name="Text 61"/>
          <p:cNvSpPr txBox="1"/>
          <p:nvPr/>
        </p:nvSpPr>
        <p:spPr>
          <a:xfrm>
            <a:off x="6809333" y="10236845"/>
            <a:ext cx="21684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21</a:t>
            </a:r>
            <a:endParaRPr lang="en-US" sz="63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611981"/>
            <a:ext cx="243163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RECEITA 3.2 · O COZIMENTO LENTO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759023"/>
            <a:ext cx="4031903" cy="11555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500" dirty="0">
                <a:solidFill>
                  <a:srgbClr val="4E5B38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Frango desfiado suculento ao molho de tomate caseiro e ervas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647998" y="1926134"/>
            <a:ext cx="21691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90"/>
              </a:lnSpc>
              <a:buNone/>
            </a:pPr>
            <a:r>
              <a:rPr lang="en-US" sz="1300" i="1" dirty="0">
                <a:solidFill>
                  <a:srgbClr val="C255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para massas, tortas e sanduíches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7998" y="2320528"/>
            <a:ext cx="287982" cy="287982"/>
          </a:xfrm>
          <a:prstGeom prst="ellipse">
            <a:avLst/>
          </a:prstGeom>
          <a:ln w="9525">
            <a:solidFill>
              <a:srgbClr val="2F2A2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398" y="2383929"/>
            <a:ext cx="161181" cy="16118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25872" y="2340025"/>
            <a:ext cx="186523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740" b="1" spc="44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1H20 (OU 40 MIN NA PRESSÃO)</a:t>
            </a:r>
            <a:endParaRPr lang="en-US" sz="740" dirty="0"/>
          </a:p>
        </p:txBody>
      </p:sp>
      <p:sp>
        <p:nvSpPr>
          <p:cNvPr id="8" name="Text 5"/>
          <p:cNvSpPr txBox="1"/>
          <p:nvPr/>
        </p:nvSpPr>
        <p:spPr>
          <a:xfrm>
            <a:off x="1025872" y="2493615"/>
            <a:ext cx="47580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spc="90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TEMPO</a:t>
            </a:r>
            <a:endParaRPr lang="en-US" sz="640" dirty="0"/>
          </a:p>
        </p:txBody>
      </p:sp>
      <p:sp>
        <p:nvSpPr>
          <p:cNvPr id="9" name="Shape 6"/>
          <p:cNvSpPr/>
          <p:nvPr/>
        </p:nvSpPr>
        <p:spPr>
          <a:xfrm>
            <a:off x="2979241" y="2320528"/>
            <a:ext cx="287982" cy="287982"/>
          </a:xfrm>
          <a:prstGeom prst="ellipse">
            <a:avLst/>
          </a:prstGeom>
          <a:ln w="9525">
            <a:solidFill>
              <a:srgbClr val="2F2A25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2642" y="2383929"/>
            <a:ext cx="161181" cy="161181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357116" y="2340025"/>
            <a:ext cx="73119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740" b="1" spc="44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 PORÇÕES</a:t>
            </a:r>
            <a:endParaRPr lang="en-US" sz="740" dirty="0"/>
          </a:p>
        </p:txBody>
      </p:sp>
      <p:sp>
        <p:nvSpPr>
          <p:cNvPr id="12" name="Text 8"/>
          <p:cNvSpPr txBox="1"/>
          <p:nvPr/>
        </p:nvSpPr>
        <p:spPr>
          <a:xfrm>
            <a:off x="3357116" y="2493615"/>
            <a:ext cx="80992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spc="90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RENDIMENTO</a:t>
            </a:r>
            <a:endParaRPr lang="en-US" sz="640" dirty="0"/>
          </a:p>
        </p:txBody>
      </p:sp>
      <p:pic>
        <p:nvPicPr>
          <p:cNvPr id="13" name="Image 2" descr="/home/user/ebook-luq/versoes/VERSAO COM FOTOGRAFIAS/fotos/r3-2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615880" y="252115"/>
            <a:ext cx="2375892" cy="2375892"/>
          </a:xfrm>
          <a:prstGeom prst="ellipse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647998" y="3157091"/>
            <a:ext cx="2159943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647998" y="2951857"/>
            <a:ext cx="105891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60" b="1" spc="12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INGREDIENTES</a:t>
            </a:r>
            <a:endParaRPr lang="en-US" sz="760" dirty="0"/>
          </a:p>
        </p:txBody>
      </p:sp>
      <p:sp>
        <p:nvSpPr>
          <p:cNvPr id="16" name="Shape 11"/>
          <p:cNvSpPr/>
          <p:nvPr/>
        </p:nvSpPr>
        <p:spPr>
          <a:xfrm>
            <a:off x="665998" y="3333391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809998" y="3274516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 sobrecoxas com osso e pele (cerca de 1 kg)</a:t>
            </a:r>
            <a:endParaRPr lang="en-US" sz="890" dirty="0"/>
          </a:p>
        </p:txBody>
      </p:sp>
      <p:sp>
        <p:nvSpPr>
          <p:cNvPr id="18" name="Shape 13"/>
          <p:cNvSpPr/>
          <p:nvPr/>
        </p:nvSpPr>
        <p:spPr>
          <a:xfrm>
            <a:off x="665998" y="3714689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809923" y="3655814"/>
            <a:ext cx="145751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Sal e pimenta-do-reino</a:t>
            </a:r>
            <a:endParaRPr lang="en-US" sz="890" dirty="0"/>
          </a:p>
        </p:txBody>
      </p:sp>
      <p:sp>
        <p:nvSpPr>
          <p:cNvPr id="20" name="Shape 15"/>
          <p:cNvSpPr/>
          <p:nvPr/>
        </p:nvSpPr>
        <p:spPr>
          <a:xfrm>
            <a:off x="665998" y="3932276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809923" y="3873401"/>
            <a:ext cx="149385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colher (sopa) de azeite</a:t>
            </a:r>
            <a:endParaRPr lang="en-US" sz="890" dirty="0"/>
          </a:p>
        </p:txBody>
      </p:sp>
      <p:sp>
        <p:nvSpPr>
          <p:cNvPr id="22" name="Shape 17"/>
          <p:cNvSpPr/>
          <p:nvPr/>
        </p:nvSpPr>
        <p:spPr>
          <a:xfrm>
            <a:off x="665998" y="4149862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809923" y="4090987"/>
            <a:ext cx="97006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cebola picada</a:t>
            </a:r>
            <a:endParaRPr lang="en-US" sz="890" dirty="0"/>
          </a:p>
        </p:txBody>
      </p:sp>
      <p:sp>
        <p:nvSpPr>
          <p:cNvPr id="24" name="Shape 19"/>
          <p:cNvSpPr/>
          <p:nvPr/>
        </p:nvSpPr>
        <p:spPr>
          <a:xfrm>
            <a:off x="665998" y="4367449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5" name="Text 20"/>
          <p:cNvSpPr txBox="1"/>
          <p:nvPr/>
        </p:nvSpPr>
        <p:spPr>
          <a:xfrm>
            <a:off x="809923" y="4308574"/>
            <a:ext cx="156719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 dentes de alho picados</a:t>
            </a:r>
            <a:endParaRPr lang="en-US" sz="890" dirty="0"/>
          </a:p>
        </p:txBody>
      </p:sp>
      <p:sp>
        <p:nvSpPr>
          <p:cNvPr id="26" name="Shape 21"/>
          <p:cNvSpPr/>
          <p:nvPr/>
        </p:nvSpPr>
        <p:spPr>
          <a:xfrm>
            <a:off x="665998" y="4585036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7" name="Text 22"/>
          <p:cNvSpPr txBox="1"/>
          <p:nvPr/>
        </p:nvSpPr>
        <p:spPr>
          <a:xfrm>
            <a:off x="809923" y="4526161"/>
            <a:ext cx="102319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cenoura ralada</a:t>
            </a:r>
            <a:endParaRPr lang="en-US" sz="890" dirty="0"/>
          </a:p>
        </p:txBody>
      </p:sp>
      <p:sp>
        <p:nvSpPr>
          <p:cNvPr id="28" name="Shape 23"/>
          <p:cNvSpPr/>
          <p:nvPr/>
        </p:nvSpPr>
        <p:spPr>
          <a:xfrm>
            <a:off x="665998" y="4802623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9" name="Text 24"/>
          <p:cNvSpPr txBox="1"/>
          <p:nvPr/>
        </p:nvSpPr>
        <p:spPr>
          <a:xfrm>
            <a:off x="809998" y="4743748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colher (sopa) de extrato de tomate</a:t>
            </a:r>
            <a:endParaRPr lang="en-US" sz="890" dirty="0"/>
          </a:p>
        </p:txBody>
      </p:sp>
      <p:sp>
        <p:nvSpPr>
          <p:cNvPr id="30" name="Shape 25"/>
          <p:cNvSpPr/>
          <p:nvPr/>
        </p:nvSpPr>
        <p:spPr>
          <a:xfrm>
            <a:off x="665998" y="5183920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1" name="Text 26"/>
          <p:cNvSpPr txBox="1"/>
          <p:nvPr/>
        </p:nvSpPr>
        <p:spPr>
          <a:xfrm>
            <a:off x="809998" y="5125045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 tomates bem maduros picados (ou 1 lata de tomate pelado)</a:t>
            </a:r>
            <a:endParaRPr lang="en-US" sz="890" dirty="0"/>
          </a:p>
        </p:txBody>
      </p:sp>
      <p:sp>
        <p:nvSpPr>
          <p:cNvPr id="32" name="Shape 27"/>
          <p:cNvSpPr/>
          <p:nvPr/>
        </p:nvSpPr>
        <p:spPr>
          <a:xfrm>
            <a:off x="665998" y="5565218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3" name="Text 28"/>
          <p:cNvSpPr txBox="1"/>
          <p:nvPr/>
        </p:nvSpPr>
        <p:spPr>
          <a:xfrm>
            <a:off x="809923" y="5506343"/>
            <a:ext cx="96202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folha de louro</a:t>
            </a:r>
            <a:endParaRPr lang="en-US" sz="890" dirty="0"/>
          </a:p>
        </p:txBody>
      </p:sp>
      <p:sp>
        <p:nvSpPr>
          <p:cNvPr id="34" name="Shape 29"/>
          <p:cNvSpPr/>
          <p:nvPr/>
        </p:nvSpPr>
        <p:spPr>
          <a:xfrm>
            <a:off x="665998" y="5782805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5" name="Text 30"/>
          <p:cNvSpPr txBox="1"/>
          <p:nvPr/>
        </p:nvSpPr>
        <p:spPr>
          <a:xfrm>
            <a:off x="809923" y="5723930"/>
            <a:ext cx="220860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300 ml de caldo de frango ou água</a:t>
            </a:r>
            <a:endParaRPr lang="en-US" sz="890" dirty="0"/>
          </a:p>
        </p:txBody>
      </p:sp>
      <p:sp>
        <p:nvSpPr>
          <p:cNvPr id="36" name="Shape 31"/>
          <p:cNvSpPr/>
          <p:nvPr/>
        </p:nvSpPr>
        <p:spPr>
          <a:xfrm>
            <a:off x="665998" y="6000391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7" name="Text 32"/>
          <p:cNvSpPr txBox="1"/>
          <p:nvPr/>
        </p:nvSpPr>
        <p:spPr>
          <a:xfrm>
            <a:off x="809998" y="5941516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Orégano, manjericão e cheiro-verde a gosto</a:t>
            </a:r>
            <a:endParaRPr lang="en-US" sz="890" dirty="0"/>
          </a:p>
        </p:txBody>
      </p:sp>
      <p:sp>
        <p:nvSpPr>
          <p:cNvPr id="38" name="Shape 33"/>
          <p:cNvSpPr/>
          <p:nvPr/>
        </p:nvSpPr>
        <p:spPr>
          <a:xfrm>
            <a:off x="3131939" y="3157091"/>
            <a:ext cx="3779937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9" name="Text 34"/>
          <p:cNvSpPr txBox="1"/>
          <p:nvPr/>
        </p:nvSpPr>
        <p:spPr>
          <a:xfrm>
            <a:off x="3131939" y="2951857"/>
            <a:ext cx="141434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60" b="1" spc="12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MODO DE PREPARO</a:t>
            </a:r>
            <a:endParaRPr lang="en-US" sz="760" dirty="0"/>
          </a:p>
        </p:txBody>
      </p:sp>
      <p:sp>
        <p:nvSpPr>
          <p:cNvPr id="40" name="Shape 35"/>
          <p:cNvSpPr/>
          <p:nvPr/>
        </p:nvSpPr>
        <p:spPr>
          <a:xfrm>
            <a:off x="3131939" y="3275707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1" name="Text 36"/>
          <p:cNvSpPr txBox="1"/>
          <p:nvPr/>
        </p:nvSpPr>
        <p:spPr>
          <a:xfrm>
            <a:off x="3206651" y="3317974"/>
            <a:ext cx="14481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630" dirty="0"/>
          </a:p>
        </p:txBody>
      </p:sp>
      <p:sp>
        <p:nvSpPr>
          <p:cNvPr id="42" name="Text 37"/>
          <p:cNvSpPr txBox="1"/>
          <p:nvPr/>
        </p:nvSpPr>
        <p:spPr>
          <a:xfrm>
            <a:off x="3419773" y="3284041"/>
            <a:ext cx="3492103" cy="7111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Seque e tempere as sobrecoxas com sal e pimenta. Doure no azeite, com a pele para baixo, por 6 a 8 minutos, até ficarem bem douradas. Vire, doure o outro lado por 2 minutos e reserve.</a:t>
            </a:r>
            <a:endParaRPr lang="en-US" sz="930" dirty="0"/>
          </a:p>
        </p:txBody>
      </p:sp>
      <p:sp>
        <p:nvSpPr>
          <p:cNvPr id="43" name="Shape 38"/>
          <p:cNvSpPr/>
          <p:nvPr/>
        </p:nvSpPr>
        <p:spPr>
          <a:xfrm>
            <a:off x="3131939" y="4101405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4" name="Text 39"/>
          <p:cNvSpPr txBox="1"/>
          <p:nvPr/>
        </p:nvSpPr>
        <p:spPr>
          <a:xfrm>
            <a:off x="3198614" y="4143673"/>
            <a:ext cx="1607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630" dirty="0"/>
          </a:p>
        </p:txBody>
      </p:sp>
      <p:sp>
        <p:nvSpPr>
          <p:cNvPr id="45" name="Text 40"/>
          <p:cNvSpPr txBox="1"/>
          <p:nvPr/>
        </p:nvSpPr>
        <p:spPr>
          <a:xfrm>
            <a:off x="3419773" y="4109740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Na gordura que ficou na panela, refogue a cebola, o alho e a cenoura até ficarem macios.</a:t>
            </a:r>
            <a:endParaRPr lang="en-US" sz="930" dirty="0"/>
          </a:p>
        </p:txBody>
      </p:sp>
      <p:sp>
        <p:nvSpPr>
          <p:cNvPr id="46" name="Shape 41"/>
          <p:cNvSpPr/>
          <p:nvPr/>
        </p:nvSpPr>
        <p:spPr>
          <a:xfrm>
            <a:off x="3131939" y="4560987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7" name="Text 42"/>
          <p:cNvSpPr txBox="1"/>
          <p:nvPr/>
        </p:nvSpPr>
        <p:spPr>
          <a:xfrm>
            <a:off x="3198614" y="4603254"/>
            <a:ext cx="1607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630" dirty="0"/>
          </a:p>
        </p:txBody>
      </p:sp>
      <p:sp>
        <p:nvSpPr>
          <p:cNvPr id="48" name="Text 43"/>
          <p:cNvSpPr txBox="1"/>
          <p:nvPr/>
        </p:nvSpPr>
        <p:spPr>
          <a:xfrm>
            <a:off x="3419773" y="4569321"/>
            <a:ext cx="3492103" cy="528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Junte o extrato de tomate e mexa por 1 minuto, até ele escurecer levemente. Isso tira o gosto ácido de lata e aprofunda o sabor.</a:t>
            </a:r>
            <a:endParaRPr lang="en-US" sz="930" dirty="0"/>
          </a:p>
        </p:txBody>
      </p:sp>
      <p:sp>
        <p:nvSpPr>
          <p:cNvPr id="49" name="Shape 44"/>
          <p:cNvSpPr/>
          <p:nvPr/>
        </p:nvSpPr>
        <p:spPr>
          <a:xfrm>
            <a:off x="3131939" y="5203627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50" name="Text 45"/>
          <p:cNvSpPr txBox="1"/>
          <p:nvPr/>
        </p:nvSpPr>
        <p:spPr>
          <a:xfrm>
            <a:off x="3194745" y="5245894"/>
            <a:ext cx="16847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630" dirty="0"/>
          </a:p>
        </p:txBody>
      </p:sp>
      <p:sp>
        <p:nvSpPr>
          <p:cNvPr id="51" name="Text 46"/>
          <p:cNvSpPr txBox="1"/>
          <p:nvPr/>
        </p:nvSpPr>
        <p:spPr>
          <a:xfrm>
            <a:off x="3419773" y="5211961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Acrescente os tomates, o louro e o caldo, raspando o fundo. Volte o frango para a panela.</a:t>
            </a:r>
            <a:endParaRPr lang="en-US" sz="930" dirty="0"/>
          </a:p>
        </p:txBody>
      </p:sp>
      <p:sp>
        <p:nvSpPr>
          <p:cNvPr id="52" name="Shape 47"/>
          <p:cNvSpPr/>
          <p:nvPr/>
        </p:nvSpPr>
        <p:spPr>
          <a:xfrm>
            <a:off x="3131939" y="5663208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53" name="Text 48"/>
          <p:cNvSpPr txBox="1"/>
          <p:nvPr/>
        </p:nvSpPr>
        <p:spPr>
          <a:xfrm>
            <a:off x="3198465" y="5705475"/>
            <a:ext cx="16103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630" dirty="0"/>
          </a:p>
        </p:txBody>
      </p:sp>
      <p:sp>
        <p:nvSpPr>
          <p:cNvPr id="54" name="Text 49"/>
          <p:cNvSpPr txBox="1"/>
          <p:nvPr/>
        </p:nvSpPr>
        <p:spPr>
          <a:xfrm>
            <a:off x="3419773" y="5671542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Tampe e cozinhe em fogo baixo por 50 a 60 minutos (ou 20 minutos na panela de pressão), até a carne soltar do osso.</a:t>
            </a:r>
            <a:endParaRPr lang="en-US" sz="930" dirty="0"/>
          </a:p>
        </p:txBody>
      </p:sp>
      <p:sp>
        <p:nvSpPr>
          <p:cNvPr id="55" name="Shape 50"/>
          <p:cNvSpPr/>
          <p:nvPr/>
        </p:nvSpPr>
        <p:spPr>
          <a:xfrm>
            <a:off x="3131939" y="6122789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56" name="Text 51"/>
          <p:cNvSpPr txBox="1"/>
          <p:nvPr/>
        </p:nvSpPr>
        <p:spPr>
          <a:xfrm>
            <a:off x="3196828" y="6165056"/>
            <a:ext cx="16445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</a:t>
            </a:r>
            <a:endParaRPr lang="en-US" sz="630" dirty="0"/>
          </a:p>
        </p:txBody>
      </p:sp>
      <p:sp>
        <p:nvSpPr>
          <p:cNvPr id="57" name="Text 52"/>
          <p:cNvSpPr txBox="1"/>
          <p:nvPr/>
        </p:nvSpPr>
        <p:spPr>
          <a:xfrm>
            <a:off x="3419773" y="6131123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Retire os ossos e a pele (guarde os ossos para o caldo). Desfie a carne com dois garfos dentro do próprio molho.</a:t>
            </a:r>
            <a:endParaRPr lang="en-US" sz="930" dirty="0"/>
          </a:p>
        </p:txBody>
      </p:sp>
      <p:sp>
        <p:nvSpPr>
          <p:cNvPr id="58" name="Shape 53"/>
          <p:cNvSpPr/>
          <p:nvPr/>
        </p:nvSpPr>
        <p:spPr>
          <a:xfrm>
            <a:off x="3131939" y="6582370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59" name="Text 54"/>
          <p:cNvSpPr txBox="1"/>
          <p:nvPr/>
        </p:nvSpPr>
        <p:spPr>
          <a:xfrm>
            <a:off x="3197572" y="6624637"/>
            <a:ext cx="16281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</a:t>
            </a:r>
            <a:endParaRPr lang="en-US" sz="630" dirty="0"/>
          </a:p>
        </p:txBody>
      </p:sp>
      <p:sp>
        <p:nvSpPr>
          <p:cNvPr id="60" name="Text 55"/>
          <p:cNvSpPr txBox="1"/>
          <p:nvPr/>
        </p:nvSpPr>
        <p:spPr>
          <a:xfrm>
            <a:off x="3419773" y="6590705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Cozinhe destampado até o molho envolver o frango. Finalize com as ervas e acerte o sal.</a:t>
            </a:r>
            <a:endParaRPr lang="en-US" sz="930" dirty="0"/>
          </a:p>
        </p:txBody>
      </p:sp>
      <p:sp>
        <p:nvSpPr>
          <p:cNvPr id="61" name="Shape 56"/>
          <p:cNvSpPr/>
          <p:nvPr/>
        </p:nvSpPr>
        <p:spPr>
          <a:xfrm>
            <a:off x="647998" y="9026723"/>
            <a:ext cx="6263878" cy="873175"/>
          </a:xfrm>
          <a:prstGeom prst="roundRect">
            <a:avLst>
              <a:gd name="adj" fmla="val 12953"/>
            </a:avLst>
          </a:prstGeom>
          <a:solidFill>
            <a:srgbClr val="EEE6D8"/>
          </a:solidFill>
          <a:ln/>
        </p:spPr>
      </p:sp>
      <p:sp>
        <p:nvSpPr>
          <p:cNvPr id="62" name="Shape 57"/>
          <p:cNvSpPr/>
          <p:nvPr/>
        </p:nvSpPr>
        <p:spPr>
          <a:xfrm>
            <a:off x="827931" y="9188648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6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9340" y="9270057"/>
            <a:ext cx="197048" cy="197048"/>
          </a:xfrm>
          <a:prstGeom prst="rect">
            <a:avLst/>
          </a:prstGeom>
        </p:spPr>
      </p:pic>
      <p:sp>
        <p:nvSpPr>
          <p:cNvPr id="64" name="Text 58"/>
          <p:cNvSpPr txBox="1"/>
          <p:nvPr/>
        </p:nvSpPr>
        <p:spPr>
          <a:xfrm>
            <a:off x="1331714" y="9188648"/>
            <a:ext cx="131733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12" kern="0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TOQUE DO MAMEDE</a:t>
            </a:r>
            <a:endParaRPr lang="en-US" sz="700" dirty="0"/>
          </a:p>
        </p:txBody>
      </p:sp>
      <p:sp>
        <p:nvSpPr>
          <p:cNvPr id="65" name="Text 59"/>
          <p:cNvSpPr txBox="1"/>
          <p:nvPr/>
        </p:nvSpPr>
        <p:spPr>
          <a:xfrm>
            <a:off x="1331714" y="9329291"/>
            <a:ext cx="5400229" cy="4138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150" i="1" dirty="0">
                <a:solidFill>
                  <a:srgbClr val="2F2A2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Desfiar dentro do molho faz a carne absorver o líquido e continuar suculenta. Use em sanduíches, massas, tortas, panquecas ou sobre polenta mole.</a:t>
            </a:r>
            <a:endParaRPr lang="en-US" sz="1150" dirty="0"/>
          </a:p>
        </p:txBody>
      </p:sp>
      <p:sp>
        <p:nvSpPr>
          <p:cNvPr id="66" name="Shape 60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67" name="Text 61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68" name="Text 62"/>
          <p:cNvSpPr txBox="1"/>
          <p:nvPr/>
        </p:nvSpPr>
        <p:spPr>
          <a:xfrm>
            <a:off x="6793409" y="10236845"/>
            <a:ext cx="232767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22</a:t>
            </a:r>
            <a:endParaRPr lang="en-US" sz="63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611981"/>
            <a:ext cx="271317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RECEITA 3.3 · O ASSADO TECNOLÓGICO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759023"/>
            <a:ext cx="4031903" cy="11555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500" dirty="0">
                <a:solidFill>
                  <a:srgbClr val="4E5B38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Sobrecoxa marinada no iogurte com especiarias, assada até dourar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647998" y="1926134"/>
            <a:ext cx="26878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90"/>
              </a:lnSpc>
              <a:buNone/>
            </a:pPr>
            <a:r>
              <a:rPr lang="en-US" sz="1300" i="1" dirty="0">
                <a:solidFill>
                  <a:srgbClr val="C255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maciez extrema, no forno ou na airfryer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7998" y="2320528"/>
            <a:ext cx="287982" cy="287982"/>
          </a:xfrm>
          <a:prstGeom prst="ellipse">
            <a:avLst/>
          </a:prstGeom>
          <a:ln w="9525">
            <a:solidFill>
              <a:srgbClr val="2F2A2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398" y="2383929"/>
            <a:ext cx="161181" cy="16118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25872" y="2340025"/>
            <a:ext cx="198291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740" b="1" spc="44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 MIN (MAIS 2 H DE MARINADA)</a:t>
            </a:r>
            <a:endParaRPr lang="en-US" sz="740" dirty="0"/>
          </a:p>
        </p:txBody>
      </p:sp>
      <p:sp>
        <p:nvSpPr>
          <p:cNvPr id="8" name="Text 5"/>
          <p:cNvSpPr txBox="1"/>
          <p:nvPr/>
        </p:nvSpPr>
        <p:spPr>
          <a:xfrm>
            <a:off x="1025872" y="2493615"/>
            <a:ext cx="47580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spc="90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TEMPO</a:t>
            </a:r>
            <a:endParaRPr lang="en-US" sz="640" dirty="0"/>
          </a:p>
        </p:txBody>
      </p:sp>
      <p:sp>
        <p:nvSpPr>
          <p:cNvPr id="9" name="Shape 6"/>
          <p:cNvSpPr/>
          <p:nvPr/>
        </p:nvSpPr>
        <p:spPr>
          <a:xfrm>
            <a:off x="3084314" y="2320528"/>
            <a:ext cx="287982" cy="287982"/>
          </a:xfrm>
          <a:prstGeom prst="ellipse">
            <a:avLst/>
          </a:prstGeom>
          <a:ln w="9525">
            <a:solidFill>
              <a:srgbClr val="2F2A25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7715" y="2383929"/>
            <a:ext cx="161181" cy="161181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462189" y="2340025"/>
            <a:ext cx="93970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740" b="1" spc="44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 A 6 PORÇÕES</a:t>
            </a:r>
            <a:endParaRPr lang="en-US" sz="740" dirty="0"/>
          </a:p>
        </p:txBody>
      </p:sp>
      <p:sp>
        <p:nvSpPr>
          <p:cNvPr id="12" name="Text 8"/>
          <p:cNvSpPr txBox="1"/>
          <p:nvPr/>
        </p:nvSpPr>
        <p:spPr>
          <a:xfrm>
            <a:off x="3462189" y="2493615"/>
            <a:ext cx="80992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spc="90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RENDIMENTO</a:t>
            </a:r>
            <a:endParaRPr lang="en-US" sz="640" dirty="0"/>
          </a:p>
        </p:txBody>
      </p:sp>
      <p:pic>
        <p:nvPicPr>
          <p:cNvPr id="13" name="Image 2" descr="/home/user/ebook-luq/versoes/VERSAO COM FOTOGRAFIAS/fotos/r3-3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615880" y="252115"/>
            <a:ext cx="2375892" cy="2375892"/>
          </a:xfrm>
          <a:prstGeom prst="ellipse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647998" y="3157091"/>
            <a:ext cx="2159943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647998" y="2951857"/>
            <a:ext cx="105891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60" b="1" spc="12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INGREDIENTES</a:t>
            </a:r>
            <a:endParaRPr lang="en-US" sz="760" dirty="0"/>
          </a:p>
        </p:txBody>
      </p:sp>
      <p:sp>
        <p:nvSpPr>
          <p:cNvPr id="16" name="Text 11"/>
          <p:cNvSpPr txBox="1"/>
          <p:nvPr/>
        </p:nvSpPr>
        <p:spPr>
          <a:xfrm>
            <a:off x="647998" y="3264991"/>
            <a:ext cx="71422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30"/>
              </a:lnSpc>
              <a:buNone/>
            </a:pPr>
            <a:r>
              <a:rPr lang="en-US" sz="660" b="1" spc="106" kern="0" dirty="0">
                <a:solidFill>
                  <a:srgbClr val="C255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MARINADA</a:t>
            </a:r>
            <a:endParaRPr lang="en-US" sz="660" dirty="0"/>
          </a:p>
        </p:txBody>
      </p:sp>
      <p:sp>
        <p:nvSpPr>
          <p:cNvPr id="17" name="Shape 12"/>
          <p:cNvSpPr/>
          <p:nvPr/>
        </p:nvSpPr>
        <p:spPr>
          <a:xfrm>
            <a:off x="665998" y="3492042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8" name="Text 13"/>
          <p:cNvSpPr txBox="1"/>
          <p:nvPr/>
        </p:nvSpPr>
        <p:spPr>
          <a:xfrm>
            <a:off x="809998" y="3433167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170 g de iogurte natural integral (1 pote)</a:t>
            </a:r>
            <a:endParaRPr lang="en-US" sz="890" dirty="0"/>
          </a:p>
        </p:txBody>
      </p:sp>
      <p:sp>
        <p:nvSpPr>
          <p:cNvPr id="19" name="Shape 14"/>
          <p:cNvSpPr/>
          <p:nvPr/>
        </p:nvSpPr>
        <p:spPr>
          <a:xfrm>
            <a:off x="665998" y="3873340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0" name="Text 15"/>
          <p:cNvSpPr txBox="1"/>
          <p:nvPr/>
        </p:nvSpPr>
        <p:spPr>
          <a:xfrm>
            <a:off x="809923" y="3814465"/>
            <a:ext cx="153035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 dentes de alho ralados</a:t>
            </a:r>
            <a:endParaRPr lang="en-US" sz="890" dirty="0"/>
          </a:p>
        </p:txBody>
      </p:sp>
      <p:sp>
        <p:nvSpPr>
          <p:cNvPr id="21" name="Shape 16"/>
          <p:cNvSpPr/>
          <p:nvPr/>
        </p:nvSpPr>
        <p:spPr>
          <a:xfrm>
            <a:off x="665998" y="4090927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2" name="Text 17"/>
          <p:cNvSpPr txBox="1"/>
          <p:nvPr/>
        </p:nvSpPr>
        <p:spPr>
          <a:xfrm>
            <a:off x="809923" y="4032052"/>
            <a:ext cx="205809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colher (chá) de gengibre ralado</a:t>
            </a:r>
            <a:endParaRPr lang="en-US" sz="890" dirty="0"/>
          </a:p>
        </p:txBody>
      </p:sp>
      <p:sp>
        <p:nvSpPr>
          <p:cNvPr id="23" name="Shape 18"/>
          <p:cNvSpPr/>
          <p:nvPr/>
        </p:nvSpPr>
        <p:spPr>
          <a:xfrm>
            <a:off x="665998" y="4308513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4" name="Text 19"/>
          <p:cNvSpPr txBox="1"/>
          <p:nvPr/>
        </p:nvSpPr>
        <p:spPr>
          <a:xfrm>
            <a:off x="809923" y="4249638"/>
            <a:ext cx="187056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colher (chá) de páprica doce</a:t>
            </a:r>
            <a:endParaRPr lang="en-US" sz="890" dirty="0"/>
          </a:p>
        </p:txBody>
      </p:sp>
      <p:sp>
        <p:nvSpPr>
          <p:cNvPr id="25" name="Shape 20"/>
          <p:cNvSpPr/>
          <p:nvPr/>
        </p:nvSpPr>
        <p:spPr>
          <a:xfrm>
            <a:off x="665998" y="4526100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6" name="Text 21"/>
          <p:cNvSpPr txBox="1"/>
          <p:nvPr/>
        </p:nvSpPr>
        <p:spPr>
          <a:xfrm>
            <a:off x="809923" y="4467225"/>
            <a:ext cx="206042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colher (chá) de cominho em pó</a:t>
            </a:r>
            <a:endParaRPr lang="en-US" sz="890" dirty="0"/>
          </a:p>
        </p:txBody>
      </p:sp>
      <p:sp>
        <p:nvSpPr>
          <p:cNvPr id="27" name="Shape 22"/>
          <p:cNvSpPr/>
          <p:nvPr/>
        </p:nvSpPr>
        <p:spPr>
          <a:xfrm>
            <a:off x="665998" y="4743687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8" name="Text 23"/>
          <p:cNvSpPr txBox="1"/>
          <p:nvPr/>
        </p:nvSpPr>
        <p:spPr>
          <a:xfrm>
            <a:off x="809923" y="4684812"/>
            <a:ext cx="170538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½ colher (chá) de cúrcuma</a:t>
            </a:r>
            <a:endParaRPr lang="en-US" sz="890" dirty="0"/>
          </a:p>
        </p:txBody>
      </p:sp>
      <p:sp>
        <p:nvSpPr>
          <p:cNvPr id="29" name="Shape 24"/>
          <p:cNvSpPr/>
          <p:nvPr/>
        </p:nvSpPr>
        <p:spPr>
          <a:xfrm>
            <a:off x="665998" y="4961273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0" name="Text 25"/>
          <p:cNvSpPr txBox="1"/>
          <p:nvPr/>
        </p:nvSpPr>
        <p:spPr>
          <a:xfrm>
            <a:off x="809923" y="4902398"/>
            <a:ext cx="160686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Suco e raspas de ½ limão</a:t>
            </a:r>
            <a:endParaRPr lang="en-US" sz="890" dirty="0"/>
          </a:p>
        </p:txBody>
      </p:sp>
      <p:sp>
        <p:nvSpPr>
          <p:cNvPr id="31" name="Shape 26"/>
          <p:cNvSpPr/>
          <p:nvPr/>
        </p:nvSpPr>
        <p:spPr>
          <a:xfrm>
            <a:off x="665998" y="5178860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2" name="Text 27"/>
          <p:cNvSpPr txBox="1"/>
          <p:nvPr/>
        </p:nvSpPr>
        <p:spPr>
          <a:xfrm>
            <a:off x="809923" y="5119985"/>
            <a:ext cx="122081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colher (chá) de sal</a:t>
            </a:r>
            <a:endParaRPr lang="en-US" sz="890" dirty="0"/>
          </a:p>
        </p:txBody>
      </p:sp>
      <p:sp>
        <p:nvSpPr>
          <p:cNvPr id="33" name="Shape 28"/>
          <p:cNvSpPr/>
          <p:nvPr/>
        </p:nvSpPr>
        <p:spPr>
          <a:xfrm>
            <a:off x="665998" y="5396447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4" name="Text 29"/>
          <p:cNvSpPr txBox="1"/>
          <p:nvPr/>
        </p:nvSpPr>
        <p:spPr>
          <a:xfrm>
            <a:off x="809923" y="5337572"/>
            <a:ext cx="149385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colher (sopa) de azeite</a:t>
            </a:r>
            <a:endParaRPr lang="en-US" sz="890" dirty="0"/>
          </a:p>
        </p:txBody>
      </p:sp>
      <p:sp>
        <p:nvSpPr>
          <p:cNvPr id="35" name="Text 30"/>
          <p:cNvSpPr txBox="1"/>
          <p:nvPr/>
        </p:nvSpPr>
        <p:spPr>
          <a:xfrm>
            <a:off x="647998" y="5599658"/>
            <a:ext cx="57537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30"/>
              </a:lnSpc>
              <a:buNone/>
            </a:pPr>
            <a:r>
              <a:rPr lang="en-US" sz="660" b="1" spc="106" kern="0" dirty="0">
                <a:solidFill>
                  <a:srgbClr val="C255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FRANGO</a:t>
            </a:r>
            <a:endParaRPr lang="en-US" sz="660" dirty="0"/>
          </a:p>
        </p:txBody>
      </p:sp>
      <p:sp>
        <p:nvSpPr>
          <p:cNvPr id="36" name="Shape 31"/>
          <p:cNvSpPr/>
          <p:nvPr/>
        </p:nvSpPr>
        <p:spPr>
          <a:xfrm>
            <a:off x="665998" y="5826709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7" name="Text 32"/>
          <p:cNvSpPr txBox="1"/>
          <p:nvPr/>
        </p:nvSpPr>
        <p:spPr>
          <a:xfrm>
            <a:off x="809923" y="5767834"/>
            <a:ext cx="186006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 sobrecoxas com osso e pele</a:t>
            </a:r>
            <a:endParaRPr lang="en-US" sz="890" dirty="0"/>
          </a:p>
        </p:txBody>
      </p:sp>
      <p:sp>
        <p:nvSpPr>
          <p:cNvPr id="38" name="Shape 33"/>
          <p:cNvSpPr/>
          <p:nvPr/>
        </p:nvSpPr>
        <p:spPr>
          <a:xfrm>
            <a:off x="3131939" y="3157091"/>
            <a:ext cx="3779937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9" name="Text 34"/>
          <p:cNvSpPr txBox="1"/>
          <p:nvPr/>
        </p:nvSpPr>
        <p:spPr>
          <a:xfrm>
            <a:off x="3131939" y="2951857"/>
            <a:ext cx="141434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60" b="1" spc="12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MODO DE PREPARO</a:t>
            </a:r>
            <a:endParaRPr lang="en-US" sz="760" dirty="0"/>
          </a:p>
        </p:txBody>
      </p:sp>
      <p:sp>
        <p:nvSpPr>
          <p:cNvPr id="40" name="Shape 35"/>
          <p:cNvSpPr/>
          <p:nvPr/>
        </p:nvSpPr>
        <p:spPr>
          <a:xfrm>
            <a:off x="3131939" y="3275707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1" name="Text 36"/>
          <p:cNvSpPr txBox="1"/>
          <p:nvPr/>
        </p:nvSpPr>
        <p:spPr>
          <a:xfrm>
            <a:off x="3206651" y="3317974"/>
            <a:ext cx="14481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630" dirty="0"/>
          </a:p>
        </p:txBody>
      </p:sp>
      <p:sp>
        <p:nvSpPr>
          <p:cNvPr id="42" name="Text 37"/>
          <p:cNvSpPr txBox="1"/>
          <p:nvPr/>
        </p:nvSpPr>
        <p:spPr>
          <a:xfrm>
            <a:off x="3419773" y="3284041"/>
            <a:ext cx="370329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Misture todos os ingredientes da marinada numa tigela.</a:t>
            </a:r>
            <a:endParaRPr lang="en-US" sz="930" dirty="0"/>
          </a:p>
        </p:txBody>
      </p:sp>
      <p:sp>
        <p:nvSpPr>
          <p:cNvPr id="43" name="Shape 38"/>
          <p:cNvSpPr/>
          <p:nvPr/>
        </p:nvSpPr>
        <p:spPr>
          <a:xfrm>
            <a:off x="3131939" y="3559820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4" name="Text 39"/>
          <p:cNvSpPr txBox="1"/>
          <p:nvPr/>
        </p:nvSpPr>
        <p:spPr>
          <a:xfrm>
            <a:off x="3198614" y="3602087"/>
            <a:ext cx="1607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630" dirty="0"/>
          </a:p>
        </p:txBody>
      </p:sp>
      <p:sp>
        <p:nvSpPr>
          <p:cNvPr id="45" name="Text 40"/>
          <p:cNvSpPr txBox="1"/>
          <p:nvPr/>
        </p:nvSpPr>
        <p:spPr>
          <a:xfrm>
            <a:off x="3419773" y="3568154"/>
            <a:ext cx="3492103" cy="528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Faça 2 cortes rasos em cada sobrecoxa, do lado da pele, e envolva bem na marinada. Cubra e leve à geladeira por no mínimo 2 horas, idealmente de um dia para o outro.</a:t>
            </a:r>
            <a:endParaRPr lang="en-US" sz="930" dirty="0"/>
          </a:p>
        </p:txBody>
      </p:sp>
      <p:sp>
        <p:nvSpPr>
          <p:cNvPr id="46" name="Shape 41"/>
          <p:cNvSpPr/>
          <p:nvPr/>
        </p:nvSpPr>
        <p:spPr>
          <a:xfrm>
            <a:off x="3131939" y="4202460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7" name="Text 42"/>
          <p:cNvSpPr txBox="1"/>
          <p:nvPr/>
        </p:nvSpPr>
        <p:spPr>
          <a:xfrm>
            <a:off x="3198614" y="4244727"/>
            <a:ext cx="1607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630" dirty="0"/>
          </a:p>
        </p:txBody>
      </p:sp>
      <p:sp>
        <p:nvSpPr>
          <p:cNvPr id="48" name="Text 43"/>
          <p:cNvSpPr txBox="1"/>
          <p:nvPr/>
        </p:nvSpPr>
        <p:spPr>
          <a:xfrm>
            <a:off x="3419773" y="4210794"/>
            <a:ext cx="3492103" cy="528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Retire o excesso de marinada e disponha as sobrecoxas com a pele para cima, sobre uma grade apoiada na assadeira (ou sobre papel-manteiga), bem espaçadas.</a:t>
            </a:r>
            <a:endParaRPr lang="en-US" sz="930" dirty="0"/>
          </a:p>
        </p:txBody>
      </p:sp>
      <p:sp>
        <p:nvSpPr>
          <p:cNvPr id="49" name="Shape 44"/>
          <p:cNvSpPr/>
          <p:nvPr/>
        </p:nvSpPr>
        <p:spPr>
          <a:xfrm>
            <a:off x="3131939" y="4845100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50" name="Text 45"/>
          <p:cNvSpPr txBox="1"/>
          <p:nvPr/>
        </p:nvSpPr>
        <p:spPr>
          <a:xfrm>
            <a:off x="3194745" y="4887367"/>
            <a:ext cx="16847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630" dirty="0"/>
          </a:p>
        </p:txBody>
      </p:sp>
      <p:sp>
        <p:nvSpPr>
          <p:cNvPr id="51" name="Text 46"/>
          <p:cNvSpPr txBox="1"/>
          <p:nvPr/>
        </p:nvSpPr>
        <p:spPr>
          <a:xfrm>
            <a:off x="3419773" y="4853434"/>
            <a:ext cx="3492103" cy="528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 forno:</a:t>
            </a:r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asse a 220 °C por 35 a 40 minutos. Nos últimos 5 minutos, ligue o grill, se o seu forno tiver, para formar manchas tostadas.</a:t>
            </a:r>
            <a:endParaRPr lang="en-US" sz="930" dirty="0"/>
          </a:p>
        </p:txBody>
      </p:sp>
      <p:sp>
        <p:nvSpPr>
          <p:cNvPr id="52" name="Shape 47"/>
          <p:cNvSpPr/>
          <p:nvPr/>
        </p:nvSpPr>
        <p:spPr>
          <a:xfrm>
            <a:off x="3131939" y="5487739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53" name="Text 48"/>
          <p:cNvSpPr txBox="1"/>
          <p:nvPr/>
        </p:nvSpPr>
        <p:spPr>
          <a:xfrm>
            <a:off x="3198465" y="5530007"/>
            <a:ext cx="16103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630" dirty="0"/>
          </a:p>
        </p:txBody>
      </p:sp>
      <p:sp>
        <p:nvSpPr>
          <p:cNvPr id="54" name="Text 49"/>
          <p:cNvSpPr txBox="1"/>
          <p:nvPr/>
        </p:nvSpPr>
        <p:spPr>
          <a:xfrm>
            <a:off x="3419773" y="5496074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Na airfryer:</a:t>
            </a:r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180 °C por 15 minutos, vire, e mais 8 a 10 minutos a 200 °C.</a:t>
            </a:r>
            <a:endParaRPr lang="en-US" sz="930" dirty="0"/>
          </a:p>
        </p:txBody>
      </p:sp>
      <p:sp>
        <p:nvSpPr>
          <p:cNvPr id="55" name="Shape 50"/>
          <p:cNvSpPr/>
          <p:nvPr/>
        </p:nvSpPr>
        <p:spPr>
          <a:xfrm>
            <a:off x="3131939" y="5947321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56" name="Text 51"/>
          <p:cNvSpPr txBox="1"/>
          <p:nvPr/>
        </p:nvSpPr>
        <p:spPr>
          <a:xfrm>
            <a:off x="3196828" y="5989588"/>
            <a:ext cx="16445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</a:t>
            </a:r>
            <a:endParaRPr lang="en-US" sz="630" dirty="0"/>
          </a:p>
        </p:txBody>
      </p:sp>
      <p:sp>
        <p:nvSpPr>
          <p:cNvPr id="57" name="Text 52"/>
          <p:cNvSpPr txBox="1"/>
          <p:nvPr/>
        </p:nvSpPr>
        <p:spPr>
          <a:xfrm>
            <a:off x="3419773" y="5955655"/>
            <a:ext cx="279768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Deixe descansar 5 minutos antes de servir.</a:t>
            </a:r>
            <a:endParaRPr lang="en-US" sz="930" dirty="0"/>
          </a:p>
        </p:txBody>
      </p:sp>
      <p:sp>
        <p:nvSpPr>
          <p:cNvPr id="58" name="Shape 53"/>
          <p:cNvSpPr/>
          <p:nvPr/>
        </p:nvSpPr>
        <p:spPr>
          <a:xfrm>
            <a:off x="647998" y="8822382"/>
            <a:ext cx="6263878" cy="1077516"/>
          </a:xfrm>
          <a:prstGeom prst="roundRect">
            <a:avLst>
              <a:gd name="adj" fmla="val 8506"/>
            </a:avLst>
          </a:prstGeom>
          <a:solidFill>
            <a:srgbClr val="EEE6D8"/>
          </a:solidFill>
          <a:ln/>
        </p:spPr>
      </p:sp>
      <p:sp>
        <p:nvSpPr>
          <p:cNvPr id="59" name="Shape 54"/>
          <p:cNvSpPr/>
          <p:nvPr/>
        </p:nvSpPr>
        <p:spPr>
          <a:xfrm>
            <a:off x="827931" y="8984307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6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9340" y="9065716"/>
            <a:ext cx="197048" cy="197048"/>
          </a:xfrm>
          <a:prstGeom prst="rect">
            <a:avLst/>
          </a:prstGeom>
        </p:spPr>
      </p:pic>
      <p:sp>
        <p:nvSpPr>
          <p:cNvPr id="61" name="Text 55"/>
          <p:cNvSpPr txBox="1"/>
          <p:nvPr/>
        </p:nvSpPr>
        <p:spPr>
          <a:xfrm>
            <a:off x="1331714" y="8984307"/>
            <a:ext cx="131733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12" kern="0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TOQUE DO MAMEDE</a:t>
            </a:r>
            <a:endParaRPr lang="en-US" sz="700" dirty="0"/>
          </a:p>
        </p:txBody>
      </p:sp>
      <p:sp>
        <p:nvSpPr>
          <p:cNvPr id="62" name="Text 56"/>
          <p:cNvSpPr txBox="1"/>
          <p:nvPr/>
        </p:nvSpPr>
        <p:spPr>
          <a:xfrm>
            <a:off x="1331714" y="9124950"/>
            <a:ext cx="5400229" cy="618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150" i="1" dirty="0">
                <a:solidFill>
                  <a:srgbClr val="2F2A2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O ácido suave do iogurte amacia a carne sem deixá-la farinhenta (como acontece com marinadas muito ácidas), e os açúcares do leite ajudam a dourar. Sirva com arroz, salada de pepino e um molho de iogurte com hortelã.</a:t>
            </a:r>
            <a:endParaRPr lang="en-US" sz="1150" dirty="0"/>
          </a:p>
        </p:txBody>
      </p:sp>
      <p:sp>
        <p:nvSpPr>
          <p:cNvPr id="63" name="Shape 57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64" name="Text 58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65" name="Text 59"/>
          <p:cNvSpPr txBox="1"/>
          <p:nvPr/>
        </p:nvSpPr>
        <p:spPr>
          <a:xfrm>
            <a:off x="6793409" y="10236845"/>
            <a:ext cx="232767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23</a:t>
            </a:r>
            <a:endParaRPr lang="en-US" sz="63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611981"/>
            <a:ext cx="55602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800" b="1" spc="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PULO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713929"/>
            <a:ext cx="1548027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0"/>
              </a:lnSpc>
              <a:buNone/>
            </a:pPr>
            <a:r>
              <a:rPr lang="en-US" sz="3400" spc="-17" kern="0" dirty="0">
                <a:solidFill>
                  <a:srgbClr val="4E5B38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do chef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7998" y="1392436"/>
            <a:ext cx="467916" cy="11311"/>
          </a:xfrm>
          <a:prstGeom prst="rect">
            <a:avLst/>
          </a:prstGeom>
          <a:solidFill>
            <a:srgbClr val="2F2A2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7998" y="1574304"/>
            <a:ext cx="2547318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20"/>
              </a:lnSpc>
              <a:buNone/>
            </a:pPr>
            <a:r>
              <a:rPr lang="en-US" sz="1700" i="1" dirty="0">
                <a:solidFill>
                  <a:srgbClr val="C255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Pele borrachuda e frango seco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47998" y="2033587"/>
            <a:ext cx="2703909" cy="3168104"/>
          </a:xfrm>
          <a:prstGeom prst="roundRect">
            <a:avLst>
              <a:gd name="adj" fmla="val 1351"/>
            </a:avLst>
          </a:prstGeom>
          <a:solidFill>
            <a:srgbClr val="FBF8F3"/>
          </a:solidFill>
          <a:ln w="9525">
            <a:solidFill>
              <a:srgbClr val="DDD2C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37456" y="2223046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C2552D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865" y="2304455"/>
            <a:ext cx="197048" cy="19704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323231" y="2341066"/>
            <a:ext cx="61510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800" b="1" spc="11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ERRO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37456" y="2727871"/>
            <a:ext cx="2324993" cy="9257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Tirar o frango molhado da embalagem direto para a frigideira, mexer o tempo todo e cortar assim que sai do fogo. A pele cozinha no vapor e fica mole; a carne perde o suco na tábua.</a:t>
            </a:r>
            <a:endParaRPr lang="en-US" sz="940" dirty="0"/>
          </a:p>
        </p:txBody>
      </p:sp>
      <p:sp>
        <p:nvSpPr>
          <p:cNvPr id="11" name="Shape 8"/>
          <p:cNvSpPr/>
          <p:nvPr/>
        </p:nvSpPr>
        <p:spPr>
          <a:xfrm>
            <a:off x="3531840" y="2033587"/>
            <a:ext cx="3380036" cy="3168104"/>
          </a:xfrm>
          <a:prstGeom prst="roundRect">
            <a:avLst>
              <a:gd name="adj" fmla="val 984"/>
            </a:avLst>
          </a:prstGeom>
          <a:solidFill>
            <a:srgbClr val="EEE6D8"/>
          </a:solidFill>
          <a:ln/>
        </p:spPr>
      </p:sp>
      <p:sp>
        <p:nvSpPr>
          <p:cNvPr id="12" name="Shape 9"/>
          <p:cNvSpPr/>
          <p:nvPr/>
        </p:nvSpPr>
        <p:spPr>
          <a:xfrm>
            <a:off x="3711773" y="2213521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3182" y="2294930"/>
            <a:ext cx="197048" cy="197048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4197548" y="2331541"/>
            <a:ext cx="81036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800" b="1" spc="11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TÉCNICA</a:t>
            </a:r>
            <a:endParaRPr lang="en-US" sz="800" dirty="0"/>
          </a:p>
        </p:txBody>
      </p:sp>
      <p:sp>
        <p:nvSpPr>
          <p:cNvPr id="15" name="Text 11"/>
          <p:cNvSpPr txBox="1"/>
          <p:nvPr/>
        </p:nvSpPr>
        <p:spPr>
          <a:xfrm>
            <a:off x="3711773" y="2699296"/>
            <a:ext cx="133350" cy="1850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940" dirty="0"/>
          </a:p>
        </p:txBody>
      </p:sp>
      <p:sp>
        <p:nvSpPr>
          <p:cNvPr id="16" name="Text 12"/>
          <p:cNvSpPr txBox="1"/>
          <p:nvPr/>
        </p:nvSpPr>
        <p:spPr>
          <a:xfrm>
            <a:off x="3873774" y="2718346"/>
            <a:ext cx="2858169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Seque e salgue antes:</a:t>
            </a:r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papel-toalha e, se der, sal com antecedência na geladeira, descoberto.</a:t>
            </a:r>
            <a:endParaRPr lang="en-US" sz="940" dirty="0"/>
          </a:p>
        </p:txBody>
      </p:sp>
      <p:sp>
        <p:nvSpPr>
          <p:cNvPr id="17" name="Text 13"/>
          <p:cNvSpPr txBox="1"/>
          <p:nvPr/>
        </p:nvSpPr>
        <p:spPr>
          <a:xfrm>
            <a:off x="3711773" y="3141166"/>
            <a:ext cx="133350" cy="1850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940" dirty="0"/>
          </a:p>
        </p:txBody>
      </p:sp>
      <p:sp>
        <p:nvSpPr>
          <p:cNvPr id="18" name="Text 14"/>
          <p:cNvSpPr txBox="1"/>
          <p:nvPr/>
        </p:nvSpPr>
        <p:spPr>
          <a:xfrm>
            <a:off x="3873774" y="3160216"/>
            <a:ext cx="2858169" cy="53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Pele para baixo e paciência:</a:t>
            </a:r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fogo médio, peso por cima e nada de mexer até ela soltar sozinha da frigideira.</a:t>
            </a:r>
            <a:endParaRPr lang="en-US" sz="940" dirty="0"/>
          </a:p>
        </p:txBody>
      </p:sp>
      <p:sp>
        <p:nvSpPr>
          <p:cNvPr id="19" name="Text 15"/>
          <p:cNvSpPr txBox="1"/>
          <p:nvPr/>
        </p:nvSpPr>
        <p:spPr>
          <a:xfrm>
            <a:off x="3711773" y="3768030"/>
            <a:ext cx="133350" cy="1850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940" dirty="0"/>
          </a:p>
        </p:txBody>
      </p:sp>
      <p:sp>
        <p:nvSpPr>
          <p:cNvPr id="20" name="Text 16"/>
          <p:cNvSpPr txBox="1"/>
          <p:nvPr/>
        </p:nvSpPr>
        <p:spPr>
          <a:xfrm>
            <a:off x="3873774" y="3787080"/>
            <a:ext cx="2858169" cy="7169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Ponto pela temperatura:</a:t>
            </a:r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sobrecoxa fica melhor entre 75 °C e 80 °C. Um termômetro culinário custa menos que uma pizza e acaba com o achismo.</a:t>
            </a:r>
            <a:endParaRPr lang="en-US" sz="940" dirty="0"/>
          </a:p>
        </p:txBody>
      </p:sp>
      <p:sp>
        <p:nvSpPr>
          <p:cNvPr id="21" name="Text 17"/>
          <p:cNvSpPr txBox="1"/>
          <p:nvPr/>
        </p:nvSpPr>
        <p:spPr>
          <a:xfrm>
            <a:off x="3711773" y="4579888"/>
            <a:ext cx="133350" cy="1850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940" dirty="0"/>
          </a:p>
        </p:txBody>
      </p:sp>
      <p:sp>
        <p:nvSpPr>
          <p:cNvPr id="22" name="Text 18"/>
          <p:cNvSpPr txBox="1"/>
          <p:nvPr/>
        </p:nvSpPr>
        <p:spPr>
          <a:xfrm>
            <a:off x="3873774" y="4598938"/>
            <a:ext cx="2858169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Descanso:</a:t>
            </a:r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5 minutos antes de cortar, para os sucos se redistribuírem.</a:t>
            </a:r>
            <a:endParaRPr lang="en-US" sz="940" dirty="0"/>
          </a:p>
        </p:txBody>
      </p:sp>
      <p:sp>
        <p:nvSpPr>
          <p:cNvPr id="23" name="Text 19"/>
          <p:cNvSpPr txBox="1"/>
          <p:nvPr/>
        </p:nvSpPr>
        <p:spPr>
          <a:xfrm>
            <a:off x="647998" y="5525691"/>
            <a:ext cx="64665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800" b="1" spc="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NÃO TEM</a:t>
            </a:r>
            <a:endParaRPr lang="en-US" sz="800" dirty="0"/>
          </a:p>
        </p:txBody>
      </p:sp>
      <p:sp>
        <p:nvSpPr>
          <p:cNvPr id="24" name="Text 20"/>
          <p:cNvSpPr txBox="1"/>
          <p:nvPr/>
        </p:nvSpPr>
        <p:spPr>
          <a:xfrm>
            <a:off x="647998" y="5637163"/>
            <a:ext cx="857399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700" spc="-14" kern="0" dirty="0">
                <a:solidFill>
                  <a:srgbClr val="4E5B38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isso?</a:t>
            </a:r>
            <a:endParaRPr lang="en-US" sz="2700" dirty="0"/>
          </a:p>
        </p:txBody>
      </p:sp>
      <p:sp>
        <p:nvSpPr>
          <p:cNvPr id="25" name="Shape 21"/>
          <p:cNvSpPr/>
          <p:nvPr/>
        </p:nvSpPr>
        <p:spPr>
          <a:xfrm>
            <a:off x="647998" y="6215509"/>
            <a:ext cx="467916" cy="11311"/>
          </a:xfrm>
          <a:prstGeom prst="rect">
            <a:avLst/>
          </a:prstGeom>
          <a:solidFill>
            <a:srgbClr val="2F2A25"/>
          </a:solidFill>
          <a:ln/>
        </p:spPr>
      </p:sp>
      <p:sp>
        <p:nvSpPr>
          <p:cNvPr id="26" name="Shape 22"/>
          <p:cNvSpPr/>
          <p:nvPr/>
        </p:nvSpPr>
        <p:spPr>
          <a:xfrm>
            <a:off x="647998" y="6442770"/>
            <a:ext cx="1655862" cy="291703"/>
          </a:xfrm>
          <a:prstGeom prst="roundRect">
            <a:avLst>
              <a:gd name="adj" fmla="val 77373"/>
            </a:avLst>
          </a:prstGeom>
          <a:solidFill>
            <a:srgbClr val="4E5B38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791914" y="6536234"/>
            <a:ext cx="99625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spc="109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 NÃO TIVER…</a:t>
            </a:r>
            <a:endParaRPr lang="en-US" sz="680" dirty="0"/>
          </a:p>
        </p:txBody>
      </p:sp>
      <p:sp>
        <p:nvSpPr>
          <p:cNvPr id="28" name="Shape 24"/>
          <p:cNvSpPr/>
          <p:nvPr/>
        </p:nvSpPr>
        <p:spPr>
          <a:xfrm>
            <a:off x="2303859" y="6442770"/>
            <a:ext cx="4608016" cy="291703"/>
          </a:xfrm>
          <a:prstGeom prst="rect">
            <a:avLst/>
          </a:prstGeom>
          <a:solidFill>
            <a:srgbClr val="4E5B38"/>
          </a:solidFill>
          <a:ln/>
        </p:spPr>
      </p:sp>
      <p:sp>
        <p:nvSpPr>
          <p:cNvPr id="29" name="Text 25"/>
          <p:cNvSpPr txBox="1"/>
          <p:nvPr/>
        </p:nvSpPr>
        <p:spPr>
          <a:xfrm>
            <a:off x="2447776" y="6536234"/>
            <a:ext cx="41999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spc="109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USE…</a:t>
            </a:r>
            <a:endParaRPr lang="en-US" sz="680" dirty="0"/>
          </a:p>
        </p:txBody>
      </p:sp>
      <p:sp>
        <p:nvSpPr>
          <p:cNvPr id="30" name="Shape 26"/>
          <p:cNvSpPr/>
          <p:nvPr/>
        </p:nvSpPr>
        <p:spPr>
          <a:xfrm>
            <a:off x="647998" y="7276505"/>
            <a:ext cx="1655862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791914" y="6827937"/>
            <a:ext cx="70678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4E5B38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Sobrecoxa</a:t>
            </a:r>
            <a:endParaRPr lang="en-US" sz="1000" dirty="0"/>
          </a:p>
        </p:txBody>
      </p:sp>
      <p:sp>
        <p:nvSpPr>
          <p:cNvPr id="32" name="Shape 28"/>
          <p:cNvSpPr/>
          <p:nvPr/>
        </p:nvSpPr>
        <p:spPr>
          <a:xfrm>
            <a:off x="2303859" y="7276505"/>
            <a:ext cx="4608016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2447859" y="6837462"/>
            <a:ext cx="4320017" cy="337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92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Coxa (aumente um pouco o tempo) ou peito (reduza bastante o tempo e retire do fogo a 65 °C: ele resseca fácil).</a:t>
            </a:r>
            <a:endParaRPr lang="en-US" sz="920" dirty="0"/>
          </a:p>
        </p:txBody>
      </p:sp>
      <p:sp>
        <p:nvSpPr>
          <p:cNvPr id="34" name="Shape 30"/>
          <p:cNvSpPr/>
          <p:nvPr/>
        </p:nvSpPr>
        <p:spPr>
          <a:xfrm>
            <a:off x="647998" y="7648129"/>
            <a:ext cx="1655862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791914" y="7374731"/>
            <a:ext cx="963216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4E5B38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Iogurte natural</a:t>
            </a:r>
            <a:endParaRPr lang="en-US" sz="1000" dirty="0"/>
          </a:p>
        </p:txBody>
      </p:sp>
      <p:sp>
        <p:nvSpPr>
          <p:cNvPr id="36" name="Shape 32"/>
          <p:cNvSpPr/>
          <p:nvPr/>
        </p:nvSpPr>
        <p:spPr>
          <a:xfrm>
            <a:off x="2303859" y="7648129"/>
            <a:ext cx="4608016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2447776" y="7384256"/>
            <a:ext cx="460657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92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Coalhada seca, ou leite com suco de limão descansado por 10 minutos.</a:t>
            </a:r>
            <a:endParaRPr lang="en-US" sz="920" dirty="0"/>
          </a:p>
        </p:txBody>
      </p:sp>
      <p:sp>
        <p:nvSpPr>
          <p:cNvPr id="38" name="Shape 34"/>
          <p:cNvSpPr/>
          <p:nvPr/>
        </p:nvSpPr>
        <p:spPr>
          <a:xfrm>
            <a:off x="647998" y="8019752"/>
            <a:ext cx="1655862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791914" y="7746355"/>
            <a:ext cx="99789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4E5B38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Caldo de frango</a:t>
            </a:r>
            <a:endParaRPr lang="en-US" sz="1000" dirty="0"/>
          </a:p>
        </p:txBody>
      </p:sp>
      <p:sp>
        <p:nvSpPr>
          <p:cNvPr id="40" name="Shape 36"/>
          <p:cNvSpPr/>
          <p:nvPr/>
        </p:nvSpPr>
        <p:spPr>
          <a:xfrm>
            <a:off x="2303859" y="8019752"/>
            <a:ext cx="4608016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2447776" y="7755880"/>
            <a:ext cx="315439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92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Água com as aparas e um ramo de cheiro-verde.</a:t>
            </a:r>
            <a:endParaRPr lang="en-US" sz="920" dirty="0"/>
          </a:p>
        </p:txBody>
      </p:sp>
      <p:sp>
        <p:nvSpPr>
          <p:cNvPr id="42" name="Shape 38"/>
          <p:cNvSpPr/>
          <p:nvPr/>
        </p:nvSpPr>
        <p:spPr>
          <a:xfrm>
            <a:off x="647998" y="8391376"/>
            <a:ext cx="1655862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791914" y="8117979"/>
            <a:ext cx="914846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4E5B38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Tomate fresco</a:t>
            </a:r>
            <a:endParaRPr lang="en-US" sz="1000" dirty="0"/>
          </a:p>
        </p:txBody>
      </p:sp>
      <p:sp>
        <p:nvSpPr>
          <p:cNvPr id="44" name="Shape 40"/>
          <p:cNvSpPr/>
          <p:nvPr/>
        </p:nvSpPr>
        <p:spPr>
          <a:xfrm>
            <a:off x="2303859" y="8391376"/>
            <a:ext cx="4608016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2447776" y="8127504"/>
            <a:ext cx="226895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92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Tomate pelado em lata ou passata.</a:t>
            </a:r>
            <a:endParaRPr lang="en-US" sz="920" dirty="0"/>
          </a:p>
        </p:txBody>
      </p:sp>
      <p:sp>
        <p:nvSpPr>
          <p:cNvPr id="46" name="Shape 42"/>
          <p:cNvSpPr/>
          <p:nvPr/>
        </p:nvSpPr>
        <p:spPr>
          <a:xfrm>
            <a:off x="647998" y="8930729"/>
            <a:ext cx="1655862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791998" y="8489603"/>
            <a:ext cx="1367862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4E5B38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Manteiga gelada no molho</a:t>
            </a:r>
            <a:endParaRPr lang="en-US" sz="1000" dirty="0"/>
          </a:p>
        </p:txBody>
      </p:sp>
      <p:sp>
        <p:nvSpPr>
          <p:cNvPr id="48" name="Shape 44"/>
          <p:cNvSpPr/>
          <p:nvPr/>
        </p:nvSpPr>
        <p:spPr>
          <a:xfrm>
            <a:off x="2303859" y="8930729"/>
            <a:ext cx="4608016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2447776" y="8499128"/>
            <a:ext cx="374746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92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Azeite (o molho fica mais fino, mas igualmente saboroso).</a:t>
            </a:r>
            <a:endParaRPr lang="en-US" sz="920" dirty="0"/>
          </a:p>
        </p:txBody>
      </p:sp>
      <p:sp>
        <p:nvSpPr>
          <p:cNvPr id="50" name="Shape 46"/>
          <p:cNvSpPr/>
          <p:nvPr/>
        </p:nvSpPr>
        <p:spPr>
          <a:xfrm>
            <a:off x="647998" y="9302353"/>
            <a:ext cx="1655862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791914" y="9028956"/>
            <a:ext cx="62433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4E5B38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Cúrcuma</a:t>
            </a:r>
            <a:endParaRPr lang="en-US" sz="1000" dirty="0"/>
          </a:p>
        </p:txBody>
      </p:sp>
      <p:sp>
        <p:nvSpPr>
          <p:cNvPr id="52" name="Shape 48"/>
          <p:cNvSpPr/>
          <p:nvPr/>
        </p:nvSpPr>
        <p:spPr>
          <a:xfrm>
            <a:off x="2303859" y="9302353"/>
            <a:ext cx="4608016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2447776" y="9038481"/>
            <a:ext cx="285669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92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Uma pitada de açafrão-da-terra ou de curry.</a:t>
            </a:r>
            <a:endParaRPr lang="en-US" sz="920" dirty="0"/>
          </a:p>
        </p:txBody>
      </p:sp>
      <p:sp>
        <p:nvSpPr>
          <p:cNvPr id="54" name="Shape 50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56" name="Text 52"/>
          <p:cNvSpPr txBox="1"/>
          <p:nvPr/>
        </p:nvSpPr>
        <p:spPr>
          <a:xfrm>
            <a:off x="6786860" y="10236845"/>
            <a:ext cx="23931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24</a:t>
            </a:r>
            <a:endParaRPr lang="en-US" sz="63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827931"/>
            <a:ext cx="77256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800" b="1" spc="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APROVEITA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929878"/>
            <a:ext cx="2695004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0"/>
              </a:lnSpc>
              <a:buNone/>
            </a:pPr>
            <a:r>
              <a:rPr lang="en-US" sz="3400" spc="-17" kern="0" dirty="0">
                <a:solidFill>
                  <a:srgbClr val="4E5B38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isso também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7998" y="1608386"/>
            <a:ext cx="467916" cy="11311"/>
          </a:xfrm>
          <a:prstGeom prst="rect">
            <a:avLst/>
          </a:prstGeom>
          <a:solidFill>
            <a:srgbClr val="2F2A2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7998" y="1854696"/>
            <a:ext cx="424286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2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Cascas, talos, ramas e aparas: o que ia para o lixo vira sabor.</a:t>
            </a:r>
            <a:endParaRPr lang="en-US" sz="1020" dirty="0"/>
          </a:p>
        </p:txBody>
      </p:sp>
      <p:sp>
        <p:nvSpPr>
          <p:cNvPr id="6" name="Shape 4"/>
          <p:cNvSpPr/>
          <p:nvPr/>
        </p:nvSpPr>
        <p:spPr>
          <a:xfrm>
            <a:off x="647998" y="2258764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9407" y="2340173"/>
            <a:ext cx="197048" cy="19704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169789" y="2258764"/>
            <a:ext cx="352960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en-US" sz="10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Ossos e aparas: fundo caseiro ultra-aromático</a:t>
            </a:r>
            <a:endParaRPr lang="en-US" sz="1060" dirty="0"/>
          </a:p>
        </p:txBody>
      </p:sp>
      <p:sp>
        <p:nvSpPr>
          <p:cNvPr id="9" name="Text 6"/>
          <p:cNvSpPr txBox="1"/>
          <p:nvPr/>
        </p:nvSpPr>
        <p:spPr>
          <a:xfrm>
            <a:off x="1169789" y="2492425"/>
            <a:ext cx="3366195" cy="1346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96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Junte os ossos, peles e aparas de 6 a 8 sobrecoxas (pode ir guardando no freezer). Para um caldo mais escuro e intenso, asse os ossos antes a 200 °C por 30 minutos. Coloque numa panela com 1 cebola cortada ao meio com casca, 1 cenoura com casca, talos de salsinha, 1 folha de louro, 6 grãos de pimenta e 2 litros de água fria.</a:t>
            </a:r>
            <a:endParaRPr lang="en-US" sz="960" dirty="0"/>
          </a:p>
        </p:txBody>
      </p:sp>
      <p:sp>
        <p:nvSpPr>
          <p:cNvPr id="10" name="Shape 7"/>
          <p:cNvSpPr/>
          <p:nvPr/>
        </p:nvSpPr>
        <p:spPr>
          <a:xfrm>
            <a:off x="647998" y="4070747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407" y="4152156"/>
            <a:ext cx="197048" cy="19704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169789" y="4070747"/>
            <a:ext cx="133800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en-US" sz="10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ponto do caldo</a:t>
            </a:r>
            <a:endParaRPr lang="en-US" sz="1060" dirty="0"/>
          </a:p>
        </p:txBody>
      </p:sp>
      <p:sp>
        <p:nvSpPr>
          <p:cNvPr id="13" name="Text 9"/>
          <p:cNvSpPr txBox="1"/>
          <p:nvPr/>
        </p:nvSpPr>
        <p:spPr>
          <a:xfrm>
            <a:off x="1169789" y="4304407"/>
            <a:ext cx="3366195" cy="15433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96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Leve ao fogo baixo e nunca deixe ferver forte: a fervura turva o caldo. Retire a espuma que subir. Cozinhe por 2 a 3 horas, coe e leve à geladeira. A gordura endurece por cima: retire e guarde, ela é ótima para refogar. Congele o caldo em forminhas de gelo por até 3 meses e use um cubo para enriquecer arroz, feijão, molhos e sopas, como o caldo de mandioca do próximo capítulo. É o seu caldo caseiro, sem cubinhos industrializados.</a:t>
            </a:r>
            <a:endParaRPr lang="en-US" sz="960" dirty="0"/>
          </a:p>
        </p:txBody>
      </p:sp>
      <p:sp>
        <p:nvSpPr>
          <p:cNvPr id="14" name="Shape 10"/>
          <p:cNvSpPr/>
          <p:nvPr/>
        </p:nvSpPr>
        <p:spPr>
          <a:xfrm>
            <a:off x="4895999" y="0"/>
            <a:ext cx="2663875" cy="10691961"/>
          </a:xfrm>
          <a:prstGeom prst="rect">
            <a:avLst/>
          </a:prstGeom>
          <a:solidFill>
            <a:srgbClr val="EEE6D8"/>
          </a:solidFill>
          <a:ln/>
        </p:spPr>
      </p:sp>
      <p:pic>
        <p:nvPicPr>
          <p:cNvPr id="15" name="Image 2" descr="/home/user/ebook-luq/versoes/VERSAO COM FOTOGRAFIAS/fotos/aproveita3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392067" y="791914"/>
            <a:ext cx="2735907" cy="2735907"/>
          </a:xfrm>
          <a:prstGeom prst="ellipse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4895999" y="8459986"/>
            <a:ext cx="2663875" cy="2231975"/>
          </a:xfrm>
          <a:prstGeom prst="rect">
            <a:avLst/>
          </a:prstGeom>
          <a:solidFill>
            <a:srgbClr val="4E5B38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3904" y="9341941"/>
            <a:ext cx="467916" cy="467916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647998" y="10133856"/>
            <a:ext cx="3600004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20" name="Text 14"/>
          <p:cNvSpPr txBox="1"/>
          <p:nvPr/>
        </p:nvSpPr>
        <p:spPr>
          <a:xfrm>
            <a:off x="4129236" y="10236845"/>
            <a:ext cx="23306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25</a:t>
            </a:r>
            <a:endParaRPr lang="en-US" sz="63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755898"/>
            <a:ext cx="79935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800" b="1" spc="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CAPÍTULO 4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838795"/>
            <a:ext cx="2409968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80"/>
              </a:lnSpc>
              <a:buNone/>
            </a:pPr>
            <a:r>
              <a:rPr lang="en-US" sz="4000" spc="-20" kern="0" dirty="0">
                <a:solidFill>
                  <a:srgbClr val="C2552D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Mandioca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47998" y="1614041"/>
            <a:ext cx="467916" cy="11311"/>
          </a:xfrm>
          <a:prstGeom prst="rect">
            <a:avLst/>
          </a:prstGeom>
          <a:solidFill>
            <a:srgbClr val="2F2A2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7998" y="1769418"/>
            <a:ext cx="130766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400" i="1" dirty="0">
                <a:solidFill>
                  <a:srgbClr val="6B645B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aipim, macaxeira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7998" y="2197001"/>
            <a:ext cx="3527971" cy="585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2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raiz do Brasil: rica em amido, acessível e um coringa técnico. Une sustentabilidade e brasilidade num ingrediente só.</a:t>
            </a:r>
            <a:endParaRPr lang="en-US" sz="1020" dirty="0"/>
          </a:p>
        </p:txBody>
      </p:sp>
      <p:pic>
        <p:nvPicPr>
          <p:cNvPr id="7" name="Image 0" descr="/home/user/ebook-luq/versoes/VERSAO COM FOTOGRAFIAS/fotos/cap4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823966" y="396032"/>
            <a:ext cx="3311872" cy="3311872"/>
          </a:xfrm>
          <a:prstGeom prst="ellipse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47998" y="3779937"/>
            <a:ext cx="108663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INGREDIENTE</a:t>
            </a:r>
            <a:endParaRPr lang="en-US" sz="700" dirty="0"/>
          </a:p>
        </p:txBody>
      </p:sp>
      <p:sp>
        <p:nvSpPr>
          <p:cNvPr id="9" name="Text 6"/>
          <p:cNvSpPr txBox="1"/>
          <p:nvPr/>
        </p:nvSpPr>
        <p:spPr>
          <a:xfrm>
            <a:off x="647998" y="4003179"/>
            <a:ext cx="6263878" cy="3876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9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Poucos ingredientes são tão brasileiros e tão subestimados. A mandioca costuma ficar presa a dois papéis: cozida na manteiga ou frita como acompanhamento.</a:t>
            </a:r>
            <a:endParaRPr lang="en-US" sz="990" dirty="0"/>
          </a:p>
        </p:txBody>
      </p:sp>
      <p:sp>
        <p:nvSpPr>
          <p:cNvPr id="10" name="Text 7"/>
          <p:cNvSpPr txBox="1"/>
          <p:nvPr/>
        </p:nvSpPr>
        <p:spPr>
          <a:xfrm>
            <a:off x="647998" y="4529882"/>
            <a:ext cx="6263878" cy="6039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9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Mas é justamente o amido dela que a torna um coringa técnico. Ralada crua, ela se une sozinha e fica crocante na frigideira. Cozida e batida, vira um creme aveludado sem precisar de creme de leite. Misturada com queijo, vira biscoito.</a:t>
            </a:r>
            <a:endParaRPr lang="en-US" sz="990" dirty="0"/>
          </a:p>
        </p:txBody>
      </p:sp>
      <p:sp>
        <p:nvSpPr>
          <p:cNvPr id="11" name="Text 8"/>
          <p:cNvSpPr txBox="1"/>
          <p:nvPr/>
        </p:nvSpPr>
        <p:spPr>
          <a:xfrm>
            <a:off x="647998" y="5272832"/>
            <a:ext cx="6263878" cy="3876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9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Um aviso importante: a mandioca vendida no mercado e na feira é a mandioca mansa, de mesa. Mesmo assim, ela deve ser sempre bem cozida antes de comer. Nunca consuma mandioca crua.</a:t>
            </a:r>
            <a:endParaRPr lang="en-US" sz="990" dirty="0"/>
          </a:p>
        </p:txBody>
      </p:sp>
      <p:sp>
        <p:nvSpPr>
          <p:cNvPr id="12" name="Text 9"/>
          <p:cNvSpPr txBox="1"/>
          <p:nvPr/>
        </p:nvSpPr>
        <p:spPr>
          <a:xfrm>
            <a:off x="647998" y="5892701"/>
            <a:ext cx="16477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AS 3 TRANSFORMAÇÕES</a:t>
            </a:r>
            <a:endParaRPr lang="en-US" sz="700" dirty="0"/>
          </a:p>
        </p:txBody>
      </p:sp>
      <p:sp>
        <p:nvSpPr>
          <p:cNvPr id="13" name="Shape 10"/>
          <p:cNvSpPr/>
          <p:nvPr/>
        </p:nvSpPr>
        <p:spPr>
          <a:xfrm>
            <a:off x="647998" y="6748909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47998" y="6287393"/>
            <a:ext cx="251966" cy="251966"/>
          </a:xfrm>
          <a:prstGeom prst="ellipse">
            <a:avLst/>
          </a:prstGeom>
          <a:solidFill>
            <a:srgbClr val="C2552D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28514" y="6360914"/>
            <a:ext cx="20508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</a:t>
            </a:r>
            <a:endParaRPr lang="en-US" sz="680" dirty="0"/>
          </a:p>
        </p:txBody>
      </p:sp>
      <p:sp>
        <p:nvSpPr>
          <p:cNvPr id="16" name="Text 13"/>
          <p:cNvSpPr txBox="1"/>
          <p:nvPr/>
        </p:nvSpPr>
        <p:spPr>
          <a:xfrm>
            <a:off x="1025872" y="6202561"/>
            <a:ext cx="148135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b="1" spc="115" kern="0" dirty="0">
                <a:solidFill>
                  <a:srgbClr val="C255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CROCÂNCIA PERFEITA</a:t>
            </a:r>
            <a:endParaRPr lang="en-US" sz="640" dirty="0"/>
          </a:p>
        </p:txBody>
      </p:sp>
      <p:sp>
        <p:nvSpPr>
          <p:cNvPr id="17" name="Text 14"/>
          <p:cNvSpPr txBox="1"/>
          <p:nvPr/>
        </p:nvSpPr>
        <p:spPr>
          <a:xfrm>
            <a:off x="1025872" y="6319391"/>
            <a:ext cx="431988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Rösti de mandioca recheado na frigideira </a:t>
            </a:r>
            <a:pPr algn="l" indent="0" marL="0">
              <a:lnSpc>
                <a:spcPts val="1250"/>
              </a:lnSpc>
              <a:buNone/>
            </a:pPr>
            <a:r>
              <a:rPr lang="en-US" sz="1000" i="1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(crosta dourada por fora, cremoso por dentro)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5471666" y="6454062"/>
            <a:ext cx="1062335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19" name="Text 16"/>
          <p:cNvSpPr txBox="1"/>
          <p:nvPr/>
        </p:nvSpPr>
        <p:spPr>
          <a:xfrm>
            <a:off x="6662886" y="6346627"/>
            <a:ext cx="24898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8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28</a:t>
            </a:r>
            <a:endParaRPr lang="en-US" sz="860" dirty="0"/>
          </a:p>
        </p:txBody>
      </p:sp>
      <p:sp>
        <p:nvSpPr>
          <p:cNvPr id="20" name="Shape 17"/>
          <p:cNvSpPr/>
          <p:nvPr/>
        </p:nvSpPr>
        <p:spPr>
          <a:xfrm>
            <a:off x="647998" y="7410450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47998" y="6948934"/>
            <a:ext cx="251966" cy="251966"/>
          </a:xfrm>
          <a:prstGeom prst="ellipse">
            <a:avLst/>
          </a:prstGeom>
          <a:solidFill>
            <a:srgbClr val="C2552D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719882" y="7022455"/>
            <a:ext cx="22234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680" dirty="0"/>
          </a:p>
        </p:txBody>
      </p:sp>
      <p:sp>
        <p:nvSpPr>
          <p:cNvPr id="23" name="Text 20"/>
          <p:cNvSpPr txBox="1"/>
          <p:nvPr/>
        </p:nvSpPr>
        <p:spPr>
          <a:xfrm>
            <a:off x="1025872" y="6864102"/>
            <a:ext cx="168454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b="1" spc="115" kern="0" dirty="0">
                <a:solidFill>
                  <a:srgbClr val="C255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CULINÁRIA ACOLHEDORA</a:t>
            </a:r>
            <a:endParaRPr lang="en-US" sz="640" dirty="0"/>
          </a:p>
        </p:txBody>
      </p:sp>
      <p:sp>
        <p:nvSpPr>
          <p:cNvPr id="24" name="Text 21"/>
          <p:cNvSpPr txBox="1"/>
          <p:nvPr/>
        </p:nvSpPr>
        <p:spPr>
          <a:xfrm>
            <a:off x="1025872" y="6980932"/>
            <a:ext cx="431988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Caldo aveludado de mandioca com gengibre e bacon (ou cogumelos) </a:t>
            </a:r>
            <a:pPr algn="l" indent="0" marL="0">
              <a:lnSpc>
                <a:spcPts val="1250"/>
              </a:lnSpc>
              <a:buNone/>
            </a:pPr>
            <a:r>
              <a:rPr lang="en-US" sz="1000" i="1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(abraço em forma de prato)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5471666" y="7115603"/>
            <a:ext cx="1062335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26" name="Text 23"/>
          <p:cNvSpPr txBox="1"/>
          <p:nvPr/>
        </p:nvSpPr>
        <p:spPr>
          <a:xfrm>
            <a:off x="6665565" y="7008168"/>
            <a:ext cx="24631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8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29</a:t>
            </a:r>
            <a:endParaRPr lang="en-US" sz="860" dirty="0"/>
          </a:p>
        </p:txBody>
      </p:sp>
      <p:sp>
        <p:nvSpPr>
          <p:cNvPr id="27" name="Shape 24"/>
          <p:cNvSpPr/>
          <p:nvPr/>
        </p:nvSpPr>
        <p:spPr>
          <a:xfrm>
            <a:off x="647998" y="8071991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47998" y="7610475"/>
            <a:ext cx="251966" cy="251966"/>
          </a:xfrm>
          <a:prstGeom prst="ellipse">
            <a:avLst/>
          </a:prstGeom>
          <a:solidFill>
            <a:srgbClr val="C2552D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720328" y="7683996"/>
            <a:ext cx="22160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680" dirty="0"/>
          </a:p>
        </p:txBody>
      </p:sp>
      <p:sp>
        <p:nvSpPr>
          <p:cNvPr id="30" name="Text 27"/>
          <p:cNvSpPr txBox="1"/>
          <p:nvPr/>
        </p:nvSpPr>
        <p:spPr>
          <a:xfrm>
            <a:off x="1025872" y="7525643"/>
            <a:ext cx="80158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b="1" spc="115" kern="0" dirty="0">
                <a:solidFill>
                  <a:srgbClr val="C255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SURPRESA</a:t>
            </a:r>
            <a:endParaRPr lang="en-US" sz="640" dirty="0"/>
          </a:p>
        </p:txBody>
      </p:sp>
      <p:sp>
        <p:nvSpPr>
          <p:cNvPr id="31" name="Text 28"/>
          <p:cNvSpPr txBox="1"/>
          <p:nvPr/>
        </p:nvSpPr>
        <p:spPr>
          <a:xfrm>
            <a:off x="1025872" y="7642473"/>
            <a:ext cx="431988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Biscoito de polvilho e mandioca de assadeira </a:t>
            </a:r>
            <a:pPr algn="l" indent="0" marL="0">
              <a:lnSpc>
                <a:spcPts val="1250"/>
              </a:lnSpc>
              <a:buNone/>
            </a:pPr>
            <a:r>
              <a:rPr lang="en-US" sz="1000" i="1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(rápido para o lanche da tarde)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5471666" y="7777144"/>
            <a:ext cx="1062335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33" name="Text 30"/>
          <p:cNvSpPr txBox="1"/>
          <p:nvPr/>
        </p:nvSpPr>
        <p:spPr>
          <a:xfrm>
            <a:off x="6660654" y="7669709"/>
            <a:ext cx="25122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8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30</a:t>
            </a:r>
            <a:endParaRPr lang="en-US" sz="860" dirty="0"/>
          </a:p>
        </p:txBody>
      </p:sp>
      <p:sp>
        <p:nvSpPr>
          <p:cNvPr id="34" name="Shape 31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36" name="Text 33"/>
          <p:cNvSpPr txBox="1"/>
          <p:nvPr/>
        </p:nvSpPr>
        <p:spPr>
          <a:xfrm>
            <a:off x="6789688" y="10236845"/>
            <a:ext cx="23648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26</a:t>
            </a:r>
            <a:endParaRPr lang="en-US" sz="63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611981"/>
            <a:ext cx="69309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800" b="1" spc="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ANTES DA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713929"/>
            <a:ext cx="141251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0"/>
              </a:lnSpc>
              <a:buNone/>
            </a:pPr>
            <a:r>
              <a:rPr lang="en-US" sz="3400" spc="-17" kern="0" dirty="0">
                <a:solidFill>
                  <a:srgbClr val="4E5B38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panela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7998" y="1392436"/>
            <a:ext cx="467916" cy="11311"/>
          </a:xfrm>
          <a:prstGeom prst="rect">
            <a:avLst/>
          </a:prstGeom>
          <a:solidFill>
            <a:srgbClr val="2F2A2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7998" y="1638746"/>
            <a:ext cx="4499967" cy="378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2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Escolher bem, guardar direito e cortar do jeito certo: metade do prato se resolve aqui.</a:t>
            </a:r>
            <a:endParaRPr lang="en-US" sz="1020" dirty="0"/>
          </a:p>
        </p:txBody>
      </p:sp>
      <p:sp>
        <p:nvSpPr>
          <p:cNvPr id="6" name="Shape 4"/>
          <p:cNvSpPr/>
          <p:nvPr/>
        </p:nvSpPr>
        <p:spPr>
          <a:xfrm>
            <a:off x="647998" y="2249984"/>
            <a:ext cx="3041898" cy="2930128"/>
          </a:xfrm>
          <a:prstGeom prst="roundRect">
            <a:avLst>
              <a:gd name="adj" fmla="val 1150"/>
            </a:avLst>
          </a:prstGeom>
          <a:solidFill>
            <a:srgbClr val="FBF8F3"/>
          </a:solidFill>
          <a:ln w="9525">
            <a:solidFill>
              <a:srgbClr val="DDD2C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37456" y="2439442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865" y="2520851"/>
            <a:ext cx="197048" cy="19704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323231" y="2557463"/>
            <a:ext cx="174088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800" b="1" spc="11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NA HORA DE ESCOLHER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855456" y="2993617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999456" y="2944267"/>
            <a:ext cx="2500981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Casca marrom, que se solta com facilidade, e ponta que estala ao quebrar.</a:t>
            </a:r>
            <a:endParaRPr lang="en-US" sz="940" dirty="0"/>
          </a:p>
        </p:txBody>
      </p:sp>
      <p:sp>
        <p:nvSpPr>
          <p:cNvPr id="12" name="Shape 9"/>
          <p:cNvSpPr/>
          <p:nvPr/>
        </p:nvSpPr>
        <p:spPr>
          <a:xfrm>
            <a:off x="855456" y="3435487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999456" y="3386138"/>
            <a:ext cx="2500981" cy="53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Polpa branca ou amarelada, uniforme, sem estrias escuras, azuladas ou pontos moles.</a:t>
            </a:r>
            <a:endParaRPr lang="en-US" sz="940" dirty="0"/>
          </a:p>
        </p:txBody>
      </p:sp>
      <p:sp>
        <p:nvSpPr>
          <p:cNvPr id="14" name="Shape 11"/>
          <p:cNvSpPr/>
          <p:nvPr/>
        </p:nvSpPr>
        <p:spPr>
          <a:xfrm>
            <a:off x="855456" y="4062352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99456" y="4013002"/>
            <a:ext cx="2500981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Raízes médias costumam ser mais macias que as muito grossas.</a:t>
            </a:r>
            <a:endParaRPr lang="en-US" sz="940" dirty="0"/>
          </a:p>
        </p:txBody>
      </p:sp>
      <p:sp>
        <p:nvSpPr>
          <p:cNvPr id="16" name="Shape 13"/>
          <p:cNvSpPr/>
          <p:nvPr/>
        </p:nvSpPr>
        <p:spPr>
          <a:xfrm>
            <a:off x="855456" y="4504222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999456" y="4454872"/>
            <a:ext cx="2500981" cy="53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Mandioca boa cozinha rápido. Se demorar demais, o problema é a raiz, não você.</a:t>
            </a:r>
            <a:endParaRPr lang="en-US" sz="940" dirty="0"/>
          </a:p>
        </p:txBody>
      </p:sp>
      <p:sp>
        <p:nvSpPr>
          <p:cNvPr id="18" name="Shape 15"/>
          <p:cNvSpPr/>
          <p:nvPr/>
        </p:nvSpPr>
        <p:spPr>
          <a:xfrm>
            <a:off x="3869829" y="2249984"/>
            <a:ext cx="3042047" cy="2930128"/>
          </a:xfrm>
          <a:prstGeom prst="roundRect">
            <a:avLst>
              <a:gd name="adj" fmla="val 1150"/>
            </a:avLst>
          </a:prstGeom>
          <a:solidFill>
            <a:srgbClr val="FBF8F3"/>
          </a:solidFill>
          <a:ln w="9525">
            <a:solidFill>
              <a:srgbClr val="DDD2C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059287" y="2439442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0696" y="2520851"/>
            <a:ext cx="197048" cy="197048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4545062" y="2557463"/>
            <a:ext cx="120548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800" b="1" spc="11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COMO GUARDAR</a:t>
            </a:r>
            <a:endParaRPr lang="en-US" sz="800" dirty="0"/>
          </a:p>
        </p:txBody>
      </p:sp>
      <p:sp>
        <p:nvSpPr>
          <p:cNvPr id="22" name="Shape 18"/>
          <p:cNvSpPr/>
          <p:nvPr/>
        </p:nvSpPr>
        <p:spPr>
          <a:xfrm>
            <a:off x="4077287" y="2993617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3" name="Text 19"/>
          <p:cNvSpPr txBox="1"/>
          <p:nvPr/>
        </p:nvSpPr>
        <p:spPr>
          <a:xfrm>
            <a:off x="4221287" y="2944267"/>
            <a:ext cx="2501130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 casca, fora da geladeira, ela estraga em 2 ou 3 dias.</a:t>
            </a:r>
            <a:endParaRPr lang="en-US" sz="940" dirty="0"/>
          </a:p>
        </p:txBody>
      </p:sp>
      <p:sp>
        <p:nvSpPr>
          <p:cNvPr id="24" name="Shape 20"/>
          <p:cNvSpPr/>
          <p:nvPr/>
        </p:nvSpPr>
        <p:spPr>
          <a:xfrm>
            <a:off x="4077287" y="3435487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4221287" y="3386138"/>
            <a:ext cx="2501130" cy="7169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melhor caminho: descasque, lave, corte em pedaços e congele crua em sacos por até 3 meses. Ela cozinha ainda melhor depois de congelada.</a:t>
            </a:r>
            <a:endParaRPr lang="en-US" sz="940" dirty="0"/>
          </a:p>
        </p:txBody>
      </p:sp>
      <p:sp>
        <p:nvSpPr>
          <p:cNvPr id="26" name="Shape 22"/>
          <p:cNvSpPr/>
          <p:nvPr/>
        </p:nvSpPr>
        <p:spPr>
          <a:xfrm>
            <a:off x="4077287" y="4247345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4221287" y="4197995"/>
            <a:ext cx="2501130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Cozida: na geladeira por até 3 dias, coberta pela própria água do cozimento.</a:t>
            </a:r>
            <a:endParaRPr lang="en-US" sz="940" dirty="0"/>
          </a:p>
        </p:txBody>
      </p:sp>
      <p:sp>
        <p:nvSpPr>
          <p:cNvPr id="28" name="Shape 24"/>
          <p:cNvSpPr/>
          <p:nvPr/>
        </p:nvSpPr>
        <p:spPr>
          <a:xfrm>
            <a:off x="647998" y="5360045"/>
            <a:ext cx="6263878" cy="1748284"/>
          </a:xfrm>
          <a:prstGeom prst="roundRect">
            <a:avLst>
              <a:gd name="adj" fmla="val 3231"/>
            </a:avLst>
          </a:prstGeom>
          <a:solidFill>
            <a:srgbClr val="FBF8F3"/>
          </a:solidFill>
          <a:ln w="9525">
            <a:solidFill>
              <a:srgbClr val="DDD2C0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837456" y="5549503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865" y="5630912"/>
            <a:ext cx="197048" cy="197048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1323231" y="5667524"/>
            <a:ext cx="179339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800" b="1" spc="11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PRÉ-PREPARO E CORTES</a:t>
            </a:r>
            <a:endParaRPr lang="en-US" sz="800" dirty="0"/>
          </a:p>
        </p:txBody>
      </p:sp>
      <p:sp>
        <p:nvSpPr>
          <p:cNvPr id="32" name="Shape 27"/>
          <p:cNvSpPr/>
          <p:nvPr/>
        </p:nvSpPr>
        <p:spPr>
          <a:xfrm>
            <a:off x="855456" y="6103678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3" name="Text 28"/>
          <p:cNvSpPr txBox="1"/>
          <p:nvPr/>
        </p:nvSpPr>
        <p:spPr>
          <a:xfrm>
            <a:off x="999456" y="6054328"/>
            <a:ext cx="5722961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Corte em toras de 8 a 10 cm. Faça um talho no comprimento e solte a casca marrom junto com a entrecasca rosada, de uma vez.</a:t>
            </a:r>
            <a:endParaRPr lang="en-US" sz="940" dirty="0"/>
          </a:p>
        </p:txBody>
      </p:sp>
      <p:sp>
        <p:nvSpPr>
          <p:cNvPr id="34" name="Shape 29"/>
          <p:cNvSpPr/>
          <p:nvPr/>
        </p:nvSpPr>
        <p:spPr>
          <a:xfrm>
            <a:off x="855456" y="6545549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5" name="Text 30"/>
          <p:cNvSpPr txBox="1"/>
          <p:nvPr/>
        </p:nvSpPr>
        <p:spPr>
          <a:xfrm>
            <a:off x="999381" y="6496199"/>
            <a:ext cx="434987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Depois de cozida, abra ao meio e retire o fio central, que é fibroso.</a:t>
            </a:r>
            <a:endParaRPr lang="en-US" sz="940" dirty="0"/>
          </a:p>
        </p:txBody>
      </p:sp>
      <p:sp>
        <p:nvSpPr>
          <p:cNvPr id="36" name="Shape 31"/>
          <p:cNvSpPr/>
          <p:nvPr/>
        </p:nvSpPr>
        <p:spPr>
          <a:xfrm>
            <a:off x="855456" y="6802426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7" name="Text 32"/>
          <p:cNvSpPr txBox="1"/>
          <p:nvPr/>
        </p:nvSpPr>
        <p:spPr>
          <a:xfrm>
            <a:off x="999381" y="6753076"/>
            <a:ext cx="521748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Corte sempre em pedaços de tamanho parecido, para tudo cozinhar por igual.</a:t>
            </a:r>
            <a:endParaRPr lang="en-US" sz="940" dirty="0"/>
          </a:p>
        </p:txBody>
      </p:sp>
      <p:sp>
        <p:nvSpPr>
          <p:cNvPr id="38" name="Shape 33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9" name="Text 34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40" name="Text 35"/>
          <p:cNvSpPr txBox="1"/>
          <p:nvPr/>
        </p:nvSpPr>
        <p:spPr>
          <a:xfrm>
            <a:off x="6791325" y="10236845"/>
            <a:ext cx="23485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27</a:t>
            </a:r>
            <a:endParaRPr lang="en-US" sz="63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611981"/>
            <a:ext cx="262199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RECEITA 4.1 · A CROCÂNCIA PERFEITA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759023"/>
            <a:ext cx="4031903" cy="806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500" dirty="0">
                <a:solidFill>
                  <a:srgbClr val="4E5B38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Rösti de mandioca recheado na frigideira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647998" y="1576983"/>
            <a:ext cx="292369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90"/>
              </a:lnSpc>
              <a:buNone/>
            </a:pPr>
            <a:r>
              <a:rPr lang="en-US" sz="1300" i="1" dirty="0">
                <a:solidFill>
                  <a:srgbClr val="C255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crosta dourada por fora, cremoso por dentro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7998" y="1971377"/>
            <a:ext cx="287982" cy="287982"/>
          </a:xfrm>
          <a:prstGeom prst="ellipse">
            <a:avLst/>
          </a:prstGeom>
          <a:ln w="9525">
            <a:solidFill>
              <a:srgbClr val="2F2A2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398" y="2034778"/>
            <a:ext cx="161181" cy="16118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25872" y="1990874"/>
            <a:ext cx="48845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740" b="1" spc="44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45 MIN</a:t>
            </a:r>
            <a:endParaRPr lang="en-US" sz="740" dirty="0"/>
          </a:p>
        </p:txBody>
      </p:sp>
      <p:sp>
        <p:nvSpPr>
          <p:cNvPr id="8" name="Text 5"/>
          <p:cNvSpPr txBox="1"/>
          <p:nvPr/>
        </p:nvSpPr>
        <p:spPr>
          <a:xfrm>
            <a:off x="1025872" y="2144464"/>
            <a:ext cx="47580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spc="90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TEMPO</a:t>
            </a:r>
            <a:endParaRPr lang="en-US" sz="640" dirty="0"/>
          </a:p>
        </p:txBody>
      </p:sp>
      <p:sp>
        <p:nvSpPr>
          <p:cNvPr id="9" name="Shape 6"/>
          <p:cNvSpPr/>
          <p:nvPr/>
        </p:nvSpPr>
        <p:spPr>
          <a:xfrm>
            <a:off x="1688009" y="1971377"/>
            <a:ext cx="287982" cy="287982"/>
          </a:xfrm>
          <a:prstGeom prst="ellipse">
            <a:avLst/>
          </a:prstGeom>
          <a:ln w="9525">
            <a:solidFill>
              <a:srgbClr val="2F2A25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1409" y="2034778"/>
            <a:ext cx="161181" cy="161181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065883" y="1990874"/>
            <a:ext cx="203408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740" b="1" spc="44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RÖSTI GRANDE (2 A 4 PORÇÕES)</a:t>
            </a:r>
            <a:endParaRPr lang="en-US" sz="740" dirty="0"/>
          </a:p>
        </p:txBody>
      </p:sp>
      <p:sp>
        <p:nvSpPr>
          <p:cNvPr id="12" name="Text 8"/>
          <p:cNvSpPr txBox="1"/>
          <p:nvPr/>
        </p:nvSpPr>
        <p:spPr>
          <a:xfrm>
            <a:off x="2065883" y="2144464"/>
            <a:ext cx="80992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spc="90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RENDIMENTO</a:t>
            </a:r>
            <a:endParaRPr lang="en-US" sz="640" dirty="0"/>
          </a:p>
        </p:txBody>
      </p:sp>
      <p:pic>
        <p:nvPicPr>
          <p:cNvPr id="13" name="Image 2" descr="/home/user/ebook-luq/versoes/VERSAO COM FOTOGRAFIAS/fotos/r4-1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615880" y="252115"/>
            <a:ext cx="2375892" cy="2375892"/>
          </a:xfrm>
          <a:prstGeom prst="ellipse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647998" y="3157091"/>
            <a:ext cx="2159943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647998" y="2951857"/>
            <a:ext cx="105891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60" b="1" spc="12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INGREDIENTES</a:t>
            </a:r>
            <a:endParaRPr lang="en-US" sz="760" dirty="0"/>
          </a:p>
        </p:txBody>
      </p:sp>
      <p:sp>
        <p:nvSpPr>
          <p:cNvPr id="16" name="Text 11"/>
          <p:cNvSpPr txBox="1"/>
          <p:nvPr/>
        </p:nvSpPr>
        <p:spPr>
          <a:xfrm>
            <a:off x="647998" y="3264991"/>
            <a:ext cx="49232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30"/>
              </a:lnSpc>
              <a:buNone/>
            </a:pPr>
            <a:r>
              <a:rPr lang="en-US" sz="660" b="1" spc="106" kern="0" dirty="0">
                <a:solidFill>
                  <a:srgbClr val="C255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MASSA</a:t>
            </a:r>
            <a:endParaRPr lang="en-US" sz="660" dirty="0"/>
          </a:p>
        </p:txBody>
      </p:sp>
      <p:sp>
        <p:nvSpPr>
          <p:cNvPr id="17" name="Shape 12"/>
          <p:cNvSpPr/>
          <p:nvPr/>
        </p:nvSpPr>
        <p:spPr>
          <a:xfrm>
            <a:off x="665998" y="3492042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8" name="Text 13"/>
          <p:cNvSpPr txBox="1"/>
          <p:nvPr/>
        </p:nvSpPr>
        <p:spPr>
          <a:xfrm>
            <a:off x="809998" y="3433167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500 g de mandioca crua descascada</a:t>
            </a:r>
            <a:endParaRPr lang="en-US" sz="890" dirty="0"/>
          </a:p>
        </p:txBody>
      </p:sp>
      <p:sp>
        <p:nvSpPr>
          <p:cNvPr id="19" name="Shape 14"/>
          <p:cNvSpPr/>
          <p:nvPr/>
        </p:nvSpPr>
        <p:spPr>
          <a:xfrm>
            <a:off x="665998" y="3873340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0" name="Text 15"/>
          <p:cNvSpPr txBox="1"/>
          <p:nvPr/>
        </p:nvSpPr>
        <p:spPr>
          <a:xfrm>
            <a:off x="809923" y="3814465"/>
            <a:ext cx="145751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Sal e pimenta-do-reino</a:t>
            </a:r>
            <a:endParaRPr lang="en-US" sz="890" dirty="0"/>
          </a:p>
        </p:txBody>
      </p:sp>
      <p:sp>
        <p:nvSpPr>
          <p:cNvPr id="21" name="Shape 16"/>
          <p:cNvSpPr/>
          <p:nvPr/>
        </p:nvSpPr>
        <p:spPr>
          <a:xfrm>
            <a:off x="665998" y="4090927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2" name="Text 17"/>
          <p:cNvSpPr txBox="1"/>
          <p:nvPr/>
        </p:nvSpPr>
        <p:spPr>
          <a:xfrm>
            <a:off x="809998" y="4032052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 colheres (sopa) de manteiga (ou metade manteiga, metade óleo)</a:t>
            </a:r>
            <a:endParaRPr lang="en-US" sz="890" dirty="0"/>
          </a:p>
        </p:txBody>
      </p:sp>
      <p:sp>
        <p:nvSpPr>
          <p:cNvPr id="23" name="Text 18"/>
          <p:cNvSpPr txBox="1"/>
          <p:nvPr/>
        </p:nvSpPr>
        <p:spPr>
          <a:xfrm>
            <a:off x="647998" y="4457849"/>
            <a:ext cx="149552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30"/>
              </a:lnSpc>
              <a:buNone/>
            </a:pPr>
            <a:r>
              <a:rPr lang="en-US" sz="660" b="1" spc="106" kern="0" dirty="0">
                <a:solidFill>
                  <a:srgbClr val="C255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RECHEIO (ESCOLHA UM)</a:t>
            </a:r>
            <a:endParaRPr lang="en-US" sz="660" dirty="0"/>
          </a:p>
        </p:txBody>
      </p:sp>
      <p:sp>
        <p:nvSpPr>
          <p:cNvPr id="24" name="Shape 19"/>
          <p:cNvSpPr/>
          <p:nvPr/>
        </p:nvSpPr>
        <p:spPr>
          <a:xfrm>
            <a:off x="665998" y="4684900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5" name="Text 20"/>
          <p:cNvSpPr txBox="1"/>
          <p:nvPr/>
        </p:nvSpPr>
        <p:spPr>
          <a:xfrm>
            <a:off x="809998" y="4626025"/>
            <a:ext cx="1997942" cy="4798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150 g de carne-seca dessalgada, cozida e desfiada, refogada com cebola</a:t>
            </a:r>
            <a:endParaRPr lang="en-US" sz="890" dirty="0"/>
          </a:p>
        </p:txBody>
      </p:sp>
      <p:sp>
        <p:nvSpPr>
          <p:cNvPr id="26" name="Shape 21"/>
          <p:cNvSpPr/>
          <p:nvPr/>
        </p:nvSpPr>
        <p:spPr>
          <a:xfrm>
            <a:off x="665998" y="5229908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7" name="Text 22"/>
          <p:cNvSpPr txBox="1"/>
          <p:nvPr/>
        </p:nvSpPr>
        <p:spPr>
          <a:xfrm>
            <a:off x="809998" y="5171033"/>
            <a:ext cx="1997942" cy="4798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ou 150 g de muçarela com 3 colheres (sopa) de requeijão cremoso</a:t>
            </a:r>
            <a:endParaRPr lang="en-US" sz="890" dirty="0"/>
          </a:p>
        </p:txBody>
      </p:sp>
      <p:sp>
        <p:nvSpPr>
          <p:cNvPr id="28" name="Shape 23"/>
          <p:cNvSpPr/>
          <p:nvPr/>
        </p:nvSpPr>
        <p:spPr>
          <a:xfrm>
            <a:off x="3131939" y="3157091"/>
            <a:ext cx="3779937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3131939" y="2951857"/>
            <a:ext cx="141434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60" b="1" spc="12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MODO DE PREPARO</a:t>
            </a:r>
            <a:endParaRPr lang="en-US" sz="760" dirty="0"/>
          </a:p>
        </p:txBody>
      </p:sp>
      <p:sp>
        <p:nvSpPr>
          <p:cNvPr id="30" name="Shape 25"/>
          <p:cNvSpPr/>
          <p:nvPr/>
        </p:nvSpPr>
        <p:spPr>
          <a:xfrm>
            <a:off x="3131939" y="3275707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1" name="Text 26"/>
          <p:cNvSpPr txBox="1"/>
          <p:nvPr/>
        </p:nvSpPr>
        <p:spPr>
          <a:xfrm>
            <a:off x="3206651" y="3317974"/>
            <a:ext cx="14481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630" dirty="0"/>
          </a:p>
        </p:txBody>
      </p:sp>
      <p:sp>
        <p:nvSpPr>
          <p:cNvPr id="32" name="Text 27"/>
          <p:cNvSpPr txBox="1"/>
          <p:nvPr/>
        </p:nvSpPr>
        <p:spPr>
          <a:xfrm>
            <a:off x="3419773" y="3284041"/>
            <a:ext cx="316456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Rale a mandioca crua no lado grosso do ralador.</a:t>
            </a:r>
            <a:endParaRPr lang="en-US" sz="930" dirty="0"/>
          </a:p>
        </p:txBody>
      </p:sp>
      <p:sp>
        <p:nvSpPr>
          <p:cNvPr id="33" name="Shape 28"/>
          <p:cNvSpPr/>
          <p:nvPr/>
        </p:nvSpPr>
        <p:spPr>
          <a:xfrm>
            <a:off x="3131939" y="3559820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4" name="Text 29"/>
          <p:cNvSpPr txBox="1"/>
          <p:nvPr/>
        </p:nvSpPr>
        <p:spPr>
          <a:xfrm>
            <a:off x="3198614" y="3602087"/>
            <a:ext cx="1607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630" dirty="0"/>
          </a:p>
        </p:txBody>
      </p:sp>
      <p:sp>
        <p:nvSpPr>
          <p:cNvPr id="35" name="Text 30"/>
          <p:cNvSpPr txBox="1"/>
          <p:nvPr/>
        </p:nvSpPr>
        <p:spPr>
          <a:xfrm>
            <a:off x="3419773" y="3568154"/>
            <a:ext cx="3492103" cy="528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Coloque num pano de prato limpo e torça com força para retirar o máximo de líquido. Descarte o líquido. </a:t>
            </a:r>
            <a:pPr algn="l" indent="0" marL="0">
              <a:lnSpc>
                <a:spcPts val="1440"/>
              </a:lnSpc>
              <a:buNone/>
            </a:pPr>
            <a:r>
              <a:rPr lang="en-US" sz="93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Este é o passo que garante a crocância.</a:t>
            </a:r>
            <a:endParaRPr lang="en-US" sz="930" dirty="0"/>
          </a:p>
        </p:txBody>
      </p:sp>
      <p:sp>
        <p:nvSpPr>
          <p:cNvPr id="36" name="Shape 31"/>
          <p:cNvSpPr/>
          <p:nvPr/>
        </p:nvSpPr>
        <p:spPr>
          <a:xfrm>
            <a:off x="3131939" y="4202460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7" name="Text 32"/>
          <p:cNvSpPr txBox="1"/>
          <p:nvPr/>
        </p:nvSpPr>
        <p:spPr>
          <a:xfrm>
            <a:off x="3198614" y="4244727"/>
            <a:ext cx="1607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630" dirty="0"/>
          </a:p>
        </p:txBody>
      </p:sp>
      <p:sp>
        <p:nvSpPr>
          <p:cNvPr id="38" name="Text 33"/>
          <p:cNvSpPr txBox="1"/>
          <p:nvPr/>
        </p:nvSpPr>
        <p:spPr>
          <a:xfrm>
            <a:off x="3419773" y="4210794"/>
            <a:ext cx="313055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Tempere a mandioca ralada com sal e pimenta.</a:t>
            </a:r>
            <a:endParaRPr lang="en-US" sz="930" dirty="0"/>
          </a:p>
        </p:txBody>
      </p:sp>
      <p:sp>
        <p:nvSpPr>
          <p:cNvPr id="39" name="Shape 34"/>
          <p:cNvSpPr/>
          <p:nvPr/>
        </p:nvSpPr>
        <p:spPr>
          <a:xfrm>
            <a:off x="3131939" y="4486573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0" name="Text 35"/>
          <p:cNvSpPr txBox="1"/>
          <p:nvPr/>
        </p:nvSpPr>
        <p:spPr>
          <a:xfrm>
            <a:off x="3194745" y="4528840"/>
            <a:ext cx="16847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630" dirty="0"/>
          </a:p>
        </p:txBody>
      </p:sp>
      <p:sp>
        <p:nvSpPr>
          <p:cNvPr id="41" name="Text 36"/>
          <p:cNvSpPr txBox="1"/>
          <p:nvPr/>
        </p:nvSpPr>
        <p:spPr>
          <a:xfrm>
            <a:off x="3419773" y="4494907"/>
            <a:ext cx="3492103" cy="7111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Aqueça metade da manteiga numa frigideira antiaderente de 20 a 22 cm, em fogo médio. Espalhe metade da mandioca, pressionando com uma espátula para formar uma base compacta.</a:t>
            </a:r>
            <a:endParaRPr lang="en-US" sz="930" dirty="0"/>
          </a:p>
        </p:txBody>
      </p:sp>
      <p:sp>
        <p:nvSpPr>
          <p:cNvPr id="42" name="Shape 37"/>
          <p:cNvSpPr/>
          <p:nvPr/>
        </p:nvSpPr>
        <p:spPr>
          <a:xfrm>
            <a:off x="3131939" y="5312271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3" name="Text 38"/>
          <p:cNvSpPr txBox="1"/>
          <p:nvPr/>
        </p:nvSpPr>
        <p:spPr>
          <a:xfrm>
            <a:off x="3198465" y="5354538"/>
            <a:ext cx="16103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630" dirty="0"/>
          </a:p>
        </p:txBody>
      </p:sp>
      <p:sp>
        <p:nvSpPr>
          <p:cNvPr id="44" name="Text 39"/>
          <p:cNvSpPr txBox="1"/>
          <p:nvPr/>
        </p:nvSpPr>
        <p:spPr>
          <a:xfrm>
            <a:off x="3419773" y="5320605"/>
            <a:ext cx="3492103" cy="528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Distribua o recheio, deixando 1 cm livre na borda. Cubra com o restante da mandioca, pressione e feche bem as bordas.</a:t>
            </a:r>
            <a:endParaRPr lang="en-US" sz="930" dirty="0"/>
          </a:p>
        </p:txBody>
      </p:sp>
      <p:sp>
        <p:nvSpPr>
          <p:cNvPr id="45" name="Shape 40"/>
          <p:cNvSpPr/>
          <p:nvPr/>
        </p:nvSpPr>
        <p:spPr>
          <a:xfrm>
            <a:off x="3131939" y="5954911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6" name="Text 41"/>
          <p:cNvSpPr txBox="1"/>
          <p:nvPr/>
        </p:nvSpPr>
        <p:spPr>
          <a:xfrm>
            <a:off x="3196828" y="5997178"/>
            <a:ext cx="16445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</a:t>
            </a:r>
            <a:endParaRPr lang="en-US" sz="630" dirty="0"/>
          </a:p>
        </p:txBody>
      </p:sp>
      <p:sp>
        <p:nvSpPr>
          <p:cNvPr id="47" name="Text 42"/>
          <p:cNvSpPr txBox="1"/>
          <p:nvPr/>
        </p:nvSpPr>
        <p:spPr>
          <a:xfrm>
            <a:off x="3419773" y="5963245"/>
            <a:ext cx="3492103" cy="528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Tampe e cozinhe em fogo médio-baixo por 12 a 15 minutos, até a base ficar dourada e firme (dá para levantar a borda com a espátula para conferir).</a:t>
            </a:r>
            <a:endParaRPr lang="en-US" sz="930" dirty="0"/>
          </a:p>
        </p:txBody>
      </p:sp>
      <p:sp>
        <p:nvSpPr>
          <p:cNvPr id="48" name="Shape 43"/>
          <p:cNvSpPr/>
          <p:nvPr/>
        </p:nvSpPr>
        <p:spPr>
          <a:xfrm>
            <a:off x="3131939" y="6597551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9" name="Text 44"/>
          <p:cNvSpPr txBox="1"/>
          <p:nvPr/>
        </p:nvSpPr>
        <p:spPr>
          <a:xfrm>
            <a:off x="3197572" y="6639818"/>
            <a:ext cx="16281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</a:t>
            </a:r>
            <a:endParaRPr lang="en-US" sz="630" dirty="0"/>
          </a:p>
        </p:txBody>
      </p:sp>
      <p:sp>
        <p:nvSpPr>
          <p:cNvPr id="50" name="Text 45"/>
          <p:cNvSpPr txBox="1"/>
          <p:nvPr/>
        </p:nvSpPr>
        <p:spPr>
          <a:xfrm>
            <a:off x="3419773" y="6605885"/>
            <a:ext cx="3492103" cy="528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Deslize o rösti para um prato, cubra com outro prato, vire e devolva à frigideira com o restante da manteiga. Cozinhe destampado por mais 12 a 15 minutos, até dourar.</a:t>
            </a:r>
            <a:endParaRPr lang="en-US" sz="930" dirty="0"/>
          </a:p>
        </p:txBody>
      </p:sp>
      <p:sp>
        <p:nvSpPr>
          <p:cNvPr id="51" name="Shape 46"/>
          <p:cNvSpPr/>
          <p:nvPr/>
        </p:nvSpPr>
        <p:spPr>
          <a:xfrm>
            <a:off x="647998" y="9026723"/>
            <a:ext cx="6263878" cy="873175"/>
          </a:xfrm>
          <a:prstGeom prst="roundRect">
            <a:avLst>
              <a:gd name="adj" fmla="val 12953"/>
            </a:avLst>
          </a:prstGeom>
          <a:solidFill>
            <a:srgbClr val="EEE6D8"/>
          </a:solidFill>
          <a:ln/>
        </p:spPr>
      </p:sp>
      <p:sp>
        <p:nvSpPr>
          <p:cNvPr id="52" name="Shape 47"/>
          <p:cNvSpPr/>
          <p:nvPr/>
        </p:nvSpPr>
        <p:spPr>
          <a:xfrm>
            <a:off x="827931" y="9188648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5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9340" y="9270057"/>
            <a:ext cx="197048" cy="197048"/>
          </a:xfrm>
          <a:prstGeom prst="rect">
            <a:avLst/>
          </a:prstGeom>
        </p:spPr>
      </p:pic>
      <p:sp>
        <p:nvSpPr>
          <p:cNvPr id="54" name="Text 48"/>
          <p:cNvSpPr txBox="1"/>
          <p:nvPr/>
        </p:nvSpPr>
        <p:spPr>
          <a:xfrm>
            <a:off x="1331714" y="9188648"/>
            <a:ext cx="131733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12" kern="0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TOQUE DO MAMEDE</a:t>
            </a:r>
            <a:endParaRPr lang="en-US" sz="700" dirty="0"/>
          </a:p>
        </p:txBody>
      </p:sp>
      <p:sp>
        <p:nvSpPr>
          <p:cNvPr id="55" name="Text 49"/>
          <p:cNvSpPr txBox="1"/>
          <p:nvPr/>
        </p:nvSpPr>
        <p:spPr>
          <a:xfrm>
            <a:off x="1331714" y="9329291"/>
            <a:ext cx="5400229" cy="4138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150" i="1" dirty="0">
                <a:solidFill>
                  <a:srgbClr val="2F2A2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Fogo alto doura por fora e deixa a mandioca crua por dentro. O segredo é fogo médio-baixo e tempo: por fora ela fica dourada, por dentro, cremosa.</a:t>
            </a:r>
            <a:endParaRPr lang="en-US" sz="1150" dirty="0"/>
          </a:p>
        </p:txBody>
      </p:sp>
      <p:sp>
        <p:nvSpPr>
          <p:cNvPr id="56" name="Shape 50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57" name="Text 51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58" name="Text 52"/>
          <p:cNvSpPr txBox="1"/>
          <p:nvPr/>
        </p:nvSpPr>
        <p:spPr>
          <a:xfrm>
            <a:off x="6787753" y="10236845"/>
            <a:ext cx="23842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28</a:t>
            </a:r>
            <a:endParaRPr lang="en-US" sz="63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611981"/>
            <a:ext cx="287102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RECEITA 4.2 · A CULINÁRIA ACOLHEDORA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759023"/>
            <a:ext cx="4031903" cy="11555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500" dirty="0">
                <a:solidFill>
                  <a:srgbClr val="4E5B38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Caldo aveludado de mandioca com gengibre e bacon (ou cogumelos)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647998" y="1926134"/>
            <a:ext cx="171421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90"/>
              </a:lnSpc>
              <a:buNone/>
            </a:pPr>
            <a:r>
              <a:rPr lang="en-US" sz="1300" i="1" dirty="0">
                <a:solidFill>
                  <a:srgbClr val="C255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abraço em forma de prato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7998" y="2320528"/>
            <a:ext cx="287982" cy="287982"/>
          </a:xfrm>
          <a:prstGeom prst="ellipse">
            <a:avLst/>
          </a:prstGeom>
          <a:ln w="9525">
            <a:solidFill>
              <a:srgbClr val="2F2A2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398" y="2383929"/>
            <a:ext cx="161181" cy="16118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25872" y="2340025"/>
            <a:ext cx="198224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740" b="1" spc="44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45 MIN (OU 25 MIN NA PRESSÃO)</a:t>
            </a:r>
            <a:endParaRPr lang="en-US" sz="740" dirty="0"/>
          </a:p>
        </p:txBody>
      </p:sp>
      <p:sp>
        <p:nvSpPr>
          <p:cNvPr id="8" name="Text 5"/>
          <p:cNvSpPr txBox="1"/>
          <p:nvPr/>
        </p:nvSpPr>
        <p:spPr>
          <a:xfrm>
            <a:off x="1025872" y="2493615"/>
            <a:ext cx="47580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spc="90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TEMPO</a:t>
            </a:r>
            <a:endParaRPr lang="en-US" sz="640" dirty="0"/>
          </a:p>
        </p:txBody>
      </p:sp>
      <p:sp>
        <p:nvSpPr>
          <p:cNvPr id="9" name="Shape 6"/>
          <p:cNvSpPr/>
          <p:nvPr/>
        </p:nvSpPr>
        <p:spPr>
          <a:xfrm>
            <a:off x="3083719" y="2320528"/>
            <a:ext cx="287982" cy="287982"/>
          </a:xfrm>
          <a:prstGeom prst="ellipse">
            <a:avLst/>
          </a:prstGeom>
          <a:ln w="9525">
            <a:solidFill>
              <a:srgbClr val="2F2A25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7120" y="2383929"/>
            <a:ext cx="161181" cy="161181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461593" y="2340025"/>
            <a:ext cx="93970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740" b="1" spc="44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 A 6 PORÇÕES</a:t>
            </a:r>
            <a:endParaRPr lang="en-US" sz="740" dirty="0"/>
          </a:p>
        </p:txBody>
      </p:sp>
      <p:sp>
        <p:nvSpPr>
          <p:cNvPr id="12" name="Text 8"/>
          <p:cNvSpPr txBox="1"/>
          <p:nvPr/>
        </p:nvSpPr>
        <p:spPr>
          <a:xfrm>
            <a:off x="3461593" y="2493615"/>
            <a:ext cx="80992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spc="90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RENDIMENTO</a:t>
            </a:r>
            <a:endParaRPr lang="en-US" sz="640" dirty="0"/>
          </a:p>
        </p:txBody>
      </p:sp>
      <p:pic>
        <p:nvPicPr>
          <p:cNvPr id="13" name="Image 2" descr="/home/user/ebook-luq/versoes/VERSAO COM FOTOGRAFIAS/fotos/r4-2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615880" y="252115"/>
            <a:ext cx="2375892" cy="2375892"/>
          </a:xfrm>
          <a:prstGeom prst="ellipse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647998" y="3157091"/>
            <a:ext cx="2159943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647998" y="2951857"/>
            <a:ext cx="105891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60" b="1" spc="12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INGREDIENTES</a:t>
            </a:r>
            <a:endParaRPr lang="en-US" sz="760" dirty="0"/>
          </a:p>
        </p:txBody>
      </p:sp>
      <p:sp>
        <p:nvSpPr>
          <p:cNvPr id="16" name="Shape 11"/>
          <p:cNvSpPr/>
          <p:nvPr/>
        </p:nvSpPr>
        <p:spPr>
          <a:xfrm>
            <a:off x="665998" y="3333391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809998" y="3274516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800 g de mandioca descascada, em pedaços</a:t>
            </a:r>
            <a:endParaRPr lang="en-US" sz="890" dirty="0"/>
          </a:p>
        </p:txBody>
      </p:sp>
      <p:sp>
        <p:nvSpPr>
          <p:cNvPr id="18" name="Shape 13"/>
          <p:cNvSpPr/>
          <p:nvPr/>
        </p:nvSpPr>
        <p:spPr>
          <a:xfrm>
            <a:off x="665998" y="3714689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809998" y="3655814"/>
            <a:ext cx="1997942" cy="4798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150 g de bacon em cubinhos (ou 200 g de cogumelos fatiados, na versão vegetariana)</a:t>
            </a:r>
            <a:endParaRPr lang="en-US" sz="890" dirty="0"/>
          </a:p>
        </p:txBody>
      </p:sp>
      <p:sp>
        <p:nvSpPr>
          <p:cNvPr id="20" name="Shape 15"/>
          <p:cNvSpPr/>
          <p:nvPr/>
        </p:nvSpPr>
        <p:spPr>
          <a:xfrm>
            <a:off x="665998" y="4259698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809923" y="4200823"/>
            <a:ext cx="97006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cebola picada</a:t>
            </a:r>
            <a:endParaRPr lang="en-US" sz="890" dirty="0"/>
          </a:p>
        </p:txBody>
      </p:sp>
      <p:sp>
        <p:nvSpPr>
          <p:cNvPr id="22" name="Shape 17"/>
          <p:cNvSpPr/>
          <p:nvPr/>
        </p:nvSpPr>
        <p:spPr>
          <a:xfrm>
            <a:off x="665998" y="4477284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809923" y="4418409"/>
            <a:ext cx="156719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 dentes de alho picados</a:t>
            </a:r>
            <a:endParaRPr lang="en-US" sz="890" dirty="0"/>
          </a:p>
        </p:txBody>
      </p:sp>
      <p:sp>
        <p:nvSpPr>
          <p:cNvPr id="24" name="Shape 19"/>
          <p:cNvSpPr/>
          <p:nvPr/>
        </p:nvSpPr>
        <p:spPr>
          <a:xfrm>
            <a:off x="665998" y="4694871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5" name="Text 20"/>
          <p:cNvSpPr txBox="1"/>
          <p:nvPr/>
        </p:nvSpPr>
        <p:spPr>
          <a:xfrm>
            <a:off x="809998" y="4635996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colher (sopa) de gengibre fresco ralado</a:t>
            </a:r>
            <a:endParaRPr lang="en-US" sz="890" dirty="0"/>
          </a:p>
        </p:txBody>
      </p:sp>
      <p:sp>
        <p:nvSpPr>
          <p:cNvPr id="26" name="Shape 21"/>
          <p:cNvSpPr/>
          <p:nvPr/>
        </p:nvSpPr>
        <p:spPr>
          <a:xfrm>
            <a:off x="665998" y="5076169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7" name="Text 22"/>
          <p:cNvSpPr txBox="1"/>
          <p:nvPr/>
        </p:nvSpPr>
        <p:spPr>
          <a:xfrm>
            <a:off x="809998" y="5017294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1,2 litro de caldo de frango (capítulo 3) ou de legumes</a:t>
            </a:r>
            <a:endParaRPr lang="en-US" sz="890" dirty="0"/>
          </a:p>
        </p:txBody>
      </p:sp>
      <p:sp>
        <p:nvSpPr>
          <p:cNvPr id="28" name="Shape 23"/>
          <p:cNvSpPr/>
          <p:nvPr/>
        </p:nvSpPr>
        <p:spPr>
          <a:xfrm>
            <a:off x="665998" y="5457466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9" name="Text 24"/>
          <p:cNvSpPr txBox="1"/>
          <p:nvPr/>
        </p:nvSpPr>
        <p:spPr>
          <a:xfrm>
            <a:off x="809998" y="5398591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Sal, pimenta-do-reino e algumas gotas de limão</a:t>
            </a:r>
            <a:endParaRPr lang="en-US" sz="890" dirty="0"/>
          </a:p>
        </p:txBody>
      </p:sp>
      <p:sp>
        <p:nvSpPr>
          <p:cNvPr id="30" name="Shape 25"/>
          <p:cNvSpPr/>
          <p:nvPr/>
        </p:nvSpPr>
        <p:spPr>
          <a:xfrm>
            <a:off x="665998" y="5838764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1" name="Text 26"/>
          <p:cNvSpPr txBox="1"/>
          <p:nvPr/>
        </p:nvSpPr>
        <p:spPr>
          <a:xfrm>
            <a:off x="809998" y="5779889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Cebolinha picada e azeite para finalizar</a:t>
            </a:r>
            <a:endParaRPr lang="en-US" sz="890" dirty="0"/>
          </a:p>
        </p:txBody>
      </p:sp>
      <p:sp>
        <p:nvSpPr>
          <p:cNvPr id="32" name="Shape 27"/>
          <p:cNvSpPr/>
          <p:nvPr/>
        </p:nvSpPr>
        <p:spPr>
          <a:xfrm>
            <a:off x="3131939" y="3157091"/>
            <a:ext cx="3779937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3131939" y="2951857"/>
            <a:ext cx="141434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60" b="1" spc="12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MODO DE PREPARO</a:t>
            </a:r>
            <a:endParaRPr lang="en-US" sz="760" dirty="0"/>
          </a:p>
        </p:txBody>
      </p:sp>
      <p:sp>
        <p:nvSpPr>
          <p:cNvPr id="34" name="Shape 29"/>
          <p:cNvSpPr/>
          <p:nvPr/>
        </p:nvSpPr>
        <p:spPr>
          <a:xfrm>
            <a:off x="3131939" y="3275707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5" name="Text 30"/>
          <p:cNvSpPr txBox="1"/>
          <p:nvPr/>
        </p:nvSpPr>
        <p:spPr>
          <a:xfrm>
            <a:off x="3206651" y="3317974"/>
            <a:ext cx="14481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630" dirty="0"/>
          </a:p>
        </p:txBody>
      </p:sp>
      <p:sp>
        <p:nvSpPr>
          <p:cNvPr id="36" name="Text 31"/>
          <p:cNvSpPr txBox="1"/>
          <p:nvPr/>
        </p:nvSpPr>
        <p:spPr>
          <a:xfrm>
            <a:off x="3419773" y="3284041"/>
            <a:ext cx="3492103" cy="7111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Numa panela, doure o bacon em fogo médio até ficar crocante. Retire com escumadeira e reserve, deixando a gordura na panela. (Na versão com cogumelos, doure-os em 1 colher de manteiga e reserve.)</a:t>
            </a:r>
            <a:endParaRPr lang="en-US" sz="930" dirty="0"/>
          </a:p>
        </p:txBody>
      </p:sp>
      <p:sp>
        <p:nvSpPr>
          <p:cNvPr id="37" name="Shape 32"/>
          <p:cNvSpPr/>
          <p:nvPr/>
        </p:nvSpPr>
        <p:spPr>
          <a:xfrm>
            <a:off x="3131939" y="4101405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8" name="Text 33"/>
          <p:cNvSpPr txBox="1"/>
          <p:nvPr/>
        </p:nvSpPr>
        <p:spPr>
          <a:xfrm>
            <a:off x="3198614" y="4143673"/>
            <a:ext cx="1607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630" dirty="0"/>
          </a:p>
        </p:txBody>
      </p:sp>
      <p:sp>
        <p:nvSpPr>
          <p:cNvPr id="39" name="Text 34"/>
          <p:cNvSpPr txBox="1"/>
          <p:nvPr/>
        </p:nvSpPr>
        <p:spPr>
          <a:xfrm>
            <a:off x="3419773" y="4109740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Na mesma panela, refogue a cebola até ficar transparente. Junte o alho e o gengibre e refogue por 1 minuto.</a:t>
            </a:r>
            <a:endParaRPr lang="en-US" sz="930" dirty="0"/>
          </a:p>
        </p:txBody>
      </p:sp>
      <p:sp>
        <p:nvSpPr>
          <p:cNvPr id="40" name="Shape 35"/>
          <p:cNvSpPr/>
          <p:nvPr/>
        </p:nvSpPr>
        <p:spPr>
          <a:xfrm>
            <a:off x="3131939" y="4560987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1" name="Text 36"/>
          <p:cNvSpPr txBox="1"/>
          <p:nvPr/>
        </p:nvSpPr>
        <p:spPr>
          <a:xfrm>
            <a:off x="3198614" y="4603254"/>
            <a:ext cx="1607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630" dirty="0"/>
          </a:p>
        </p:txBody>
      </p:sp>
      <p:sp>
        <p:nvSpPr>
          <p:cNvPr id="42" name="Text 37"/>
          <p:cNvSpPr txBox="1"/>
          <p:nvPr/>
        </p:nvSpPr>
        <p:spPr>
          <a:xfrm>
            <a:off x="3419773" y="4569321"/>
            <a:ext cx="3492103" cy="528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Acrescente a mandioca e o caldo. Cozinhe tampado até a mandioca começar a desmanchar: 25 a 30 minutos na panela comum ou 12 minutos na pressão.</a:t>
            </a:r>
            <a:endParaRPr lang="en-US" sz="930" dirty="0"/>
          </a:p>
        </p:txBody>
      </p:sp>
      <p:sp>
        <p:nvSpPr>
          <p:cNvPr id="43" name="Shape 38"/>
          <p:cNvSpPr/>
          <p:nvPr/>
        </p:nvSpPr>
        <p:spPr>
          <a:xfrm>
            <a:off x="3131939" y="5203627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4" name="Text 39"/>
          <p:cNvSpPr txBox="1"/>
          <p:nvPr/>
        </p:nvSpPr>
        <p:spPr>
          <a:xfrm>
            <a:off x="3194745" y="5245894"/>
            <a:ext cx="16847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630" dirty="0"/>
          </a:p>
        </p:txBody>
      </p:sp>
      <p:sp>
        <p:nvSpPr>
          <p:cNvPr id="45" name="Text 40"/>
          <p:cNvSpPr txBox="1"/>
          <p:nvPr/>
        </p:nvSpPr>
        <p:spPr>
          <a:xfrm>
            <a:off x="3419773" y="5211961"/>
            <a:ext cx="3492103" cy="528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Retire os fios centrais da mandioca. Bata no liquidificador, em levas e com a tampa entreaberta coberta por um pano (o vapor empurra a tampa). Bata só até ficar liso.</a:t>
            </a:r>
            <a:endParaRPr lang="en-US" sz="930" dirty="0"/>
          </a:p>
        </p:txBody>
      </p:sp>
      <p:sp>
        <p:nvSpPr>
          <p:cNvPr id="46" name="Shape 41"/>
          <p:cNvSpPr/>
          <p:nvPr/>
        </p:nvSpPr>
        <p:spPr>
          <a:xfrm>
            <a:off x="3131939" y="5846266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7" name="Text 42"/>
          <p:cNvSpPr txBox="1"/>
          <p:nvPr/>
        </p:nvSpPr>
        <p:spPr>
          <a:xfrm>
            <a:off x="3198465" y="5888534"/>
            <a:ext cx="16103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630" dirty="0"/>
          </a:p>
        </p:txBody>
      </p:sp>
      <p:sp>
        <p:nvSpPr>
          <p:cNvPr id="48" name="Text 43"/>
          <p:cNvSpPr txBox="1"/>
          <p:nvPr/>
        </p:nvSpPr>
        <p:spPr>
          <a:xfrm>
            <a:off x="3419773" y="5854601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Volte à panela, ajuste a consistência com mais caldo, se precisar, e tempere com sal, pimenta e gotas de limão.</a:t>
            </a:r>
            <a:endParaRPr lang="en-US" sz="930" dirty="0"/>
          </a:p>
        </p:txBody>
      </p:sp>
      <p:sp>
        <p:nvSpPr>
          <p:cNvPr id="49" name="Shape 44"/>
          <p:cNvSpPr/>
          <p:nvPr/>
        </p:nvSpPr>
        <p:spPr>
          <a:xfrm>
            <a:off x="3131939" y="6305848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50" name="Text 45"/>
          <p:cNvSpPr txBox="1"/>
          <p:nvPr/>
        </p:nvSpPr>
        <p:spPr>
          <a:xfrm>
            <a:off x="3196828" y="6348115"/>
            <a:ext cx="16445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</a:t>
            </a:r>
            <a:endParaRPr lang="en-US" sz="630" dirty="0"/>
          </a:p>
        </p:txBody>
      </p:sp>
      <p:sp>
        <p:nvSpPr>
          <p:cNvPr id="51" name="Text 46"/>
          <p:cNvSpPr txBox="1"/>
          <p:nvPr/>
        </p:nvSpPr>
        <p:spPr>
          <a:xfrm>
            <a:off x="3419773" y="6314182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Sirva com o bacon (ou os cogumelos) crocante por cima, cebolinha e um fio de azeite.</a:t>
            </a:r>
            <a:endParaRPr lang="en-US" sz="930" dirty="0"/>
          </a:p>
        </p:txBody>
      </p:sp>
      <p:sp>
        <p:nvSpPr>
          <p:cNvPr id="52" name="Shape 47"/>
          <p:cNvSpPr/>
          <p:nvPr/>
        </p:nvSpPr>
        <p:spPr>
          <a:xfrm>
            <a:off x="647998" y="9026723"/>
            <a:ext cx="6263878" cy="873175"/>
          </a:xfrm>
          <a:prstGeom prst="roundRect">
            <a:avLst>
              <a:gd name="adj" fmla="val 12953"/>
            </a:avLst>
          </a:prstGeom>
          <a:solidFill>
            <a:srgbClr val="EEE6D8"/>
          </a:solidFill>
          <a:ln/>
        </p:spPr>
      </p:sp>
      <p:sp>
        <p:nvSpPr>
          <p:cNvPr id="53" name="Shape 48"/>
          <p:cNvSpPr/>
          <p:nvPr/>
        </p:nvSpPr>
        <p:spPr>
          <a:xfrm>
            <a:off x="827931" y="9188648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5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9340" y="9270057"/>
            <a:ext cx="197048" cy="197048"/>
          </a:xfrm>
          <a:prstGeom prst="rect">
            <a:avLst/>
          </a:prstGeom>
        </p:spPr>
      </p:pic>
      <p:sp>
        <p:nvSpPr>
          <p:cNvPr id="55" name="Text 49"/>
          <p:cNvSpPr txBox="1"/>
          <p:nvPr/>
        </p:nvSpPr>
        <p:spPr>
          <a:xfrm>
            <a:off x="1331714" y="9188648"/>
            <a:ext cx="131733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12" kern="0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TOQUE DO MAMEDE</a:t>
            </a:r>
            <a:endParaRPr lang="en-US" sz="700" dirty="0"/>
          </a:p>
        </p:txBody>
      </p:sp>
      <p:sp>
        <p:nvSpPr>
          <p:cNvPr id="56" name="Text 50"/>
          <p:cNvSpPr txBox="1"/>
          <p:nvPr/>
        </p:nvSpPr>
        <p:spPr>
          <a:xfrm>
            <a:off x="1331714" y="9329291"/>
            <a:ext cx="5400229" cy="4138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150" i="1" dirty="0">
                <a:solidFill>
                  <a:srgbClr val="2F2A2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O gengibre e as gotas de limão no final são o que tiram o caldo do “pesado” e levam ao “aconchegante”. A crocância por cima faz contraste com o creme.</a:t>
            </a:r>
            <a:endParaRPr lang="en-US" sz="1150" dirty="0"/>
          </a:p>
        </p:txBody>
      </p:sp>
      <p:sp>
        <p:nvSpPr>
          <p:cNvPr id="57" name="Shape 51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58" name="Text 52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59" name="Text 53"/>
          <p:cNvSpPr txBox="1"/>
          <p:nvPr/>
        </p:nvSpPr>
        <p:spPr>
          <a:xfrm>
            <a:off x="6789688" y="10236845"/>
            <a:ext cx="23648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29</a:t>
            </a:r>
            <a:endParaRPr lang="en-US" sz="63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611981"/>
            <a:ext cx="184523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RECEITA 4.3 · A SURPRESA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759023"/>
            <a:ext cx="4031903" cy="806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500" dirty="0">
                <a:solidFill>
                  <a:srgbClr val="4E5B38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Biscoito de polvilho e mandioca de assadeira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647998" y="1576983"/>
            <a:ext cx="19850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90"/>
              </a:lnSpc>
              <a:buNone/>
            </a:pPr>
            <a:r>
              <a:rPr lang="en-US" sz="1300" i="1" dirty="0">
                <a:solidFill>
                  <a:srgbClr val="C255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rápido para o lanche da tarde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7998" y="1971377"/>
            <a:ext cx="287982" cy="287982"/>
          </a:xfrm>
          <a:prstGeom prst="ellipse">
            <a:avLst/>
          </a:prstGeom>
          <a:ln w="9525">
            <a:solidFill>
              <a:srgbClr val="2F2A2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398" y="2034778"/>
            <a:ext cx="161181" cy="16118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25872" y="1990874"/>
            <a:ext cx="48785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740" b="1" spc="44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 MIN</a:t>
            </a:r>
            <a:endParaRPr lang="en-US" sz="740" dirty="0"/>
          </a:p>
        </p:txBody>
      </p:sp>
      <p:sp>
        <p:nvSpPr>
          <p:cNvPr id="8" name="Text 5"/>
          <p:cNvSpPr txBox="1"/>
          <p:nvPr/>
        </p:nvSpPr>
        <p:spPr>
          <a:xfrm>
            <a:off x="1025872" y="2144464"/>
            <a:ext cx="47580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spc="90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TEMPO</a:t>
            </a:r>
            <a:endParaRPr lang="en-US" sz="640" dirty="0"/>
          </a:p>
        </p:txBody>
      </p:sp>
      <p:sp>
        <p:nvSpPr>
          <p:cNvPr id="9" name="Shape 6"/>
          <p:cNvSpPr/>
          <p:nvPr/>
        </p:nvSpPr>
        <p:spPr>
          <a:xfrm>
            <a:off x="1687413" y="1971377"/>
            <a:ext cx="287982" cy="287982"/>
          </a:xfrm>
          <a:prstGeom prst="ellipse">
            <a:avLst/>
          </a:prstGeom>
          <a:ln w="9525">
            <a:solidFill>
              <a:srgbClr val="2F2A25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0814" y="2034778"/>
            <a:ext cx="161181" cy="161181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065288" y="1990874"/>
            <a:ext cx="147551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740" b="1" spc="44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CERCA DE 30 BISCOITOS</a:t>
            </a:r>
            <a:endParaRPr lang="en-US" sz="740" dirty="0"/>
          </a:p>
        </p:txBody>
      </p:sp>
      <p:sp>
        <p:nvSpPr>
          <p:cNvPr id="12" name="Text 8"/>
          <p:cNvSpPr txBox="1"/>
          <p:nvPr/>
        </p:nvSpPr>
        <p:spPr>
          <a:xfrm>
            <a:off x="2065288" y="2144464"/>
            <a:ext cx="80992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spc="90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RENDIMENTO</a:t>
            </a:r>
            <a:endParaRPr lang="en-US" sz="640" dirty="0"/>
          </a:p>
        </p:txBody>
      </p:sp>
      <p:pic>
        <p:nvPicPr>
          <p:cNvPr id="13" name="Image 2" descr="/home/user/ebook-luq/versoes/VERSAO COM FOTOGRAFIAS/fotos/r4-3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615880" y="252115"/>
            <a:ext cx="2375892" cy="2375892"/>
          </a:xfrm>
          <a:prstGeom prst="ellipse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647998" y="3157091"/>
            <a:ext cx="2159943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647998" y="2951857"/>
            <a:ext cx="105891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60" b="1" spc="12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INGREDIENTES</a:t>
            </a:r>
            <a:endParaRPr lang="en-US" sz="760" dirty="0"/>
          </a:p>
        </p:txBody>
      </p:sp>
      <p:sp>
        <p:nvSpPr>
          <p:cNvPr id="16" name="Shape 11"/>
          <p:cNvSpPr/>
          <p:nvPr/>
        </p:nvSpPr>
        <p:spPr>
          <a:xfrm>
            <a:off x="665998" y="3333391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809998" y="3274516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300 g de mandioca cozida, sem os fios, amassada ainda quente</a:t>
            </a:r>
            <a:endParaRPr lang="en-US" sz="890" dirty="0"/>
          </a:p>
        </p:txBody>
      </p:sp>
      <p:sp>
        <p:nvSpPr>
          <p:cNvPr id="18" name="Shape 13"/>
          <p:cNvSpPr/>
          <p:nvPr/>
        </p:nvSpPr>
        <p:spPr>
          <a:xfrm>
            <a:off x="665998" y="3714689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809923" y="3655814"/>
            <a:ext cx="146284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120 g de polvilho azedo</a:t>
            </a:r>
            <a:endParaRPr lang="en-US" sz="890" dirty="0"/>
          </a:p>
        </p:txBody>
      </p:sp>
      <p:sp>
        <p:nvSpPr>
          <p:cNvPr id="20" name="Shape 15"/>
          <p:cNvSpPr/>
          <p:nvPr/>
        </p:nvSpPr>
        <p:spPr>
          <a:xfrm>
            <a:off x="665998" y="3932276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809998" y="3873401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80 g de queijo meia-cura ou parmesão ralado</a:t>
            </a:r>
            <a:endParaRPr lang="en-US" sz="890" dirty="0"/>
          </a:p>
        </p:txBody>
      </p:sp>
      <p:sp>
        <p:nvSpPr>
          <p:cNvPr id="22" name="Shape 17"/>
          <p:cNvSpPr/>
          <p:nvPr/>
        </p:nvSpPr>
        <p:spPr>
          <a:xfrm>
            <a:off x="665998" y="4313573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809923" y="4254698"/>
            <a:ext cx="38427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ovo</a:t>
            </a:r>
            <a:endParaRPr lang="en-US" sz="890" dirty="0"/>
          </a:p>
        </p:txBody>
      </p:sp>
      <p:sp>
        <p:nvSpPr>
          <p:cNvPr id="24" name="Shape 19"/>
          <p:cNvSpPr/>
          <p:nvPr/>
        </p:nvSpPr>
        <p:spPr>
          <a:xfrm>
            <a:off x="665998" y="4531160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5" name="Text 20"/>
          <p:cNvSpPr txBox="1"/>
          <p:nvPr/>
        </p:nvSpPr>
        <p:spPr>
          <a:xfrm>
            <a:off x="809923" y="4472285"/>
            <a:ext cx="155236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 colheres (sopa) de óleo</a:t>
            </a:r>
            <a:endParaRPr lang="en-US" sz="890" dirty="0"/>
          </a:p>
        </p:txBody>
      </p:sp>
      <p:sp>
        <p:nvSpPr>
          <p:cNvPr id="26" name="Shape 21"/>
          <p:cNvSpPr/>
          <p:nvPr/>
        </p:nvSpPr>
        <p:spPr>
          <a:xfrm>
            <a:off x="665998" y="4748747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7" name="Text 22"/>
          <p:cNvSpPr txBox="1"/>
          <p:nvPr/>
        </p:nvSpPr>
        <p:spPr>
          <a:xfrm>
            <a:off x="809923" y="4689872"/>
            <a:ext cx="151052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colher (chá) rasa de sal</a:t>
            </a:r>
            <a:endParaRPr lang="en-US" sz="890" dirty="0"/>
          </a:p>
        </p:txBody>
      </p:sp>
      <p:sp>
        <p:nvSpPr>
          <p:cNvPr id="28" name="Shape 23"/>
          <p:cNvSpPr/>
          <p:nvPr/>
        </p:nvSpPr>
        <p:spPr>
          <a:xfrm>
            <a:off x="665998" y="4966334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9" name="Text 24"/>
          <p:cNvSpPr txBox="1"/>
          <p:nvPr/>
        </p:nvSpPr>
        <p:spPr>
          <a:xfrm>
            <a:off x="809923" y="4907459"/>
            <a:ext cx="104492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Leite, se precisar</a:t>
            </a:r>
            <a:endParaRPr lang="en-US" sz="890" dirty="0"/>
          </a:p>
        </p:txBody>
      </p:sp>
      <p:sp>
        <p:nvSpPr>
          <p:cNvPr id="30" name="Shape 25"/>
          <p:cNvSpPr/>
          <p:nvPr/>
        </p:nvSpPr>
        <p:spPr>
          <a:xfrm>
            <a:off x="3131939" y="3157091"/>
            <a:ext cx="3779937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3131939" y="2951857"/>
            <a:ext cx="141434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60" b="1" spc="12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MODO DE PREPARO</a:t>
            </a:r>
            <a:endParaRPr lang="en-US" sz="760" dirty="0"/>
          </a:p>
        </p:txBody>
      </p:sp>
      <p:sp>
        <p:nvSpPr>
          <p:cNvPr id="32" name="Shape 27"/>
          <p:cNvSpPr/>
          <p:nvPr/>
        </p:nvSpPr>
        <p:spPr>
          <a:xfrm>
            <a:off x="3131939" y="3275707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3" name="Text 28"/>
          <p:cNvSpPr txBox="1"/>
          <p:nvPr/>
        </p:nvSpPr>
        <p:spPr>
          <a:xfrm>
            <a:off x="3206651" y="3317974"/>
            <a:ext cx="14481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630" dirty="0"/>
          </a:p>
        </p:txBody>
      </p:sp>
      <p:sp>
        <p:nvSpPr>
          <p:cNvPr id="34" name="Text 29"/>
          <p:cNvSpPr txBox="1"/>
          <p:nvPr/>
        </p:nvSpPr>
        <p:spPr>
          <a:xfrm>
            <a:off x="3419773" y="3284041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Preaqueça o forno a 200 °C e forre uma assadeira com papel-manteiga.</a:t>
            </a:r>
            <a:endParaRPr lang="en-US" sz="930" dirty="0"/>
          </a:p>
        </p:txBody>
      </p:sp>
      <p:sp>
        <p:nvSpPr>
          <p:cNvPr id="35" name="Shape 30"/>
          <p:cNvSpPr/>
          <p:nvPr/>
        </p:nvSpPr>
        <p:spPr>
          <a:xfrm>
            <a:off x="3131939" y="3735288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6" name="Text 31"/>
          <p:cNvSpPr txBox="1"/>
          <p:nvPr/>
        </p:nvSpPr>
        <p:spPr>
          <a:xfrm>
            <a:off x="3198614" y="3777555"/>
            <a:ext cx="1607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630" dirty="0"/>
          </a:p>
        </p:txBody>
      </p:sp>
      <p:sp>
        <p:nvSpPr>
          <p:cNvPr id="37" name="Text 32"/>
          <p:cNvSpPr txBox="1"/>
          <p:nvPr/>
        </p:nvSpPr>
        <p:spPr>
          <a:xfrm>
            <a:off x="3419773" y="3743623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Amasse a mandioca ainda quente até virar um purê liso. Junte o óleo e o sal e misture.</a:t>
            </a:r>
            <a:endParaRPr lang="en-US" sz="930" dirty="0"/>
          </a:p>
        </p:txBody>
      </p:sp>
      <p:sp>
        <p:nvSpPr>
          <p:cNvPr id="38" name="Shape 33"/>
          <p:cNvSpPr/>
          <p:nvPr/>
        </p:nvSpPr>
        <p:spPr>
          <a:xfrm>
            <a:off x="3131939" y="4194870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9" name="Text 34"/>
          <p:cNvSpPr txBox="1"/>
          <p:nvPr/>
        </p:nvSpPr>
        <p:spPr>
          <a:xfrm>
            <a:off x="3198614" y="4237137"/>
            <a:ext cx="1607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630" dirty="0"/>
          </a:p>
        </p:txBody>
      </p:sp>
      <p:sp>
        <p:nvSpPr>
          <p:cNvPr id="40" name="Text 35"/>
          <p:cNvSpPr txBox="1"/>
          <p:nvPr/>
        </p:nvSpPr>
        <p:spPr>
          <a:xfrm>
            <a:off x="3419773" y="4203204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Acrescente o polvilho e misture bem (o calor da mandioca escalda o polvilho e deixa a massa elástica).</a:t>
            </a:r>
            <a:endParaRPr lang="en-US" sz="930" dirty="0"/>
          </a:p>
        </p:txBody>
      </p:sp>
      <p:sp>
        <p:nvSpPr>
          <p:cNvPr id="41" name="Shape 36"/>
          <p:cNvSpPr/>
          <p:nvPr/>
        </p:nvSpPr>
        <p:spPr>
          <a:xfrm>
            <a:off x="3131939" y="4654451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2" name="Text 37"/>
          <p:cNvSpPr txBox="1"/>
          <p:nvPr/>
        </p:nvSpPr>
        <p:spPr>
          <a:xfrm>
            <a:off x="3194745" y="4696718"/>
            <a:ext cx="16847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630" dirty="0"/>
          </a:p>
        </p:txBody>
      </p:sp>
      <p:sp>
        <p:nvSpPr>
          <p:cNvPr id="43" name="Text 38"/>
          <p:cNvSpPr txBox="1"/>
          <p:nvPr/>
        </p:nvSpPr>
        <p:spPr>
          <a:xfrm>
            <a:off x="3419773" y="4662785"/>
            <a:ext cx="3492103" cy="528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Junte o ovo e o queijo e amasse até formar uma massa macia que não grude nas mãos. Se ficar seca, pingue leite, uma colher por vez.</a:t>
            </a:r>
            <a:endParaRPr lang="en-US" sz="930" dirty="0"/>
          </a:p>
        </p:txBody>
      </p:sp>
      <p:sp>
        <p:nvSpPr>
          <p:cNvPr id="44" name="Shape 39"/>
          <p:cNvSpPr/>
          <p:nvPr/>
        </p:nvSpPr>
        <p:spPr>
          <a:xfrm>
            <a:off x="3131939" y="5297091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5" name="Text 40"/>
          <p:cNvSpPr txBox="1"/>
          <p:nvPr/>
        </p:nvSpPr>
        <p:spPr>
          <a:xfrm>
            <a:off x="3198465" y="5339358"/>
            <a:ext cx="16103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630" dirty="0"/>
          </a:p>
        </p:txBody>
      </p:sp>
      <p:sp>
        <p:nvSpPr>
          <p:cNvPr id="46" name="Text 41"/>
          <p:cNvSpPr txBox="1"/>
          <p:nvPr/>
        </p:nvSpPr>
        <p:spPr>
          <a:xfrm>
            <a:off x="3419773" y="5305425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Modele palitos de 8 cm ou bolinhas e disponha na assadeira com espaço entre eles.</a:t>
            </a:r>
            <a:endParaRPr lang="en-US" sz="930" dirty="0"/>
          </a:p>
        </p:txBody>
      </p:sp>
      <p:sp>
        <p:nvSpPr>
          <p:cNvPr id="47" name="Shape 42"/>
          <p:cNvSpPr/>
          <p:nvPr/>
        </p:nvSpPr>
        <p:spPr>
          <a:xfrm>
            <a:off x="3131939" y="5756672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8" name="Text 43"/>
          <p:cNvSpPr txBox="1"/>
          <p:nvPr/>
        </p:nvSpPr>
        <p:spPr>
          <a:xfrm>
            <a:off x="3196828" y="5798939"/>
            <a:ext cx="16445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</a:t>
            </a:r>
            <a:endParaRPr lang="en-US" sz="630" dirty="0"/>
          </a:p>
        </p:txBody>
      </p:sp>
      <p:sp>
        <p:nvSpPr>
          <p:cNvPr id="49" name="Text 44"/>
          <p:cNvSpPr txBox="1"/>
          <p:nvPr/>
        </p:nvSpPr>
        <p:spPr>
          <a:xfrm>
            <a:off x="3419773" y="5765006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Asse por 25 a 30 minutos, até dourarem. Não abra o forno nos primeiros 15 minutos.</a:t>
            </a:r>
            <a:endParaRPr lang="en-US" sz="930" dirty="0"/>
          </a:p>
        </p:txBody>
      </p:sp>
      <p:sp>
        <p:nvSpPr>
          <p:cNvPr id="50" name="Shape 45"/>
          <p:cNvSpPr/>
          <p:nvPr/>
        </p:nvSpPr>
        <p:spPr>
          <a:xfrm>
            <a:off x="647998" y="9026723"/>
            <a:ext cx="6263878" cy="873175"/>
          </a:xfrm>
          <a:prstGeom prst="roundRect">
            <a:avLst>
              <a:gd name="adj" fmla="val 12953"/>
            </a:avLst>
          </a:prstGeom>
          <a:solidFill>
            <a:srgbClr val="EEE6D8"/>
          </a:solidFill>
          <a:ln/>
        </p:spPr>
      </p:sp>
      <p:sp>
        <p:nvSpPr>
          <p:cNvPr id="51" name="Shape 46"/>
          <p:cNvSpPr/>
          <p:nvPr/>
        </p:nvSpPr>
        <p:spPr>
          <a:xfrm>
            <a:off x="827931" y="9188648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5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9340" y="9270057"/>
            <a:ext cx="197048" cy="197048"/>
          </a:xfrm>
          <a:prstGeom prst="rect">
            <a:avLst/>
          </a:prstGeom>
        </p:spPr>
      </p:pic>
      <p:sp>
        <p:nvSpPr>
          <p:cNvPr id="53" name="Text 47"/>
          <p:cNvSpPr txBox="1"/>
          <p:nvPr/>
        </p:nvSpPr>
        <p:spPr>
          <a:xfrm>
            <a:off x="1331714" y="9188648"/>
            <a:ext cx="131733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12" kern="0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TOQUE DO MAMEDE</a:t>
            </a:r>
            <a:endParaRPr lang="en-US" sz="700" dirty="0"/>
          </a:p>
        </p:txBody>
      </p:sp>
      <p:sp>
        <p:nvSpPr>
          <p:cNvPr id="54" name="Text 48"/>
          <p:cNvSpPr txBox="1"/>
          <p:nvPr/>
        </p:nvSpPr>
        <p:spPr>
          <a:xfrm>
            <a:off x="1331714" y="9329291"/>
            <a:ext cx="5400229" cy="4138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150" i="1" dirty="0">
                <a:solidFill>
                  <a:srgbClr val="2F2A2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É um ótimo destino para a mandioca que sobrou do almoço. A massa crua pode ser congelada já modelada e assada direto do freezer (acrescente 5 a 10 minutos).</a:t>
            </a:r>
            <a:endParaRPr lang="en-US" sz="1150" dirty="0"/>
          </a:p>
        </p:txBody>
      </p:sp>
      <p:sp>
        <p:nvSpPr>
          <p:cNvPr id="55" name="Shape 49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56" name="Text 50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57" name="Text 51"/>
          <p:cNvSpPr txBox="1"/>
          <p:nvPr/>
        </p:nvSpPr>
        <p:spPr>
          <a:xfrm>
            <a:off x="6786116" y="10236845"/>
            <a:ext cx="24006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30</a:t>
            </a:r>
            <a:endParaRPr lang="en-US" sz="63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611981"/>
            <a:ext cx="55602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800" b="1" spc="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PULO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713929"/>
            <a:ext cx="1548027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0"/>
              </a:lnSpc>
              <a:buNone/>
            </a:pPr>
            <a:r>
              <a:rPr lang="en-US" sz="3400" spc="-17" kern="0" dirty="0">
                <a:solidFill>
                  <a:srgbClr val="4E5B38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do chef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7998" y="1392436"/>
            <a:ext cx="467916" cy="11311"/>
          </a:xfrm>
          <a:prstGeom prst="rect">
            <a:avLst/>
          </a:prstGeom>
          <a:solidFill>
            <a:srgbClr val="2F2A2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7998" y="1574304"/>
            <a:ext cx="4771096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20"/>
              </a:lnSpc>
              <a:buNone/>
            </a:pPr>
            <a:r>
              <a:rPr lang="en-US" sz="1700" i="1" dirty="0">
                <a:solidFill>
                  <a:srgbClr val="C255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Mandioca que não cozinha (ou que desmancha o rösti)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47998" y="2033587"/>
            <a:ext cx="2703909" cy="3609975"/>
          </a:xfrm>
          <a:prstGeom prst="roundRect">
            <a:avLst>
              <a:gd name="adj" fmla="val 1351"/>
            </a:avLst>
          </a:prstGeom>
          <a:solidFill>
            <a:srgbClr val="FBF8F3"/>
          </a:solidFill>
          <a:ln w="9525">
            <a:solidFill>
              <a:srgbClr val="DDD2C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37456" y="2223046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C2552D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865" y="2304455"/>
            <a:ext cx="197048" cy="19704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323231" y="2341066"/>
            <a:ext cx="61510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800" b="1" spc="11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ERRO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37456" y="2727871"/>
            <a:ext cx="2324993" cy="9257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Comprar sem critério, cortar em pedaços de tamanhos diferentes e insistir no fogo por horas. E, no rösti, ralar e levar direto para a frigideira, com toda a água da raiz.</a:t>
            </a:r>
            <a:endParaRPr lang="en-US" sz="940" dirty="0"/>
          </a:p>
        </p:txBody>
      </p:sp>
      <p:sp>
        <p:nvSpPr>
          <p:cNvPr id="11" name="Shape 8"/>
          <p:cNvSpPr/>
          <p:nvPr/>
        </p:nvSpPr>
        <p:spPr>
          <a:xfrm>
            <a:off x="3531840" y="2033587"/>
            <a:ext cx="3380036" cy="3609975"/>
          </a:xfrm>
          <a:prstGeom prst="roundRect">
            <a:avLst>
              <a:gd name="adj" fmla="val 864"/>
            </a:avLst>
          </a:prstGeom>
          <a:solidFill>
            <a:srgbClr val="EEE6D8"/>
          </a:solidFill>
          <a:ln/>
        </p:spPr>
      </p:sp>
      <p:sp>
        <p:nvSpPr>
          <p:cNvPr id="12" name="Shape 9"/>
          <p:cNvSpPr/>
          <p:nvPr/>
        </p:nvSpPr>
        <p:spPr>
          <a:xfrm>
            <a:off x="3711773" y="2213521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3182" y="2294930"/>
            <a:ext cx="197048" cy="197048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4197548" y="2331541"/>
            <a:ext cx="81036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800" b="1" spc="11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TÉCNICA</a:t>
            </a:r>
            <a:endParaRPr lang="en-US" sz="800" dirty="0"/>
          </a:p>
        </p:txBody>
      </p:sp>
      <p:sp>
        <p:nvSpPr>
          <p:cNvPr id="15" name="Text 11"/>
          <p:cNvSpPr txBox="1"/>
          <p:nvPr/>
        </p:nvSpPr>
        <p:spPr>
          <a:xfrm>
            <a:off x="3711773" y="2699296"/>
            <a:ext cx="133350" cy="1850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940" dirty="0"/>
          </a:p>
        </p:txBody>
      </p:sp>
      <p:sp>
        <p:nvSpPr>
          <p:cNvPr id="16" name="Text 12"/>
          <p:cNvSpPr txBox="1"/>
          <p:nvPr/>
        </p:nvSpPr>
        <p:spPr>
          <a:xfrm>
            <a:off x="3873774" y="2718346"/>
            <a:ext cx="2858169" cy="53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Escolha bem:</a:t>
            </a:r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ponta que estala e polpa uniforme. Raiz velha ou fibrosa não amolece, não importa o tempo.</a:t>
            </a:r>
            <a:endParaRPr lang="en-US" sz="940" dirty="0"/>
          </a:p>
        </p:txBody>
      </p:sp>
      <p:sp>
        <p:nvSpPr>
          <p:cNvPr id="17" name="Text 13"/>
          <p:cNvSpPr txBox="1"/>
          <p:nvPr/>
        </p:nvSpPr>
        <p:spPr>
          <a:xfrm>
            <a:off x="3711773" y="3326160"/>
            <a:ext cx="133350" cy="1850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940" dirty="0"/>
          </a:p>
        </p:txBody>
      </p:sp>
      <p:sp>
        <p:nvSpPr>
          <p:cNvPr id="18" name="Text 14"/>
          <p:cNvSpPr txBox="1"/>
          <p:nvPr/>
        </p:nvSpPr>
        <p:spPr>
          <a:xfrm>
            <a:off x="3873774" y="3345210"/>
            <a:ext cx="2858169" cy="53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Congele crua:</a:t>
            </a:r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os cristais de gelo rompem as fibras e ela cozinha mais rápido e fica mais macia.</a:t>
            </a:r>
            <a:endParaRPr lang="en-US" sz="940" dirty="0"/>
          </a:p>
        </p:txBody>
      </p:sp>
      <p:sp>
        <p:nvSpPr>
          <p:cNvPr id="19" name="Text 15"/>
          <p:cNvSpPr txBox="1"/>
          <p:nvPr/>
        </p:nvSpPr>
        <p:spPr>
          <a:xfrm>
            <a:off x="3711773" y="3953024"/>
            <a:ext cx="133350" cy="1850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940" dirty="0"/>
          </a:p>
        </p:txBody>
      </p:sp>
      <p:sp>
        <p:nvSpPr>
          <p:cNvPr id="20" name="Text 16"/>
          <p:cNvSpPr txBox="1"/>
          <p:nvPr/>
        </p:nvSpPr>
        <p:spPr>
          <a:xfrm>
            <a:off x="3873774" y="3972074"/>
            <a:ext cx="2858169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Pedaços iguais</a:t>
            </a:r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e panela de pressão quando a pressa bater.</a:t>
            </a:r>
            <a:endParaRPr lang="en-US" sz="940" dirty="0"/>
          </a:p>
        </p:txBody>
      </p:sp>
      <p:sp>
        <p:nvSpPr>
          <p:cNvPr id="21" name="Text 17"/>
          <p:cNvSpPr txBox="1"/>
          <p:nvPr/>
        </p:nvSpPr>
        <p:spPr>
          <a:xfrm>
            <a:off x="3711773" y="4394895"/>
            <a:ext cx="133350" cy="1850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940" dirty="0"/>
          </a:p>
        </p:txBody>
      </p:sp>
      <p:sp>
        <p:nvSpPr>
          <p:cNvPr id="22" name="Text 18"/>
          <p:cNvSpPr txBox="1"/>
          <p:nvPr/>
        </p:nvSpPr>
        <p:spPr>
          <a:xfrm>
            <a:off x="3873774" y="4413945"/>
            <a:ext cx="2858169" cy="53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Esprema a mandioca ralada</a:t>
            </a:r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no pano: menos água, mais crocância e um rösti que não desmancha.</a:t>
            </a:r>
            <a:endParaRPr lang="en-US" sz="940" dirty="0"/>
          </a:p>
        </p:txBody>
      </p:sp>
      <p:sp>
        <p:nvSpPr>
          <p:cNvPr id="23" name="Text 19"/>
          <p:cNvSpPr txBox="1"/>
          <p:nvPr/>
        </p:nvSpPr>
        <p:spPr>
          <a:xfrm>
            <a:off x="3711773" y="5021759"/>
            <a:ext cx="133350" cy="1850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940" dirty="0"/>
          </a:p>
        </p:txBody>
      </p:sp>
      <p:sp>
        <p:nvSpPr>
          <p:cNvPr id="24" name="Text 20"/>
          <p:cNvSpPr txBox="1"/>
          <p:nvPr/>
        </p:nvSpPr>
        <p:spPr>
          <a:xfrm>
            <a:off x="3873774" y="5040809"/>
            <a:ext cx="2858169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Não amoleceu?</a:t>
            </a:r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Não jogue fora: ela ainda serve para o caldo batido.</a:t>
            </a:r>
            <a:endParaRPr lang="en-US" sz="940" dirty="0"/>
          </a:p>
        </p:txBody>
      </p:sp>
      <p:sp>
        <p:nvSpPr>
          <p:cNvPr id="25" name="Text 21"/>
          <p:cNvSpPr txBox="1"/>
          <p:nvPr/>
        </p:nvSpPr>
        <p:spPr>
          <a:xfrm>
            <a:off x="647998" y="5967561"/>
            <a:ext cx="64665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800" b="1" spc="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NÃO TEM</a:t>
            </a:r>
            <a:endParaRPr lang="en-US" sz="800" dirty="0"/>
          </a:p>
        </p:txBody>
      </p:sp>
      <p:sp>
        <p:nvSpPr>
          <p:cNvPr id="26" name="Text 22"/>
          <p:cNvSpPr txBox="1"/>
          <p:nvPr/>
        </p:nvSpPr>
        <p:spPr>
          <a:xfrm>
            <a:off x="647998" y="6079034"/>
            <a:ext cx="857399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700" spc="-14" kern="0" dirty="0">
                <a:solidFill>
                  <a:srgbClr val="4E5B38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isso?</a:t>
            </a:r>
            <a:endParaRPr lang="en-US" sz="2700" dirty="0"/>
          </a:p>
        </p:txBody>
      </p:sp>
      <p:sp>
        <p:nvSpPr>
          <p:cNvPr id="27" name="Shape 23"/>
          <p:cNvSpPr/>
          <p:nvPr/>
        </p:nvSpPr>
        <p:spPr>
          <a:xfrm>
            <a:off x="647998" y="6657380"/>
            <a:ext cx="467916" cy="11311"/>
          </a:xfrm>
          <a:prstGeom prst="rect">
            <a:avLst/>
          </a:prstGeom>
          <a:solidFill>
            <a:srgbClr val="2F2A25"/>
          </a:solidFill>
          <a:ln/>
        </p:spPr>
      </p:sp>
      <p:sp>
        <p:nvSpPr>
          <p:cNvPr id="28" name="Shape 24"/>
          <p:cNvSpPr/>
          <p:nvPr/>
        </p:nvSpPr>
        <p:spPr>
          <a:xfrm>
            <a:off x="647998" y="6884640"/>
            <a:ext cx="1655862" cy="291703"/>
          </a:xfrm>
          <a:prstGeom prst="roundRect">
            <a:avLst>
              <a:gd name="adj" fmla="val 77373"/>
            </a:avLst>
          </a:prstGeom>
          <a:solidFill>
            <a:srgbClr val="4E5B38"/>
          </a:solidFill>
          <a:ln/>
        </p:spPr>
      </p:sp>
      <p:sp>
        <p:nvSpPr>
          <p:cNvPr id="29" name="Text 25"/>
          <p:cNvSpPr txBox="1"/>
          <p:nvPr/>
        </p:nvSpPr>
        <p:spPr>
          <a:xfrm>
            <a:off x="791914" y="6978104"/>
            <a:ext cx="99625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spc="109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 NÃO TIVER…</a:t>
            </a:r>
            <a:endParaRPr lang="en-US" sz="680" dirty="0"/>
          </a:p>
        </p:txBody>
      </p:sp>
      <p:sp>
        <p:nvSpPr>
          <p:cNvPr id="30" name="Shape 26"/>
          <p:cNvSpPr/>
          <p:nvPr/>
        </p:nvSpPr>
        <p:spPr>
          <a:xfrm>
            <a:off x="2303859" y="6884640"/>
            <a:ext cx="4608016" cy="291703"/>
          </a:xfrm>
          <a:prstGeom prst="rect">
            <a:avLst/>
          </a:prstGeom>
          <a:solidFill>
            <a:srgbClr val="4E5B38"/>
          </a:solidFill>
          <a:ln/>
        </p:spPr>
      </p:sp>
      <p:sp>
        <p:nvSpPr>
          <p:cNvPr id="31" name="Text 27"/>
          <p:cNvSpPr txBox="1"/>
          <p:nvPr/>
        </p:nvSpPr>
        <p:spPr>
          <a:xfrm>
            <a:off x="2447776" y="6978104"/>
            <a:ext cx="41999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spc="109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USE…</a:t>
            </a:r>
            <a:endParaRPr lang="en-US" sz="680" dirty="0"/>
          </a:p>
        </p:txBody>
      </p:sp>
      <p:sp>
        <p:nvSpPr>
          <p:cNvPr id="32" name="Shape 28"/>
          <p:cNvSpPr/>
          <p:nvPr/>
        </p:nvSpPr>
        <p:spPr>
          <a:xfrm>
            <a:off x="647998" y="7718375"/>
            <a:ext cx="1655862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791914" y="7269807"/>
            <a:ext cx="102974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4E5B38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Mandioca fresca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2303859" y="7718375"/>
            <a:ext cx="4608016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2447859" y="7279332"/>
            <a:ext cx="4320017" cy="337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92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Mandioca congelada já descascada (funciona muito bem nas três receitas).</a:t>
            </a:r>
            <a:endParaRPr lang="en-US" sz="920" dirty="0"/>
          </a:p>
        </p:txBody>
      </p:sp>
      <p:sp>
        <p:nvSpPr>
          <p:cNvPr id="36" name="Shape 32"/>
          <p:cNvSpPr/>
          <p:nvPr/>
        </p:nvSpPr>
        <p:spPr>
          <a:xfrm>
            <a:off x="647998" y="8089999"/>
            <a:ext cx="1655862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791914" y="7816602"/>
            <a:ext cx="46062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4E5B38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Bacon</a:t>
            </a:r>
            <a:endParaRPr lang="en-US" sz="1000" dirty="0"/>
          </a:p>
        </p:txBody>
      </p:sp>
      <p:sp>
        <p:nvSpPr>
          <p:cNvPr id="38" name="Shape 34"/>
          <p:cNvSpPr/>
          <p:nvPr/>
        </p:nvSpPr>
        <p:spPr>
          <a:xfrm>
            <a:off x="2303859" y="8089999"/>
            <a:ext cx="4608016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2447776" y="7826127"/>
            <a:ext cx="376080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92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Linguiça calabresa em cubinhos ou cogumelos dourados.</a:t>
            </a:r>
            <a:endParaRPr lang="en-US" sz="920" dirty="0"/>
          </a:p>
        </p:txBody>
      </p:sp>
      <p:sp>
        <p:nvSpPr>
          <p:cNvPr id="40" name="Shape 36"/>
          <p:cNvSpPr/>
          <p:nvPr/>
        </p:nvSpPr>
        <p:spPr>
          <a:xfrm>
            <a:off x="647998" y="8461623"/>
            <a:ext cx="1655862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791914" y="8188226"/>
            <a:ext cx="92809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4E5B38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Polvilho azedo</a:t>
            </a:r>
            <a:endParaRPr lang="en-US" sz="1000" dirty="0"/>
          </a:p>
        </p:txBody>
      </p:sp>
      <p:sp>
        <p:nvSpPr>
          <p:cNvPr id="42" name="Shape 38"/>
          <p:cNvSpPr/>
          <p:nvPr/>
        </p:nvSpPr>
        <p:spPr>
          <a:xfrm>
            <a:off x="2303859" y="8461623"/>
            <a:ext cx="4608016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2447776" y="8197751"/>
            <a:ext cx="378647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92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Polvilho doce (o biscoito fica menos aerado e mais macio).</a:t>
            </a:r>
            <a:endParaRPr lang="en-US" sz="920" dirty="0"/>
          </a:p>
        </p:txBody>
      </p:sp>
      <p:sp>
        <p:nvSpPr>
          <p:cNvPr id="44" name="Shape 40"/>
          <p:cNvSpPr/>
          <p:nvPr/>
        </p:nvSpPr>
        <p:spPr>
          <a:xfrm>
            <a:off x="647998" y="8833247"/>
            <a:ext cx="1655862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791914" y="8559850"/>
            <a:ext cx="107563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4E5B38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Queijo meia-cura</a:t>
            </a:r>
            <a:endParaRPr lang="en-US" sz="1000" dirty="0"/>
          </a:p>
        </p:txBody>
      </p:sp>
      <p:sp>
        <p:nvSpPr>
          <p:cNvPr id="46" name="Shape 42"/>
          <p:cNvSpPr/>
          <p:nvPr/>
        </p:nvSpPr>
        <p:spPr>
          <a:xfrm>
            <a:off x="2303859" y="8833247"/>
            <a:ext cx="4608016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2447776" y="8569375"/>
            <a:ext cx="192640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92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Parmesão ou queijo canastra.</a:t>
            </a:r>
            <a:endParaRPr lang="en-US" sz="920" dirty="0"/>
          </a:p>
        </p:txBody>
      </p:sp>
      <p:sp>
        <p:nvSpPr>
          <p:cNvPr id="48" name="Shape 44"/>
          <p:cNvSpPr/>
          <p:nvPr/>
        </p:nvSpPr>
        <p:spPr>
          <a:xfrm>
            <a:off x="647998" y="9204871"/>
            <a:ext cx="1655862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791914" y="8931473"/>
            <a:ext cx="10065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4E5B38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Gengibre fresco</a:t>
            </a:r>
            <a:endParaRPr lang="en-US" sz="1000" dirty="0"/>
          </a:p>
        </p:txBody>
      </p:sp>
      <p:sp>
        <p:nvSpPr>
          <p:cNvPr id="50" name="Shape 46"/>
          <p:cNvSpPr/>
          <p:nvPr/>
        </p:nvSpPr>
        <p:spPr>
          <a:xfrm>
            <a:off x="2303859" y="9204871"/>
            <a:ext cx="4608016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2447776" y="8940998"/>
            <a:ext cx="334891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92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Pimenta-do-reino moída na hora e raspas de limão.</a:t>
            </a:r>
            <a:endParaRPr lang="en-US" sz="920" dirty="0"/>
          </a:p>
        </p:txBody>
      </p:sp>
      <p:sp>
        <p:nvSpPr>
          <p:cNvPr id="52" name="Shape 48"/>
          <p:cNvSpPr/>
          <p:nvPr/>
        </p:nvSpPr>
        <p:spPr>
          <a:xfrm>
            <a:off x="647998" y="9576495"/>
            <a:ext cx="1655862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791914" y="9303097"/>
            <a:ext cx="739676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4E5B38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Carne-seca</a:t>
            </a:r>
            <a:endParaRPr lang="en-US" sz="1000" dirty="0"/>
          </a:p>
        </p:txBody>
      </p:sp>
      <p:sp>
        <p:nvSpPr>
          <p:cNvPr id="54" name="Shape 50"/>
          <p:cNvSpPr/>
          <p:nvPr/>
        </p:nvSpPr>
        <p:spPr>
          <a:xfrm>
            <a:off x="2303859" y="9576495"/>
            <a:ext cx="4608016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2447776" y="9312622"/>
            <a:ext cx="322673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92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Frango desfiado (capítulo 3) ou linguiça refogada.</a:t>
            </a:r>
            <a:endParaRPr lang="en-US" sz="920" dirty="0"/>
          </a:p>
        </p:txBody>
      </p:sp>
      <p:sp>
        <p:nvSpPr>
          <p:cNvPr id="56" name="Shape 52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57" name="Text 53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58" name="Text 54"/>
          <p:cNvSpPr txBox="1"/>
          <p:nvPr/>
        </p:nvSpPr>
        <p:spPr>
          <a:xfrm>
            <a:off x="6809333" y="10236845"/>
            <a:ext cx="21684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31</a:t>
            </a:r>
            <a:endParaRPr lang="en-US" sz="63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827931"/>
            <a:ext cx="77256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800" b="1" spc="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APROVEITA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929878"/>
            <a:ext cx="2695004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0"/>
              </a:lnSpc>
              <a:buNone/>
            </a:pPr>
            <a:r>
              <a:rPr lang="en-US" sz="3400" spc="-17" kern="0" dirty="0">
                <a:solidFill>
                  <a:srgbClr val="4E5B38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isso também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7998" y="1608386"/>
            <a:ext cx="467916" cy="11311"/>
          </a:xfrm>
          <a:prstGeom prst="rect">
            <a:avLst/>
          </a:prstGeom>
          <a:solidFill>
            <a:srgbClr val="2F2A2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7998" y="1854696"/>
            <a:ext cx="424286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2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Cascas, talos, ramas e aparas: o que ia para o lixo vira sabor.</a:t>
            </a:r>
            <a:endParaRPr lang="en-US" sz="1020" dirty="0"/>
          </a:p>
        </p:txBody>
      </p:sp>
      <p:sp>
        <p:nvSpPr>
          <p:cNvPr id="6" name="Shape 4"/>
          <p:cNvSpPr/>
          <p:nvPr/>
        </p:nvSpPr>
        <p:spPr>
          <a:xfrm>
            <a:off x="647998" y="2258764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9407" y="2340173"/>
            <a:ext cx="197048" cy="19704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169789" y="2258764"/>
            <a:ext cx="270717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en-US" sz="10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Água do cozimento, rica em amido</a:t>
            </a:r>
            <a:endParaRPr lang="en-US" sz="1060" dirty="0"/>
          </a:p>
        </p:txBody>
      </p:sp>
      <p:sp>
        <p:nvSpPr>
          <p:cNvPr id="9" name="Text 6"/>
          <p:cNvSpPr txBox="1"/>
          <p:nvPr/>
        </p:nvSpPr>
        <p:spPr>
          <a:xfrm>
            <a:off x="1169789" y="2492425"/>
            <a:ext cx="3366195" cy="9513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96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água em que a mandioca cozinhou fica rica em amido. Guarde (na geladeira por até 2 dias) e use para dar ponto e cremosidade a molhos, ensopados e ao próprio caldo, no lugar da água ou de parte do creme de leite.</a:t>
            </a:r>
            <a:endParaRPr lang="en-US" sz="960" dirty="0"/>
          </a:p>
        </p:txBody>
      </p:sp>
      <p:sp>
        <p:nvSpPr>
          <p:cNvPr id="10" name="Shape 7"/>
          <p:cNvSpPr/>
          <p:nvPr/>
        </p:nvSpPr>
        <p:spPr>
          <a:xfrm>
            <a:off x="647998" y="3676055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407" y="3757464"/>
            <a:ext cx="197048" cy="19704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169789" y="3676055"/>
            <a:ext cx="347410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en-US" sz="10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“Fariña” crocante de frigideira com as aparas</a:t>
            </a:r>
            <a:endParaRPr lang="en-US" sz="1060" dirty="0"/>
          </a:p>
        </p:txBody>
      </p:sp>
      <p:sp>
        <p:nvSpPr>
          <p:cNvPr id="13" name="Text 9"/>
          <p:cNvSpPr txBox="1"/>
          <p:nvPr/>
        </p:nvSpPr>
        <p:spPr>
          <a:xfrm>
            <a:off x="1169789" y="3909715"/>
            <a:ext cx="3366195" cy="1148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96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Pontas, pedaços quebrados e sobras de mandioca já cozida viram crocância. Rale fino e espalhe numa frigideira com 1 colher de manteiga. Toste em fogo médio, mexendo de vez em quando, até ficar dourada e soltinha. Tempere com sal e use como uma farofa fresca sobre o caldo, saladas, feijão ou ovos.</a:t>
            </a:r>
            <a:endParaRPr lang="en-US" sz="960" dirty="0"/>
          </a:p>
        </p:txBody>
      </p:sp>
      <p:sp>
        <p:nvSpPr>
          <p:cNvPr id="14" name="Shape 10"/>
          <p:cNvSpPr/>
          <p:nvPr/>
        </p:nvSpPr>
        <p:spPr>
          <a:xfrm>
            <a:off x="647998" y="5290691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9407" y="5372100"/>
            <a:ext cx="197048" cy="197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169789" y="5290691"/>
            <a:ext cx="96410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en-US" sz="10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 as cascas?</a:t>
            </a:r>
            <a:endParaRPr lang="en-US" sz="1060" dirty="0"/>
          </a:p>
        </p:txBody>
      </p:sp>
      <p:sp>
        <p:nvSpPr>
          <p:cNvPr id="17" name="Text 12"/>
          <p:cNvSpPr txBox="1"/>
          <p:nvPr/>
        </p:nvSpPr>
        <p:spPr>
          <a:xfrm>
            <a:off x="1169789" y="5524351"/>
            <a:ext cx="3366195" cy="359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96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As cascas da mandioca não são comestíveis. Mande para a compostagem.</a:t>
            </a:r>
            <a:endParaRPr lang="en-US" sz="960" dirty="0"/>
          </a:p>
        </p:txBody>
      </p:sp>
      <p:sp>
        <p:nvSpPr>
          <p:cNvPr id="18" name="Shape 13"/>
          <p:cNvSpPr/>
          <p:nvPr/>
        </p:nvSpPr>
        <p:spPr>
          <a:xfrm>
            <a:off x="4895999" y="0"/>
            <a:ext cx="2663875" cy="10691961"/>
          </a:xfrm>
          <a:prstGeom prst="rect">
            <a:avLst/>
          </a:prstGeom>
          <a:solidFill>
            <a:srgbClr val="EEE6D8"/>
          </a:solidFill>
          <a:ln/>
        </p:spPr>
      </p:sp>
      <p:pic>
        <p:nvPicPr>
          <p:cNvPr id="19" name="Image 3" descr="/home/user/ebook-luq/versoes/VERSAO COM FOTOGRAFIAS/fotos/aproveita4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392067" y="791914"/>
            <a:ext cx="2735907" cy="2735907"/>
          </a:xfrm>
          <a:prstGeom prst="ellipse">
            <a:avLst/>
          </a:prstGeom>
        </p:spPr>
      </p:pic>
      <p:sp>
        <p:nvSpPr>
          <p:cNvPr id="20" name="Shape 14"/>
          <p:cNvSpPr/>
          <p:nvPr/>
        </p:nvSpPr>
        <p:spPr>
          <a:xfrm>
            <a:off x="4895999" y="8459986"/>
            <a:ext cx="2663875" cy="2231975"/>
          </a:xfrm>
          <a:prstGeom prst="rect">
            <a:avLst/>
          </a:prstGeom>
          <a:solidFill>
            <a:srgbClr val="4E5B38"/>
          </a:solidFill>
          <a:ln/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93904" y="9341941"/>
            <a:ext cx="467916" cy="467916"/>
          </a:xfrm>
          <a:prstGeom prst="rect">
            <a:avLst/>
          </a:prstGeom>
        </p:spPr>
      </p:pic>
      <p:sp>
        <p:nvSpPr>
          <p:cNvPr id="22" name="Shape 15"/>
          <p:cNvSpPr/>
          <p:nvPr/>
        </p:nvSpPr>
        <p:spPr>
          <a:xfrm>
            <a:off x="647998" y="10133856"/>
            <a:ext cx="3600004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23" name="Text 16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24" name="Text 17"/>
          <p:cNvSpPr txBox="1"/>
          <p:nvPr/>
        </p:nvSpPr>
        <p:spPr>
          <a:xfrm>
            <a:off x="4129832" y="10236845"/>
            <a:ext cx="23247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32</a:t>
            </a:r>
            <a:endParaRPr lang="en-US" sz="63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755898"/>
            <a:ext cx="78968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800" b="1" spc="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CAPÍTULO 5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838795"/>
            <a:ext cx="210443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80"/>
              </a:lnSpc>
              <a:buNone/>
            </a:pPr>
            <a:r>
              <a:rPr lang="en-US" sz="4000" spc="-20" kern="0" dirty="0">
                <a:solidFill>
                  <a:srgbClr val="C2552D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Cenoura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47998" y="1614041"/>
            <a:ext cx="467916" cy="11311"/>
          </a:xfrm>
          <a:prstGeom prst="rect">
            <a:avLst/>
          </a:prstGeom>
          <a:solidFill>
            <a:srgbClr val="2F2A2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7998" y="1769418"/>
            <a:ext cx="1089136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400" i="1" dirty="0">
                <a:solidFill>
                  <a:srgbClr val="6B645B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da raiz à rama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7998" y="2197001"/>
            <a:ext cx="3527971" cy="585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2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Está em quase toda geladeira, mas costuma ficar presa à salada ralada ou ao bolo de sempre. Aqui ela vira protagonista.</a:t>
            </a:r>
            <a:endParaRPr lang="en-US" sz="1020" dirty="0"/>
          </a:p>
        </p:txBody>
      </p:sp>
      <p:pic>
        <p:nvPicPr>
          <p:cNvPr id="7" name="Image 0" descr="/home/user/ebook-luq/versoes/VERSAO COM FOTOGRAFIAS/fotos/cap5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823966" y="396032"/>
            <a:ext cx="3311872" cy="3311872"/>
          </a:xfrm>
          <a:prstGeom prst="ellipse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47998" y="3779937"/>
            <a:ext cx="108663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INGREDIENTE</a:t>
            </a:r>
            <a:endParaRPr lang="en-US" sz="700" dirty="0"/>
          </a:p>
        </p:txBody>
      </p:sp>
      <p:sp>
        <p:nvSpPr>
          <p:cNvPr id="9" name="Text 6"/>
          <p:cNvSpPr txBox="1"/>
          <p:nvPr/>
        </p:nvSpPr>
        <p:spPr>
          <a:xfrm>
            <a:off x="647998" y="4003179"/>
            <a:ext cx="6263878" cy="3876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9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cenoura está em quase todo refogado, quase toda salada e quase todo lanche da tarde. E quase sempre como coadjuvante.</a:t>
            </a:r>
            <a:endParaRPr lang="en-US" sz="990" dirty="0"/>
          </a:p>
        </p:txBody>
      </p:sp>
      <p:sp>
        <p:nvSpPr>
          <p:cNvPr id="10" name="Text 7"/>
          <p:cNvSpPr txBox="1"/>
          <p:nvPr/>
        </p:nvSpPr>
        <p:spPr>
          <a:xfrm>
            <a:off x="647998" y="4529882"/>
            <a:ext cx="6263878" cy="6039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9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Ela tem açúcar natural de sobra e, quando encontra calor seco, carameliza e ganha um sabor profundo, quase de castanha. Ralada e bem refogada, vira a base de um hambúrguer. E, num bolo, ela é que garante a umidade.</a:t>
            </a:r>
            <a:endParaRPr lang="en-US" sz="990" dirty="0"/>
          </a:p>
        </p:txBody>
      </p:sp>
      <p:sp>
        <p:nvSpPr>
          <p:cNvPr id="11" name="Text 8"/>
          <p:cNvSpPr txBox="1"/>
          <p:nvPr/>
        </p:nvSpPr>
        <p:spPr>
          <a:xfrm>
            <a:off x="647998" y="5272832"/>
            <a:ext cx="6263878" cy="3876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9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Nada se perde: a casca é fina e comestível, e a rama, aquelas folhas que quase sempre vão para o lixo, é um tempero fresco e potente.</a:t>
            </a:r>
            <a:endParaRPr lang="en-US" sz="990" dirty="0"/>
          </a:p>
        </p:txBody>
      </p:sp>
      <p:sp>
        <p:nvSpPr>
          <p:cNvPr id="12" name="Text 9"/>
          <p:cNvSpPr txBox="1"/>
          <p:nvPr/>
        </p:nvSpPr>
        <p:spPr>
          <a:xfrm>
            <a:off x="647998" y="5892701"/>
            <a:ext cx="16477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AS 3 TRANSFORMAÇÕES</a:t>
            </a:r>
            <a:endParaRPr lang="en-US" sz="700" dirty="0"/>
          </a:p>
        </p:txBody>
      </p:sp>
      <p:sp>
        <p:nvSpPr>
          <p:cNvPr id="13" name="Shape 10"/>
          <p:cNvSpPr/>
          <p:nvPr/>
        </p:nvSpPr>
        <p:spPr>
          <a:xfrm>
            <a:off x="647998" y="6748909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47998" y="6287393"/>
            <a:ext cx="251966" cy="251966"/>
          </a:xfrm>
          <a:prstGeom prst="ellipse">
            <a:avLst/>
          </a:prstGeom>
          <a:solidFill>
            <a:srgbClr val="C2552D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28514" y="6360914"/>
            <a:ext cx="20508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</a:t>
            </a:r>
            <a:endParaRPr lang="en-US" sz="680" dirty="0"/>
          </a:p>
        </p:txBody>
      </p:sp>
      <p:sp>
        <p:nvSpPr>
          <p:cNvPr id="16" name="Text 13"/>
          <p:cNvSpPr txBox="1"/>
          <p:nvPr/>
        </p:nvSpPr>
        <p:spPr>
          <a:xfrm>
            <a:off x="1025872" y="6202561"/>
            <a:ext cx="121615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b="1" spc="115" kern="0" dirty="0">
                <a:solidFill>
                  <a:srgbClr val="C255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ASSADO INTENSO</a:t>
            </a:r>
            <a:endParaRPr lang="en-US" sz="640" dirty="0"/>
          </a:p>
        </p:txBody>
      </p:sp>
      <p:sp>
        <p:nvSpPr>
          <p:cNvPr id="17" name="Text 14"/>
          <p:cNvSpPr txBox="1"/>
          <p:nvPr/>
        </p:nvSpPr>
        <p:spPr>
          <a:xfrm>
            <a:off x="1025872" y="6319391"/>
            <a:ext cx="431988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Cenouras assadas inteiras, caramelizadas no mel ou melaço com azeite e tomilho </a:t>
            </a:r>
            <a:pPr algn="l" indent="0" marL="0">
              <a:lnSpc>
                <a:spcPts val="1250"/>
              </a:lnSpc>
              <a:buNone/>
            </a:pPr>
            <a:r>
              <a:rPr lang="en-US" sz="1000" i="1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(doçura natural levada ao máximo)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5471666" y="6454080"/>
            <a:ext cx="1062335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19" name="Text 16"/>
          <p:cNvSpPr txBox="1"/>
          <p:nvPr/>
        </p:nvSpPr>
        <p:spPr>
          <a:xfrm>
            <a:off x="6671370" y="6346627"/>
            <a:ext cx="24050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8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35</a:t>
            </a:r>
            <a:endParaRPr lang="en-US" sz="860" dirty="0"/>
          </a:p>
        </p:txBody>
      </p:sp>
      <p:sp>
        <p:nvSpPr>
          <p:cNvPr id="20" name="Shape 17"/>
          <p:cNvSpPr/>
          <p:nvPr/>
        </p:nvSpPr>
        <p:spPr>
          <a:xfrm>
            <a:off x="647998" y="7410450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47998" y="6948934"/>
            <a:ext cx="251966" cy="251966"/>
          </a:xfrm>
          <a:prstGeom prst="ellipse">
            <a:avLst/>
          </a:prstGeom>
          <a:solidFill>
            <a:srgbClr val="C2552D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719882" y="7022455"/>
            <a:ext cx="22234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680" dirty="0"/>
          </a:p>
        </p:txBody>
      </p:sp>
      <p:sp>
        <p:nvSpPr>
          <p:cNvPr id="23" name="Text 20"/>
          <p:cNvSpPr txBox="1"/>
          <p:nvPr/>
        </p:nvSpPr>
        <p:spPr>
          <a:xfrm>
            <a:off x="1025872" y="6864102"/>
            <a:ext cx="124432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b="1" spc="115" kern="0" dirty="0">
                <a:solidFill>
                  <a:srgbClr val="C255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PRATO PRINCIPAL</a:t>
            </a:r>
            <a:endParaRPr lang="en-US" sz="640" dirty="0"/>
          </a:p>
        </p:txBody>
      </p:sp>
      <p:sp>
        <p:nvSpPr>
          <p:cNvPr id="24" name="Text 21"/>
          <p:cNvSpPr txBox="1"/>
          <p:nvPr/>
        </p:nvSpPr>
        <p:spPr>
          <a:xfrm>
            <a:off x="1025872" y="6980932"/>
            <a:ext cx="431988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Hambúrguer rústico ou bolinho de cenoura com aveia e especiarias </a:t>
            </a:r>
            <a:pPr algn="l" indent="0" marL="0">
              <a:lnSpc>
                <a:spcPts val="1250"/>
              </a:lnSpc>
              <a:buNone/>
            </a:pPr>
            <a:r>
              <a:rPr lang="en-US" sz="1000" i="1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(saboroso e nutritivo)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5471666" y="7115621"/>
            <a:ext cx="1062335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26" name="Text 23"/>
          <p:cNvSpPr txBox="1"/>
          <p:nvPr/>
        </p:nvSpPr>
        <p:spPr>
          <a:xfrm>
            <a:off x="6665565" y="7008168"/>
            <a:ext cx="24631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8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36</a:t>
            </a:r>
            <a:endParaRPr lang="en-US" sz="860" dirty="0"/>
          </a:p>
        </p:txBody>
      </p:sp>
      <p:sp>
        <p:nvSpPr>
          <p:cNvPr id="27" name="Shape 24"/>
          <p:cNvSpPr/>
          <p:nvPr/>
        </p:nvSpPr>
        <p:spPr>
          <a:xfrm>
            <a:off x="647998" y="8071991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47998" y="7610475"/>
            <a:ext cx="251966" cy="251966"/>
          </a:xfrm>
          <a:prstGeom prst="ellipse">
            <a:avLst/>
          </a:prstGeom>
          <a:solidFill>
            <a:srgbClr val="C2552D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720328" y="7683996"/>
            <a:ext cx="22160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680" dirty="0"/>
          </a:p>
        </p:txBody>
      </p:sp>
      <p:sp>
        <p:nvSpPr>
          <p:cNvPr id="30" name="Text 27"/>
          <p:cNvSpPr txBox="1"/>
          <p:nvPr/>
        </p:nvSpPr>
        <p:spPr>
          <a:xfrm>
            <a:off x="1025872" y="7525643"/>
            <a:ext cx="172854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b="1" spc="115" kern="0" dirty="0">
                <a:solidFill>
                  <a:srgbClr val="C255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SOBREMESA DE RESPEITO</a:t>
            </a:r>
            <a:endParaRPr lang="en-US" sz="640" dirty="0"/>
          </a:p>
        </p:txBody>
      </p:sp>
      <p:sp>
        <p:nvSpPr>
          <p:cNvPr id="31" name="Text 28"/>
          <p:cNvSpPr txBox="1"/>
          <p:nvPr/>
        </p:nvSpPr>
        <p:spPr>
          <a:xfrm>
            <a:off x="1025872" y="7642473"/>
            <a:ext cx="431988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Bolo de cenoura da vovó com técnica de chef e calda de chocolate espelhada </a:t>
            </a:r>
            <a:pPr algn="l" indent="0" marL="0">
              <a:lnSpc>
                <a:spcPts val="1250"/>
              </a:lnSpc>
              <a:buNone/>
            </a:pPr>
            <a:r>
              <a:rPr lang="en-US" sz="1000" i="1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(massa fofíssima que não sola)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5471666" y="7777162"/>
            <a:ext cx="1062335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33" name="Text 30"/>
          <p:cNvSpPr txBox="1"/>
          <p:nvPr/>
        </p:nvSpPr>
        <p:spPr>
          <a:xfrm>
            <a:off x="6668839" y="7669709"/>
            <a:ext cx="24303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8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37</a:t>
            </a:r>
            <a:endParaRPr lang="en-US" sz="860" dirty="0"/>
          </a:p>
        </p:txBody>
      </p:sp>
      <p:sp>
        <p:nvSpPr>
          <p:cNvPr id="34" name="Shape 31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36" name="Text 33"/>
          <p:cNvSpPr txBox="1"/>
          <p:nvPr/>
        </p:nvSpPr>
        <p:spPr>
          <a:xfrm>
            <a:off x="6793706" y="10236845"/>
            <a:ext cx="23247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33</a:t>
            </a:r>
            <a:endParaRPr lang="en-US" sz="63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611981"/>
            <a:ext cx="69309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800" b="1" spc="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ANTES DA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713929"/>
            <a:ext cx="141251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0"/>
              </a:lnSpc>
              <a:buNone/>
            </a:pPr>
            <a:r>
              <a:rPr lang="en-US" sz="3400" spc="-17" kern="0" dirty="0">
                <a:solidFill>
                  <a:srgbClr val="4E5B38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panela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7998" y="1392436"/>
            <a:ext cx="467916" cy="11311"/>
          </a:xfrm>
          <a:prstGeom prst="rect">
            <a:avLst/>
          </a:prstGeom>
          <a:solidFill>
            <a:srgbClr val="2F2A2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7998" y="1638746"/>
            <a:ext cx="4499967" cy="378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2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Escolher bem, guardar direito e cortar do jeito certo: metade do prato se resolve aqui.</a:t>
            </a:r>
            <a:endParaRPr lang="en-US" sz="1020" dirty="0"/>
          </a:p>
        </p:txBody>
      </p:sp>
      <p:sp>
        <p:nvSpPr>
          <p:cNvPr id="6" name="Shape 4"/>
          <p:cNvSpPr/>
          <p:nvPr/>
        </p:nvSpPr>
        <p:spPr>
          <a:xfrm>
            <a:off x="647998" y="2249984"/>
            <a:ext cx="3041898" cy="2303264"/>
          </a:xfrm>
          <a:prstGeom prst="roundRect">
            <a:avLst>
              <a:gd name="adj" fmla="val 1862"/>
            </a:avLst>
          </a:prstGeom>
          <a:solidFill>
            <a:srgbClr val="FBF8F3"/>
          </a:solidFill>
          <a:ln w="9525">
            <a:solidFill>
              <a:srgbClr val="DDD2C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37456" y="2439442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865" y="2520851"/>
            <a:ext cx="197048" cy="19704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323231" y="2557463"/>
            <a:ext cx="174088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800" b="1" spc="11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NA HORA DE ESCOLHER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855456" y="2993617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999456" y="2944267"/>
            <a:ext cx="2500981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Firme, lisa, de cor laranja intensa, sem rachaduras nem brotos.</a:t>
            </a:r>
            <a:endParaRPr lang="en-US" sz="940" dirty="0"/>
          </a:p>
        </p:txBody>
      </p:sp>
      <p:sp>
        <p:nvSpPr>
          <p:cNvPr id="12" name="Shape 9"/>
          <p:cNvSpPr/>
          <p:nvPr/>
        </p:nvSpPr>
        <p:spPr>
          <a:xfrm>
            <a:off x="855456" y="3435487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999456" y="3386138"/>
            <a:ext cx="2500981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Evite cenouras moles ou com a parte de cima esverdeada.</a:t>
            </a:r>
            <a:endParaRPr lang="en-US" sz="940" dirty="0"/>
          </a:p>
        </p:txBody>
      </p:sp>
      <p:sp>
        <p:nvSpPr>
          <p:cNvPr id="14" name="Shape 11"/>
          <p:cNvSpPr/>
          <p:nvPr/>
        </p:nvSpPr>
        <p:spPr>
          <a:xfrm>
            <a:off x="855456" y="3877358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99456" y="3828008"/>
            <a:ext cx="2500981" cy="53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 encontrar com rama, compre: rama verde e viçosa é sinal de cenoura fresca, e ainda vira pesto.</a:t>
            </a:r>
            <a:endParaRPr lang="en-US" sz="940" dirty="0"/>
          </a:p>
        </p:txBody>
      </p:sp>
      <p:sp>
        <p:nvSpPr>
          <p:cNvPr id="16" name="Shape 13"/>
          <p:cNvSpPr/>
          <p:nvPr/>
        </p:nvSpPr>
        <p:spPr>
          <a:xfrm>
            <a:off x="3869829" y="2249984"/>
            <a:ext cx="3042047" cy="2303264"/>
          </a:xfrm>
          <a:prstGeom prst="roundRect">
            <a:avLst>
              <a:gd name="adj" fmla="val 1862"/>
            </a:avLst>
          </a:prstGeom>
          <a:solidFill>
            <a:srgbClr val="FBF8F3"/>
          </a:solidFill>
          <a:ln w="9525">
            <a:solidFill>
              <a:srgbClr val="DDD2C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059287" y="2439442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0696" y="2520851"/>
            <a:ext cx="197048" cy="197048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4545062" y="2557463"/>
            <a:ext cx="120548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800" b="1" spc="11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COMO GUARDAR</a:t>
            </a:r>
            <a:endParaRPr lang="en-US" sz="800" dirty="0"/>
          </a:p>
        </p:txBody>
      </p:sp>
      <p:sp>
        <p:nvSpPr>
          <p:cNvPr id="20" name="Shape 16"/>
          <p:cNvSpPr/>
          <p:nvPr/>
        </p:nvSpPr>
        <p:spPr>
          <a:xfrm>
            <a:off x="4077287" y="2993617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4221287" y="2944267"/>
            <a:ext cx="2501130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Separe a rama assim que chegar em casa: ela puxa a umidade da raiz.</a:t>
            </a:r>
            <a:endParaRPr lang="en-US" sz="940" dirty="0"/>
          </a:p>
        </p:txBody>
      </p:sp>
      <p:sp>
        <p:nvSpPr>
          <p:cNvPr id="22" name="Shape 18"/>
          <p:cNvSpPr/>
          <p:nvPr/>
        </p:nvSpPr>
        <p:spPr>
          <a:xfrm>
            <a:off x="4077287" y="3435487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3" name="Text 19"/>
          <p:cNvSpPr txBox="1"/>
          <p:nvPr/>
        </p:nvSpPr>
        <p:spPr>
          <a:xfrm>
            <a:off x="4221287" y="3386138"/>
            <a:ext cx="2501130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Raiz: em pote fechado com papel-toalha, na geladeira, por 3 a 4 semanas.</a:t>
            </a:r>
            <a:endParaRPr lang="en-US" sz="940" dirty="0"/>
          </a:p>
        </p:txBody>
      </p:sp>
      <p:sp>
        <p:nvSpPr>
          <p:cNvPr id="24" name="Shape 20"/>
          <p:cNvSpPr/>
          <p:nvPr/>
        </p:nvSpPr>
        <p:spPr>
          <a:xfrm>
            <a:off x="4077287" y="3877358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4221287" y="3828008"/>
            <a:ext cx="2501130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Rama: lavada, bem seca e enrolada em papel-toalha, por 3 a 4 dias.</a:t>
            </a:r>
            <a:endParaRPr lang="en-US" sz="940" dirty="0"/>
          </a:p>
        </p:txBody>
      </p:sp>
      <p:sp>
        <p:nvSpPr>
          <p:cNvPr id="26" name="Shape 22"/>
          <p:cNvSpPr/>
          <p:nvPr/>
        </p:nvSpPr>
        <p:spPr>
          <a:xfrm>
            <a:off x="647998" y="4733181"/>
            <a:ext cx="6263878" cy="1748284"/>
          </a:xfrm>
          <a:prstGeom prst="roundRect">
            <a:avLst>
              <a:gd name="adj" fmla="val 3231"/>
            </a:avLst>
          </a:prstGeom>
          <a:solidFill>
            <a:srgbClr val="FBF8F3"/>
          </a:solidFill>
          <a:ln w="9525">
            <a:solidFill>
              <a:srgbClr val="DDD2C0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837456" y="4922639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2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865" y="5004048"/>
            <a:ext cx="197048" cy="197048"/>
          </a:xfrm>
          <a:prstGeom prst="rect">
            <a:avLst/>
          </a:prstGeom>
        </p:spPr>
      </p:pic>
      <p:sp>
        <p:nvSpPr>
          <p:cNvPr id="29" name="Text 24"/>
          <p:cNvSpPr txBox="1"/>
          <p:nvPr/>
        </p:nvSpPr>
        <p:spPr>
          <a:xfrm>
            <a:off x="1323231" y="5040660"/>
            <a:ext cx="179339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800" b="1" spc="11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PRÉ-PREPARO E CORTES</a:t>
            </a:r>
            <a:endParaRPr lang="en-US" sz="800" dirty="0"/>
          </a:p>
        </p:txBody>
      </p:sp>
      <p:sp>
        <p:nvSpPr>
          <p:cNvPr id="30" name="Shape 25"/>
          <p:cNvSpPr/>
          <p:nvPr/>
        </p:nvSpPr>
        <p:spPr>
          <a:xfrm>
            <a:off x="855456" y="5476814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1" name="Text 26"/>
          <p:cNvSpPr txBox="1"/>
          <p:nvPr/>
        </p:nvSpPr>
        <p:spPr>
          <a:xfrm>
            <a:off x="999381" y="5427464"/>
            <a:ext cx="574221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Não precisa descascar: escove bem sob água corrente. Se descascar, guarde as cascas.</a:t>
            </a:r>
            <a:endParaRPr lang="en-US" sz="940" dirty="0"/>
          </a:p>
        </p:txBody>
      </p:sp>
      <p:sp>
        <p:nvSpPr>
          <p:cNvPr id="32" name="Shape 27"/>
          <p:cNvSpPr/>
          <p:nvPr/>
        </p:nvSpPr>
        <p:spPr>
          <a:xfrm>
            <a:off x="855456" y="5733691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3" name="Text 28"/>
          <p:cNvSpPr txBox="1"/>
          <p:nvPr/>
        </p:nvSpPr>
        <p:spPr>
          <a:xfrm>
            <a:off x="999381" y="5684341"/>
            <a:ext cx="415985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Rodelas em diagonal têm mais superfície e caramelizam mais.</a:t>
            </a:r>
            <a:endParaRPr lang="en-US" sz="940" dirty="0"/>
          </a:p>
        </p:txBody>
      </p:sp>
      <p:sp>
        <p:nvSpPr>
          <p:cNvPr id="34" name="Shape 29"/>
          <p:cNvSpPr/>
          <p:nvPr/>
        </p:nvSpPr>
        <p:spPr>
          <a:xfrm>
            <a:off x="855456" y="5990569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5" name="Text 30"/>
          <p:cNvSpPr txBox="1"/>
          <p:nvPr/>
        </p:nvSpPr>
        <p:spPr>
          <a:xfrm>
            <a:off x="999456" y="5941219"/>
            <a:ext cx="5722961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Palitos e meia-lua para assar; ralada fina para bolinhos; em fitas (com o descascador) para saladas cruas.</a:t>
            </a:r>
            <a:endParaRPr lang="en-US" sz="940" dirty="0"/>
          </a:p>
        </p:txBody>
      </p:sp>
      <p:sp>
        <p:nvSpPr>
          <p:cNvPr id="36" name="Shape 31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7" name="Text 32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38" name="Text 33"/>
          <p:cNvSpPr txBox="1"/>
          <p:nvPr/>
        </p:nvSpPr>
        <p:spPr>
          <a:xfrm>
            <a:off x="6785670" y="10236845"/>
            <a:ext cx="24050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34</a:t>
            </a:r>
            <a:endParaRPr lang="en-US" sz="63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611981"/>
            <a:ext cx="231212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RECEITA 5.1 · O ASSADO INTENSO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759023"/>
            <a:ext cx="4031903" cy="11555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500" dirty="0">
                <a:solidFill>
                  <a:srgbClr val="4E5B38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Cenouras assadas inteiras, caramelizadas no mel ou melaço com azeite e tomilho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647998" y="1926134"/>
            <a:ext cx="23114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90"/>
              </a:lnSpc>
              <a:buNone/>
            </a:pPr>
            <a:r>
              <a:rPr lang="en-US" sz="1300" i="1" dirty="0">
                <a:solidFill>
                  <a:srgbClr val="C255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doçura natural levada ao máximo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7998" y="2320528"/>
            <a:ext cx="287982" cy="287982"/>
          </a:xfrm>
          <a:prstGeom prst="ellipse">
            <a:avLst/>
          </a:prstGeom>
          <a:ln w="9525">
            <a:solidFill>
              <a:srgbClr val="2F2A2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398" y="2383929"/>
            <a:ext cx="161181" cy="16118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25872" y="2340025"/>
            <a:ext cx="48845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740" b="1" spc="44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45 MIN</a:t>
            </a:r>
            <a:endParaRPr lang="en-US" sz="740" dirty="0"/>
          </a:p>
        </p:txBody>
      </p:sp>
      <p:sp>
        <p:nvSpPr>
          <p:cNvPr id="8" name="Text 5"/>
          <p:cNvSpPr txBox="1"/>
          <p:nvPr/>
        </p:nvSpPr>
        <p:spPr>
          <a:xfrm>
            <a:off x="1025872" y="2493615"/>
            <a:ext cx="47580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spc="90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TEMPO</a:t>
            </a:r>
            <a:endParaRPr lang="en-US" sz="640" dirty="0"/>
          </a:p>
        </p:txBody>
      </p:sp>
      <p:sp>
        <p:nvSpPr>
          <p:cNvPr id="9" name="Shape 6"/>
          <p:cNvSpPr/>
          <p:nvPr/>
        </p:nvSpPr>
        <p:spPr>
          <a:xfrm>
            <a:off x="1688009" y="2320528"/>
            <a:ext cx="287982" cy="287982"/>
          </a:xfrm>
          <a:prstGeom prst="ellipse">
            <a:avLst/>
          </a:prstGeom>
          <a:ln w="9525">
            <a:solidFill>
              <a:srgbClr val="2F2A25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1409" y="2383929"/>
            <a:ext cx="161181" cy="161181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065883" y="2340025"/>
            <a:ext cx="73610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740" b="1" spc="44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 PORÇÕES</a:t>
            </a:r>
            <a:endParaRPr lang="en-US" sz="740" dirty="0"/>
          </a:p>
        </p:txBody>
      </p:sp>
      <p:sp>
        <p:nvSpPr>
          <p:cNvPr id="12" name="Text 8"/>
          <p:cNvSpPr txBox="1"/>
          <p:nvPr/>
        </p:nvSpPr>
        <p:spPr>
          <a:xfrm>
            <a:off x="2065883" y="2493615"/>
            <a:ext cx="80992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spc="90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RENDIMENTO</a:t>
            </a:r>
            <a:endParaRPr lang="en-US" sz="640" dirty="0"/>
          </a:p>
        </p:txBody>
      </p:sp>
      <p:pic>
        <p:nvPicPr>
          <p:cNvPr id="13" name="Image 2" descr="/home/user/ebook-luq/versoes/VERSAO COM FOTOGRAFIAS/fotos/r5-1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615880" y="252115"/>
            <a:ext cx="2375892" cy="2375892"/>
          </a:xfrm>
          <a:prstGeom prst="ellipse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647998" y="3157091"/>
            <a:ext cx="2159943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647998" y="2951857"/>
            <a:ext cx="105891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60" b="1" spc="12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INGREDIENTES</a:t>
            </a:r>
            <a:endParaRPr lang="en-US" sz="760" dirty="0"/>
          </a:p>
        </p:txBody>
      </p:sp>
      <p:sp>
        <p:nvSpPr>
          <p:cNvPr id="16" name="Shape 11"/>
          <p:cNvSpPr/>
          <p:nvPr/>
        </p:nvSpPr>
        <p:spPr>
          <a:xfrm>
            <a:off x="665998" y="3333391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809998" y="3274516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 cenouras médias (cerca de 600 g)</a:t>
            </a:r>
            <a:endParaRPr lang="en-US" sz="890" dirty="0"/>
          </a:p>
        </p:txBody>
      </p:sp>
      <p:sp>
        <p:nvSpPr>
          <p:cNvPr id="18" name="Shape 13"/>
          <p:cNvSpPr/>
          <p:nvPr/>
        </p:nvSpPr>
        <p:spPr>
          <a:xfrm>
            <a:off x="665998" y="3714689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809923" y="3655814"/>
            <a:ext cx="165620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 colheres (sopa) de azeite</a:t>
            </a:r>
            <a:endParaRPr lang="en-US" sz="890" dirty="0"/>
          </a:p>
        </p:txBody>
      </p:sp>
      <p:sp>
        <p:nvSpPr>
          <p:cNvPr id="20" name="Shape 15"/>
          <p:cNvSpPr/>
          <p:nvPr/>
        </p:nvSpPr>
        <p:spPr>
          <a:xfrm>
            <a:off x="665998" y="3932276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809998" y="3873401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 colheres (sopa) de mel (ou melaço)</a:t>
            </a:r>
            <a:endParaRPr lang="en-US" sz="890" dirty="0"/>
          </a:p>
        </p:txBody>
      </p:sp>
      <p:sp>
        <p:nvSpPr>
          <p:cNvPr id="22" name="Shape 17"/>
          <p:cNvSpPr/>
          <p:nvPr/>
        </p:nvSpPr>
        <p:spPr>
          <a:xfrm>
            <a:off x="665998" y="4313573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809923" y="4254698"/>
            <a:ext cx="164903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 ramos de tomilho fresco</a:t>
            </a:r>
            <a:endParaRPr lang="en-US" sz="890" dirty="0"/>
          </a:p>
        </p:txBody>
      </p:sp>
      <p:sp>
        <p:nvSpPr>
          <p:cNvPr id="24" name="Shape 19"/>
          <p:cNvSpPr/>
          <p:nvPr/>
        </p:nvSpPr>
        <p:spPr>
          <a:xfrm>
            <a:off x="665998" y="4531160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5" name="Text 20"/>
          <p:cNvSpPr txBox="1"/>
          <p:nvPr/>
        </p:nvSpPr>
        <p:spPr>
          <a:xfrm>
            <a:off x="809923" y="4472285"/>
            <a:ext cx="190857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Sal grosso e pimenta-do-reino</a:t>
            </a:r>
            <a:endParaRPr lang="en-US" sz="890" dirty="0"/>
          </a:p>
        </p:txBody>
      </p:sp>
      <p:sp>
        <p:nvSpPr>
          <p:cNvPr id="26" name="Shape 21"/>
          <p:cNvSpPr/>
          <p:nvPr/>
        </p:nvSpPr>
        <p:spPr>
          <a:xfrm>
            <a:off x="665998" y="4748747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7" name="Text 22"/>
          <p:cNvSpPr txBox="1"/>
          <p:nvPr/>
        </p:nvSpPr>
        <p:spPr>
          <a:xfrm>
            <a:off x="809998" y="4689872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colher (sopa) de vinagre de maçã ou suco de limão</a:t>
            </a:r>
            <a:endParaRPr lang="en-US" sz="890" dirty="0"/>
          </a:p>
        </p:txBody>
      </p:sp>
      <p:sp>
        <p:nvSpPr>
          <p:cNvPr id="28" name="Shape 23"/>
          <p:cNvSpPr/>
          <p:nvPr/>
        </p:nvSpPr>
        <p:spPr>
          <a:xfrm>
            <a:off x="665998" y="5130045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9" name="Text 24"/>
          <p:cNvSpPr txBox="1"/>
          <p:nvPr/>
        </p:nvSpPr>
        <p:spPr>
          <a:xfrm>
            <a:off x="809998" y="5071170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Opcional: iogurte temperado com sal e limão, e amendoim picado</a:t>
            </a:r>
            <a:endParaRPr lang="en-US" sz="890" dirty="0"/>
          </a:p>
        </p:txBody>
      </p:sp>
      <p:sp>
        <p:nvSpPr>
          <p:cNvPr id="30" name="Shape 25"/>
          <p:cNvSpPr/>
          <p:nvPr/>
        </p:nvSpPr>
        <p:spPr>
          <a:xfrm>
            <a:off x="3131939" y="3157091"/>
            <a:ext cx="3779937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3131939" y="2951857"/>
            <a:ext cx="141434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60" b="1" spc="12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MODO DE PREPARO</a:t>
            </a:r>
            <a:endParaRPr lang="en-US" sz="760" dirty="0"/>
          </a:p>
        </p:txBody>
      </p:sp>
      <p:sp>
        <p:nvSpPr>
          <p:cNvPr id="32" name="Shape 27"/>
          <p:cNvSpPr/>
          <p:nvPr/>
        </p:nvSpPr>
        <p:spPr>
          <a:xfrm>
            <a:off x="3131939" y="3275707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3" name="Text 28"/>
          <p:cNvSpPr txBox="1"/>
          <p:nvPr/>
        </p:nvSpPr>
        <p:spPr>
          <a:xfrm>
            <a:off x="3206651" y="3317974"/>
            <a:ext cx="14481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630" dirty="0"/>
          </a:p>
        </p:txBody>
      </p:sp>
      <p:sp>
        <p:nvSpPr>
          <p:cNvPr id="34" name="Text 29"/>
          <p:cNvSpPr txBox="1"/>
          <p:nvPr/>
        </p:nvSpPr>
        <p:spPr>
          <a:xfrm>
            <a:off x="3419773" y="3284041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Preaqueça o forno a 220 °C. Escove bem as cenouras. Se forem grossas, corte ao meio no sentido do comprimento.</a:t>
            </a:r>
            <a:endParaRPr lang="en-US" sz="930" dirty="0"/>
          </a:p>
        </p:txBody>
      </p:sp>
      <p:sp>
        <p:nvSpPr>
          <p:cNvPr id="35" name="Shape 30"/>
          <p:cNvSpPr/>
          <p:nvPr/>
        </p:nvSpPr>
        <p:spPr>
          <a:xfrm>
            <a:off x="3131939" y="3735288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6" name="Text 31"/>
          <p:cNvSpPr txBox="1"/>
          <p:nvPr/>
        </p:nvSpPr>
        <p:spPr>
          <a:xfrm>
            <a:off x="3198614" y="3777555"/>
            <a:ext cx="1607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630" dirty="0"/>
          </a:p>
        </p:txBody>
      </p:sp>
      <p:sp>
        <p:nvSpPr>
          <p:cNvPr id="37" name="Text 32"/>
          <p:cNvSpPr txBox="1"/>
          <p:nvPr/>
        </p:nvSpPr>
        <p:spPr>
          <a:xfrm>
            <a:off x="3419773" y="3743623"/>
            <a:ext cx="3492103" cy="528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Numa assadeira grande, envolva as cenouras com o azeite, sal e pimenta. Deixe espaço entre elas: amontoadas, cozinham no vapor e não caramelizam.</a:t>
            </a:r>
            <a:endParaRPr lang="en-US" sz="930" dirty="0"/>
          </a:p>
        </p:txBody>
      </p:sp>
      <p:sp>
        <p:nvSpPr>
          <p:cNvPr id="38" name="Shape 33"/>
          <p:cNvSpPr/>
          <p:nvPr/>
        </p:nvSpPr>
        <p:spPr>
          <a:xfrm>
            <a:off x="3131939" y="4377928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9" name="Text 34"/>
          <p:cNvSpPr txBox="1"/>
          <p:nvPr/>
        </p:nvSpPr>
        <p:spPr>
          <a:xfrm>
            <a:off x="3198614" y="4420195"/>
            <a:ext cx="1607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630" dirty="0"/>
          </a:p>
        </p:txBody>
      </p:sp>
      <p:sp>
        <p:nvSpPr>
          <p:cNvPr id="40" name="Text 35"/>
          <p:cNvSpPr txBox="1"/>
          <p:nvPr/>
        </p:nvSpPr>
        <p:spPr>
          <a:xfrm>
            <a:off x="3419773" y="4386263"/>
            <a:ext cx="305504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Asse por 25 minutos, até começarem a dourar.</a:t>
            </a:r>
            <a:endParaRPr lang="en-US" sz="930" dirty="0"/>
          </a:p>
        </p:txBody>
      </p:sp>
      <p:sp>
        <p:nvSpPr>
          <p:cNvPr id="41" name="Shape 36"/>
          <p:cNvSpPr/>
          <p:nvPr/>
        </p:nvSpPr>
        <p:spPr>
          <a:xfrm>
            <a:off x="3131939" y="4662041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2" name="Text 37"/>
          <p:cNvSpPr txBox="1"/>
          <p:nvPr/>
        </p:nvSpPr>
        <p:spPr>
          <a:xfrm>
            <a:off x="3194745" y="4704308"/>
            <a:ext cx="16847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630" dirty="0"/>
          </a:p>
        </p:txBody>
      </p:sp>
      <p:sp>
        <p:nvSpPr>
          <p:cNvPr id="43" name="Text 38"/>
          <p:cNvSpPr txBox="1"/>
          <p:nvPr/>
        </p:nvSpPr>
        <p:spPr>
          <a:xfrm>
            <a:off x="3419773" y="4670375"/>
            <a:ext cx="3492103" cy="528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Regue com o mel, junte o tomilho, chacoalhe a assadeira e volte ao forno por mais 10 a 15 minutos, até as pontas tostarem e o mel virar uma camada brilhante.</a:t>
            </a:r>
            <a:endParaRPr lang="en-US" sz="930" dirty="0"/>
          </a:p>
        </p:txBody>
      </p:sp>
      <p:sp>
        <p:nvSpPr>
          <p:cNvPr id="44" name="Shape 39"/>
          <p:cNvSpPr/>
          <p:nvPr/>
        </p:nvSpPr>
        <p:spPr>
          <a:xfrm>
            <a:off x="3131939" y="5304681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5" name="Text 40"/>
          <p:cNvSpPr txBox="1"/>
          <p:nvPr/>
        </p:nvSpPr>
        <p:spPr>
          <a:xfrm>
            <a:off x="3198465" y="5346948"/>
            <a:ext cx="16103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630" dirty="0"/>
          </a:p>
        </p:txBody>
      </p:sp>
      <p:sp>
        <p:nvSpPr>
          <p:cNvPr id="46" name="Text 41"/>
          <p:cNvSpPr txBox="1"/>
          <p:nvPr/>
        </p:nvSpPr>
        <p:spPr>
          <a:xfrm>
            <a:off x="3419773" y="5313015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Retire do forno e regue com o vinagre ou limão ainda quente.</a:t>
            </a:r>
            <a:endParaRPr lang="en-US" sz="930" dirty="0"/>
          </a:p>
        </p:txBody>
      </p:sp>
      <p:sp>
        <p:nvSpPr>
          <p:cNvPr id="47" name="Shape 42"/>
          <p:cNvSpPr/>
          <p:nvPr/>
        </p:nvSpPr>
        <p:spPr>
          <a:xfrm>
            <a:off x="3131939" y="5764262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8" name="Text 43"/>
          <p:cNvSpPr txBox="1"/>
          <p:nvPr/>
        </p:nvSpPr>
        <p:spPr>
          <a:xfrm>
            <a:off x="3196828" y="5806529"/>
            <a:ext cx="16445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</a:t>
            </a:r>
            <a:endParaRPr lang="en-US" sz="630" dirty="0"/>
          </a:p>
        </p:txBody>
      </p:sp>
      <p:sp>
        <p:nvSpPr>
          <p:cNvPr id="49" name="Text 44"/>
          <p:cNvSpPr txBox="1"/>
          <p:nvPr/>
        </p:nvSpPr>
        <p:spPr>
          <a:xfrm>
            <a:off x="3419773" y="5772596"/>
            <a:ext cx="362178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Sirva sobre o iogurte, com amendoim picado por cima.</a:t>
            </a:r>
            <a:endParaRPr lang="en-US" sz="930" dirty="0"/>
          </a:p>
        </p:txBody>
      </p:sp>
      <p:sp>
        <p:nvSpPr>
          <p:cNvPr id="50" name="Shape 45"/>
          <p:cNvSpPr/>
          <p:nvPr/>
        </p:nvSpPr>
        <p:spPr>
          <a:xfrm>
            <a:off x="647998" y="9026723"/>
            <a:ext cx="6263878" cy="873175"/>
          </a:xfrm>
          <a:prstGeom prst="roundRect">
            <a:avLst>
              <a:gd name="adj" fmla="val 12953"/>
            </a:avLst>
          </a:prstGeom>
          <a:solidFill>
            <a:srgbClr val="EEE6D8"/>
          </a:solidFill>
          <a:ln/>
        </p:spPr>
      </p:sp>
      <p:sp>
        <p:nvSpPr>
          <p:cNvPr id="51" name="Shape 46"/>
          <p:cNvSpPr/>
          <p:nvPr/>
        </p:nvSpPr>
        <p:spPr>
          <a:xfrm>
            <a:off x="827931" y="9188648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5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9340" y="9270057"/>
            <a:ext cx="197048" cy="197048"/>
          </a:xfrm>
          <a:prstGeom prst="rect">
            <a:avLst/>
          </a:prstGeom>
        </p:spPr>
      </p:pic>
      <p:sp>
        <p:nvSpPr>
          <p:cNvPr id="53" name="Text 47"/>
          <p:cNvSpPr txBox="1"/>
          <p:nvPr/>
        </p:nvSpPr>
        <p:spPr>
          <a:xfrm>
            <a:off x="1331714" y="9188648"/>
            <a:ext cx="131733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12" kern="0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TOQUE DO MAMEDE</a:t>
            </a:r>
            <a:endParaRPr lang="en-US" sz="700" dirty="0"/>
          </a:p>
        </p:txBody>
      </p:sp>
      <p:sp>
        <p:nvSpPr>
          <p:cNvPr id="54" name="Text 48"/>
          <p:cNvSpPr txBox="1"/>
          <p:nvPr/>
        </p:nvSpPr>
        <p:spPr>
          <a:xfrm>
            <a:off x="1331714" y="9329291"/>
            <a:ext cx="5400229" cy="4138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150" i="1" dirty="0">
                <a:solidFill>
                  <a:srgbClr val="2F2A2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O mel entra só no final: se for desde o início, queima antes de a cenoura ficar macia. O toque ácido no final equilibra o doce e acende todos os sabores.</a:t>
            </a:r>
            <a:endParaRPr lang="en-US" sz="1150" dirty="0"/>
          </a:p>
        </p:txBody>
      </p:sp>
      <p:sp>
        <p:nvSpPr>
          <p:cNvPr id="55" name="Shape 49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56" name="Text 50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57" name="Text 51"/>
          <p:cNvSpPr txBox="1"/>
          <p:nvPr/>
        </p:nvSpPr>
        <p:spPr>
          <a:xfrm>
            <a:off x="6794004" y="10236845"/>
            <a:ext cx="23217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35</a:t>
            </a:r>
            <a:endParaRPr lang="en-US" sz="63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611981"/>
            <a:ext cx="236746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RECEITA 5.2 · O PRATO PRINCIPAL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759023"/>
            <a:ext cx="4031903" cy="11555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500" dirty="0">
                <a:solidFill>
                  <a:srgbClr val="4E5B38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Hambúrguer rústico ou bolinho de cenoura com aveia e especiarias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647998" y="1926134"/>
            <a:ext cx="131633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90"/>
              </a:lnSpc>
              <a:buNone/>
            </a:pPr>
            <a:r>
              <a:rPr lang="en-US" sz="1300" i="1" dirty="0">
                <a:solidFill>
                  <a:srgbClr val="C255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saboroso e nutritivo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7998" y="2338388"/>
            <a:ext cx="287982" cy="287982"/>
          </a:xfrm>
          <a:prstGeom prst="ellipse">
            <a:avLst/>
          </a:prstGeom>
          <a:ln w="9525">
            <a:solidFill>
              <a:srgbClr val="2F2A2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398" y="2401788"/>
            <a:ext cx="161181" cy="16118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25872" y="2320528"/>
            <a:ext cx="198209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740" b="1" spc="44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45 MIN (MAIS 20 MIN DE GELADEIRA)</a:t>
            </a:r>
            <a:endParaRPr lang="en-US" sz="740" dirty="0"/>
          </a:p>
        </p:txBody>
      </p:sp>
      <p:sp>
        <p:nvSpPr>
          <p:cNvPr id="8" name="Text 5"/>
          <p:cNvSpPr txBox="1"/>
          <p:nvPr/>
        </p:nvSpPr>
        <p:spPr>
          <a:xfrm>
            <a:off x="1025872" y="2549128"/>
            <a:ext cx="47580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spc="90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TEMPO</a:t>
            </a:r>
            <a:endParaRPr lang="en-US" sz="640" dirty="0"/>
          </a:p>
        </p:txBody>
      </p:sp>
      <p:sp>
        <p:nvSpPr>
          <p:cNvPr id="9" name="Shape 6"/>
          <p:cNvSpPr/>
          <p:nvPr/>
        </p:nvSpPr>
        <p:spPr>
          <a:xfrm>
            <a:off x="3295948" y="2338388"/>
            <a:ext cx="287982" cy="287982"/>
          </a:xfrm>
          <a:prstGeom prst="ellipse">
            <a:avLst/>
          </a:prstGeom>
          <a:ln w="9525">
            <a:solidFill>
              <a:srgbClr val="2F2A25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9348" y="2401788"/>
            <a:ext cx="161181" cy="161181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673822" y="2320528"/>
            <a:ext cx="1006078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740" b="1" spc="44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 HAMBÚRGUERES</a:t>
            </a:r>
            <a:endParaRPr lang="en-US" sz="740" dirty="0"/>
          </a:p>
        </p:txBody>
      </p:sp>
      <p:sp>
        <p:nvSpPr>
          <p:cNvPr id="12" name="Text 8"/>
          <p:cNvSpPr txBox="1"/>
          <p:nvPr/>
        </p:nvSpPr>
        <p:spPr>
          <a:xfrm>
            <a:off x="3673822" y="2549128"/>
            <a:ext cx="80992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spc="90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RENDIMENTO</a:t>
            </a:r>
            <a:endParaRPr lang="en-US" sz="640" dirty="0"/>
          </a:p>
        </p:txBody>
      </p:sp>
      <p:pic>
        <p:nvPicPr>
          <p:cNvPr id="13" name="Image 2" descr="/home/user/ebook-luq/versoes/VERSAO COM FOTOGRAFIAS/fotos/r5-2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615880" y="252115"/>
            <a:ext cx="2375892" cy="2375892"/>
          </a:xfrm>
          <a:prstGeom prst="ellipse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647998" y="3157091"/>
            <a:ext cx="2159943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647998" y="2951857"/>
            <a:ext cx="105891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60" b="1" spc="12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INGREDIENTES</a:t>
            </a:r>
            <a:endParaRPr lang="en-US" sz="760" dirty="0"/>
          </a:p>
        </p:txBody>
      </p:sp>
      <p:sp>
        <p:nvSpPr>
          <p:cNvPr id="16" name="Shape 11"/>
          <p:cNvSpPr/>
          <p:nvPr/>
        </p:nvSpPr>
        <p:spPr>
          <a:xfrm>
            <a:off x="665998" y="3333391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809998" y="3274516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 cenouras médias raladas (cerca de 300 g)</a:t>
            </a:r>
            <a:endParaRPr lang="en-US" sz="890" dirty="0"/>
          </a:p>
        </p:txBody>
      </p:sp>
      <p:sp>
        <p:nvSpPr>
          <p:cNvPr id="18" name="Shape 13"/>
          <p:cNvSpPr/>
          <p:nvPr/>
        </p:nvSpPr>
        <p:spPr>
          <a:xfrm>
            <a:off x="665998" y="3714689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809923" y="3655814"/>
            <a:ext cx="156119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cebola pequena picada</a:t>
            </a:r>
            <a:endParaRPr lang="en-US" sz="890" dirty="0"/>
          </a:p>
        </p:txBody>
      </p:sp>
      <p:sp>
        <p:nvSpPr>
          <p:cNvPr id="20" name="Shape 15"/>
          <p:cNvSpPr/>
          <p:nvPr/>
        </p:nvSpPr>
        <p:spPr>
          <a:xfrm>
            <a:off x="665998" y="3932276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809923" y="3873401"/>
            <a:ext cx="156769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 dentes de alho picados</a:t>
            </a:r>
            <a:endParaRPr lang="en-US" sz="890" dirty="0"/>
          </a:p>
        </p:txBody>
      </p:sp>
      <p:sp>
        <p:nvSpPr>
          <p:cNvPr id="22" name="Shape 17"/>
          <p:cNvSpPr/>
          <p:nvPr/>
        </p:nvSpPr>
        <p:spPr>
          <a:xfrm>
            <a:off x="665998" y="4149862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809923" y="4090987"/>
            <a:ext cx="206042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colher (chá) de cominho em pó</a:t>
            </a:r>
            <a:endParaRPr lang="en-US" sz="890" dirty="0"/>
          </a:p>
        </p:txBody>
      </p:sp>
      <p:sp>
        <p:nvSpPr>
          <p:cNvPr id="24" name="Shape 19"/>
          <p:cNvSpPr/>
          <p:nvPr/>
        </p:nvSpPr>
        <p:spPr>
          <a:xfrm>
            <a:off x="665998" y="4367449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5" name="Text 20"/>
          <p:cNvSpPr txBox="1"/>
          <p:nvPr/>
        </p:nvSpPr>
        <p:spPr>
          <a:xfrm>
            <a:off x="809998" y="4308574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½ colher (chá) de páprica defumada</a:t>
            </a:r>
            <a:endParaRPr lang="en-US" sz="890" dirty="0"/>
          </a:p>
        </p:txBody>
      </p:sp>
      <p:sp>
        <p:nvSpPr>
          <p:cNvPr id="26" name="Shape 21"/>
          <p:cNvSpPr/>
          <p:nvPr/>
        </p:nvSpPr>
        <p:spPr>
          <a:xfrm>
            <a:off x="665998" y="4748747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7" name="Text 22"/>
          <p:cNvSpPr txBox="1"/>
          <p:nvPr/>
        </p:nvSpPr>
        <p:spPr>
          <a:xfrm>
            <a:off x="809923" y="4689872"/>
            <a:ext cx="204175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xícara (90 g) de aveia em flocos</a:t>
            </a:r>
            <a:endParaRPr lang="en-US" sz="890" dirty="0"/>
          </a:p>
        </p:txBody>
      </p:sp>
      <p:sp>
        <p:nvSpPr>
          <p:cNvPr id="28" name="Shape 23"/>
          <p:cNvSpPr/>
          <p:nvPr/>
        </p:nvSpPr>
        <p:spPr>
          <a:xfrm>
            <a:off x="665998" y="4966334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9" name="Text 24"/>
          <p:cNvSpPr txBox="1"/>
          <p:nvPr/>
        </p:nvSpPr>
        <p:spPr>
          <a:xfrm>
            <a:off x="809923" y="4907459"/>
            <a:ext cx="38427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ovo</a:t>
            </a:r>
            <a:endParaRPr lang="en-US" sz="890" dirty="0"/>
          </a:p>
        </p:txBody>
      </p:sp>
      <p:sp>
        <p:nvSpPr>
          <p:cNvPr id="30" name="Shape 25"/>
          <p:cNvSpPr/>
          <p:nvPr/>
        </p:nvSpPr>
        <p:spPr>
          <a:xfrm>
            <a:off x="665998" y="5183920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1" name="Text 26"/>
          <p:cNvSpPr txBox="1"/>
          <p:nvPr/>
        </p:nvSpPr>
        <p:spPr>
          <a:xfrm>
            <a:off x="809923" y="5125045"/>
            <a:ext cx="198541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 g de queijo ralado (opcional)</a:t>
            </a:r>
            <a:endParaRPr lang="en-US" sz="890" dirty="0"/>
          </a:p>
        </p:txBody>
      </p:sp>
      <p:sp>
        <p:nvSpPr>
          <p:cNvPr id="32" name="Shape 27"/>
          <p:cNvSpPr/>
          <p:nvPr/>
        </p:nvSpPr>
        <p:spPr>
          <a:xfrm>
            <a:off x="665998" y="5401507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3" name="Text 28"/>
          <p:cNvSpPr txBox="1"/>
          <p:nvPr/>
        </p:nvSpPr>
        <p:spPr>
          <a:xfrm>
            <a:off x="809998" y="5342632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 colheres (sopa) de cheiro-verde picado</a:t>
            </a:r>
            <a:endParaRPr lang="en-US" sz="890" dirty="0"/>
          </a:p>
        </p:txBody>
      </p:sp>
      <p:sp>
        <p:nvSpPr>
          <p:cNvPr id="34" name="Shape 29"/>
          <p:cNvSpPr/>
          <p:nvPr/>
        </p:nvSpPr>
        <p:spPr>
          <a:xfrm>
            <a:off x="665998" y="5782805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5" name="Text 30"/>
          <p:cNvSpPr txBox="1"/>
          <p:nvPr/>
        </p:nvSpPr>
        <p:spPr>
          <a:xfrm>
            <a:off x="809923" y="5723930"/>
            <a:ext cx="130166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Sal, pimenta e azeite</a:t>
            </a:r>
            <a:endParaRPr lang="en-US" sz="890" dirty="0"/>
          </a:p>
        </p:txBody>
      </p:sp>
      <p:sp>
        <p:nvSpPr>
          <p:cNvPr id="36" name="Shape 31"/>
          <p:cNvSpPr/>
          <p:nvPr/>
        </p:nvSpPr>
        <p:spPr>
          <a:xfrm>
            <a:off x="3131939" y="3157091"/>
            <a:ext cx="3779937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7" name="Text 32"/>
          <p:cNvSpPr txBox="1"/>
          <p:nvPr/>
        </p:nvSpPr>
        <p:spPr>
          <a:xfrm>
            <a:off x="3131939" y="2951857"/>
            <a:ext cx="141434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60" b="1" spc="12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MODO DE PREPARO</a:t>
            </a:r>
            <a:endParaRPr lang="en-US" sz="760" dirty="0"/>
          </a:p>
        </p:txBody>
      </p:sp>
      <p:sp>
        <p:nvSpPr>
          <p:cNvPr id="38" name="Shape 33"/>
          <p:cNvSpPr/>
          <p:nvPr/>
        </p:nvSpPr>
        <p:spPr>
          <a:xfrm>
            <a:off x="3131939" y="3275707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9" name="Text 34"/>
          <p:cNvSpPr txBox="1"/>
          <p:nvPr/>
        </p:nvSpPr>
        <p:spPr>
          <a:xfrm>
            <a:off x="3206651" y="3317974"/>
            <a:ext cx="14481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630" dirty="0"/>
          </a:p>
        </p:txBody>
      </p:sp>
      <p:sp>
        <p:nvSpPr>
          <p:cNvPr id="40" name="Text 35"/>
          <p:cNvSpPr txBox="1"/>
          <p:nvPr/>
        </p:nvSpPr>
        <p:spPr>
          <a:xfrm>
            <a:off x="3419773" y="3284041"/>
            <a:ext cx="3492103" cy="7111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Numa frigideira com um fio de azeite, refogue a cebola e o alho. Junte a cenoura ralada, o cominho e a páprica e refogue por cerca de 8 minutos, até a cenoura murchar e perder a água.</a:t>
            </a:r>
            <a:endParaRPr lang="en-US" sz="930" dirty="0"/>
          </a:p>
        </p:txBody>
      </p:sp>
      <p:sp>
        <p:nvSpPr>
          <p:cNvPr id="41" name="Shape 36"/>
          <p:cNvSpPr/>
          <p:nvPr/>
        </p:nvSpPr>
        <p:spPr>
          <a:xfrm>
            <a:off x="3131939" y="4101405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2" name="Text 37"/>
          <p:cNvSpPr txBox="1"/>
          <p:nvPr/>
        </p:nvSpPr>
        <p:spPr>
          <a:xfrm>
            <a:off x="3198614" y="4143673"/>
            <a:ext cx="1607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630" dirty="0"/>
          </a:p>
        </p:txBody>
      </p:sp>
      <p:sp>
        <p:nvSpPr>
          <p:cNvPr id="43" name="Text 38"/>
          <p:cNvSpPr txBox="1"/>
          <p:nvPr/>
        </p:nvSpPr>
        <p:spPr>
          <a:xfrm>
            <a:off x="3419773" y="4109740"/>
            <a:ext cx="277368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Transfira para uma tigela e deixe amornar.</a:t>
            </a:r>
            <a:endParaRPr lang="en-US" sz="930" dirty="0"/>
          </a:p>
        </p:txBody>
      </p:sp>
      <p:sp>
        <p:nvSpPr>
          <p:cNvPr id="44" name="Shape 39"/>
          <p:cNvSpPr/>
          <p:nvPr/>
        </p:nvSpPr>
        <p:spPr>
          <a:xfrm>
            <a:off x="3131939" y="4385518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5" name="Text 40"/>
          <p:cNvSpPr txBox="1"/>
          <p:nvPr/>
        </p:nvSpPr>
        <p:spPr>
          <a:xfrm>
            <a:off x="3198614" y="4427786"/>
            <a:ext cx="1607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630" dirty="0"/>
          </a:p>
        </p:txBody>
      </p:sp>
      <p:sp>
        <p:nvSpPr>
          <p:cNvPr id="46" name="Text 41"/>
          <p:cNvSpPr txBox="1"/>
          <p:nvPr/>
        </p:nvSpPr>
        <p:spPr>
          <a:xfrm>
            <a:off x="3419773" y="4393853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Junte a aveia, o ovo, o queijo e o cheiro-verde. Tempere com sal e pimenta e misture bem.</a:t>
            </a:r>
            <a:endParaRPr lang="en-US" sz="930" dirty="0"/>
          </a:p>
        </p:txBody>
      </p:sp>
      <p:sp>
        <p:nvSpPr>
          <p:cNvPr id="47" name="Shape 42"/>
          <p:cNvSpPr/>
          <p:nvPr/>
        </p:nvSpPr>
        <p:spPr>
          <a:xfrm>
            <a:off x="3131939" y="4845100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8" name="Text 43"/>
          <p:cNvSpPr txBox="1"/>
          <p:nvPr/>
        </p:nvSpPr>
        <p:spPr>
          <a:xfrm>
            <a:off x="3194745" y="4887367"/>
            <a:ext cx="16847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630" dirty="0"/>
          </a:p>
        </p:txBody>
      </p:sp>
      <p:sp>
        <p:nvSpPr>
          <p:cNvPr id="49" name="Text 44"/>
          <p:cNvSpPr txBox="1"/>
          <p:nvPr/>
        </p:nvSpPr>
        <p:spPr>
          <a:xfrm>
            <a:off x="3419773" y="4853434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Deixe a massa descansar por 15 minutos, para a aveia hidratar e dar liga.</a:t>
            </a:r>
            <a:endParaRPr lang="en-US" sz="930" dirty="0"/>
          </a:p>
        </p:txBody>
      </p:sp>
      <p:sp>
        <p:nvSpPr>
          <p:cNvPr id="50" name="Shape 45"/>
          <p:cNvSpPr/>
          <p:nvPr/>
        </p:nvSpPr>
        <p:spPr>
          <a:xfrm>
            <a:off x="3131939" y="5304681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51" name="Text 46"/>
          <p:cNvSpPr txBox="1"/>
          <p:nvPr/>
        </p:nvSpPr>
        <p:spPr>
          <a:xfrm>
            <a:off x="3198465" y="5346948"/>
            <a:ext cx="16103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630" dirty="0"/>
          </a:p>
        </p:txBody>
      </p:sp>
      <p:sp>
        <p:nvSpPr>
          <p:cNvPr id="52" name="Text 47"/>
          <p:cNvSpPr txBox="1"/>
          <p:nvPr/>
        </p:nvSpPr>
        <p:spPr>
          <a:xfrm>
            <a:off x="3419773" y="5313015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Modele 6 hambúrgueres com as mãos úmidas e leve à geladeira por 20 minutos.</a:t>
            </a:r>
            <a:endParaRPr lang="en-US" sz="930" dirty="0"/>
          </a:p>
        </p:txBody>
      </p:sp>
      <p:sp>
        <p:nvSpPr>
          <p:cNvPr id="53" name="Shape 48"/>
          <p:cNvSpPr/>
          <p:nvPr/>
        </p:nvSpPr>
        <p:spPr>
          <a:xfrm>
            <a:off x="3131939" y="5764262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54" name="Text 49"/>
          <p:cNvSpPr txBox="1"/>
          <p:nvPr/>
        </p:nvSpPr>
        <p:spPr>
          <a:xfrm>
            <a:off x="3196828" y="5806529"/>
            <a:ext cx="16445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</a:t>
            </a:r>
            <a:endParaRPr lang="en-US" sz="630" dirty="0"/>
          </a:p>
        </p:txBody>
      </p:sp>
      <p:sp>
        <p:nvSpPr>
          <p:cNvPr id="55" name="Text 50"/>
          <p:cNvSpPr txBox="1"/>
          <p:nvPr/>
        </p:nvSpPr>
        <p:spPr>
          <a:xfrm>
            <a:off x="3419773" y="5772596"/>
            <a:ext cx="3492103" cy="528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Doure numa frigideira com azeite, em fogo médio, por 4 minutos de cada lado, virando com cuidado. Ou asse a 200 °C por 20 minutos, virando na metade.</a:t>
            </a:r>
            <a:endParaRPr lang="en-US" sz="930" dirty="0"/>
          </a:p>
        </p:txBody>
      </p:sp>
      <p:sp>
        <p:nvSpPr>
          <p:cNvPr id="56" name="Shape 51"/>
          <p:cNvSpPr/>
          <p:nvPr/>
        </p:nvSpPr>
        <p:spPr>
          <a:xfrm>
            <a:off x="647998" y="9026723"/>
            <a:ext cx="6263878" cy="873175"/>
          </a:xfrm>
          <a:prstGeom prst="roundRect">
            <a:avLst>
              <a:gd name="adj" fmla="val 12953"/>
            </a:avLst>
          </a:prstGeom>
          <a:solidFill>
            <a:srgbClr val="EEE6D8"/>
          </a:solidFill>
          <a:ln/>
        </p:spPr>
      </p:sp>
      <p:sp>
        <p:nvSpPr>
          <p:cNvPr id="57" name="Shape 52"/>
          <p:cNvSpPr/>
          <p:nvPr/>
        </p:nvSpPr>
        <p:spPr>
          <a:xfrm>
            <a:off x="827931" y="9188648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5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9340" y="9270057"/>
            <a:ext cx="197048" cy="197048"/>
          </a:xfrm>
          <a:prstGeom prst="rect">
            <a:avLst/>
          </a:prstGeom>
        </p:spPr>
      </p:pic>
      <p:sp>
        <p:nvSpPr>
          <p:cNvPr id="59" name="Text 53"/>
          <p:cNvSpPr txBox="1"/>
          <p:nvPr/>
        </p:nvSpPr>
        <p:spPr>
          <a:xfrm>
            <a:off x="1331714" y="9188648"/>
            <a:ext cx="131733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12" kern="0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TOQUE DO MAMEDE</a:t>
            </a:r>
            <a:endParaRPr lang="en-US" sz="700" dirty="0"/>
          </a:p>
        </p:txBody>
      </p:sp>
      <p:sp>
        <p:nvSpPr>
          <p:cNvPr id="60" name="Text 54"/>
          <p:cNvSpPr txBox="1"/>
          <p:nvPr/>
        </p:nvSpPr>
        <p:spPr>
          <a:xfrm>
            <a:off x="1331714" y="9329291"/>
            <a:ext cx="5400229" cy="4138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150" i="1" dirty="0">
                <a:solidFill>
                  <a:srgbClr val="2F2A2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Refogar a cenoura antes é o passo que separa um hambúrguer firme e saboroso de um que desmancha na frigideira. Sirva no pão com o pesto de rama (página “Aproveita Isso Também”).</a:t>
            </a:r>
            <a:endParaRPr lang="en-US" sz="1150" dirty="0"/>
          </a:p>
        </p:txBody>
      </p:sp>
      <p:sp>
        <p:nvSpPr>
          <p:cNvPr id="61" name="Shape 55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62" name="Text 56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63" name="Text 57"/>
          <p:cNvSpPr txBox="1"/>
          <p:nvPr/>
        </p:nvSpPr>
        <p:spPr>
          <a:xfrm>
            <a:off x="6789688" y="10236845"/>
            <a:ext cx="23648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36</a:t>
            </a:r>
            <a:endParaRPr lang="en-US" sz="63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611981"/>
            <a:ext cx="290969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RECEITA 5.3 · A SOBREMESA DE RESPEITO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759023"/>
            <a:ext cx="4031903" cy="11555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500" dirty="0">
                <a:solidFill>
                  <a:srgbClr val="4E5B38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Bolo de cenoura da vovó com técnica de chef e calda de chocolate espelhada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647998" y="1926134"/>
            <a:ext cx="19237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90"/>
              </a:lnSpc>
              <a:buNone/>
            </a:pPr>
            <a:r>
              <a:rPr lang="en-US" sz="1300" i="1" dirty="0">
                <a:solidFill>
                  <a:srgbClr val="C255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massa fofíssima que não sola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7998" y="2320528"/>
            <a:ext cx="287982" cy="287982"/>
          </a:xfrm>
          <a:prstGeom prst="ellipse">
            <a:avLst/>
          </a:prstGeom>
          <a:ln w="9525">
            <a:solidFill>
              <a:srgbClr val="2F2A2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398" y="2383929"/>
            <a:ext cx="161181" cy="16118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25872" y="2340025"/>
            <a:ext cx="34781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740" b="1" spc="44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1H10</a:t>
            </a:r>
            <a:endParaRPr lang="en-US" sz="740" dirty="0"/>
          </a:p>
        </p:txBody>
      </p:sp>
      <p:sp>
        <p:nvSpPr>
          <p:cNvPr id="8" name="Text 5"/>
          <p:cNvSpPr txBox="1"/>
          <p:nvPr/>
        </p:nvSpPr>
        <p:spPr>
          <a:xfrm>
            <a:off x="1025872" y="2493615"/>
            <a:ext cx="47580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spc="90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TEMPO</a:t>
            </a:r>
            <a:endParaRPr lang="en-US" sz="640" dirty="0"/>
          </a:p>
        </p:txBody>
      </p:sp>
      <p:sp>
        <p:nvSpPr>
          <p:cNvPr id="9" name="Shape 6"/>
          <p:cNvSpPr/>
          <p:nvPr/>
        </p:nvSpPr>
        <p:spPr>
          <a:xfrm>
            <a:off x="1675358" y="2320528"/>
            <a:ext cx="287982" cy="287982"/>
          </a:xfrm>
          <a:prstGeom prst="ellipse">
            <a:avLst/>
          </a:prstGeom>
          <a:ln w="9525">
            <a:solidFill>
              <a:srgbClr val="2F2A25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8759" y="2383929"/>
            <a:ext cx="161181" cy="161181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053233" y="2340025"/>
            <a:ext cx="166804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740" b="1" spc="44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ASSADEIRA DE 20 × 30 CM</a:t>
            </a:r>
            <a:endParaRPr lang="en-US" sz="740" dirty="0"/>
          </a:p>
        </p:txBody>
      </p:sp>
      <p:sp>
        <p:nvSpPr>
          <p:cNvPr id="12" name="Text 8"/>
          <p:cNvSpPr txBox="1"/>
          <p:nvPr/>
        </p:nvSpPr>
        <p:spPr>
          <a:xfrm>
            <a:off x="2053233" y="2493615"/>
            <a:ext cx="80992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spc="90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RENDIMENTO</a:t>
            </a:r>
            <a:endParaRPr lang="en-US" sz="640" dirty="0"/>
          </a:p>
        </p:txBody>
      </p:sp>
      <p:pic>
        <p:nvPicPr>
          <p:cNvPr id="13" name="Image 2" descr="/home/user/ebook-luq/versoes/VERSAO COM FOTOGRAFIAS/fotos/r5-3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615880" y="252115"/>
            <a:ext cx="2375892" cy="2375892"/>
          </a:xfrm>
          <a:prstGeom prst="ellipse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647998" y="3157091"/>
            <a:ext cx="2159943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647998" y="2951857"/>
            <a:ext cx="105891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60" b="1" spc="12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INGREDIENTES</a:t>
            </a:r>
            <a:endParaRPr lang="en-US" sz="760" dirty="0"/>
          </a:p>
        </p:txBody>
      </p:sp>
      <p:sp>
        <p:nvSpPr>
          <p:cNvPr id="16" name="Text 11"/>
          <p:cNvSpPr txBox="1"/>
          <p:nvPr/>
        </p:nvSpPr>
        <p:spPr>
          <a:xfrm>
            <a:off x="647998" y="3264991"/>
            <a:ext cx="49232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30"/>
              </a:lnSpc>
              <a:buNone/>
            </a:pPr>
            <a:r>
              <a:rPr lang="en-US" sz="660" b="1" spc="106" kern="0" dirty="0">
                <a:solidFill>
                  <a:srgbClr val="C255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MASSA</a:t>
            </a:r>
            <a:endParaRPr lang="en-US" sz="660" dirty="0"/>
          </a:p>
        </p:txBody>
      </p:sp>
      <p:sp>
        <p:nvSpPr>
          <p:cNvPr id="17" name="Shape 12"/>
          <p:cNvSpPr/>
          <p:nvPr/>
        </p:nvSpPr>
        <p:spPr>
          <a:xfrm>
            <a:off x="665998" y="3492042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8" name="Text 13"/>
          <p:cNvSpPr txBox="1"/>
          <p:nvPr/>
        </p:nvSpPr>
        <p:spPr>
          <a:xfrm>
            <a:off x="809998" y="3433167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 cenouras médias (cerca de 300 g), em rodelas</a:t>
            </a:r>
            <a:endParaRPr lang="en-US" sz="890" dirty="0"/>
          </a:p>
        </p:txBody>
      </p:sp>
      <p:sp>
        <p:nvSpPr>
          <p:cNvPr id="19" name="Shape 14"/>
          <p:cNvSpPr/>
          <p:nvPr/>
        </p:nvSpPr>
        <p:spPr>
          <a:xfrm>
            <a:off x="665998" y="3873340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0" name="Text 15"/>
          <p:cNvSpPr txBox="1"/>
          <p:nvPr/>
        </p:nvSpPr>
        <p:spPr>
          <a:xfrm>
            <a:off x="809923" y="3814465"/>
            <a:ext cx="47327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 ovos</a:t>
            </a:r>
            <a:endParaRPr lang="en-US" sz="890" dirty="0"/>
          </a:p>
        </p:txBody>
      </p:sp>
      <p:sp>
        <p:nvSpPr>
          <p:cNvPr id="21" name="Shape 16"/>
          <p:cNvSpPr/>
          <p:nvPr/>
        </p:nvSpPr>
        <p:spPr>
          <a:xfrm>
            <a:off x="665998" y="4090927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2" name="Text 17"/>
          <p:cNvSpPr txBox="1"/>
          <p:nvPr/>
        </p:nvSpPr>
        <p:spPr>
          <a:xfrm>
            <a:off x="809923" y="4032052"/>
            <a:ext cx="94952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240 ml de óleo</a:t>
            </a:r>
            <a:endParaRPr lang="en-US" sz="890" dirty="0"/>
          </a:p>
        </p:txBody>
      </p:sp>
      <p:sp>
        <p:nvSpPr>
          <p:cNvPr id="23" name="Shape 18"/>
          <p:cNvSpPr/>
          <p:nvPr/>
        </p:nvSpPr>
        <p:spPr>
          <a:xfrm>
            <a:off x="665998" y="4308513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4" name="Text 19"/>
          <p:cNvSpPr txBox="1"/>
          <p:nvPr/>
        </p:nvSpPr>
        <p:spPr>
          <a:xfrm>
            <a:off x="809923" y="4249638"/>
            <a:ext cx="102036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300 g de açúcar</a:t>
            </a:r>
            <a:endParaRPr lang="en-US" sz="890" dirty="0"/>
          </a:p>
        </p:txBody>
      </p:sp>
      <p:sp>
        <p:nvSpPr>
          <p:cNvPr id="25" name="Shape 20"/>
          <p:cNvSpPr/>
          <p:nvPr/>
        </p:nvSpPr>
        <p:spPr>
          <a:xfrm>
            <a:off x="665998" y="4526100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6" name="Text 21"/>
          <p:cNvSpPr txBox="1"/>
          <p:nvPr/>
        </p:nvSpPr>
        <p:spPr>
          <a:xfrm>
            <a:off x="809998" y="4467225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300 g de farinha de trigo, peneirada</a:t>
            </a:r>
            <a:endParaRPr lang="en-US" sz="890" dirty="0"/>
          </a:p>
        </p:txBody>
      </p:sp>
      <p:sp>
        <p:nvSpPr>
          <p:cNvPr id="27" name="Shape 22"/>
          <p:cNvSpPr/>
          <p:nvPr/>
        </p:nvSpPr>
        <p:spPr>
          <a:xfrm>
            <a:off x="665998" y="4907398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8" name="Text 23"/>
          <p:cNvSpPr txBox="1"/>
          <p:nvPr/>
        </p:nvSpPr>
        <p:spPr>
          <a:xfrm>
            <a:off x="809998" y="4848523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colher (sopa) de fermento químico em pó</a:t>
            </a:r>
            <a:endParaRPr lang="en-US" sz="890" dirty="0"/>
          </a:p>
        </p:txBody>
      </p:sp>
      <p:sp>
        <p:nvSpPr>
          <p:cNvPr id="29" name="Shape 24"/>
          <p:cNvSpPr/>
          <p:nvPr/>
        </p:nvSpPr>
        <p:spPr>
          <a:xfrm>
            <a:off x="665998" y="5288695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0" name="Text 25"/>
          <p:cNvSpPr txBox="1"/>
          <p:nvPr/>
        </p:nvSpPr>
        <p:spPr>
          <a:xfrm>
            <a:off x="809923" y="5229820"/>
            <a:ext cx="90041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pitada de sal</a:t>
            </a:r>
            <a:endParaRPr lang="en-US" sz="890" dirty="0"/>
          </a:p>
        </p:txBody>
      </p:sp>
      <p:sp>
        <p:nvSpPr>
          <p:cNvPr id="31" name="Text 26"/>
          <p:cNvSpPr txBox="1"/>
          <p:nvPr/>
        </p:nvSpPr>
        <p:spPr>
          <a:xfrm>
            <a:off x="647998" y="5491907"/>
            <a:ext cx="119198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30"/>
              </a:lnSpc>
              <a:buNone/>
            </a:pPr>
            <a:r>
              <a:rPr lang="en-US" sz="660" b="1" spc="106" kern="0" dirty="0">
                <a:solidFill>
                  <a:srgbClr val="C255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CALDA ESPELHADA</a:t>
            </a:r>
            <a:endParaRPr lang="en-US" sz="660" dirty="0"/>
          </a:p>
        </p:txBody>
      </p:sp>
      <p:sp>
        <p:nvSpPr>
          <p:cNvPr id="32" name="Shape 27"/>
          <p:cNvSpPr/>
          <p:nvPr/>
        </p:nvSpPr>
        <p:spPr>
          <a:xfrm>
            <a:off x="665998" y="5718957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3" name="Text 28"/>
          <p:cNvSpPr txBox="1"/>
          <p:nvPr/>
        </p:nvSpPr>
        <p:spPr>
          <a:xfrm>
            <a:off x="809998" y="5660082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150 g de chocolate meio amargo picado</a:t>
            </a:r>
            <a:endParaRPr lang="en-US" sz="890" dirty="0"/>
          </a:p>
        </p:txBody>
      </p:sp>
      <p:sp>
        <p:nvSpPr>
          <p:cNvPr id="34" name="Shape 29"/>
          <p:cNvSpPr/>
          <p:nvPr/>
        </p:nvSpPr>
        <p:spPr>
          <a:xfrm>
            <a:off x="665998" y="6100255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5" name="Text 30"/>
          <p:cNvSpPr txBox="1"/>
          <p:nvPr/>
        </p:nvSpPr>
        <p:spPr>
          <a:xfrm>
            <a:off x="809923" y="6041380"/>
            <a:ext cx="221461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caixinha (200 g) de creme de leite</a:t>
            </a:r>
            <a:endParaRPr lang="en-US" sz="890" dirty="0"/>
          </a:p>
        </p:txBody>
      </p:sp>
      <p:sp>
        <p:nvSpPr>
          <p:cNvPr id="36" name="Shape 31"/>
          <p:cNvSpPr/>
          <p:nvPr/>
        </p:nvSpPr>
        <p:spPr>
          <a:xfrm>
            <a:off x="665998" y="6317842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7" name="Text 32"/>
          <p:cNvSpPr txBox="1"/>
          <p:nvPr/>
        </p:nvSpPr>
        <p:spPr>
          <a:xfrm>
            <a:off x="809923" y="6258967"/>
            <a:ext cx="136567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colher (sopa) de mel</a:t>
            </a:r>
            <a:endParaRPr lang="en-US" sz="890" dirty="0"/>
          </a:p>
        </p:txBody>
      </p:sp>
      <p:sp>
        <p:nvSpPr>
          <p:cNvPr id="38" name="Shape 33"/>
          <p:cNvSpPr/>
          <p:nvPr/>
        </p:nvSpPr>
        <p:spPr>
          <a:xfrm>
            <a:off x="665998" y="6535428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9" name="Text 34"/>
          <p:cNvSpPr txBox="1"/>
          <p:nvPr/>
        </p:nvSpPr>
        <p:spPr>
          <a:xfrm>
            <a:off x="809923" y="6476554"/>
            <a:ext cx="17360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colher (sopa) de manteiga</a:t>
            </a:r>
            <a:endParaRPr lang="en-US" sz="890" dirty="0"/>
          </a:p>
        </p:txBody>
      </p:sp>
      <p:sp>
        <p:nvSpPr>
          <p:cNvPr id="40" name="Shape 35"/>
          <p:cNvSpPr/>
          <p:nvPr/>
        </p:nvSpPr>
        <p:spPr>
          <a:xfrm>
            <a:off x="3131939" y="3157091"/>
            <a:ext cx="3779937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41" name="Text 36"/>
          <p:cNvSpPr txBox="1"/>
          <p:nvPr/>
        </p:nvSpPr>
        <p:spPr>
          <a:xfrm>
            <a:off x="3131939" y="2951857"/>
            <a:ext cx="141434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60" b="1" spc="12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MODO DE PREPARO</a:t>
            </a:r>
            <a:endParaRPr lang="en-US" sz="760" dirty="0"/>
          </a:p>
        </p:txBody>
      </p:sp>
      <p:sp>
        <p:nvSpPr>
          <p:cNvPr id="42" name="Shape 37"/>
          <p:cNvSpPr/>
          <p:nvPr/>
        </p:nvSpPr>
        <p:spPr>
          <a:xfrm>
            <a:off x="3131939" y="3275707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3" name="Text 38"/>
          <p:cNvSpPr txBox="1"/>
          <p:nvPr/>
        </p:nvSpPr>
        <p:spPr>
          <a:xfrm>
            <a:off x="3206651" y="3317974"/>
            <a:ext cx="14481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630" dirty="0"/>
          </a:p>
        </p:txBody>
      </p:sp>
      <p:sp>
        <p:nvSpPr>
          <p:cNvPr id="44" name="Text 39"/>
          <p:cNvSpPr txBox="1"/>
          <p:nvPr/>
        </p:nvSpPr>
        <p:spPr>
          <a:xfrm>
            <a:off x="3419773" y="3284041"/>
            <a:ext cx="379964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Preaqueça o forno a 180 °C e unte e enfarinhe a assadeira.</a:t>
            </a:r>
            <a:endParaRPr lang="en-US" sz="930" dirty="0"/>
          </a:p>
        </p:txBody>
      </p:sp>
      <p:sp>
        <p:nvSpPr>
          <p:cNvPr id="45" name="Shape 40"/>
          <p:cNvSpPr/>
          <p:nvPr/>
        </p:nvSpPr>
        <p:spPr>
          <a:xfrm>
            <a:off x="3131939" y="3559820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6" name="Text 41"/>
          <p:cNvSpPr txBox="1"/>
          <p:nvPr/>
        </p:nvSpPr>
        <p:spPr>
          <a:xfrm>
            <a:off x="3198614" y="3602087"/>
            <a:ext cx="1607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630" dirty="0"/>
          </a:p>
        </p:txBody>
      </p:sp>
      <p:sp>
        <p:nvSpPr>
          <p:cNvPr id="47" name="Text 42"/>
          <p:cNvSpPr txBox="1"/>
          <p:nvPr/>
        </p:nvSpPr>
        <p:spPr>
          <a:xfrm>
            <a:off x="3419773" y="3568154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 liquidificador, bata a cenoura, os ovos, o óleo, o açúcar e o sal por 3 a 4 minutos, até ficar um creme bem liso e claro.</a:t>
            </a:r>
            <a:endParaRPr lang="en-US" sz="930" dirty="0"/>
          </a:p>
        </p:txBody>
      </p:sp>
      <p:sp>
        <p:nvSpPr>
          <p:cNvPr id="48" name="Shape 43"/>
          <p:cNvSpPr/>
          <p:nvPr/>
        </p:nvSpPr>
        <p:spPr>
          <a:xfrm>
            <a:off x="3131939" y="4019401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9" name="Text 44"/>
          <p:cNvSpPr txBox="1"/>
          <p:nvPr/>
        </p:nvSpPr>
        <p:spPr>
          <a:xfrm>
            <a:off x="3198614" y="4061668"/>
            <a:ext cx="1607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630" dirty="0"/>
          </a:p>
        </p:txBody>
      </p:sp>
      <p:sp>
        <p:nvSpPr>
          <p:cNvPr id="50" name="Text 45"/>
          <p:cNvSpPr txBox="1"/>
          <p:nvPr/>
        </p:nvSpPr>
        <p:spPr>
          <a:xfrm>
            <a:off x="3419773" y="4027736"/>
            <a:ext cx="3492103" cy="528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Despeje numa tigela. Junte a farinha peneirada em três partes, misturando com um fouet ou espátula </a:t>
            </a:r>
            <a:pPr algn="l" indent="0" marL="0">
              <a:lnSpc>
                <a:spcPts val="1440"/>
              </a:lnSpc>
              <a:buNone/>
            </a:pPr>
            <a:r>
              <a:rPr lang="en-US" sz="93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só até sumir</a:t>
            </a:r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. Por último, incorpore o fermento delicadamente.</a:t>
            </a:r>
            <a:endParaRPr lang="en-US" sz="930" dirty="0"/>
          </a:p>
        </p:txBody>
      </p:sp>
      <p:sp>
        <p:nvSpPr>
          <p:cNvPr id="51" name="Shape 46"/>
          <p:cNvSpPr/>
          <p:nvPr/>
        </p:nvSpPr>
        <p:spPr>
          <a:xfrm>
            <a:off x="3131939" y="4662041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52" name="Text 47"/>
          <p:cNvSpPr txBox="1"/>
          <p:nvPr/>
        </p:nvSpPr>
        <p:spPr>
          <a:xfrm>
            <a:off x="3194745" y="4704308"/>
            <a:ext cx="16847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630" dirty="0"/>
          </a:p>
        </p:txBody>
      </p:sp>
      <p:sp>
        <p:nvSpPr>
          <p:cNvPr id="53" name="Text 48"/>
          <p:cNvSpPr txBox="1"/>
          <p:nvPr/>
        </p:nvSpPr>
        <p:spPr>
          <a:xfrm>
            <a:off x="3419773" y="4670375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Asse por 35 a 40 minutos, até o palito sair limpo. Não abra o forno nos primeiros 25 minutos.</a:t>
            </a:r>
            <a:endParaRPr lang="en-US" sz="930" dirty="0"/>
          </a:p>
        </p:txBody>
      </p:sp>
      <p:sp>
        <p:nvSpPr>
          <p:cNvPr id="54" name="Shape 49"/>
          <p:cNvSpPr/>
          <p:nvPr/>
        </p:nvSpPr>
        <p:spPr>
          <a:xfrm>
            <a:off x="3131939" y="5121622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55" name="Text 50"/>
          <p:cNvSpPr txBox="1"/>
          <p:nvPr/>
        </p:nvSpPr>
        <p:spPr>
          <a:xfrm>
            <a:off x="3198465" y="5163889"/>
            <a:ext cx="16103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630" dirty="0"/>
          </a:p>
        </p:txBody>
      </p:sp>
      <p:sp>
        <p:nvSpPr>
          <p:cNvPr id="56" name="Text 51"/>
          <p:cNvSpPr txBox="1"/>
          <p:nvPr/>
        </p:nvSpPr>
        <p:spPr>
          <a:xfrm>
            <a:off x="3419773" y="5129957"/>
            <a:ext cx="3492103" cy="528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Calda:</a:t>
            </a:r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aqueça o creme de leite até quase ferver e despeje sobre o chocolate picado. Espere 1 minuto e mexa do centro para fora até ficar liso. Junte o mel e a manteiga.</a:t>
            </a:r>
            <a:endParaRPr lang="en-US" sz="930" dirty="0"/>
          </a:p>
        </p:txBody>
      </p:sp>
      <p:sp>
        <p:nvSpPr>
          <p:cNvPr id="57" name="Shape 52"/>
          <p:cNvSpPr/>
          <p:nvPr/>
        </p:nvSpPr>
        <p:spPr>
          <a:xfrm>
            <a:off x="3131939" y="5764262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58" name="Text 53"/>
          <p:cNvSpPr txBox="1"/>
          <p:nvPr/>
        </p:nvSpPr>
        <p:spPr>
          <a:xfrm>
            <a:off x="3196828" y="5806529"/>
            <a:ext cx="16445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</a:t>
            </a:r>
            <a:endParaRPr lang="en-US" sz="630" dirty="0"/>
          </a:p>
        </p:txBody>
      </p:sp>
      <p:sp>
        <p:nvSpPr>
          <p:cNvPr id="59" name="Text 54"/>
          <p:cNvSpPr txBox="1"/>
          <p:nvPr/>
        </p:nvSpPr>
        <p:spPr>
          <a:xfrm>
            <a:off x="3419773" y="5772596"/>
            <a:ext cx="3492103" cy="528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 o bolo morno, despeje a calda de uma vez no centro e deixe que ela escorra sozinha, espalhando o mínimo possível, para manter o brilho.</a:t>
            </a:r>
            <a:endParaRPr lang="en-US" sz="930" dirty="0"/>
          </a:p>
        </p:txBody>
      </p:sp>
      <p:sp>
        <p:nvSpPr>
          <p:cNvPr id="60" name="Shape 55"/>
          <p:cNvSpPr/>
          <p:nvPr/>
        </p:nvSpPr>
        <p:spPr>
          <a:xfrm>
            <a:off x="647998" y="8618041"/>
            <a:ext cx="6263878" cy="1281857"/>
          </a:xfrm>
          <a:prstGeom prst="roundRect">
            <a:avLst>
              <a:gd name="adj" fmla="val 6010"/>
            </a:avLst>
          </a:prstGeom>
          <a:solidFill>
            <a:srgbClr val="EEE6D8"/>
          </a:solidFill>
          <a:ln/>
        </p:spPr>
      </p:sp>
      <p:sp>
        <p:nvSpPr>
          <p:cNvPr id="61" name="Shape 56"/>
          <p:cNvSpPr/>
          <p:nvPr/>
        </p:nvSpPr>
        <p:spPr>
          <a:xfrm>
            <a:off x="827931" y="8779966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6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9340" y="8861375"/>
            <a:ext cx="197048" cy="197048"/>
          </a:xfrm>
          <a:prstGeom prst="rect">
            <a:avLst/>
          </a:prstGeom>
        </p:spPr>
      </p:pic>
      <p:sp>
        <p:nvSpPr>
          <p:cNvPr id="63" name="Text 57"/>
          <p:cNvSpPr txBox="1"/>
          <p:nvPr/>
        </p:nvSpPr>
        <p:spPr>
          <a:xfrm>
            <a:off x="1331714" y="8779966"/>
            <a:ext cx="131733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12" kern="0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TOQUE DO MAMEDE</a:t>
            </a:r>
            <a:endParaRPr lang="en-US" sz="700" dirty="0"/>
          </a:p>
        </p:txBody>
      </p:sp>
      <p:sp>
        <p:nvSpPr>
          <p:cNvPr id="64" name="Text 58"/>
          <p:cNvSpPr txBox="1"/>
          <p:nvPr/>
        </p:nvSpPr>
        <p:spPr>
          <a:xfrm>
            <a:off x="1331714" y="8920609"/>
            <a:ext cx="5400229" cy="8225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150" i="1" dirty="0">
                <a:solidFill>
                  <a:srgbClr val="2F2A2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Bolo que sola tem três culpados: farinha batida demais, fermento misturado com força e forno aberto cedo. Por isso o liquidificador cuida só da emulsão (cenoura, ovos e óleo), a farinha entra à mão, o fermento vai por último e o forno fica fechado nos primeiros 25 minutos. O mel na calda é o que dá o efeito espelhado.</a:t>
            </a:r>
            <a:endParaRPr lang="en-US" sz="1150" dirty="0"/>
          </a:p>
        </p:txBody>
      </p:sp>
      <p:sp>
        <p:nvSpPr>
          <p:cNvPr id="65" name="Shape 59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66" name="Text 60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67" name="Text 61"/>
          <p:cNvSpPr txBox="1"/>
          <p:nvPr/>
        </p:nvSpPr>
        <p:spPr>
          <a:xfrm>
            <a:off x="6792069" y="10236845"/>
            <a:ext cx="234107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37</a:t>
            </a:r>
            <a:endParaRPr lang="en-US" sz="63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611981"/>
            <a:ext cx="55602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800" b="1" spc="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PULO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713929"/>
            <a:ext cx="1548027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0"/>
              </a:lnSpc>
              <a:buNone/>
            </a:pPr>
            <a:r>
              <a:rPr lang="en-US" sz="3400" spc="-17" kern="0" dirty="0">
                <a:solidFill>
                  <a:srgbClr val="4E5B38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do chef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7998" y="1392436"/>
            <a:ext cx="467916" cy="11311"/>
          </a:xfrm>
          <a:prstGeom prst="rect">
            <a:avLst/>
          </a:prstGeom>
          <a:solidFill>
            <a:srgbClr val="2F2A2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7998" y="1574304"/>
            <a:ext cx="3099554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20"/>
              </a:lnSpc>
              <a:buNone/>
            </a:pPr>
            <a:r>
              <a:rPr lang="en-US" sz="1700" i="1" dirty="0">
                <a:solidFill>
                  <a:srgbClr val="C255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Cenoura cozida na água, sem graça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47998" y="2033587"/>
            <a:ext cx="2703909" cy="3168104"/>
          </a:xfrm>
          <a:prstGeom prst="roundRect">
            <a:avLst>
              <a:gd name="adj" fmla="val 1351"/>
            </a:avLst>
          </a:prstGeom>
          <a:solidFill>
            <a:srgbClr val="FBF8F3"/>
          </a:solidFill>
          <a:ln w="9525">
            <a:solidFill>
              <a:srgbClr val="DDD2C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37456" y="2223046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C2552D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865" y="2304455"/>
            <a:ext cx="197048" cy="19704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323231" y="2341066"/>
            <a:ext cx="61510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800" b="1" spc="11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ERRO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37456" y="2727871"/>
            <a:ext cx="2324993" cy="734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Cozinhar a cenoura em muita água e escorrer. O açúcar e o sabor dela vão embora pelo ralo da pia, junto com a água.</a:t>
            </a:r>
            <a:endParaRPr lang="en-US" sz="940" dirty="0"/>
          </a:p>
        </p:txBody>
      </p:sp>
      <p:sp>
        <p:nvSpPr>
          <p:cNvPr id="11" name="Shape 8"/>
          <p:cNvSpPr/>
          <p:nvPr/>
        </p:nvSpPr>
        <p:spPr>
          <a:xfrm>
            <a:off x="3531840" y="2033587"/>
            <a:ext cx="3380036" cy="3168104"/>
          </a:xfrm>
          <a:prstGeom prst="roundRect">
            <a:avLst>
              <a:gd name="adj" fmla="val 984"/>
            </a:avLst>
          </a:prstGeom>
          <a:solidFill>
            <a:srgbClr val="EEE6D8"/>
          </a:solidFill>
          <a:ln/>
        </p:spPr>
      </p:sp>
      <p:sp>
        <p:nvSpPr>
          <p:cNvPr id="12" name="Shape 9"/>
          <p:cNvSpPr/>
          <p:nvPr/>
        </p:nvSpPr>
        <p:spPr>
          <a:xfrm>
            <a:off x="3711773" y="2213521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3182" y="2294930"/>
            <a:ext cx="197048" cy="197048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4197548" y="2331541"/>
            <a:ext cx="81036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800" b="1" spc="11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TÉCNICA</a:t>
            </a:r>
            <a:endParaRPr lang="en-US" sz="800" dirty="0"/>
          </a:p>
        </p:txBody>
      </p:sp>
      <p:sp>
        <p:nvSpPr>
          <p:cNvPr id="15" name="Text 11"/>
          <p:cNvSpPr txBox="1"/>
          <p:nvPr/>
        </p:nvSpPr>
        <p:spPr>
          <a:xfrm>
            <a:off x="3711773" y="2699296"/>
            <a:ext cx="133350" cy="1850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940" dirty="0"/>
          </a:p>
        </p:txBody>
      </p:sp>
      <p:sp>
        <p:nvSpPr>
          <p:cNvPr id="16" name="Text 12"/>
          <p:cNvSpPr txBox="1"/>
          <p:nvPr/>
        </p:nvSpPr>
        <p:spPr>
          <a:xfrm>
            <a:off x="3873774" y="2718346"/>
            <a:ext cx="2858169" cy="7169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Glaçagem, a técnica do chef:</a:t>
            </a:r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cenoura em rodelas numa frigideira, água só até a metade da altura, 1 colher de manteiga, 1 pitada de açúcar e outra de sal.</a:t>
            </a:r>
            <a:endParaRPr lang="en-US" sz="940" dirty="0"/>
          </a:p>
        </p:txBody>
      </p:sp>
      <p:sp>
        <p:nvSpPr>
          <p:cNvPr id="17" name="Text 13"/>
          <p:cNvSpPr txBox="1"/>
          <p:nvPr/>
        </p:nvSpPr>
        <p:spPr>
          <a:xfrm>
            <a:off x="3711773" y="3511153"/>
            <a:ext cx="133350" cy="1850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940" dirty="0"/>
          </a:p>
        </p:txBody>
      </p:sp>
      <p:sp>
        <p:nvSpPr>
          <p:cNvPr id="18" name="Text 14"/>
          <p:cNvSpPr txBox="1"/>
          <p:nvPr/>
        </p:nvSpPr>
        <p:spPr>
          <a:xfrm>
            <a:off x="3873774" y="3530203"/>
            <a:ext cx="2858169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Fogo médio e panela destampada:</a:t>
            </a:r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a cenoura cozinha enquanto a água evapora.</a:t>
            </a:r>
            <a:endParaRPr lang="en-US" sz="940" dirty="0"/>
          </a:p>
        </p:txBody>
      </p:sp>
      <p:sp>
        <p:nvSpPr>
          <p:cNvPr id="19" name="Text 15"/>
          <p:cNvSpPr txBox="1"/>
          <p:nvPr/>
        </p:nvSpPr>
        <p:spPr>
          <a:xfrm>
            <a:off x="3711773" y="3953024"/>
            <a:ext cx="133350" cy="1850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940" dirty="0"/>
          </a:p>
        </p:txBody>
      </p:sp>
      <p:sp>
        <p:nvSpPr>
          <p:cNvPr id="20" name="Text 16"/>
          <p:cNvSpPr txBox="1"/>
          <p:nvPr/>
        </p:nvSpPr>
        <p:spPr>
          <a:xfrm>
            <a:off x="3873774" y="3972074"/>
            <a:ext cx="2858169" cy="53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Quando a água secar</a:t>
            </a:r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, a manteiga e o açúcar viram uma película brilhante que envolve cada rodela. Mexa por 1 minuto e pronto.</a:t>
            </a:r>
            <a:endParaRPr lang="en-US" sz="940" dirty="0"/>
          </a:p>
        </p:txBody>
      </p:sp>
      <p:sp>
        <p:nvSpPr>
          <p:cNvPr id="21" name="Text 17"/>
          <p:cNvSpPr txBox="1"/>
          <p:nvPr/>
        </p:nvSpPr>
        <p:spPr>
          <a:xfrm>
            <a:off x="3711773" y="4579888"/>
            <a:ext cx="133350" cy="1850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940" dirty="0"/>
          </a:p>
        </p:txBody>
      </p:sp>
      <p:sp>
        <p:nvSpPr>
          <p:cNvPr id="22" name="Text 18"/>
          <p:cNvSpPr txBox="1"/>
          <p:nvPr/>
        </p:nvSpPr>
        <p:spPr>
          <a:xfrm>
            <a:off x="3873774" y="4598938"/>
            <a:ext cx="2858169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Resultado:</a:t>
            </a:r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cenoura macia, brilhante e com todo o sabor dentro dela, não na água.</a:t>
            </a:r>
            <a:endParaRPr lang="en-US" sz="940" dirty="0"/>
          </a:p>
        </p:txBody>
      </p:sp>
      <p:sp>
        <p:nvSpPr>
          <p:cNvPr id="23" name="Text 19"/>
          <p:cNvSpPr txBox="1"/>
          <p:nvPr/>
        </p:nvSpPr>
        <p:spPr>
          <a:xfrm>
            <a:off x="647998" y="5525691"/>
            <a:ext cx="64665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800" b="1" spc="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NÃO TEM</a:t>
            </a:r>
            <a:endParaRPr lang="en-US" sz="800" dirty="0"/>
          </a:p>
        </p:txBody>
      </p:sp>
      <p:sp>
        <p:nvSpPr>
          <p:cNvPr id="24" name="Text 20"/>
          <p:cNvSpPr txBox="1"/>
          <p:nvPr/>
        </p:nvSpPr>
        <p:spPr>
          <a:xfrm>
            <a:off x="647998" y="5637163"/>
            <a:ext cx="857399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700" spc="-14" kern="0" dirty="0">
                <a:solidFill>
                  <a:srgbClr val="4E5B38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isso?</a:t>
            </a:r>
            <a:endParaRPr lang="en-US" sz="2700" dirty="0"/>
          </a:p>
        </p:txBody>
      </p:sp>
      <p:sp>
        <p:nvSpPr>
          <p:cNvPr id="25" name="Shape 21"/>
          <p:cNvSpPr/>
          <p:nvPr/>
        </p:nvSpPr>
        <p:spPr>
          <a:xfrm>
            <a:off x="647998" y="6215509"/>
            <a:ext cx="467916" cy="11311"/>
          </a:xfrm>
          <a:prstGeom prst="rect">
            <a:avLst/>
          </a:prstGeom>
          <a:solidFill>
            <a:srgbClr val="2F2A25"/>
          </a:solidFill>
          <a:ln/>
        </p:spPr>
      </p:sp>
      <p:sp>
        <p:nvSpPr>
          <p:cNvPr id="26" name="Shape 22"/>
          <p:cNvSpPr/>
          <p:nvPr/>
        </p:nvSpPr>
        <p:spPr>
          <a:xfrm>
            <a:off x="647998" y="6442770"/>
            <a:ext cx="1655862" cy="291703"/>
          </a:xfrm>
          <a:prstGeom prst="roundRect">
            <a:avLst>
              <a:gd name="adj" fmla="val 77373"/>
            </a:avLst>
          </a:prstGeom>
          <a:solidFill>
            <a:srgbClr val="4E5B38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791914" y="6536234"/>
            <a:ext cx="99625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spc="109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 NÃO TIVER…</a:t>
            </a:r>
            <a:endParaRPr lang="en-US" sz="680" dirty="0"/>
          </a:p>
        </p:txBody>
      </p:sp>
      <p:sp>
        <p:nvSpPr>
          <p:cNvPr id="28" name="Shape 24"/>
          <p:cNvSpPr/>
          <p:nvPr/>
        </p:nvSpPr>
        <p:spPr>
          <a:xfrm>
            <a:off x="2303859" y="6442770"/>
            <a:ext cx="4608016" cy="291703"/>
          </a:xfrm>
          <a:prstGeom prst="rect">
            <a:avLst/>
          </a:prstGeom>
          <a:solidFill>
            <a:srgbClr val="4E5B38"/>
          </a:solidFill>
          <a:ln/>
        </p:spPr>
      </p:sp>
      <p:sp>
        <p:nvSpPr>
          <p:cNvPr id="29" name="Text 25"/>
          <p:cNvSpPr txBox="1"/>
          <p:nvPr/>
        </p:nvSpPr>
        <p:spPr>
          <a:xfrm>
            <a:off x="2447776" y="6536234"/>
            <a:ext cx="41999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spc="109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USE…</a:t>
            </a:r>
            <a:endParaRPr lang="en-US" sz="680" dirty="0"/>
          </a:p>
        </p:txBody>
      </p:sp>
      <p:sp>
        <p:nvSpPr>
          <p:cNvPr id="30" name="Shape 26"/>
          <p:cNvSpPr/>
          <p:nvPr/>
        </p:nvSpPr>
        <p:spPr>
          <a:xfrm>
            <a:off x="647998" y="7101334"/>
            <a:ext cx="1655862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791914" y="6827937"/>
            <a:ext cx="31015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4E5B38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Mel</a:t>
            </a:r>
            <a:endParaRPr lang="en-US" sz="1000" dirty="0"/>
          </a:p>
        </p:txBody>
      </p:sp>
      <p:sp>
        <p:nvSpPr>
          <p:cNvPr id="32" name="Shape 28"/>
          <p:cNvSpPr/>
          <p:nvPr/>
        </p:nvSpPr>
        <p:spPr>
          <a:xfrm>
            <a:off x="2303859" y="7101334"/>
            <a:ext cx="4608016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2447776" y="6837462"/>
            <a:ext cx="365012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92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Melaço, xarope de bordo ou 1 colher de açúcar mascavo.</a:t>
            </a:r>
            <a:endParaRPr lang="en-US" sz="920" dirty="0"/>
          </a:p>
        </p:txBody>
      </p:sp>
      <p:sp>
        <p:nvSpPr>
          <p:cNvPr id="34" name="Shape 30"/>
          <p:cNvSpPr/>
          <p:nvPr/>
        </p:nvSpPr>
        <p:spPr>
          <a:xfrm>
            <a:off x="647998" y="7472958"/>
            <a:ext cx="1655862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791914" y="7199561"/>
            <a:ext cx="95473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4E5B38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Tomilho fresco</a:t>
            </a:r>
            <a:endParaRPr lang="en-US" sz="1000" dirty="0"/>
          </a:p>
        </p:txBody>
      </p:sp>
      <p:sp>
        <p:nvSpPr>
          <p:cNvPr id="36" name="Shape 32"/>
          <p:cNvSpPr/>
          <p:nvPr/>
        </p:nvSpPr>
        <p:spPr>
          <a:xfrm>
            <a:off x="2303859" y="7472958"/>
            <a:ext cx="4608016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2447776" y="7209086"/>
            <a:ext cx="382264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92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Alecrim, orégano fresco ou ½ colher (chá) de tomilho seco.</a:t>
            </a:r>
            <a:endParaRPr lang="en-US" sz="920" dirty="0"/>
          </a:p>
        </p:txBody>
      </p:sp>
      <p:sp>
        <p:nvSpPr>
          <p:cNvPr id="38" name="Shape 34"/>
          <p:cNvSpPr/>
          <p:nvPr/>
        </p:nvSpPr>
        <p:spPr>
          <a:xfrm>
            <a:off x="647998" y="7844582"/>
            <a:ext cx="1655862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791914" y="7571184"/>
            <a:ext cx="98434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4E5B38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Aveia em flocos</a:t>
            </a:r>
            <a:endParaRPr lang="en-US" sz="1000" dirty="0"/>
          </a:p>
        </p:txBody>
      </p:sp>
      <p:sp>
        <p:nvSpPr>
          <p:cNvPr id="40" name="Shape 36"/>
          <p:cNvSpPr/>
          <p:nvPr/>
        </p:nvSpPr>
        <p:spPr>
          <a:xfrm>
            <a:off x="2303859" y="7844582"/>
            <a:ext cx="4608016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2447776" y="7580709"/>
            <a:ext cx="298270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92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Farinha de rosca ou farinha de mandioca fina.</a:t>
            </a:r>
            <a:endParaRPr lang="en-US" sz="920" dirty="0"/>
          </a:p>
        </p:txBody>
      </p:sp>
      <p:sp>
        <p:nvSpPr>
          <p:cNvPr id="42" name="Shape 38"/>
          <p:cNvSpPr/>
          <p:nvPr/>
        </p:nvSpPr>
        <p:spPr>
          <a:xfrm>
            <a:off x="647998" y="8216205"/>
            <a:ext cx="1655862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791914" y="7942808"/>
            <a:ext cx="148485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4E5B38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Chocolate meio amargo</a:t>
            </a:r>
            <a:endParaRPr lang="en-US" sz="1000" dirty="0"/>
          </a:p>
        </p:txBody>
      </p:sp>
      <p:sp>
        <p:nvSpPr>
          <p:cNvPr id="44" name="Shape 40"/>
          <p:cNvSpPr/>
          <p:nvPr/>
        </p:nvSpPr>
        <p:spPr>
          <a:xfrm>
            <a:off x="2303859" y="8216205"/>
            <a:ext cx="4608016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2447776" y="7952333"/>
            <a:ext cx="355511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92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Chocolate ao leite com 1 colher (sopa) de cacau em pó.</a:t>
            </a:r>
            <a:endParaRPr lang="en-US" sz="920" dirty="0"/>
          </a:p>
        </p:txBody>
      </p:sp>
      <p:sp>
        <p:nvSpPr>
          <p:cNvPr id="46" name="Shape 42"/>
          <p:cNvSpPr/>
          <p:nvPr/>
        </p:nvSpPr>
        <p:spPr>
          <a:xfrm>
            <a:off x="647998" y="8587829"/>
            <a:ext cx="1655862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791914" y="8314432"/>
            <a:ext cx="92273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4E5B38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Creme de leite</a:t>
            </a:r>
            <a:endParaRPr lang="en-US" sz="1000" dirty="0"/>
          </a:p>
        </p:txBody>
      </p:sp>
      <p:sp>
        <p:nvSpPr>
          <p:cNvPr id="48" name="Shape 44"/>
          <p:cNvSpPr/>
          <p:nvPr/>
        </p:nvSpPr>
        <p:spPr>
          <a:xfrm>
            <a:off x="2303859" y="8587829"/>
            <a:ext cx="4608016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2447776" y="8323957"/>
            <a:ext cx="235812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92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Leite integral (a calda fica mais fina).</a:t>
            </a:r>
            <a:endParaRPr lang="en-US" sz="920" dirty="0"/>
          </a:p>
        </p:txBody>
      </p:sp>
      <p:sp>
        <p:nvSpPr>
          <p:cNvPr id="50" name="Shape 46"/>
          <p:cNvSpPr/>
          <p:nvPr/>
        </p:nvSpPr>
        <p:spPr>
          <a:xfrm>
            <a:off x="647998" y="8959453"/>
            <a:ext cx="1655862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791914" y="8686056"/>
            <a:ext cx="136017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4E5B38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Amendoim (no pesto)</a:t>
            </a:r>
            <a:endParaRPr lang="en-US" sz="1000" dirty="0"/>
          </a:p>
        </p:txBody>
      </p:sp>
      <p:sp>
        <p:nvSpPr>
          <p:cNvPr id="52" name="Shape 48"/>
          <p:cNvSpPr/>
          <p:nvPr/>
        </p:nvSpPr>
        <p:spPr>
          <a:xfrm>
            <a:off x="2303859" y="8959453"/>
            <a:ext cx="4608016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2447776" y="8695581"/>
            <a:ext cx="401700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92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Castanha-de-caju, castanha-do-pará ou sementes de girassol.</a:t>
            </a:r>
            <a:endParaRPr lang="en-US" sz="920" dirty="0"/>
          </a:p>
        </p:txBody>
      </p:sp>
      <p:sp>
        <p:nvSpPr>
          <p:cNvPr id="54" name="Shape 50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56" name="Text 52"/>
          <p:cNvSpPr txBox="1"/>
          <p:nvPr/>
        </p:nvSpPr>
        <p:spPr>
          <a:xfrm>
            <a:off x="6787753" y="10236845"/>
            <a:ext cx="23842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38</a:t>
            </a:r>
            <a:endParaRPr lang="en-US" sz="63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827931"/>
            <a:ext cx="77256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800" b="1" spc="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APROVEITA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929878"/>
            <a:ext cx="2695004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0"/>
              </a:lnSpc>
              <a:buNone/>
            </a:pPr>
            <a:r>
              <a:rPr lang="en-US" sz="3400" spc="-17" kern="0" dirty="0">
                <a:solidFill>
                  <a:srgbClr val="4E5B38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isso também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7998" y="1608386"/>
            <a:ext cx="467916" cy="11311"/>
          </a:xfrm>
          <a:prstGeom prst="rect">
            <a:avLst/>
          </a:prstGeom>
          <a:solidFill>
            <a:srgbClr val="2F2A2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7998" y="1854696"/>
            <a:ext cx="424286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2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Cascas, talos, ramas e aparas: o que ia para o lixo vira sabor.</a:t>
            </a:r>
            <a:endParaRPr lang="en-US" sz="1020" dirty="0"/>
          </a:p>
        </p:txBody>
      </p:sp>
      <p:sp>
        <p:nvSpPr>
          <p:cNvPr id="6" name="Shape 4"/>
          <p:cNvSpPr/>
          <p:nvPr/>
        </p:nvSpPr>
        <p:spPr>
          <a:xfrm>
            <a:off x="647998" y="2258764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9407" y="2340173"/>
            <a:ext cx="197048" cy="19704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169789" y="2258764"/>
            <a:ext cx="168421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en-US" sz="10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Cascas: chips assados</a:t>
            </a:r>
            <a:endParaRPr lang="en-US" sz="1060" dirty="0"/>
          </a:p>
        </p:txBody>
      </p:sp>
      <p:sp>
        <p:nvSpPr>
          <p:cNvPr id="9" name="Text 6"/>
          <p:cNvSpPr txBox="1"/>
          <p:nvPr/>
        </p:nvSpPr>
        <p:spPr>
          <a:xfrm>
            <a:off x="1169789" y="2492425"/>
            <a:ext cx="3366195" cy="1148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96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 descascar as cenouras, guarde as cascas. Seque bem, misture com um fio de azeite, sal e uma pitada de cominho e espalhe sem amontoar. Leve à airfryer a 170 °C por 6 a 8 minutos ou ao forno a 150 °C por 15 a 20 minutos, de olho: elas são finas e passam do ponto rápido.</a:t>
            </a:r>
            <a:endParaRPr lang="en-US" sz="960" dirty="0"/>
          </a:p>
        </p:txBody>
      </p:sp>
      <p:sp>
        <p:nvSpPr>
          <p:cNvPr id="10" name="Shape 7"/>
          <p:cNvSpPr/>
          <p:nvPr/>
        </p:nvSpPr>
        <p:spPr>
          <a:xfrm>
            <a:off x="647998" y="3873401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407" y="3954810"/>
            <a:ext cx="197048" cy="19704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169789" y="3873401"/>
            <a:ext cx="3366195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en-US" sz="10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Ramas (folhas): pesto com amendoim ou castanha</a:t>
            </a:r>
            <a:endParaRPr lang="en-US" sz="1060" dirty="0"/>
          </a:p>
        </p:txBody>
      </p:sp>
      <p:sp>
        <p:nvSpPr>
          <p:cNvPr id="13" name="Text 9"/>
          <p:cNvSpPr txBox="1"/>
          <p:nvPr/>
        </p:nvSpPr>
        <p:spPr>
          <a:xfrm>
            <a:off x="1169789" y="4278511"/>
            <a:ext cx="3366195" cy="1938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96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Separe as folhas e os talos finos de 1 maço de rama (cerca de 60 g). Mergulhe por 10 segundos em água fervente e depois em água com gelo: isso fixa a cor e suaviza o amargor. Esprema bem. Bata no processador ou pilão com 50 g de amendoim torrado sem sal, 1 dente de alho, 40 g de parmesão, suco de ½ limão e sal, acrescentando cerca de 120 ml de azeite aos poucos. Use em massas, no hambúrguer de cenoura, sobre as cenouras assadas ou no pão. Dura 5 dias na geladeira, coberto por uma camada de azeite.</a:t>
            </a:r>
            <a:endParaRPr lang="en-US" sz="960" dirty="0"/>
          </a:p>
        </p:txBody>
      </p:sp>
      <p:sp>
        <p:nvSpPr>
          <p:cNvPr id="14" name="Shape 10"/>
          <p:cNvSpPr/>
          <p:nvPr/>
        </p:nvSpPr>
        <p:spPr>
          <a:xfrm>
            <a:off x="4895999" y="0"/>
            <a:ext cx="2663875" cy="10691961"/>
          </a:xfrm>
          <a:prstGeom prst="rect">
            <a:avLst/>
          </a:prstGeom>
          <a:solidFill>
            <a:srgbClr val="EEE6D8"/>
          </a:solidFill>
          <a:ln/>
        </p:spPr>
      </p:sp>
      <p:pic>
        <p:nvPicPr>
          <p:cNvPr id="15" name="Image 2" descr="/home/user/ebook-luq/versoes/VERSAO COM FOTOGRAFIAS/fotos/aproveita5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392067" y="791914"/>
            <a:ext cx="2735907" cy="2735907"/>
          </a:xfrm>
          <a:prstGeom prst="ellipse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4895999" y="8459986"/>
            <a:ext cx="2663875" cy="2231975"/>
          </a:xfrm>
          <a:prstGeom prst="rect">
            <a:avLst/>
          </a:prstGeom>
          <a:solidFill>
            <a:srgbClr val="4E5B38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3904" y="9341941"/>
            <a:ext cx="467916" cy="467916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647998" y="10133856"/>
            <a:ext cx="3600004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20" name="Text 14"/>
          <p:cNvSpPr txBox="1"/>
          <p:nvPr/>
        </p:nvSpPr>
        <p:spPr>
          <a:xfrm>
            <a:off x="4125813" y="10236845"/>
            <a:ext cx="23648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39</a:t>
            </a:r>
            <a:endParaRPr lang="en-US" sz="63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611981"/>
            <a:ext cx="135133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800" b="1" spc="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BÔNUS: OS 10 PULOS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713929"/>
            <a:ext cx="2436304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0"/>
              </a:lnSpc>
              <a:buNone/>
            </a:pPr>
            <a:r>
              <a:rPr lang="en-US" sz="3400" spc="-17" kern="0" dirty="0">
                <a:solidFill>
                  <a:srgbClr val="4E5B38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do Mamede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7998" y="1392436"/>
            <a:ext cx="467916" cy="11311"/>
          </a:xfrm>
          <a:prstGeom prst="rect">
            <a:avLst/>
          </a:prstGeom>
          <a:solidFill>
            <a:srgbClr val="2F2A2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7998" y="1638746"/>
            <a:ext cx="4499967" cy="378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2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Dez decisões universais de cozinha, que valem para qualquer ingrediente e qualquer receita, deste guia ou da sua vida.</a:t>
            </a:r>
            <a:endParaRPr lang="en-US" sz="1020" dirty="0"/>
          </a:p>
        </p:txBody>
      </p:sp>
      <p:sp>
        <p:nvSpPr>
          <p:cNvPr id="6" name="Shape 4"/>
          <p:cNvSpPr/>
          <p:nvPr/>
        </p:nvSpPr>
        <p:spPr>
          <a:xfrm>
            <a:off x="647998" y="2249984"/>
            <a:ext cx="359866" cy="359866"/>
          </a:xfrm>
          <a:prstGeom prst="roundRect">
            <a:avLst>
              <a:gd name="adj" fmla="val 50838"/>
            </a:avLst>
          </a:prstGeom>
          <a:solidFill>
            <a:srgbClr val="4E5B38"/>
          </a:solidFill>
          <a:ln w="9525">
            <a:solidFill>
              <a:srgbClr val="4E5B3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7655" y="2358479"/>
            <a:ext cx="23470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87797" y="2249984"/>
            <a:ext cx="171954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Seque antes de dourar</a:t>
            </a:r>
            <a:endParaRPr lang="en-US" sz="1040" dirty="0"/>
          </a:p>
        </p:txBody>
      </p:sp>
      <p:sp>
        <p:nvSpPr>
          <p:cNvPr id="9" name="Text 7"/>
          <p:cNvSpPr txBox="1"/>
          <p:nvPr/>
        </p:nvSpPr>
        <p:spPr>
          <a:xfrm>
            <a:off x="1187797" y="2450157"/>
            <a:ext cx="2448074" cy="852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89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Umidade é inimiga da crosta. Carne, frango, legumes: tudo passa pelo papel-toalha antes de ir para a frigideira. Enquanto houver água, a comida cozinha no vapor em vez de dourar.</a:t>
            </a:r>
            <a:endParaRPr lang="en-US" sz="890" dirty="0"/>
          </a:p>
        </p:txBody>
      </p:sp>
      <p:sp>
        <p:nvSpPr>
          <p:cNvPr id="10" name="Shape 8"/>
          <p:cNvSpPr/>
          <p:nvPr/>
        </p:nvSpPr>
        <p:spPr>
          <a:xfrm>
            <a:off x="3923854" y="2249984"/>
            <a:ext cx="359866" cy="359866"/>
          </a:xfrm>
          <a:prstGeom prst="roundRect">
            <a:avLst>
              <a:gd name="adj" fmla="val 50838"/>
            </a:avLst>
          </a:prstGeom>
          <a:solidFill>
            <a:srgbClr val="4E5B38"/>
          </a:solidFill>
          <a:ln w="9525">
            <a:solidFill>
              <a:srgbClr val="4E5B3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032052" y="2358479"/>
            <a:ext cx="25762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4463653" y="2249984"/>
            <a:ext cx="220810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Frigideira quente de verdade</a:t>
            </a:r>
            <a:endParaRPr lang="en-US" sz="1040" dirty="0"/>
          </a:p>
        </p:txBody>
      </p:sp>
      <p:sp>
        <p:nvSpPr>
          <p:cNvPr id="13" name="Text 11"/>
          <p:cNvSpPr txBox="1"/>
          <p:nvPr/>
        </p:nvSpPr>
        <p:spPr>
          <a:xfrm>
            <a:off x="4463653" y="2450157"/>
            <a:ext cx="2448223" cy="6774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89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Espere a frigideira aquecer antes de colocar a gordura e a gordura brilhar antes de colocar o alimento. Uma gota de água deve chiar e evaporar na hora.</a:t>
            </a:r>
            <a:endParaRPr lang="en-US" sz="890" dirty="0"/>
          </a:p>
        </p:txBody>
      </p:sp>
      <p:sp>
        <p:nvSpPr>
          <p:cNvPr id="14" name="Shape 12"/>
          <p:cNvSpPr/>
          <p:nvPr/>
        </p:nvSpPr>
        <p:spPr>
          <a:xfrm>
            <a:off x="647998" y="3522166"/>
            <a:ext cx="359866" cy="359866"/>
          </a:xfrm>
          <a:prstGeom prst="roundRect">
            <a:avLst>
              <a:gd name="adj" fmla="val 50838"/>
            </a:avLst>
          </a:prstGeom>
          <a:solidFill>
            <a:srgbClr val="4E5B38"/>
          </a:solidFill>
          <a:ln w="9525">
            <a:solidFill>
              <a:srgbClr val="4E5B3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56642" y="3630662"/>
            <a:ext cx="25672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1187797" y="3522166"/>
            <a:ext cx="132349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Não lote a panela</a:t>
            </a:r>
            <a:endParaRPr lang="en-US" sz="1040" dirty="0"/>
          </a:p>
        </p:txBody>
      </p:sp>
      <p:sp>
        <p:nvSpPr>
          <p:cNvPr id="17" name="Text 15"/>
          <p:cNvSpPr txBox="1"/>
          <p:nvPr/>
        </p:nvSpPr>
        <p:spPr>
          <a:xfrm>
            <a:off x="1187797" y="3722340"/>
            <a:ext cx="2448074" cy="6774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89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Comida amontoada solta líquido e esfria a panela. Deixe espaço entre os pedaços e, se precisar, trabalhe em levas. É mais rápido do que parece.</a:t>
            </a:r>
            <a:endParaRPr lang="en-US" sz="890" dirty="0"/>
          </a:p>
        </p:txBody>
      </p:sp>
      <p:sp>
        <p:nvSpPr>
          <p:cNvPr id="18" name="Shape 16"/>
          <p:cNvSpPr/>
          <p:nvPr/>
        </p:nvSpPr>
        <p:spPr>
          <a:xfrm>
            <a:off x="3923854" y="3522166"/>
            <a:ext cx="359866" cy="359866"/>
          </a:xfrm>
          <a:prstGeom prst="roundRect">
            <a:avLst>
              <a:gd name="adj" fmla="val 50838"/>
            </a:avLst>
          </a:prstGeom>
          <a:solidFill>
            <a:srgbClr val="4E5B38"/>
          </a:solidFill>
          <a:ln w="9525">
            <a:solidFill>
              <a:srgbClr val="4E5B3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026396" y="3630662"/>
            <a:ext cx="26893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04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4463653" y="3522166"/>
            <a:ext cx="265849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Não mexa: deixe a crosta se formar</a:t>
            </a:r>
            <a:endParaRPr lang="en-US" sz="1040" dirty="0"/>
          </a:p>
        </p:txBody>
      </p:sp>
      <p:sp>
        <p:nvSpPr>
          <p:cNvPr id="21" name="Text 19"/>
          <p:cNvSpPr txBox="1"/>
          <p:nvPr/>
        </p:nvSpPr>
        <p:spPr>
          <a:xfrm>
            <a:off x="4463653" y="3722340"/>
            <a:ext cx="2448223" cy="852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89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Selar não “fecha os sucos”, como se dizia. Selar cria sabor. E a crosta só se forma se você deixar o alimento quieto. Quando estiver pronto para virar, ele solta sozinho da frigideira.</a:t>
            </a:r>
            <a:endParaRPr lang="en-US" sz="890" dirty="0"/>
          </a:p>
        </p:txBody>
      </p:sp>
      <p:sp>
        <p:nvSpPr>
          <p:cNvPr id="22" name="Shape 20"/>
          <p:cNvSpPr/>
          <p:nvPr/>
        </p:nvSpPr>
        <p:spPr>
          <a:xfrm>
            <a:off x="647998" y="4794349"/>
            <a:ext cx="359866" cy="359866"/>
          </a:xfrm>
          <a:prstGeom prst="roundRect">
            <a:avLst>
              <a:gd name="adj" fmla="val 50838"/>
            </a:avLst>
          </a:prstGeom>
          <a:solidFill>
            <a:srgbClr val="4E5B38"/>
          </a:solidFill>
          <a:ln w="9525">
            <a:solidFill>
              <a:srgbClr val="4E5B3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56047" y="4902845"/>
            <a:ext cx="25806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05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1187797" y="4794349"/>
            <a:ext cx="2448074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Sal com antecedência e em camadas</a:t>
            </a:r>
            <a:endParaRPr lang="en-US" sz="1040" dirty="0"/>
          </a:p>
        </p:txBody>
      </p:sp>
      <p:sp>
        <p:nvSpPr>
          <p:cNvPr id="25" name="Text 23"/>
          <p:cNvSpPr txBox="1"/>
          <p:nvPr/>
        </p:nvSpPr>
        <p:spPr>
          <a:xfrm>
            <a:off x="1187797" y="5146923"/>
            <a:ext cx="2448074" cy="852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89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Salgar carnes com horas de antecedência tempera por dentro. Nas preparações, tempere um pouco em cada etapa, em vez de tudo no final. E sempre prove antes de acrescentar mais.</a:t>
            </a:r>
            <a:endParaRPr lang="en-US" sz="890" dirty="0"/>
          </a:p>
        </p:txBody>
      </p:sp>
      <p:sp>
        <p:nvSpPr>
          <p:cNvPr id="26" name="Shape 24"/>
          <p:cNvSpPr/>
          <p:nvPr/>
        </p:nvSpPr>
        <p:spPr>
          <a:xfrm>
            <a:off x="3923854" y="4794349"/>
            <a:ext cx="359866" cy="359866"/>
          </a:xfrm>
          <a:prstGeom prst="roundRect">
            <a:avLst>
              <a:gd name="adj" fmla="val 50838"/>
            </a:avLst>
          </a:prstGeom>
          <a:solidFill>
            <a:srgbClr val="4E5B38"/>
          </a:solidFill>
          <a:ln w="9525">
            <a:solidFill>
              <a:srgbClr val="4E5B3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029373" y="4902845"/>
            <a:ext cx="26297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06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4463653" y="4794349"/>
            <a:ext cx="111914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Acidez no final</a:t>
            </a:r>
            <a:endParaRPr lang="en-US" sz="1040" dirty="0"/>
          </a:p>
        </p:txBody>
      </p:sp>
      <p:sp>
        <p:nvSpPr>
          <p:cNvPr id="29" name="Text 27"/>
          <p:cNvSpPr txBox="1"/>
          <p:nvPr/>
        </p:nvSpPr>
        <p:spPr>
          <a:xfrm>
            <a:off x="4463653" y="4994523"/>
            <a:ext cx="2448223" cy="852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89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Algumas gotas de limão ou vinagre no final acordam um prato “sem graça” muitas vezes melhor do que mais sal. Antes de salgar de novo, experimente acidez.</a:t>
            </a:r>
            <a:endParaRPr lang="en-US" sz="890" dirty="0"/>
          </a:p>
        </p:txBody>
      </p:sp>
      <p:sp>
        <p:nvSpPr>
          <p:cNvPr id="30" name="Shape 28"/>
          <p:cNvSpPr/>
          <p:nvPr/>
        </p:nvSpPr>
        <p:spPr>
          <a:xfrm>
            <a:off x="647998" y="6218932"/>
            <a:ext cx="359866" cy="359866"/>
          </a:xfrm>
          <a:prstGeom prst="roundRect">
            <a:avLst>
              <a:gd name="adj" fmla="val 50838"/>
            </a:avLst>
          </a:prstGeom>
          <a:solidFill>
            <a:srgbClr val="4E5B38"/>
          </a:solidFill>
          <a:ln w="9525">
            <a:solidFill>
              <a:srgbClr val="4E5B3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55005" y="6327428"/>
            <a:ext cx="26015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07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1187797" y="6218932"/>
            <a:ext cx="155952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Respeite o descanso</a:t>
            </a:r>
            <a:endParaRPr lang="en-US" sz="1040" dirty="0"/>
          </a:p>
        </p:txBody>
      </p:sp>
      <p:sp>
        <p:nvSpPr>
          <p:cNvPr id="33" name="Text 31"/>
          <p:cNvSpPr txBox="1"/>
          <p:nvPr/>
        </p:nvSpPr>
        <p:spPr>
          <a:xfrm>
            <a:off x="1187797" y="6419106"/>
            <a:ext cx="2448074" cy="6774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89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Carnes descansam antes de cortar; massas descansam antes de modelar; bolos descansam antes de desenformar. Esperar 5 minutos também é técnica.</a:t>
            </a:r>
            <a:endParaRPr lang="en-US" sz="890" dirty="0"/>
          </a:p>
        </p:txBody>
      </p:sp>
      <p:sp>
        <p:nvSpPr>
          <p:cNvPr id="34" name="Shape 32"/>
          <p:cNvSpPr/>
          <p:nvPr/>
        </p:nvSpPr>
        <p:spPr>
          <a:xfrm>
            <a:off x="3923854" y="6218932"/>
            <a:ext cx="359866" cy="359866"/>
          </a:xfrm>
          <a:prstGeom prst="roundRect">
            <a:avLst>
              <a:gd name="adj" fmla="val 50838"/>
            </a:avLst>
          </a:prstGeom>
          <a:solidFill>
            <a:srgbClr val="4E5B38"/>
          </a:solidFill>
          <a:ln w="9525">
            <a:solidFill>
              <a:srgbClr val="4E5B3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4028033" y="6327428"/>
            <a:ext cx="26580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08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4463653" y="6218932"/>
            <a:ext cx="193357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fundo da panela é ouro</a:t>
            </a:r>
            <a:endParaRPr lang="en-US" sz="1040" dirty="0"/>
          </a:p>
        </p:txBody>
      </p:sp>
      <p:sp>
        <p:nvSpPr>
          <p:cNvPr id="37" name="Text 35"/>
          <p:cNvSpPr txBox="1"/>
          <p:nvPr/>
        </p:nvSpPr>
        <p:spPr>
          <a:xfrm>
            <a:off x="4463653" y="6419106"/>
            <a:ext cx="2448223" cy="852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89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Aquele grudado escuro no fundo da frigideira é sabor concentrado. Solte com um pouco de água, caldo ou vinho (deglaçar) e você terá um molho em 2 minutos.</a:t>
            </a:r>
            <a:endParaRPr lang="en-US" sz="890" dirty="0"/>
          </a:p>
        </p:txBody>
      </p:sp>
      <p:sp>
        <p:nvSpPr>
          <p:cNvPr id="38" name="Shape 36"/>
          <p:cNvSpPr/>
          <p:nvPr/>
        </p:nvSpPr>
        <p:spPr>
          <a:xfrm>
            <a:off x="647998" y="7491115"/>
            <a:ext cx="359866" cy="359866"/>
          </a:xfrm>
          <a:prstGeom prst="roundRect">
            <a:avLst>
              <a:gd name="adj" fmla="val 50838"/>
            </a:avLst>
          </a:prstGeom>
          <a:solidFill>
            <a:srgbClr val="4E5B38"/>
          </a:solidFill>
          <a:ln w="9525">
            <a:solidFill>
              <a:srgbClr val="4E5B3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53517" y="7599611"/>
            <a:ext cx="26297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09</a:t>
            </a:r>
            <a:endParaRPr lang="en-US" sz="900" dirty="0"/>
          </a:p>
        </p:txBody>
      </p:sp>
      <p:sp>
        <p:nvSpPr>
          <p:cNvPr id="40" name="Text 38"/>
          <p:cNvSpPr txBox="1"/>
          <p:nvPr/>
        </p:nvSpPr>
        <p:spPr>
          <a:xfrm>
            <a:off x="1187797" y="7491115"/>
            <a:ext cx="163087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Contraste de texturas</a:t>
            </a:r>
            <a:endParaRPr lang="en-US" sz="1040" dirty="0"/>
          </a:p>
        </p:txBody>
      </p:sp>
      <p:sp>
        <p:nvSpPr>
          <p:cNvPr id="41" name="Text 39"/>
          <p:cNvSpPr txBox="1"/>
          <p:nvPr/>
        </p:nvSpPr>
        <p:spPr>
          <a:xfrm>
            <a:off x="1187797" y="7691289"/>
            <a:ext cx="2448074" cy="6774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89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Todo prato memorável tem algo cremoso e algo crocante. Sementes tostadas, farofa, chips de casca e pele crocante existem para isso.</a:t>
            </a:r>
            <a:endParaRPr lang="en-US" sz="890" dirty="0"/>
          </a:p>
        </p:txBody>
      </p:sp>
      <p:sp>
        <p:nvSpPr>
          <p:cNvPr id="42" name="Shape 40"/>
          <p:cNvSpPr/>
          <p:nvPr/>
        </p:nvSpPr>
        <p:spPr>
          <a:xfrm>
            <a:off x="3923854" y="7491115"/>
            <a:ext cx="359866" cy="359866"/>
          </a:xfrm>
          <a:prstGeom prst="roundRect">
            <a:avLst>
              <a:gd name="adj" fmla="val 50838"/>
            </a:avLst>
          </a:prstGeom>
          <a:solidFill>
            <a:srgbClr val="4E5B38"/>
          </a:solidFill>
          <a:ln w="9525">
            <a:solidFill>
              <a:srgbClr val="4E5B3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4043511" y="7599611"/>
            <a:ext cx="23485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</a:t>
            </a:r>
            <a:endParaRPr lang="en-US" sz="900" dirty="0"/>
          </a:p>
        </p:txBody>
      </p:sp>
      <p:sp>
        <p:nvSpPr>
          <p:cNvPr id="44" name="Text 42"/>
          <p:cNvSpPr txBox="1"/>
          <p:nvPr/>
        </p:nvSpPr>
        <p:spPr>
          <a:xfrm>
            <a:off x="4463653" y="7491115"/>
            <a:ext cx="228978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Organize antes de ligar o fogo</a:t>
            </a:r>
            <a:endParaRPr lang="en-US" sz="1040" dirty="0"/>
          </a:p>
        </p:txBody>
      </p:sp>
      <p:sp>
        <p:nvSpPr>
          <p:cNvPr id="45" name="Text 43"/>
          <p:cNvSpPr txBox="1"/>
          <p:nvPr/>
        </p:nvSpPr>
        <p:spPr>
          <a:xfrm>
            <a:off x="4463653" y="7691289"/>
            <a:ext cx="2448223" cy="852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89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Leia a receita inteira, separe, corte e meça tudo antes de começar (é o que os chefs chamam de mise en place). Cozinhar fica mais calmo, e o fogo nunca espera por você.</a:t>
            </a:r>
            <a:endParaRPr lang="en-US" sz="890" dirty="0"/>
          </a:p>
        </p:txBody>
      </p:sp>
      <p:sp>
        <p:nvSpPr>
          <p:cNvPr id="46" name="Shape 44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48" name="Text 46"/>
          <p:cNvSpPr txBox="1"/>
          <p:nvPr/>
        </p:nvSpPr>
        <p:spPr>
          <a:xfrm>
            <a:off x="6778377" y="10236845"/>
            <a:ext cx="24779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40</a:t>
            </a:r>
            <a:endParaRPr lang="en-US" sz="63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761256"/>
            <a:ext cx="1071134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3000" dirty="0">
                <a:solidFill>
                  <a:srgbClr val="2F2A25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Muito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1140023"/>
            <a:ext cx="2675834" cy="790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90"/>
              </a:lnSpc>
              <a:buNone/>
            </a:pPr>
            <a:r>
              <a:rPr lang="en-US" sz="4400" spc="-22" kern="0" dirty="0">
                <a:solidFill>
                  <a:srgbClr val="C2552D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obrigado!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647998" y="2030760"/>
            <a:ext cx="467916" cy="11311"/>
          </a:xfrm>
          <a:prstGeom prst="rect">
            <a:avLst/>
          </a:prstGeom>
          <a:solidFill>
            <a:srgbClr val="2F2A2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7998" y="2250579"/>
            <a:ext cx="3887986" cy="6039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9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 você chegou até aqui, já percebeu: não foram 15 receitas novas. Foram 5 ingredientes que você já conhecia, olhados de outro jeito.</a:t>
            </a:r>
            <a:endParaRPr lang="en-US" sz="990" dirty="0"/>
          </a:p>
        </p:txBody>
      </p:sp>
      <p:sp>
        <p:nvSpPr>
          <p:cNvPr id="6" name="Text 4"/>
          <p:cNvSpPr txBox="1"/>
          <p:nvPr/>
        </p:nvSpPr>
        <p:spPr>
          <a:xfrm>
            <a:off x="647998" y="2993529"/>
            <a:ext cx="3887986" cy="82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9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Agora o convite é levar esse olhar para o resto da sua cozinha. Antes de cozinhar qualquer coisa, pergunte: como escolher, como guardar, como cortar? Que técnica muda o resultado? E o que dá para aproveitar da casca, do talo, do osso?</a:t>
            </a:r>
            <a:endParaRPr lang="en-US" sz="990" dirty="0"/>
          </a:p>
        </p:txBody>
      </p:sp>
      <p:sp>
        <p:nvSpPr>
          <p:cNvPr id="7" name="Text 5"/>
          <p:cNvSpPr txBox="1"/>
          <p:nvPr/>
        </p:nvSpPr>
        <p:spPr>
          <a:xfrm>
            <a:off x="647998" y="3952726"/>
            <a:ext cx="3887986" cy="3876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9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Cozinhe com afeto, com técnica e sem desperdício. Esse é o Jeito Mamede.</a:t>
            </a:r>
            <a:endParaRPr lang="en-US" sz="990" dirty="0"/>
          </a:p>
        </p:txBody>
      </p:sp>
      <p:sp>
        <p:nvSpPr>
          <p:cNvPr id="8" name="Text 6"/>
          <p:cNvSpPr txBox="1"/>
          <p:nvPr/>
        </p:nvSpPr>
        <p:spPr>
          <a:xfrm>
            <a:off x="647998" y="4560987"/>
            <a:ext cx="3887986" cy="859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40"/>
              </a:lnSpc>
              <a:buNone/>
            </a:pPr>
            <a:r>
              <a:rPr lang="en-US" sz="2800" i="1" dirty="0">
                <a:solidFill>
                  <a:srgbClr val="4E5B3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Bom apetite,</a:t>
            </a:r>
            <a:pPr algn="l" indent="0" marL="0">
              <a:lnSpc>
                <a:spcPts val="2940"/>
              </a:lnSpc>
              <a:buNone/>
            </a:pPr>
            <a:endParaRPr lang="en-US" sz="2800" dirty="0"/>
          </a:p>
          <a:p>
            <a:pPr algn="l" indent="0" marL="0">
              <a:lnSpc>
                <a:spcPts val="2940"/>
              </a:lnSpc>
              <a:buNone/>
            </a:pPr>
            <a:r>
              <a:rPr lang="en-US" sz="2800" i="1" dirty="0">
                <a:solidFill>
                  <a:srgbClr val="4E5B3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Chef Allan Mamede</a:t>
            </a:r>
            <a:endParaRPr lang="en-US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7998" y="5499050"/>
            <a:ext cx="251966" cy="251966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4895999" y="0"/>
            <a:ext cx="2663875" cy="10691961"/>
          </a:xfrm>
          <a:prstGeom prst="rect">
            <a:avLst/>
          </a:prstGeom>
          <a:solidFill>
            <a:srgbClr val="EEE6D8"/>
          </a:solidFill>
          <a:ln/>
        </p:spPr>
      </p:sp>
      <p:pic>
        <p:nvPicPr>
          <p:cNvPr id="11" name="Image 1" descr="/home/user/ebook-luq/versoes/VERSAO COM FOTOGRAFIAS/fotos/obrigado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392067" y="791914"/>
            <a:ext cx="2735907" cy="2735907"/>
          </a:xfrm>
          <a:prstGeom prst="ellipse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4895999" y="8459986"/>
            <a:ext cx="2663875" cy="2231975"/>
          </a:xfrm>
          <a:prstGeom prst="rect">
            <a:avLst/>
          </a:prstGeom>
          <a:solidFill>
            <a:srgbClr val="4E5B38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93904" y="9341941"/>
            <a:ext cx="467916" cy="467916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647998" y="10133856"/>
            <a:ext cx="3600004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16" name="Text 11"/>
          <p:cNvSpPr txBox="1"/>
          <p:nvPr/>
        </p:nvSpPr>
        <p:spPr>
          <a:xfrm>
            <a:off x="4139803" y="10236845"/>
            <a:ext cx="22249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41</a:t>
            </a:r>
            <a:endParaRPr lang="en-US" sz="63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41</Slides>
  <Notes>41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Cozinha Mamede</dc:title>
  <dc:subject>PptxGenJS Presentation</dc:subject>
  <dc:creator>Chef Allan Mamede</dc:creator>
  <cp:lastModifiedBy>Chef Allan Mamede</cp:lastModifiedBy>
  <cp:revision>1</cp:revision>
  <dcterms:created xsi:type="dcterms:W3CDTF">2026-10-13T17:17:53Z</dcterms:created>
  <dcterms:modified xsi:type="dcterms:W3CDTF">2026-10-13T17:17:53Z</dcterms:modified>
</cp:coreProperties>
</file>