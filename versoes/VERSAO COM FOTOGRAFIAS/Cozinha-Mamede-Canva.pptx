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image" Target="../media/image-3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719882"/>
            <a:ext cx="359866" cy="35986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5764" y="790277"/>
            <a:ext cx="151318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0"/>
              </a:lnSpc>
              <a:buNone/>
            </a:pPr>
            <a:r>
              <a:rPr lang="en-US" sz="750" b="1" spc="105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CHEF ALLAN MAMEDE</a:t>
            </a:r>
            <a:endParaRPr lang="en-US" sz="750" dirty="0"/>
          </a:p>
        </p:txBody>
      </p:sp>
      <p:sp>
        <p:nvSpPr>
          <p:cNvPr id="4" name="Text 1"/>
          <p:cNvSpPr txBox="1"/>
          <p:nvPr/>
        </p:nvSpPr>
        <p:spPr>
          <a:xfrm>
            <a:off x="1115764" y="914102"/>
            <a:ext cx="196324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"/>
              </a:lnSpc>
              <a:buNone/>
            </a:pPr>
            <a:r>
              <a:rPr lang="en-US" sz="600" spc="72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 · TÉCNICA · APROVEITAMENTO</a:t>
            </a:r>
            <a:endParaRPr lang="en-US" sz="600" dirty="0"/>
          </a:p>
        </p:txBody>
      </p:sp>
      <p:sp>
        <p:nvSpPr>
          <p:cNvPr id="5" name="Text 2"/>
          <p:cNvSpPr txBox="1"/>
          <p:nvPr/>
        </p:nvSpPr>
        <p:spPr>
          <a:xfrm>
            <a:off x="647998" y="2303711"/>
            <a:ext cx="939701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spc="136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GUIA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7998" y="2530078"/>
            <a:ext cx="2727674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52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Cozinha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647998" y="3203525"/>
            <a:ext cx="2843855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300"/>
              </a:lnSpc>
              <a:buNone/>
            </a:pPr>
            <a:r>
              <a:rPr lang="en-US" sz="52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Mamede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647998" y="4053632"/>
            <a:ext cx="2908864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30"/>
              </a:lnSpc>
              <a:buNone/>
            </a:pPr>
            <a:r>
              <a:rPr lang="en-US" sz="1700" spc="136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 TRANSFORMAÇÕES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7998" y="4636889"/>
            <a:ext cx="575965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7998" y="4892725"/>
            <a:ext cx="17787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ingredientes do dia a dia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5103912"/>
            <a:ext cx="12129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transformações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5315099"/>
            <a:ext cx="214893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60"/>
              </a:lnSpc>
              <a:buNone/>
            </a:pPr>
            <a:r>
              <a:rPr lang="en-US" sz="95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Técnica, afeto e aproveitamento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47998" y="6577608"/>
            <a:ext cx="611981" cy="611981"/>
          </a:xfrm>
          <a:prstGeom prst="ellipse">
            <a:avLst/>
          </a:prstGeom>
          <a:solidFill>
            <a:srgbClr val="4E5B38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14" y="6721525"/>
            <a:ext cx="324148" cy="32414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403896" y="6750993"/>
            <a:ext cx="1172766" cy="265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MELHOR</a:t>
            </a:r>
            <a:pPr algn="l" indent="0" marL="0">
              <a:lnSpc>
                <a:spcPts val="1120"/>
              </a:lnSpc>
              <a:buNone/>
            </a:pPr>
            <a:endParaRPr lang="en-US" sz="700" dirty="0"/>
          </a:p>
          <a:p>
            <a:pPr algn="l" indent="0" marL="0">
              <a:lnSpc>
                <a:spcPts val="1120"/>
              </a:lnSpc>
              <a:buNone/>
            </a:pPr>
            <a:r>
              <a:rPr lang="en-US" sz="700" b="1" spc="98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DESPERDICE MENOS</a:t>
            </a:r>
            <a:endParaRPr lang="en-US" sz="700" dirty="0"/>
          </a:p>
        </p:txBody>
      </p:sp>
      <p:sp>
        <p:nvSpPr>
          <p:cNvPr id="16" name="Shape 12"/>
          <p:cNvSpPr/>
          <p:nvPr/>
        </p:nvSpPr>
        <p:spPr>
          <a:xfrm>
            <a:off x="3527822" y="2519958"/>
            <a:ext cx="5399931" cy="5399931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283720" y="3275856"/>
            <a:ext cx="3888135" cy="3888135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7762" y="4067919"/>
            <a:ext cx="719882" cy="719882"/>
          </a:xfrm>
          <a:prstGeom prst="rect">
            <a:avLst/>
          </a:prstGeom>
        </p:spPr>
      </p:pic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43698" y="4067919"/>
            <a:ext cx="719882" cy="719882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9782" y="4067919"/>
            <a:ext cx="719882" cy="719882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5762" y="5651897"/>
            <a:ext cx="719882" cy="719882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1698" y="5651897"/>
            <a:ext cx="719882" cy="719882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0" y="10152013"/>
            <a:ext cx="7559873" cy="539948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4" name="Text 15"/>
          <p:cNvSpPr txBox="1"/>
          <p:nvPr/>
        </p:nvSpPr>
        <p:spPr>
          <a:xfrm>
            <a:off x="2819698" y="10360075"/>
            <a:ext cx="21507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76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CHEF ALLAN MAMEDE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27931"/>
            <a:ext cx="96604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700" dirty="0"/>
          </a:p>
        </p:txBody>
      </p:sp>
      <p:sp>
        <p:nvSpPr>
          <p:cNvPr id="3" name="Shape 1"/>
          <p:cNvSpPr/>
          <p:nvPr/>
        </p:nvSpPr>
        <p:spPr>
          <a:xfrm>
            <a:off x="647998" y="102259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7998" y="1175742"/>
            <a:ext cx="3798975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 bom ter você </a:t>
            </a:r>
            <a:pPr algn="l" indent="0" marL="0">
              <a:lnSpc>
                <a:spcPts val="2990"/>
              </a:lnSpc>
              <a:buNone/>
            </a:pPr>
            <a:r>
              <a:rPr lang="en-US" sz="26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aqui.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647998" y="1874044"/>
            <a:ext cx="3887986" cy="10364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Pare de fazer sempre a mesma comida do mesmo jeito. Você não precisa encher o carrinho com ingredientes caros ou exóticos para sair da rotina: o segredo está em aprender a enxergar novas possibilidades com aquilo que já compra toda semana.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3049488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um guia prático para transformar 5 ingredientes cotidianos em 15 preparações completamente diferentes, unindo técnica profissional, sabor afetivo e aproveitamento integral.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4008686"/>
            <a:ext cx="3887986" cy="1252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Aqui você não vai encontrar receitas soltas. Cada capítulo é dedicado a um ingrediente e mostra o caminho inteiro: como escolher no mercado, como guardar, como cortar, como cozinhar de três jeitos que você talvez nunca tenha imaginado e, no fim, o que fazer com a casca, a rama, o osso e a sobra.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5400377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com calma, cozinhe com tempo e, principalmente, prove tudo pelo caminho. É assim que a gente aprende a cozinhar de verdade.</a:t>
            </a:r>
            <a:endParaRPr lang="en-US" sz="990" dirty="0"/>
          </a:p>
        </p:txBody>
      </p:sp>
      <p:sp>
        <p:nvSpPr>
          <p:cNvPr id="9" name="Text 7"/>
          <p:cNvSpPr txBox="1"/>
          <p:nvPr/>
        </p:nvSpPr>
        <p:spPr>
          <a:xfrm>
            <a:off x="647998" y="6234410"/>
            <a:ext cx="2392299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Vamos cozinhar!</a:t>
            </a:r>
            <a:endParaRPr lang="en-US" sz="3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6816477"/>
            <a:ext cx="251966" cy="25196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687913" y="4031903"/>
            <a:ext cx="1799927" cy="179992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939879" y="4283869"/>
            <a:ext cx="1295995" cy="1295995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837" y="4517827"/>
            <a:ext cx="827931" cy="82793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22241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763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JEITO MAMEDE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682669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 COZINHAR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84243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método que guia todo o material se apoia em três fundamentos.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00590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08731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87797" y="2005905"/>
            <a:ext cx="48190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Afeto</a:t>
            </a:r>
            <a:endParaRPr lang="en-US" sz="1040" dirty="0"/>
          </a:p>
        </p:txBody>
      </p:sp>
      <p:sp>
        <p:nvSpPr>
          <p:cNvPr id="9" name="Text 6"/>
          <p:cNvSpPr txBox="1"/>
          <p:nvPr/>
        </p:nvSpPr>
        <p:spPr>
          <a:xfrm>
            <a:off x="1187797" y="2206079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acolhedora, generosa e com memória de casa, sem afetações desnecessárias nem gastronomia distante da realidade.</a:t>
            </a:r>
            <a:endParaRPr lang="en-US" sz="940" dirty="0"/>
          </a:p>
        </p:txBody>
      </p:sp>
      <p:sp>
        <p:nvSpPr>
          <p:cNvPr id="10" name="Shape 7"/>
          <p:cNvSpPr/>
          <p:nvPr/>
        </p:nvSpPr>
        <p:spPr>
          <a:xfrm>
            <a:off x="647998" y="2736949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2818358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87797" y="2736949"/>
            <a:ext cx="63073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Técnica</a:t>
            </a:r>
            <a:endParaRPr lang="en-US" sz="1040" dirty="0"/>
          </a:p>
        </p:txBody>
      </p:sp>
      <p:sp>
        <p:nvSpPr>
          <p:cNvPr id="13" name="Text 9"/>
          <p:cNvSpPr txBox="1"/>
          <p:nvPr/>
        </p:nvSpPr>
        <p:spPr>
          <a:xfrm>
            <a:off x="1187797" y="2937123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Decisões simples de chef (ponto de frigideira, cortes, descanso da carne, acidez e texturas) que mudam radicalmente o resultado final.</a:t>
            </a:r>
            <a:endParaRPr lang="en-US" sz="940" dirty="0"/>
          </a:p>
        </p:txBody>
      </p:sp>
      <p:sp>
        <p:nvSpPr>
          <p:cNvPr id="14" name="Shape 10"/>
          <p:cNvSpPr/>
          <p:nvPr/>
        </p:nvSpPr>
        <p:spPr>
          <a:xfrm>
            <a:off x="647998" y="3467993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3549402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87797" y="3467993"/>
            <a:ext cx="12379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Aproveitamento</a:t>
            </a:r>
            <a:endParaRPr lang="en-US" sz="1040" dirty="0"/>
          </a:p>
        </p:txBody>
      </p:sp>
      <p:sp>
        <p:nvSpPr>
          <p:cNvPr id="17" name="Text 12"/>
          <p:cNvSpPr txBox="1"/>
          <p:nvPr/>
        </p:nvSpPr>
        <p:spPr>
          <a:xfrm>
            <a:off x="1187797" y="3668167"/>
            <a:ext cx="572407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olhar inteligente para cascas, talos, ramas e ossos, transformando o que iria para o lixo em sabor e textura.</a:t>
            </a:r>
            <a:endParaRPr lang="en-US" sz="94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4324052"/>
            <a:ext cx="12338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COMO USAR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7998" y="4509492"/>
            <a:ext cx="1568863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ESTE GUIA</a:t>
            </a:r>
            <a:endParaRPr lang="en-US" sz="2100" dirty="0"/>
          </a:p>
        </p:txBody>
      </p:sp>
      <p:sp>
        <p:nvSpPr>
          <p:cNvPr id="20" name="Shape 15"/>
          <p:cNvSpPr/>
          <p:nvPr/>
        </p:nvSpPr>
        <p:spPr>
          <a:xfrm>
            <a:off x="647998" y="500285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647998" y="5249168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Cada um dos 5 capítulos é dedicado a um ingrediente e segue a mesma jornada:</a:t>
            </a:r>
            <a:endParaRPr lang="en-US" sz="1020" dirty="0"/>
          </a:p>
        </p:txBody>
      </p:sp>
      <p:sp>
        <p:nvSpPr>
          <p:cNvPr id="22" name="Shape 17"/>
          <p:cNvSpPr/>
          <p:nvPr/>
        </p:nvSpPr>
        <p:spPr>
          <a:xfrm>
            <a:off x="647998" y="5860405"/>
            <a:ext cx="6263878" cy="3051572"/>
          </a:xfrm>
          <a:prstGeom prst="roundRect">
            <a:avLst>
              <a:gd name="adj" fmla="val 106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2739033" y="5869930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657523" y="7464623"/>
            <a:ext cx="2081510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0520" y="6085880"/>
            <a:ext cx="305991" cy="305991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227088" y="6499771"/>
            <a:ext cx="93285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801439" y="6695331"/>
            <a:ext cx="1784152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olhar do chef para expandir as possibilidades de uso daquele insumo.</a:t>
            </a:r>
            <a:endParaRPr lang="en-US" sz="800" dirty="0"/>
          </a:p>
        </p:txBody>
      </p:sp>
      <p:sp>
        <p:nvSpPr>
          <p:cNvPr id="28" name="Shape 22"/>
          <p:cNvSpPr/>
          <p:nvPr/>
        </p:nvSpPr>
        <p:spPr>
          <a:xfrm>
            <a:off x="4820692" y="5869930"/>
            <a:ext cx="0" cy="1594693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2739033" y="7464623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2030" y="6085880"/>
            <a:ext cx="305991" cy="305991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3240792" y="6499771"/>
            <a:ext cx="106846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Antes da Panela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2882950" y="6695331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escolher no mercado, como armazenar e como cortar.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4820692" y="7464623"/>
            <a:ext cx="2081659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08452" y="6085880"/>
            <a:ext cx="305991" cy="305991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80874" y="6499771"/>
            <a:ext cx="11611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Transformações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4964609" y="6695331"/>
            <a:ext cx="1793825" cy="5848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Três caminhos culinários completamente distintos para aquela sensação de “nunca pensei nisso”.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2739033" y="7464623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0520" y="7680573"/>
            <a:ext cx="305991" cy="305991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1194048" y="8094464"/>
            <a:ext cx="99893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Pulo do Chef</a:t>
            </a:r>
            <a:endParaRPr lang="en-US" sz="900" dirty="0"/>
          </a:p>
        </p:txBody>
      </p:sp>
      <p:sp>
        <p:nvSpPr>
          <p:cNvPr id="40" name="Text 31"/>
          <p:cNvSpPr txBox="1"/>
          <p:nvPr/>
        </p:nvSpPr>
        <p:spPr>
          <a:xfrm>
            <a:off x="801439" y="8290024"/>
            <a:ext cx="1784152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erro frequente, desmistificado, com a técnica exata para corrigi-lo.</a:t>
            </a:r>
            <a:endParaRPr lang="en-US" sz="800" dirty="0"/>
          </a:p>
        </p:txBody>
      </p:sp>
      <p:sp>
        <p:nvSpPr>
          <p:cNvPr id="41" name="Shape 32"/>
          <p:cNvSpPr/>
          <p:nvPr/>
        </p:nvSpPr>
        <p:spPr>
          <a:xfrm>
            <a:off x="4820692" y="7464623"/>
            <a:ext cx="0" cy="1437829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2030" y="7680573"/>
            <a:ext cx="305991" cy="305991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3296543" y="8094464"/>
            <a:ext cx="9571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Tem Isso?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2882950" y="8290024"/>
            <a:ext cx="1784300" cy="290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Substituições inteligentes para você cozinhar sem travar.</a:t>
            </a:r>
            <a:endParaRPr lang="en-US" sz="800" dirty="0"/>
          </a:p>
        </p:txBody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8452" y="7680573"/>
            <a:ext cx="305991" cy="305991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086841" y="8094464"/>
            <a:ext cx="15493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Aproveita Isso Também</a:t>
            </a:r>
            <a:endParaRPr lang="en-US" sz="900" dirty="0"/>
          </a:p>
        </p:txBody>
      </p:sp>
      <p:sp>
        <p:nvSpPr>
          <p:cNvPr id="47" name="Text 36"/>
          <p:cNvSpPr txBox="1"/>
          <p:nvPr/>
        </p:nvSpPr>
        <p:spPr>
          <a:xfrm>
            <a:off x="4964609" y="8290024"/>
            <a:ext cx="1793825" cy="43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60"/>
              </a:lnSpc>
              <a:buNone/>
            </a:pPr>
            <a:r>
              <a:rPr lang="en-US" sz="80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 transformados em preparações saborosas.</a:t>
            </a:r>
            <a:endParaRPr lang="en-US" sz="800" dirty="0"/>
          </a:p>
        </p:txBody>
      </p:sp>
      <p:sp>
        <p:nvSpPr>
          <p:cNvPr id="48" name="Text 37"/>
          <p:cNvSpPr txBox="1"/>
          <p:nvPr/>
        </p:nvSpPr>
        <p:spPr>
          <a:xfrm>
            <a:off x="647998" y="9173468"/>
            <a:ext cx="626387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30"/>
              </a:lnSpc>
              <a:buNone/>
            </a:pPr>
            <a:r>
              <a:rPr lang="en-US" sz="660" b="1" spc="9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MEDIDAS USADAS</a:t>
            </a:r>
            <a:pPr algn="l" indent="0" marL="0">
              <a:lnSpc>
                <a:spcPts val="1230"/>
              </a:lnSpc>
              <a:buNone/>
            </a:pPr>
            <a:r>
              <a:rPr lang="en-US" sz="7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xícara = 240 ml · 1 colher (sopa) = 15 ml · 1 colher (chá) = 5 ml · forno sempre preaquecido</a:t>
            </a:r>
            <a:endParaRPr lang="en-US" sz="660" dirty="0"/>
          </a:p>
        </p:txBody>
      </p:sp>
      <p:sp>
        <p:nvSpPr>
          <p:cNvPr id="49" name="Shape 38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1" name="Text 40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152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QUE TEM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29978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NESTE GUIA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Shape 3"/>
          <p:cNvSpPr/>
          <p:nvPr/>
        </p:nvSpPr>
        <p:spPr>
          <a:xfrm>
            <a:off x="647998" y="1661964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8514" y="1735485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7" name="Text 5"/>
          <p:cNvSpPr txBox="1"/>
          <p:nvPr/>
        </p:nvSpPr>
        <p:spPr>
          <a:xfrm>
            <a:off x="1025872" y="1711672"/>
            <a:ext cx="8957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Boas-vindas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933277" y="1828635"/>
            <a:ext cx="46007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" name="Text 7"/>
          <p:cNvSpPr txBox="1"/>
          <p:nvPr/>
        </p:nvSpPr>
        <p:spPr>
          <a:xfrm>
            <a:off x="6660803" y="1721197"/>
            <a:ext cx="2510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860" dirty="0"/>
          </a:p>
        </p:txBody>
      </p:sp>
      <p:sp>
        <p:nvSpPr>
          <p:cNvPr id="10" name="Shape 8"/>
          <p:cNvSpPr/>
          <p:nvPr/>
        </p:nvSpPr>
        <p:spPr>
          <a:xfrm>
            <a:off x="647998" y="2115443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9882" y="2188964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12" name="Text 10"/>
          <p:cNvSpPr txBox="1"/>
          <p:nvPr/>
        </p:nvSpPr>
        <p:spPr>
          <a:xfrm>
            <a:off x="1025872" y="2165152"/>
            <a:ext cx="20824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Jeito Mamede de Cozinhar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011091" y="2282114"/>
            <a:ext cx="352291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4" name="Text 12"/>
          <p:cNvSpPr txBox="1"/>
          <p:nvPr/>
        </p:nvSpPr>
        <p:spPr>
          <a:xfrm>
            <a:off x="6661696" y="2174677"/>
            <a:ext cx="2501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47998" y="256892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0328" y="2642443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17" name="Text 15"/>
          <p:cNvSpPr txBox="1"/>
          <p:nvPr/>
        </p:nvSpPr>
        <p:spPr>
          <a:xfrm>
            <a:off x="1025872" y="2618631"/>
            <a:ext cx="12103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232422" y="2735593"/>
            <a:ext cx="43015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19" name="Text 17"/>
          <p:cNvSpPr txBox="1"/>
          <p:nvPr/>
        </p:nvSpPr>
        <p:spPr>
          <a:xfrm>
            <a:off x="6660356" y="2628156"/>
            <a:ext cx="2515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860" dirty="0"/>
          </a:p>
        </p:txBody>
      </p:sp>
      <p:sp>
        <p:nvSpPr>
          <p:cNvPr id="20" name="Text 18"/>
          <p:cNvSpPr txBox="1"/>
          <p:nvPr/>
        </p:nvSpPr>
        <p:spPr>
          <a:xfrm>
            <a:off x="1025872" y="2921645"/>
            <a:ext cx="36586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4418409" y="3029083"/>
            <a:ext cx="211559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2" name="Text 20"/>
          <p:cNvSpPr txBox="1"/>
          <p:nvPr/>
        </p:nvSpPr>
        <p:spPr>
          <a:xfrm>
            <a:off x="6674495" y="2926407"/>
            <a:ext cx="23738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780" dirty="0"/>
          </a:p>
        </p:txBody>
      </p:sp>
      <p:sp>
        <p:nvSpPr>
          <p:cNvPr id="23" name="Text 21"/>
          <p:cNvSpPr txBox="1"/>
          <p:nvPr/>
        </p:nvSpPr>
        <p:spPr>
          <a:xfrm>
            <a:off x="1025872" y="3098155"/>
            <a:ext cx="52119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</a:t>
            </a:r>
            <a:endParaRPr lang="en-US" sz="860" dirty="0"/>
          </a:p>
        </p:txBody>
      </p:sp>
      <p:sp>
        <p:nvSpPr>
          <p:cNvPr id="24" name="Shape 22"/>
          <p:cNvSpPr/>
          <p:nvPr/>
        </p:nvSpPr>
        <p:spPr>
          <a:xfrm>
            <a:off x="5805339" y="3205593"/>
            <a:ext cx="72866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5" name="Text 23"/>
          <p:cNvSpPr txBox="1"/>
          <p:nvPr/>
        </p:nvSpPr>
        <p:spPr>
          <a:xfrm>
            <a:off x="6668839" y="3102918"/>
            <a:ext cx="24303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780" dirty="0"/>
          </a:p>
        </p:txBody>
      </p:sp>
      <p:sp>
        <p:nvSpPr>
          <p:cNvPr id="26" name="Text 24"/>
          <p:cNvSpPr txBox="1"/>
          <p:nvPr/>
        </p:nvSpPr>
        <p:spPr>
          <a:xfrm>
            <a:off x="1025872" y="3274665"/>
            <a:ext cx="47314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5376267" y="3382103"/>
            <a:ext cx="115773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6"/>
          <p:cNvSpPr txBox="1"/>
          <p:nvPr/>
        </p:nvSpPr>
        <p:spPr>
          <a:xfrm>
            <a:off x="6671667" y="3279428"/>
            <a:ext cx="2402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647998" y="355193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15714" y="3625453"/>
            <a:ext cx="23083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80" dirty="0"/>
          </a:p>
        </p:txBody>
      </p:sp>
      <p:sp>
        <p:nvSpPr>
          <p:cNvPr id="31" name="Text 29"/>
          <p:cNvSpPr txBox="1"/>
          <p:nvPr/>
        </p:nvSpPr>
        <p:spPr>
          <a:xfrm>
            <a:off x="1025872" y="3601641"/>
            <a:ext cx="1201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24236" y="3718603"/>
            <a:ext cx="430976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3" name="Text 31"/>
          <p:cNvSpPr txBox="1"/>
          <p:nvPr/>
        </p:nvSpPr>
        <p:spPr>
          <a:xfrm>
            <a:off x="6692503" y="3611166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860" dirty="0"/>
          </a:p>
        </p:txBody>
      </p:sp>
      <p:sp>
        <p:nvSpPr>
          <p:cNvPr id="34" name="Text 32"/>
          <p:cNvSpPr txBox="1"/>
          <p:nvPr/>
        </p:nvSpPr>
        <p:spPr>
          <a:xfrm>
            <a:off x="1025872" y="3904655"/>
            <a:ext cx="41901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</a:t>
            </a:r>
            <a:endParaRPr lang="en-US" sz="860" dirty="0"/>
          </a:p>
        </p:txBody>
      </p:sp>
      <p:sp>
        <p:nvSpPr>
          <p:cNvPr id="35" name="Shape 33"/>
          <p:cNvSpPr/>
          <p:nvPr/>
        </p:nvSpPr>
        <p:spPr>
          <a:xfrm>
            <a:off x="4893022" y="4012092"/>
            <a:ext cx="164097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6" name="Text 34"/>
          <p:cNvSpPr txBox="1"/>
          <p:nvPr/>
        </p:nvSpPr>
        <p:spPr>
          <a:xfrm>
            <a:off x="6696373" y="3909417"/>
            <a:ext cx="21550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780" dirty="0"/>
          </a:p>
        </p:txBody>
      </p:sp>
      <p:sp>
        <p:nvSpPr>
          <p:cNvPr id="37" name="Text 35"/>
          <p:cNvSpPr txBox="1"/>
          <p:nvPr/>
        </p:nvSpPr>
        <p:spPr>
          <a:xfrm>
            <a:off x="1025872" y="4081165"/>
            <a:ext cx="33907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</a:t>
            </a:r>
            <a:endParaRPr lang="en-US" sz="860" dirty="0"/>
          </a:p>
        </p:txBody>
      </p:sp>
      <p:sp>
        <p:nvSpPr>
          <p:cNvPr id="38" name="Shape 36"/>
          <p:cNvSpPr/>
          <p:nvPr/>
        </p:nvSpPr>
        <p:spPr>
          <a:xfrm>
            <a:off x="4179243" y="4188602"/>
            <a:ext cx="235475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9" name="Text 37"/>
          <p:cNvSpPr txBox="1"/>
          <p:nvPr/>
        </p:nvSpPr>
        <p:spPr>
          <a:xfrm>
            <a:off x="6705749" y="4085927"/>
            <a:ext cx="2061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780" dirty="0"/>
          </a:p>
        </p:txBody>
      </p:sp>
      <p:sp>
        <p:nvSpPr>
          <p:cNvPr id="40" name="Text 38"/>
          <p:cNvSpPr txBox="1"/>
          <p:nvPr/>
        </p:nvSpPr>
        <p:spPr>
          <a:xfrm>
            <a:off x="1025872" y="4257675"/>
            <a:ext cx="50654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</a:t>
            </a:r>
            <a:endParaRPr lang="en-US" sz="860" dirty="0"/>
          </a:p>
        </p:txBody>
      </p:sp>
      <p:sp>
        <p:nvSpPr>
          <p:cNvPr id="41" name="Shape 39"/>
          <p:cNvSpPr/>
          <p:nvPr/>
        </p:nvSpPr>
        <p:spPr>
          <a:xfrm>
            <a:off x="5674519" y="4365113"/>
            <a:ext cx="85948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2" name="Text 40"/>
          <p:cNvSpPr txBox="1"/>
          <p:nvPr/>
        </p:nvSpPr>
        <p:spPr>
          <a:xfrm>
            <a:off x="6701433" y="4262438"/>
            <a:ext cx="2104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647998" y="453494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719733" y="4608463"/>
            <a:ext cx="2226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80" dirty="0"/>
          </a:p>
        </p:txBody>
      </p:sp>
      <p:sp>
        <p:nvSpPr>
          <p:cNvPr id="45" name="Text 43"/>
          <p:cNvSpPr txBox="1"/>
          <p:nvPr/>
        </p:nvSpPr>
        <p:spPr>
          <a:xfrm>
            <a:off x="1025872" y="4584650"/>
            <a:ext cx="15211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 Frango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509986" y="4701613"/>
            <a:ext cx="402401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47" name="Text 45"/>
          <p:cNvSpPr txBox="1"/>
          <p:nvPr/>
        </p:nvSpPr>
        <p:spPr>
          <a:xfrm>
            <a:off x="6687592" y="4594175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860" dirty="0"/>
          </a:p>
        </p:txBody>
      </p:sp>
      <p:sp>
        <p:nvSpPr>
          <p:cNvPr id="48" name="Text 46"/>
          <p:cNvSpPr txBox="1"/>
          <p:nvPr/>
        </p:nvSpPr>
        <p:spPr>
          <a:xfrm>
            <a:off x="1025872" y="4887664"/>
            <a:ext cx="478293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5422255" y="4995102"/>
            <a:ext cx="111174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0" name="Text 48"/>
          <p:cNvSpPr txBox="1"/>
          <p:nvPr/>
        </p:nvSpPr>
        <p:spPr>
          <a:xfrm>
            <a:off x="6705600" y="4892427"/>
            <a:ext cx="206276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780" dirty="0"/>
          </a:p>
        </p:txBody>
      </p:sp>
      <p:sp>
        <p:nvSpPr>
          <p:cNvPr id="51" name="Text 49"/>
          <p:cNvSpPr txBox="1"/>
          <p:nvPr/>
        </p:nvSpPr>
        <p:spPr>
          <a:xfrm>
            <a:off x="1025872" y="5064175"/>
            <a:ext cx="382681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</a:t>
            </a:r>
            <a:endParaRPr lang="en-US" sz="860" dirty="0"/>
          </a:p>
        </p:txBody>
      </p:sp>
      <p:sp>
        <p:nvSpPr>
          <p:cNvPr id="52" name="Shape 50"/>
          <p:cNvSpPr/>
          <p:nvPr/>
        </p:nvSpPr>
        <p:spPr>
          <a:xfrm>
            <a:off x="4568577" y="5171612"/>
            <a:ext cx="1965424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3" name="Text 51"/>
          <p:cNvSpPr txBox="1"/>
          <p:nvPr/>
        </p:nvSpPr>
        <p:spPr>
          <a:xfrm>
            <a:off x="6685062" y="5068937"/>
            <a:ext cx="22681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780" dirty="0"/>
          </a:p>
        </p:txBody>
      </p:sp>
      <p:sp>
        <p:nvSpPr>
          <p:cNvPr id="54" name="Text 52"/>
          <p:cNvSpPr txBox="1"/>
          <p:nvPr/>
        </p:nvSpPr>
        <p:spPr>
          <a:xfrm>
            <a:off x="1025872" y="5240685"/>
            <a:ext cx="40825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</a:t>
            </a:r>
            <a:endParaRPr lang="en-US" sz="860" dirty="0"/>
          </a:p>
        </p:txBody>
      </p:sp>
      <p:sp>
        <p:nvSpPr>
          <p:cNvPr id="55" name="Shape 53"/>
          <p:cNvSpPr/>
          <p:nvPr/>
        </p:nvSpPr>
        <p:spPr>
          <a:xfrm>
            <a:off x="4796879" y="5348122"/>
            <a:ext cx="173712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56" name="Text 54"/>
          <p:cNvSpPr txBox="1"/>
          <p:nvPr/>
        </p:nvSpPr>
        <p:spPr>
          <a:xfrm>
            <a:off x="6685508" y="5245447"/>
            <a:ext cx="22636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780" dirty="0"/>
          </a:p>
        </p:txBody>
      </p:sp>
      <p:sp>
        <p:nvSpPr>
          <p:cNvPr id="57" name="Shape 55"/>
          <p:cNvSpPr/>
          <p:nvPr/>
        </p:nvSpPr>
        <p:spPr>
          <a:xfrm>
            <a:off x="647998" y="5517952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17947" y="5591473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80" dirty="0"/>
          </a:p>
        </p:txBody>
      </p:sp>
      <p:sp>
        <p:nvSpPr>
          <p:cNvPr id="59" name="Text 57"/>
          <p:cNvSpPr txBox="1"/>
          <p:nvPr/>
        </p:nvSpPr>
        <p:spPr>
          <a:xfrm>
            <a:off x="1025872" y="5567660"/>
            <a:ext cx="7490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1786533" y="5684623"/>
            <a:ext cx="474746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1" name="Text 59"/>
          <p:cNvSpPr txBox="1"/>
          <p:nvPr/>
        </p:nvSpPr>
        <p:spPr>
          <a:xfrm>
            <a:off x="6665565" y="5577185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1025872" y="5870674"/>
            <a:ext cx="25156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</a:t>
            </a:r>
            <a:endParaRPr lang="en-US" sz="860" dirty="0"/>
          </a:p>
        </p:txBody>
      </p:sp>
      <p:sp>
        <p:nvSpPr>
          <p:cNvPr id="63" name="Shape 61"/>
          <p:cNvSpPr/>
          <p:nvPr/>
        </p:nvSpPr>
        <p:spPr>
          <a:xfrm>
            <a:off x="3397895" y="5978112"/>
            <a:ext cx="3136106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4" name="Text 62"/>
          <p:cNvSpPr txBox="1"/>
          <p:nvPr/>
        </p:nvSpPr>
        <p:spPr>
          <a:xfrm>
            <a:off x="6678216" y="5875437"/>
            <a:ext cx="2336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780" dirty="0"/>
          </a:p>
        </p:txBody>
      </p:sp>
      <p:sp>
        <p:nvSpPr>
          <p:cNvPr id="65" name="Text 63"/>
          <p:cNvSpPr txBox="1"/>
          <p:nvPr/>
        </p:nvSpPr>
        <p:spPr>
          <a:xfrm>
            <a:off x="1025872" y="6047184"/>
            <a:ext cx="42625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</a:t>
            </a:r>
            <a:endParaRPr lang="en-US" sz="860" dirty="0"/>
          </a:p>
        </p:txBody>
      </p:sp>
      <p:sp>
        <p:nvSpPr>
          <p:cNvPr id="66" name="Shape 64"/>
          <p:cNvSpPr/>
          <p:nvPr/>
        </p:nvSpPr>
        <p:spPr>
          <a:xfrm>
            <a:off x="4957614" y="6154622"/>
            <a:ext cx="1576388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67" name="Text 65"/>
          <p:cNvSpPr txBox="1"/>
          <p:nvPr/>
        </p:nvSpPr>
        <p:spPr>
          <a:xfrm>
            <a:off x="6681043" y="6051947"/>
            <a:ext cx="23083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780" dirty="0"/>
          </a:p>
        </p:txBody>
      </p:sp>
      <p:sp>
        <p:nvSpPr>
          <p:cNvPr id="68" name="Text 66"/>
          <p:cNvSpPr txBox="1"/>
          <p:nvPr/>
        </p:nvSpPr>
        <p:spPr>
          <a:xfrm>
            <a:off x="1025872" y="6223695"/>
            <a:ext cx="273384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</a:t>
            </a:r>
            <a:endParaRPr lang="en-US" sz="860" dirty="0"/>
          </a:p>
        </p:txBody>
      </p:sp>
      <p:sp>
        <p:nvSpPr>
          <p:cNvPr id="69" name="Shape 67"/>
          <p:cNvSpPr/>
          <p:nvPr/>
        </p:nvSpPr>
        <p:spPr>
          <a:xfrm>
            <a:off x="3592711" y="6331132"/>
            <a:ext cx="294129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0" name="Text 68"/>
          <p:cNvSpPr txBox="1"/>
          <p:nvPr/>
        </p:nvSpPr>
        <p:spPr>
          <a:xfrm>
            <a:off x="6676132" y="6228457"/>
            <a:ext cx="23574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780" dirty="0"/>
          </a:p>
        </p:txBody>
      </p:sp>
      <p:sp>
        <p:nvSpPr>
          <p:cNvPr id="71" name="Shape 69"/>
          <p:cNvSpPr/>
          <p:nvPr/>
        </p:nvSpPr>
        <p:spPr>
          <a:xfrm>
            <a:off x="647998" y="650096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18989" y="6574482"/>
            <a:ext cx="22428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80" dirty="0"/>
          </a:p>
        </p:txBody>
      </p:sp>
      <p:sp>
        <p:nvSpPr>
          <p:cNvPr id="73" name="Text 71"/>
          <p:cNvSpPr txBox="1"/>
          <p:nvPr/>
        </p:nvSpPr>
        <p:spPr>
          <a:xfrm>
            <a:off x="1025872" y="6550670"/>
            <a:ext cx="65529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1692771" y="6667633"/>
            <a:ext cx="484123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5" name="Text 73"/>
          <p:cNvSpPr txBox="1"/>
          <p:nvPr/>
        </p:nvSpPr>
        <p:spPr>
          <a:xfrm>
            <a:off x="6671072" y="6560195"/>
            <a:ext cx="2408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860" dirty="0"/>
          </a:p>
        </p:txBody>
      </p:sp>
      <p:sp>
        <p:nvSpPr>
          <p:cNvPr id="76" name="Text 74"/>
          <p:cNvSpPr txBox="1"/>
          <p:nvPr/>
        </p:nvSpPr>
        <p:spPr>
          <a:xfrm>
            <a:off x="1025872" y="6853684"/>
            <a:ext cx="494445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</a:t>
            </a:r>
            <a:endParaRPr lang="en-US" sz="860" dirty="0"/>
          </a:p>
        </p:txBody>
      </p:sp>
      <p:sp>
        <p:nvSpPr>
          <p:cNvPr id="77" name="Shape 75"/>
          <p:cNvSpPr/>
          <p:nvPr/>
        </p:nvSpPr>
        <p:spPr>
          <a:xfrm>
            <a:off x="5566470" y="6961119"/>
            <a:ext cx="967532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78" name="Text 76"/>
          <p:cNvSpPr txBox="1"/>
          <p:nvPr/>
        </p:nvSpPr>
        <p:spPr>
          <a:xfrm>
            <a:off x="6686699" y="6858446"/>
            <a:ext cx="22517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780" dirty="0"/>
          </a:p>
        </p:txBody>
      </p:sp>
      <p:sp>
        <p:nvSpPr>
          <p:cNvPr id="79" name="Text 77"/>
          <p:cNvSpPr txBox="1"/>
          <p:nvPr/>
        </p:nvSpPr>
        <p:spPr>
          <a:xfrm>
            <a:off x="1025872" y="7030194"/>
            <a:ext cx="412618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</a:t>
            </a:r>
            <a:endParaRPr lang="en-US" sz="860" dirty="0"/>
          </a:p>
        </p:txBody>
      </p:sp>
      <p:sp>
        <p:nvSpPr>
          <p:cNvPr id="80" name="Shape 78"/>
          <p:cNvSpPr/>
          <p:nvPr/>
        </p:nvSpPr>
        <p:spPr>
          <a:xfrm>
            <a:off x="4835872" y="7137629"/>
            <a:ext cx="1698129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1" name="Text 79"/>
          <p:cNvSpPr txBox="1"/>
          <p:nvPr/>
        </p:nvSpPr>
        <p:spPr>
          <a:xfrm>
            <a:off x="6681341" y="7034957"/>
            <a:ext cx="23053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780" dirty="0"/>
          </a:p>
        </p:txBody>
      </p:sp>
      <p:sp>
        <p:nvSpPr>
          <p:cNvPr id="82" name="Text 80"/>
          <p:cNvSpPr txBox="1"/>
          <p:nvPr/>
        </p:nvSpPr>
        <p:spPr>
          <a:xfrm>
            <a:off x="1025872" y="7206704"/>
            <a:ext cx="47165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86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</a:t>
            </a:r>
            <a:endParaRPr lang="en-US" sz="860" dirty="0"/>
          </a:p>
        </p:txBody>
      </p:sp>
      <p:sp>
        <p:nvSpPr>
          <p:cNvPr id="83" name="Shape 81"/>
          <p:cNvSpPr/>
          <p:nvPr/>
        </p:nvSpPr>
        <p:spPr>
          <a:xfrm>
            <a:off x="5363021" y="7314140"/>
            <a:ext cx="1170980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4" name="Text 82"/>
          <p:cNvSpPr txBox="1"/>
          <p:nvPr/>
        </p:nvSpPr>
        <p:spPr>
          <a:xfrm>
            <a:off x="6684615" y="7211467"/>
            <a:ext cx="227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0"/>
              </a:lnSpc>
              <a:buNone/>
            </a:pPr>
            <a:r>
              <a:rPr lang="en-US" sz="78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780" dirty="0"/>
          </a:p>
        </p:txBody>
      </p:sp>
      <p:sp>
        <p:nvSpPr>
          <p:cNvPr id="85" name="Shape 83"/>
          <p:cNvSpPr/>
          <p:nvPr/>
        </p:nvSpPr>
        <p:spPr>
          <a:xfrm>
            <a:off x="647998" y="7483971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716756" y="7557492"/>
            <a:ext cx="2286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80" dirty="0"/>
          </a:p>
        </p:txBody>
      </p:sp>
      <p:sp>
        <p:nvSpPr>
          <p:cNvPr id="87" name="Text 85"/>
          <p:cNvSpPr txBox="1"/>
          <p:nvPr/>
        </p:nvSpPr>
        <p:spPr>
          <a:xfrm>
            <a:off x="1025872" y="7533680"/>
            <a:ext cx="22534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Bônus: Os 10 Pulos do Mamede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163788" y="7650640"/>
            <a:ext cx="3370213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89" name="Text 87"/>
          <p:cNvSpPr txBox="1"/>
          <p:nvPr/>
        </p:nvSpPr>
        <p:spPr>
          <a:xfrm>
            <a:off x="6649938" y="7543205"/>
            <a:ext cx="26193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860" dirty="0"/>
          </a:p>
        </p:txBody>
      </p:sp>
      <p:sp>
        <p:nvSpPr>
          <p:cNvPr id="90" name="Shape 88"/>
          <p:cNvSpPr/>
          <p:nvPr/>
        </p:nvSpPr>
        <p:spPr>
          <a:xfrm>
            <a:off x="647998" y="7937450"/>
            <a:ext cx="251966" cy="251966"/>
          </a:xfrm>
          <a:prstGeom prst="ellipse">
            <a:avLst/>
          </a:prstGeom>
          <a:solidFill>
            <a:srgbClr val="4E5B38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717947" y="8010971"/>
            <a:ext cx="22636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80" dirty="0"/>
          </a:p>
        </p:txBody>
      </p:sp>
      <p:sp>
        <p:nvSpPr>
          <p:cNvPr id="92" name="Text 90"/>
          <p:cNvSpPr txBox="1"/>
          <p:nvPr/>
        </p:nvSpPr>
        <p:spPr>
          <a:xfrm>
            <a:off x="1025872" y="7987159"/>
            <a:ext cx="169554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seguir cozinhando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2665661" y="8104119"/>
            <a:ext cx="3868341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94" name="Text 92"/>
          <p:cNvSpPr txBox="1"/>
          <p:nvPr/>
        </p:nvSpPr>
        <p:spPr>
          <a:xfrm>
            <a:off x="6684615" y="7996684"/>
            <a:ext cx="2272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860" dirty="0"/>
          </a:p>
        </p:txBody>
      </p:sp>
      <p:sp>
        <p:nvSpPr>
          <p:cNvPr id="95" name="Shape 9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97" name="Text 95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6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18898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ABÓBORA CABOTIÁ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493187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 abóbora japonesa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Versátil, barata e símbolo de comida afetiva. E 100% aproveitável, da casca à semente: exatamente o que pede o consumo consciente.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cabotiá é a abóbora mais generosa da feira. Tem polpa densa, pouca água e doçura natural, e é justamente isso que permite levá-la do nhoque ao doce de colher sem perder identidade.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 mais comum é tratá-la sempre do mesmo jeito: cozida na água, no refogado, como acompanhamento. Quando você assa a cabotiá, a água evapora, os açúcares caramelizam e o sabor se concentra. É outra abóbora.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tem mais: a casca é comestível e as sementes viram petisco. Da cabotiá, quase nada vai para o lixo.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3011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CLÁSSICO AFETIVO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Nhoque de abóbora tostado na manteiga de garrafa e sálvia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(conforto refinado)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58273" y="6346627"/>
            <a:ext cx="2536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8404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INUSITADO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ou bolinho cremoso assado de abóbora com especiarias e queijo coalho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(o lado salgado que ninguém espera)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52915" y="7008168"/>
            <a:ext cx="2589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525643"/>
            <a:ext cx="88106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LADO DOCE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Crepúsculo: doce de abóbora cremoso de colher com coco e raspas de laranja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(uma sobremesa de memória afetiva)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55743" y="7669709"/>
            <a:ext cx="25613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785967" y="10236845"/>
            <a:ext cx="24020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6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Pegue na mão: ela deve parecer pesada para o tamanho. Isso indica polpa densa e pouca água.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5835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534221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firme, sem partes moles, rachaduras ou manchas úmidas.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254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976092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Cabinho seco e bem preso. Se estiver verde e úmido, ela foi colhida cedo demais.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65230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602956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Comprando em pedaço: procure polpa laranja intensa e sementes bem formadas.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13074"/>
            <a:ext cx="3042047" cy="3115121"/>
          </a:xfrm>
          <a:prstGeom prst="roundRect">
            <a:avLst>
              <a:gd name="adj" fmla="val 1067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Inteira: em local fresco, seco e arejado, fora da geladeira, por até 1 a 2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Cortada: retire as sementes, envolva em filme e guarde na geladeira por até 5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Assada ou cozida: em porções no freezer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508129"/>
            <a:ext cx="6263878" cy="2190155"/>
          </a:xfrm>
          <a:prstGeom prst="roundRect">
            <a:avLst>
              <a:gd name="adj" fmla="val 2059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69758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778996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815608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2517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6202412"/>
            <a:ext cx="50014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Estabilize primeiro: corte uma fatia fina da base para ela não rolar na tábua.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45928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 a faca mais pesada que você tiver e corte ao meio, de cima para baixo. Retire as sementes com uma colher.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95051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456" y="6901160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Gomos com casca para assar; cubos de 2 cm para refogar e cozinhar; ralada para bolinhos e massas.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855456" y="739238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999381" y="7343031"/>
            <a:ext cx="62841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descascar, apoie o gomo deitado na tábua e corte a casca com a faca, de cima para baixo.</a:t>
            </a:r>
            <a:endParaRPr lang="en-US" sz="940" dirty="0"/>
          </a:p>
        </p:txBody>
      </p:sp>
      <p:sp>
        <p:nvSpPr>
          <p:cNvPr id="40" name="Shape 35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6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8896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1.1 · O CLÁSSICO AFETIVO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Nhoque de abóbora tostado na manteiga de garrafa e sálvia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15064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conforto refinado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33932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1H15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9" name="Shape 14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abóbora cabotiá com casca (cerca de 600 g de polpa)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14465"/>
            <a:ext cx="5168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gema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032052"/>
            <a:ext cx="18420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parmesão ralado fino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98" y="424963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180 a 220 g de farinha de trigo (mais um pouco para polvilhar)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68981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630936"/>
            <a:ext cx="21199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noz-moscada ralada na hora</a:t>
            </a:r>
            <a:endParaRPr lang="en-US" sz="890" dirty="0"/>
          </a:p>
        </p:txBody>
      </p:sp>
      <p:sp>
        <p:nvSpPr>
          <p:cNvPr id="29" name="Text 24"/>
          <p:cNvSpPr txBox="1"/>
          <p:nvPr/>
        </p:nvSpPr>
        <p:spPr>
          <a:xfrm>
            <a:off x="647998" y="4893022"/>
            <a:ext cx="10362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FINALIZAR</a:t>
            </a:r>
            <a:endParaRPr lang="en-US" sz="660" dirty="0"/>
          </a:p>
        </p:txBody>
      </p:sp>
      <p:sp>
        <p:nvSpPr>
          <p:cNvPr id="30" name="Shape 25"/>
          <p:cNvSpPr/>
          <p:nvPr/>
        </p:nvSpPr>
        <p:spPr>
          <a:xfrm>
            <a:off x="665998" y="51200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06119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colheres (sopa) de manteiga de garrafa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5013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442496"/>
            <a:ext cx="15131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folhas de sálvia fresca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e parmesão a gosto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 abóbora em gomos, sem tirar a casca, e asse a 200 °C por 35 a 40 minutos, até ficar bem macia.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Assar, e não cozinhar na água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é o que garante um nhoque leve.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392668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Raspe a polpa da casca e passe pelo espremedor (ou amasse muito bem com um garfo). Espalhe o purê numa travessa e deixe esfriar descoberto, para o vapor ir embora.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56932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gema, o parmesão, sal e noz-moscada. Acrescente a farinha aos poucos, misturando com as mãos só até a massa ficar macia e soltar dos dedos. Ela pode continuar levemente úmida.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38668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5428952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395020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um teste: modele uma bolinha e cozinhe em água fervente. Se desmanchar, acrescente mais 1 ou 2 colheres de farinha.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Divida a massa, faça rolinhos de 2 cm de espessura sobre a bancada enfarinhada e corte em pedaços de 2 cm.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64972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água fervente com sal, em levas. Quando os nhoques subirem, conte 30 segundos e retire com escumadeira.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3131939" y="713154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197572" y="7173813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8" name="Text 53"/>
          <p:cNvSpPr txBox="1"/>
          <p:nvPr/>
        </p:nvSpPr>
        <p:spPr>
          <a:xfrm>
            <a:off x="3419773" y="7139880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grande, aqueça a manteiga de garrafa e frite as folhas de sálvia até ficarem crocantes. Junte os nhoques escorridos e deixe dourar 2 minutos sem mexer. Vire, finalize com pimenta e parmesão e sirva na hora.</a:t>
            </a:r>
            <a:endParaRPr lang="en-US" sz="930" dirty="0"/>
          </a:p>
        </p:txBody>
      </p:sp>
      <p:sp>
        <p:nvSpPr>
          <p:cNvPr id="59" name="Shape 54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60" name="Shape 55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2" name="Text 56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3" name="Text 57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Os nhoques podem ser congelados crus, espalhados numa assadeira enfarinhada. Depois de firmes, passe para um saco. Cozinhe direto do congelador, sem descongelar.</a:t>
            </a:r>
            <a:endParaRPr lang="en-US" sz="1000" dirty="0"/>
          </a:p>
        </p:txBody>
      </p:sp>
      <p:sp>
        <p:nvSpPr>
          <p:cNvPr id="64" name="Shape 58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5" name="Text 59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6" name="Text 60"/>
          <p:cNvSpPr txBox="1"/>
          <p:nvPr/>
        </p:nvSpPr>
        <p:spPr>
          <a:xfrm>
            <a:off x="6784479" y="10236845"/>
            <a:ext cx="24169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6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634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1.2 · O INUSITADO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507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Hambúrguer ou bolinho cremoso assado de abóbora com especiarias e queijo coalho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2316956"/>
            <a:ext cx="22991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lado salgado que ninguém espera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71030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773710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692450"/>
            <a:ext cx="140895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 (MAIS 30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921050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722811" y="2710309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11" y="2773710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100685" y="2692450"/>
            <a:ext cx="157921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BOLINHOS OU 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100685" y="2921050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329434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3124200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5057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446859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abóbora cabotiá assada e amassada (veja o passo 1 do nhoque)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405074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99186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queijo coalho em cubinhos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43204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373166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6496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98" y="45907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colheres (sopa) de farinha de rosca (ou de aveia em flocos finos)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503092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972050"/>
            <a:ext cx="181939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cebola picada bem miúda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24851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5189637"/>
            <a:ext cx="14180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dente de alho picado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4660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407223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68368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624810"/>
            <a:ext cx="22182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defumada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90127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98" y="584239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28257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6223695"/>
            <a:ext cx="189040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azeite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329434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3124200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44805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490317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45638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Refogue a cebola e o alho num fio de azeite até ficarem macios. Junte o cominho e a páprica e mexa por 30 segundos, só para despertar o aroma das especiarias.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09069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413295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09902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tigela, misture o purê de abóbora, o refogado, o ovo, a farinha de rosca e o cheiro-verde. Tempere com sal e pimenta. Por último, incorpore o queijo coalho.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73333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77559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74166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Cubra e leve à geladeira por 30 minutos. A massa firma e fica muito mais fácil de modelar.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519291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523517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520124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as mãos untadas, modele bolinhos ou discos de hambúrguer. Disponha numa assadeira com papel-manteiga e pincele azeite por cima.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8355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87781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843885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a 200 °C por 25 a 30 minutos, virando na metade do tempo, até dourar. Para hambúrgueres, também dá para dourar numa frigideira bem quente, 4 minutos de cada lado.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6" name="Shape 51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8" name="Text 52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9" name="Text 53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queijo coalho derrete só em parte e cria um coração cremoso, com pontos tostados por fora. Sirva com um molho de iogurte, limão e hortelã.</a:t>
            </a:r>
            <a:endParaRPr lang="en-US" sz="1000" dirty="0"/>
          </a:p>
        </p:txBody>
      </p:sp>
      <p:sp>
        <p:nvSpPr>
          <p:cNvPr id="60" name="Shape 54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2" name="Text 56"/>
          <p:cNvSpPr txBox="1"/>
          <p:nvPr/>
        </p:nvSpPr>
        <p:spPr>
          <a:xfrm>
            <a:off x="6780461" y="10236845"/>
            <a:ext cx="2457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6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9130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1.3 · O LADO DOCE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Crepúsculo: doce de abóbora cremoso de colher com coco e raspas de laranja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3429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uma sobremesa de memória afetiva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91454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1 KG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kg de polpa de abóbora cabotiá em cubos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655814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3873401"/>
            <a:ext cx="10806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xícara de água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090987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308574"/>
            <a:ext cx="122982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coco ralado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526161"/>
            <a:ext cx="21864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pau de canela e 3 cravos-da-índia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743748"/>
            <a:ext cx="118014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Raspas de 1 laranja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0202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4961334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 de fundo grosso, cozinhe a abóbora com a água, tampada, em fogo médio, até ficar bem macia (cerca de 15 minutos).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abóbora na própria panela. Junte o açúcar, a canela e os cravos.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em fogo baixo, mexendo com frequência, até o doce começar a desgrudar do fundo da panela, por 30 a 40 minutos. Cuidado: ele espirra. Use uma colher de cabo longo.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o coco ralado e cozinhe por mais 10 minutos, mexendo.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retire a canela e os cravos e só então junte as raspas de laranja e a pitada de sal.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1311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certo: ao passar a colher no fundo, o doce abre um caminho que demora a se fechar. Lembre que ele engrossa bastante ao esfriar.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5" name="Shape 50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8" name="Text 52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Raspas de cítricos vão sempre no final, com o fogo desligado: o calor prolongado evapora os óleos aromáticos da casca. A pitada de sal não salga, ela faz o doce parecer mais doce e menos enjoativo.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1" name="Text 55"/>
          <p:cNvSpPr txBox="1"/>
          <p:nvPr/>
        </p:nvSpPr>
        <p:spPr>
          <a:xfrm>
            <a:off x="6782544" y="10236845"/>
            <a:ext cx="2436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6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476601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Nhoque de abóbora que vira chiclete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2983111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1307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abóbora na água. Ela absorve líquido, a massa fica mole e a única saída parece ser jogar mais e mais farinha. O resultado é um nhoque pesado, borrachudo e com gosto de farinha, em vez de gosto de abóbora.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2983111"/>
          </a:xfrm>
          <a:prstGeom prst="roundRect">
            <a:avLst>
              <a:gd name="adj" fmla="val 1110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abóbora em vez de cozinhar: a água evapora e o sabor concentra.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o vapor sair: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espalhe o purê numa travessa e espere amornar antes de juntar a farinha.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0894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27996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aos poucos: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pare assim que a massa deixar de grudar. Massa de nhoque é úmida mesmo.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3581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354860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sove: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misture só o necessário. Quanto mais você trabalha a massa, mais elástica ela fica.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262563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448002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5941368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168628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262092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168628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262092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0236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553795"/>
            <a:ext cx="103748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Abóbora cabotiá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0236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563320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Abóbora-paulista ou moranga (têm mais água: asse por mais tempo e escorra o purê numa peneira) ou batata-doce.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54915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00590"/>
            <a:ext cx="12708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Manteiga de garrafa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54915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859" y="7110115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Ghee ou manteiga comum com um fio de azeite (que evita que ela queime).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920782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647384"/>
            <a:ext cx="817066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Sálvia fresca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920782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656909"/>
            <a:ext cx="177438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 ou tomilho frescos.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2924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019008"/>
            <a:ext cx="89371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Queijo coalho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2924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028533"/>
            <a:ext cx="269700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Queijo meia-cura ou muçarela em cubos.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66402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390632"/>
            <a:ext cx="8633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66402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00157"/>
            <a:ext cx="38921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com 2 colheres (sopa) a mais de coco ralado.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03565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762256"/>
            <a:ext cx="54486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Laranja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03565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771781"/>
            <a:ext cx="402033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Tangerina, ou metade da quantidade de raspas de limão-taiti.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2189" y="10236845"/>
            <a:ext cx="22398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6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27305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chips crocantes temperados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receita pedir abóbora descascada, tire a casca em tiras finas com um descascador de legumes. Misture com um fio de azeite, sal e páprica e espalhe sem amontoar. Leve à airfryer a 180 °C por 8 a 12 minutos, chacoalhando na metade, ou ao forno a 160 °C por 20 a 25 minutos. Elas ficam crocantes ao esfriar.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364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1790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36491"/>
            <a:ext cx="343276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Sementes: snack crocante com páprica e sal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070152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Lave as sementes numa peneira, separando as fibras, e seque muito bem com um pano. Tempere com um fio de azeite, sal e páprica defumada e asse a 160 °C por 20 a 25 minutos, mexendo de vez em quando, até dourarem e estalarem. Use como petisco ou para dar crocância a saladas, sopas e ao próprio nhoque.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61532" y="10236845"/>
            <a:ext cx="20076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</a:t>
            </a:r>
            <a:endParaRPr lang="en-US" sz="6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106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BANANA-DA-TERRA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68654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ou banana-prata firme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 nacional por excelência. Transita entre o salgado e o doce e leva sofisticação ao prato sem pesar no bolso.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banana-da-terra é uma banana de cozinhar. Crua, ela é dura e pouco agradável; no fogo, vira outra coisa: macia, caramelizada, cheia de sabor.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segredo está no estágio de maturação. Verde, ela é rica em amido e se comporta quase como uma batata. Amarela com pintinhas pretas, fica no ponto mais versátil: doce, mas firme. Com a casca quase toda preta, está doce e macia, perfeita para purês e sobremesas.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Aprender a ler a casca é aprender a escolher o que fazer com ela. E, no fim, a própria casca ainda vira recheio.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56202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RÁPIDA DE FRIGIDEIRA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Moqueca expressa de frigideira com banana, leite de coco e pimenta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(sem peixe, mas cheia de sabor)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81936" y="6346627"/>
            <a:ext cx="2299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177688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TEXTURA SURPREENDENTE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Purê aveludado de banana grelhada com noz-moscada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acompanhar carnes ou legumes assados)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92205" y="7008168"/>
            <a:ext cx="21967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525643"/>
            <a:ext cx="145101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CHEF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Bananas flambadas no rum ou na cachaça com crosta de açúcar mascavo e canela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sobremesa de restaurante feita em casa)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87592" y="7669709"/>
            <a:ext cx="2242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</a:t>
            </a:r>
            <a:endParaRPr lang="en-US" sz="6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pelo uso: amarela com pintas para as receitas deste capítulo; mais verde se for fritar em chips; bem madura para doces.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719215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fruta deve estar firme ao toque, sem partes afundadas.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2104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4161086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pontas com bolor ou casca rachada, por onde a fruta resseca.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Fora da geladeira, de preferência penduradas, longe de outras frutas.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amadurecer mais rápido, guarde num saco de papel fechado.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frear o amadurecimento, leve à geladeira: a casca escurece, mas a polpa se mantém.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4673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417963"/>
            <a:ext cx="2501130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Maduras demais? Descasque, corte e congele em saco fechado por até 3 meses.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23136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1259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594003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3061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0667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174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descascar a banana-da-terra: corte as duas pontas, faça um talho raso ao longo da casca e solte-a com o polegar.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59289"/>
            <a:ext cx="417552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grossas em diagonal (2 cm) para frigideira e moqueca.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7655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16167"/>
            <a:ext cx="32892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Lâminas no comprimento para grelhar e flambar.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13</a:t>
            </a:r>
            <a:endParaRPr lang="en-US" sz="6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0367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2.1 · A RÁPIDA DE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Moqueca expressa de frigideira com banana, leite de coco e pimenta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9702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sem peixe, mas cheia de sabor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8771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264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665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139" y="2352377"/>
            <a:ext cx="7268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139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 e firmes, em rodelas diagonais de 2 cm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8784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8195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azeite de dendê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00823"/>
            <a:ext cx="12371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em rodelas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18409"/>
            <a:ext cx="187756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pimentão vermelho em tiras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635996"/>
            <a:ext cx="1367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tomates em rodelas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91245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853583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5071170"/>
            <a:ext cx="146518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 ml de leite de coco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34763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288756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pimenta dedo-de-moça (ou pimenta-de-cheiro) picada, sem sementes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8926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833765"/>
            <a:ext cx="106114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½ limão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1102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98" y="60513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Coentro (ou cheiro-verde) e sal a gosto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dendê numa frigideira grande. Doure as rodelas de banana, 2 minutos de cada lado, sem mexer. Tempere com uma pitada de sal e reserve.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391834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396061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392668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frigideira, com o restante do dendê, refogue a cebola, o pimentão e o alho por 3 minutos.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38626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tomate e a pimenta e cozinhe até o tomate começar a desmanchar.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483750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487977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484584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leite de coco e deixe ferver por 5 minutos, até engrossar levemente. Acerte o sal.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as bananas para a frigideira e cozinhe só por 3 a 4 minutos, para aquecerem no molho sem desmanchar.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Desligue o fogo, regue com o suco de limão e finalize com coentro.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9" name="Shape 54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2" name="Text 56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Dourar a banana antes é o que dá estrutura e sabor à moqueca. Sirva com arroz branco e farofa de dendê.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5" name="Text 59"/>
          <p:cNvSpPr txBox="1"/>
          <p:nvPr/>
        </p:nvSpPr>
        <p:spPr>
          <a:xfrm>
            <a:off x="6801594" y="10236845"/>
            <a:ext cx="2245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</a:t>
            </a:r>
            <a:endParaRPr lang="en-US" sz="6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635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2.2 · A TEXTURA SURPREENDENTE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Purê aveludado de banana grelhada com noz-moscada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97819"/>
            <a:ext cx="29778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para acompanhar carnes ou legumes assados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6713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2809"/>
            <a:ext cx="47937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639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8930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2331" y="2036713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6805" y="1992809"/>
            <a:ext cx="237546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 COMO ACOMPANHAMENTO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6805" y="214639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23" y="3274516"/>
            <a:ext cx="17963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bananas-da-terra maduras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5509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492103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376856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98" y="370969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ml de leite quente (ou caldo de frango)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090987"/>
            <a:ext cx="180805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Noz-moscada ralada na hora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0" name="Shape 2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2" name="Text 27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Descasque as bananas e corte em lâminas no sentido do comprimento.</a:t>
            </a:r>
            <a:endParaRPr lang="en-US" sz="930" dirty="0"/>
          </a:p>
        </p:txBody>
      </p:sp>
      <p:sp>
        <p:nvSpPr>
          <p:cNvPr id="33" name="Shape 28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5" name="Text 30"/>
          <p:cNvSpPr txBox="1"/>
          <p:nvPr/>
        </p:nvSpPr>
        <p:spPr>
          <a:xfrm>
            <a:off x="3419773" y="374362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1 colher de manteiga numa frigideira e grelhe as lâminas em fogo médio-alto até ficarem bem douradas dos dois lados. É essa caramelização que dá profundidade ao purê.</a:t>
            </a:r>
            <a:endParaRPr lang="en-US" sz="930" dirty="0"/>
          </a:p>
        </p:txBody>
      </p:sp>
      <p:sp>
        <p:nvSpPr>
          <p:cNvPr id="36" name="Shape 31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456932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panela, junte o leite quente e amasse bem com um garfo ou espremedor, em fogo baixo.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502890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manteiga restante e mexa até ficar aveludado. Se quiser mais liso, passe por uma peneira.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548014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465" y="5522416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548848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com sal, pimenta e noz-moscada. Se estiver doce demais, equilibre com algumas gotas de limão.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46" name="Shape 41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49" name="Text 43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É um acompanhamento salgado de respeito: fica perfeito com carne de sol, frango assado ou peixe grelhado.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2" name="Text 46"/>
          <p:cNvSpPr txBox="1"/>
          <p:nvPr/>
        </p:nvSpPr>
        <p:spPr>
          <a:xfrm>
            <a:off x="6809184" y="10236845"/>
            <a:ext cx="21699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</a:t>
            </a:r>
            <a:endParaRPr lang="en-US" sz="63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59849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2.3 · A SOBREMESA DE CHEF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Bananas flambadas no rum ou na cachaça com crosta de açúcar mascavo e canela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70283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sobremesa de restaurante feita em casa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604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bananas-da-terra ou 4 bananas-prata firmes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65581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açúcar mascavo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0959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037112"/>
            <a:ext cx="19089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canela em pó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54698"/>
            <a:ext cx="189890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472285"/>
            <a:ext cx="16082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ml de rum ou cachaça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689872"/>
            <a:ext cx="104596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de 1 laranja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907459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125045"/>
            <a:ext cx="180489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Sorvete de creme para servir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as bananas ao meio no sentido do comprimento (e ao meio na largura, se forem grandes).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o açúcar mascavo com a canela e o sal e polvilhe sobre o lado cortado das bananas, pressionando.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203204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a manteiga numa frigideira até espumar. Coloque as bananas com o lado do açúcar para baixo e não mexa por 2 a 3 minutos, até formar uma crosta. Vire com cuidado.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02056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062835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028902"/>
            <a:ext cx="3492103" cy="894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Flambe com segurança: desligue o fogo, coloque o rum medido num copinho e despeje na frigideira. Afaste o rosto, religue o fogo e incline levemente a frigideira (ou acenda com um fósforo longo). Deixe a chama apagar sozinha.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602932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6071592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6037659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suco de laranja e deixe borbulhar por 1 minuto, até formar uma calda.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48890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531173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4972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as bananas quentes com a calda e uma bola de sorvete.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5" name="Shape 50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8" name="Text 52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Nunca despeje a bebida direto da garrafa perto do fogo, e desligue o exaustor durante a flambagem. Flambar queima o álcool e deixa só o aroma da bebida na calda.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1" name="Text 55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</a:t>
            </a:r>
            <a:endParaRPr lang="en-US" sz="63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269575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 que vira papa na frigideira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2798118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Colocar a banana em frigideira morna e ficar mexendo. Ela solta líquido, cozinha no próprio vapor e desmancha antes de dourar.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2798118"/>
          </a:xfrm>
          <a:prstGeom prst="roundRect">
            <a:avLst>
              <a:gd name="adj" fmla="val 1261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com a gordura já brilhando, antes de a banana entrar.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Espaço: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amontoe. Se precisar, doure em duas levas.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52395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543002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deixe 2 minutos parada e vire uma única vez.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396582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3984873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 no ponto: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amarela com pintinhas. Preta demais desmancha; verde demais não carameliza.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077569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263009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5756374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5983635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077099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5983635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077099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66421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368802"/>
            <a:ext cx="108213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Banana-da-terra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66421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378327"/>
            <a:ext cx="48276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Banana-prata firme (cozinha mais rápido: reduza os tempos pela metade).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0138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6740426"/>
            <a:ext cx="101843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Azeite de dendê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0138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6749951"/>
            <a:ext cx="399850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comum com 1 colher (chá) de colorau ou páprica doce.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38544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112050"/>
            <a:ext cx="86335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Leite de coco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38544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121575"/>
            <a:ext cx="341676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Creme de leite com 2 colheres (sopa) de coco ralado.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793224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483673"/>
            <a:ext cx="103911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Rum ou cachaça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793224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859" y="7493198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Conhaque ou uísque. Sem álcool: dobre o suco de laranja e pule a flambagem.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30386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030468"/>
            <a:ext cx="102765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Açúcar mascavo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30386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039993"/>
            <a:ext cx="435904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Açúcar demerara, ou açúcar comum com 1 colher (chá) de melado.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67548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402092"/>
            <a:ext cx="89430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Noz-moscada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67548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411617"/>
            <a:ext cx="270533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canela ou de cravo em pó.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807250" y="10236845"/>
            <a:ext cx="21892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6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345659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Casca: “carne” vegetal desfiada e temperada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Funciona melhor com cascas de banana-prata ou nanica, maduras e bem lavadas (a da banana-da-terra é mais grossa: cozinhe antes por 15 minutos em água). Corte as pontas e desfie as cascas no comprimento com um garfo. Deixe de molho em água com limão por 10 minutos e escorra. Refogue cebola, alho e tomate, junte as cascas, cominho, páprica e colorau e cozinhe em fogo baixo, tampado, por 15 a 20 minutos, pingando água se secar. Ajuste o sal e finalize com cheiro-verde.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62587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707285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625876"/>
            <a:ext cx="832396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usar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859536"/>
            <a:ext cx="3366195" cy="753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de pastel, tapioca e torta; fricassê com creme de leite e queijo gratinado; refogado para servir com arroz e feijão. Com as cascas de 5 bananas você faz recheio para uns 10 pastéis.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39952" y="10236845"/>
            <a:ext cx="2223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</a:t>
            </a:r>
            <a:endParaRPr lang="en-US" sz="6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04984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3527971" cy="942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DE FRANGO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9605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15889"/>
            <a:ext cx="108246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com osso e pele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514898"/>
            <a:ext cx="3527971" cy="792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proteína é um dos itens que mais pesam no orçamento da família. A sobrecoxa é muito mais saborosa, suculenta e barata que o peito, e com técnica de chef você passa a dominá-la.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existe um corte que perdoa, é a sobrecoxa. Por ser carne escura, tem mais gordura e mais colágeno: aguenta mais tempo de fogo, continua suculenta e tem muito mais sabor que o peito.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ela vem com dois presentes que quase todo mundo joga fora. A pele, que bem trabalhada fica crocante como um torresmo. E o osso, que vira um caldo capaz de transformar qualquer arroz, molho ou sopa.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Neste capítulo, a mesma peça vai para a frigideira, para a panela e para o forno, cada vez com uma técnica e um resultado diferentes.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6293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 DA FRIGIDEIRA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desossada com pele ultracrocante ao molho rústico de limão e alho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 pele mais crocante que você já fez)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92503" y="6346627"/>
            <a:ext cx="2193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130299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COZIMENTO LENTO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suculento ao molho de tomate caseiro e ervas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(para massas, tortas e sanduíches)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70477" y="7008168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525643"/>
            <a:ext cx="155469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TECNOLÓGICO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Sobrecoxa marinada no iogurte com especiarias, assada até dourar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(maciez extrema, no forno ou na airfryer)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70477" y="7669709"/>
            <a:ext cx="2413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805761" y="10236845"/>
            <a:ext cx="22041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</a:t>
            </a:r>
            <a:endParaRPr lang="en-US" sz="63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inteira, de cor clara e uniforme, sem manchas escuras.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 líquido na bandeja e nenhum cheiro forte.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791099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Congelada: sem cristais grossos de gelo, que indicam que ela descongelou e congelou de novo.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geladeira, na prateleira de baixo, por até 2 dias.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freezer, em porções achatadas dentro de sacos, por até 3 meses.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Descongele sempre na geladeira, de um dia para o outro. Nunca na pia.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696271"/>
            <a:ext cx="6263878" cy="1933277"/>
          </a:xfrm>
          <a:prstGeom prst="roundRect">
            <a:avLst>
              <a:gd name="adj" fmla="val 264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885730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4967139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0375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399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390555"/>
            <a:ext cx="60112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bem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papel-toalha antes de qualquer preparo. Pele molhada não fica crocante.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69678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5647432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Para desossar: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com a pele para baixo, faça um corte ao longo do osso, raspe a carne em volta com a ponta da faca e solte a articulação. Guarde o osso no freezer para o caldo.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13865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6089303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 antecipada: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 colher (chá) de sal para cada 500 g, de 1 hora até 24 horas antes, na geladeira e descoberta. A carne fica mais temperada e a pele, mais seca.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</a:t>
            </a:r>
            <a:endParaRPr lang="en-US" sz="63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783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3.1 · A TÉCNICA DA FRIGIDEIRA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desossada com pele ultracrocante ao molho rústico de limão e alho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34546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 pele mais crocante que você já fez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783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788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28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5763" y="2352377"/>
            <a:ext cx="93538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A 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576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3264991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19" name="Shape 14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23" y="3433167"/>
            <a:ext cx="222527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sobrecoxas desossadas, com pele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70962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65075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392721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3868341"/>
            <a:ext cx="131949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óleo</a:t>
            </a:r>
            <a:endParaRPr lang="en-US" sz="890" dirty="0"/>
          </a:p>
        </p:txBody>
      </p:sp>
      <p:sp>
        <p:nvSpPr>
          <p:cNvPr id="25" name="Text 20"/>
          <p:cNvSpPr txBox="1"/>
          <p:nvPr/>
        </p:nvSpPr>
        <p:spPr>
          <a:xfrm>
            <a:off x="647998" y="4130427"/>
            <a:ext cx="52060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MOLHO</a:t>
            </a:r>
            <a:endParaRPr lang="en-US" sz="660" dirty="0"/>
          </a:p>
        </p:txBody>
      </p:sp>
      <p:sp>
        <p:nvSpPr>
          <p:cNvPr id="26" name="Shape 21"/>
          <p:cNvSpPr/>
          <p:nvPr/>
        </p:nvSpPr>
        <p:spPr>
          <a:xfrm>
            <a:off x="665998" y="43574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298603"/>
            <a:ext cx="15900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dentes de alho fatiados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5750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45161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ml de caldo de frango (ou água)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49563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897487"/>
            <a:ext cx="15223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1 limão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1739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1150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manteiga gelada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55524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496371"/>
            <a:ext cx="9958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Salsinha picada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8" name="Shape 33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muito bem as sobrecoxas e tempere com sal e pimenta dos dois lados.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o óleo numa frigideira de fundo grosso e disponha as sobrecoxas com a pele para baixo, ainda com a frigideira fria. Ligue em fogo médio.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4386263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um peso por cima (uma panela menor com água, por exemplo) e deixe por 12 a 15 minutos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 mexer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A gordura da pele derrete aos poucos e ela frita na própria gordura até ficar dourada e crocante.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Vire e cozinhe por mais 4 a 6 minutos, até o centro atingir 75 °C ou o suco sair transparente ao furar.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grade ou prato, com a pele para cima, e deixe descansar 5 minutos.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gordura da frigideira, deixando cerca de 1 colher. Em fogo baixo, doure o alho por 1 minuto.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8" name="Text 53"/>
          <p:cNvSpPr txBox="1"/>
          <p:nvPr/>
        </p:nvSpPr>
        <p:spPr>
          <a:xfrm>
            <a:off x="3419773" y="6590705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caldo e raspe bem o fundo com uma colher de pau. Deixe reduzir à metade. Desligue o fogo, junte o suco e as raspas de limão e a manteiga gelada, mexendo até o molho engrossar e brilhar. Finalize com salsinha.</a:t>
            </a:r>
            <a:endParaRPr lang="en-US" sz="930" dirty="0"/>
          </a:p>
        </p:txBody>
      </p:sp>
      <p:sp>
        <p:nvSpPr>
          <p:cNvPr id="59" name="Shape 54"/>
          <p:cNvSpPr/>
          <p:nvPr/>
        </p:nvSpPr>
        <p:spPr>
          <a:xfrm>
            <a:off x="3131939" y="740806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60" name="Text 55"/>
          <p:cNvSpPr txBox="1"/>
          <p:nvPr/>
        </p:nvSpPr>
        <p:spPr>
          <a:xfrm>
            <a:off x="3195786" y="7450336"/>
            <a:ext cx="1663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</a:t>
            </a:r>
            <a:endParaRPr lang="en-US" sz="630" dirty="0"/>
          </a:p>
        </p:txBody>
      </p:sp>
      <p:sp>
        <p:nvSpPr>
          <p:cNvPr id="61" name="Text 56"/>
          <p:cNvSpPr txBox="1"/>
          <p:nvPr/>
        </p:nvSpPr>
        <p:spPr>
          <a:xfrm>
            <a:off x="3419773" y="741640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o molho no fundo do prato e o frango por cima, para a pele continuar crocante.</a:t>
            </a:r>
            <a:endParaRPr lang="en-US" sz="930" dirty="0"/>
          </a:p>
        </p:txBody>
      </p:sp>
      <p:sp>
        <p:nvSpPr>
          <p:cNvPr id="62" name="Shape 5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63" name="Shape 5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5" name="Text 5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6" name="Text 6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Aquele fundo grudado na frigideira é sabor puro. Soltá-lo com um líquido (deglaçar) transforma o que iria para a pia no melhor molho do prato.</a:t>
            </a:r>
            <a:endParaRPr lang="en-US" sz="1000" dirty="0"/>
          </a:p>
        </p:txBody>
      </p:sp>
      <p:sp>
        <p:nvSpPr>
          <p:cNvPr id="67" name="Shape 6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8" name="Text 6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9" name="Text 63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21</a:t>
            </a:r>
            <a:endParaRPr lang="en-US" sz="63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43163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3.2 · O COZIMENTO LENTO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Frango desfiado suculento ao molho de tomate caseiro e ervas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16660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para massas, tortas e sanduíches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186523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1H20 (OU 40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2979241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2642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57116" y="2352377"/>
            <a:ext cx="7311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357116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 (cerca de 1 kg)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655814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3873401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090987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308574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5850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526161"/>
            <a:ext cx="1023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cenoura ralada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480262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4743748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extrato de tomate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12504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tomates bem maduros picados (ou 1 lata de tomate pelado)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56521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23" y="5506343"/>
            <a:ext cx="9620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folha de louro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5723930"/>
            <a:ext cx="22086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ml de caldo de frango ou água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665998" y="6000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809998" y="5941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Orégano, manjericão e cheiro-verde a gosto</a:t>
            </a:r>
            <a:endParaRPr lang="en-US" sz="890" dirty="0"/>
          </a:p>
        </p:txBody>
      </p:sp>
      <p:sp>
        <p:nvSpPr>
          <p:cNvPr id="40" name="Shape 3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2" name="Shape 3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tempere as sobrecoxas com sal e pimenta. Doure no azeite, com a pele para baixo, por 6 a 8 minutos, até ficarem bem douradas. Vire, doure o outro lado por 2 minutos e reserve.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gordura que ficou na panela, refogue a cebola, o alho e a cenoura até ficarem macios.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extrato de tomate e mexa por 1 minuto, até ele escurecer levemente. Isso tira o gosto ácido de lata e aprofunda o sabor.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521196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os tomates, o louro e o caldo, raspando o fundo. Volte o frango para a panela.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566320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8465" y="5705475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567154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baixo por 50 a 60 minutos (ou 20 minutos na panela de pressão), até a carne soltar do osso.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612278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6828" y="6165056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61311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ossos e a pele (guarde os ossos para o caldo). Desfie a carne com dois garfos dentro do próprio molho.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3131939" y="65823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61" name="Text 56"/>
          <p:cNvSpPr txBox="1"/>
          <p:nvPr/>
        </p:nvSpPr>
        <p:spPr>
          <a:xfrm>
            <a:off x="3197572" y="6624637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62" name="Text 57"/>
          <p:cNvSpPr txBox="1"/>
          <p:nvPr/>
        </p:nvSpPr>
        <p:spPr>
          <a:xfrm>
            <a:off x="3419773" y="659070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destampado até o molho envolver o frango. Finalize com as ervas e acerte o sal.</a:t>
            </a:r>
            <a:endParaRPr lang="en-US" sz="930" dirty="0"/>
          </a:p>
        </p:txBody>
      </p:sp>
      <p:sp>
        <p:nvSpPr>
          <p:cNvPr id="63" name="Shape 58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64" name="Shape 59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7" name="Text 61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Desfiar dentro do molho faz a carne absorver o líquido e continuar suculenta. Use em sanduíches, massas, tortas, panquecas ou sobre polenta mole.</a:t>
            </a:r>
            <a:endParaRPr lang="en-US" sz="1000" dirty="0"/>
          </a:p>
        </p:txBody>
      </p:sp>
      <p:sp>
        <p:nvSpPr>
          <p:cNvPr id="68" name="Shape 6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9" name="Text 6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70" name="Text 64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</a:t>
            </a:r>
            <a:endParaRPr lang="en-US" sz="63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71317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3.3 · O ASSADO TECNOLÓGICO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 marinada no iogurte com especiarias, assada até dourar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66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maciez extrema, no forno ou na airfryer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198291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 (MAIS 2 H DE MARINADA)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4314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715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2189" y="2352377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2189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3264991"/>
            <a:ext cx="7142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MARINADA</a:t>
            </a:r>
            <a:endParaRPr lang="en-US" sz="660" dirty="0"/>
          </a:p>
        </p:txBody>
      </p:sp>
      <p:sp>
        <p:nvSpPr>
          <p:cNvPr id="19" name="Shape 14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170 g de iogurte natural integral (1 pote)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14465"/>
            <a:ext cx="1530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ralados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032052"/>
            <a:ext cx="20580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gengibre ralado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249638"/>
            <a:ext cx="18705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páprica doce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23" y="4467225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74368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23" y="4684812"/>
            <a:ext cx="170538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cúrcuma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49612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4902398"/>
            <a:ext cx="160686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Suco e raspas de ½ limão</a:t>
            </a:r>
            <a:endParaRPr lang="en-US" sz="890" dirty="0"/>
          </a:p>
        </p:txBody>
      </p:sp>
      <p:sp>
        <p:nvSpPr>
          <p:cNvPr id="33" name="Shape 28"/>
          <p:cNvSpPr/>
          <p:nvPr/>
        </p:nvSpPr>
        <p:spPr>
          <a:xfrm>
            <a:off x="665998" y="51788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809923" y="5119985"/>
            <a:ext cx="12208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sal</a:t>
            </a:r>
            <a:endParaRPr lang="en-US" sz="890" dirty="0"/>
          </a:p>
        </p:txBody>
      </p:sp>
      <p:sp>
        <p:nvSpPr>
          <p:cNvPr id="35" name="Shape 30"/>
          <p:cNvSpPr/>
          <p:nvPr/>
        </p:nvSpPr>
        <p:spPr>
          <a:xfrm>
            <a:off x="665998" y="53964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809923" y="5337572"/>
            <a:ext cx="149385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azeite</a:t>
            </a:r>
            <a:endParaRPr lang="en-US" sz="890" dirty="0"/>
          </a:p>
        </p:txBody>
      </p:sp>
      <p:sp>
        <p:nvSpPr>
          <p:cNvPr id="37" name="Text 32"/>
          <p:cNvSpPr txBox="1"/>
          <p:nvPr/>
        </p:nvSpPr>
        <p:spPr>
          <a:xfrm>
            <a:off x="647998" y="5599658"/>
            <a:ext cx="57537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</a:t>
            </a:r>
            <a:endParaRPr lang="en-US" sz="660" dirty="0"/>
          </a:p>
        </p:txBody>
      </p:sp>
      <p:sp>
        <p:nvSpPr>
          <p:cNvPr id="38" name="Shape 33"/>
          <p:cNvSpPr/>
          <p:nvPr/>
        </p:nvSpPr>
        <p:spPr>
          <a:xfrm>
            <a:off x="665998" y="582670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809923" y="5767834"/>
            <a:ext cx="18600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sobrecoxas com osso e pele</a:t>
            </a:r>
            <a:endParaRPr lang="en-US" sz="890" dirty="0"/>
          </a:p>
        </p:txBody>
      </p:sp>
      <p:sp>
        <p:nvSpPr>
          <p:cNvPr id="40" name="Shape 3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2" name="Shape 3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3284041"/>
            <a:ext cx="370329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Misture todos os ingredientes da marinada numa tigela.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Faça 2 cortes rasos em cada sobrecoxa, do lado da pele, e envolva bem na marinada. Cubra e leve à geladeira por no mínimo 2 horas, idealmente de um dia para o outro.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421079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 excesso de marinada e disponha as sobrecoxas com a pele para cima, sobre uma grade apoiada na assadeira (ou sobre papel-manteiga), bem espaçadas.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485343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forno: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asse a 220 °C por 35 a 40 minutos. Nos últimos 5 minutos, ligue o grill, se o seu forno tiver, para formar manchas tostadas.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3131939" y="5487739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3198465" y="5530007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6" name="Text 51"/>
          <p:cNvSpPr txBox="1"/>
          <p:nvPr/>
        </p:nvSpPr>
        <p:spPr>
          <a:xfrm>
            <a:off x="3419773" y="549607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airfryer: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180 °C por 15 minutos, vire, e mais 8 a 10 minutos a 200 °C.</a:t>
            </a:r>
            <a:endParaRPr lang="en-US" sz="930" dirty="0"/>
          </a:p>
        </p:txBody>
      </p:sp>
      <p:sp>
        <p:nvSpPr>
          <p:cNvPr id="57" name="Shape 52"/>
          <p:cNvSpPr/>
          <p:nvPr/>
        </p:nvSpPr>
        <p:spPr>
          <a:xfrm>
            <a:off x="3131939" y="594732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8" name="Text 53"/>
          <p:cNvSpPr txBox="1"/>
          <p:nvPr/>
        </p:nvSpPr>
        <p:spPr>
          <a:xfrm>
            <a:off x="3196828" y="598958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9" name="Text 54"/>
          <p:cNvSpPr txBox="1"/>
          <p:nvPr/>
        </p:nvSpPr>
        <p:spPr>
          <a:xfrm>
            <a:off x="3419773" y="5955655"/>
            <a:ext cx="279768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descansar 5 minutos antes de servir.</a:t>
            </a:r>
            <a:endParaRPr lang="en-US" sz="930" dirty="0"/>
          </a:p>
        </p:txBody>
      </p:sp>
      <p:sp>
        <p:nvSpPr>
          <p:cNvPr id="60" name="Shape 55"/>
          <p:cNvSpPr/>
          <p:nvPr/>
        </p:nvSpPr>
        <p:spPr>
          <a:xfrm>
            <a:off x="647998" y="8864352"/>
            <a:ext cx="6263878" cy="1035546"/>
          </a:xfrm>
          <a:prstGeom prst="roundRect">
            <a:avLst>
              <a:gd name="adj" fmla="val 9209"/>
            </a:avLst>
          </a:prstGeom>
          <a:solidFill>
            <a:srgbClr val="EEE6D8"/>
          </a:solidFill>
          <a:ln/>
        </p:spPr>
      </p:sp>
      <p:sp>
        <p:nvSpPr>
          <p:cNvPr id="61" name="Shape 56"/>
          <p:cNvSpPr/>
          <p:nvPr/>
        </p:nvSpPr>
        <p:spPr>
          <a:xfrm>
            <a:off x="827931" y="902627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107686"/>
            <a:ext cx="197048" cy="197048"/>
          </a:xfrm>
          <a:prstGeom prst="rect">
            <a:avLst/>
          </a:prstGeom>
        </p:spPr>
      </p:pic>
      <p:sp>
        <p:nvSpPr>
          <p:cNvPr id="63" name="Text 57"/>
          <p:cNvSpPr txBox="1"/>
          <p:nvPr/>
        </p:nvSpPr>
        <p:spPr>
          <a:xfrm>
            <a:off x="1331714" y="9026277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4" name="Text 58"/>
          <p:cNvSpPr txBox="1"/>
          <p:nvPr/>
        </p:nvSpPr>
        <p:spPr>
          <a:xfrm>
            <a:off x="1331714" y="9176445"/>
            <a:ext cx="5400229" cy="561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ácido suave do iogurte amacia a carne sem deixá-la farinhenta (como acontece com marinadas muito ácidas), e os açúcares do leite ajudam a dourar. Sirva com arroz, salada de pepino e um molho de iogurte com hortelã.</a:t>
            </a:r>
            <a:endParaRPr lang="en-US" sz="1000" dirty="0"/>
          </a:p>
        </p:txBody>
      </p:sp>
      <p:sp>
        <p:nvSpPr>
          <p:cNvPr id="65" name="Shape 59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7" name="Text 61"/>
          <p:cNvSpPr txBox="1"/>
          <p:nvPr/>
        </p:nvSpPr>
        <p:spPr>
          <a:xfrm>
            <a:off x="6793409" y="10236845"/>
            <a:ext cx="23276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23</a:t>
            </a:r>
            <a:endParaRPr lang="en-US" sz="63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2880360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Pele borrachuda e frango seco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Tirar o frango molhado da embalagem direto para a frigideira, mexer o tempo todo e cortar assim que sai do fogo. A pele cozinha no vapor e fica mole; a carne perde o suco na tábua.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e salgue antes: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papel-toalha e, se der, sal com antecedência na geladeira, descoberto.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082082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101132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Pele para baixo e paciência: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fogo médio, peso por cima e nada de mexer até ela soltar sozinha da frigideira.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708946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727996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Ponto pela temperatura: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sobrecoxa fica melhor entre 75 °C e 80 °C. Um termômetro culinário custa menos que uma pizza e acaba com o achismo.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2080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3985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Descanso: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5 minutos antes de cortar, para os sucos se redistribuírem.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447556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299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612636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353621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44708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353621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44708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18735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738789"/>
            <a:ext cx="70038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Sobrecoxa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18735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859" y="6748314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Coxa (aumente um pouco o tempo) ou peito (reduza bastante o tempo e retire do fogo a 65 °C: ele resseca fácil).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55898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285583"/>
            <a:ext cx="976461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Iogurte natural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55898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295108"/>
            <a:ext cx="460657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Coalhada seca, ou leite com suco de limão descansado por 10 minutos.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93060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657207"/>
            <a:ext cx="10161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Caldo de frango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93060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666732"/>
            <a:ext cx="315439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com as aparas e um ramo de cheiro-verde.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302228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8028831"/>
            <a:ext cx="922437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Tomate fresco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302228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8038356"/>
            <a:ext cx="226895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Tomate pelado em lata ou passata.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82253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98" y="8400455"/>
            <a:ext cx="136786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Manteiga gelada no molho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82253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409980"/>
            <a:ext cx="37474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Azeite (o molho fica mais fino, mas igualmente saboroso).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919415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920758"/>
            <a:ext cx="64085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Cúrcuma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919415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930283"/>
            <a:ext cx="285669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Uma pitada de açafrão-da-terra ou de curry.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6860" y="10236845"/>
            <a:ext cx="23931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</a:t>
            </a:r>
            <a:endParaRPr lang="en-US" sz="63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352960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Ossos e aparas: fundo caseiro ultra-aromático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34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os ossos, peles e aparas de 6 a 8 sobrecoxas (pode ir guardando no freezer). Para um caldo mais escuro e intenso, asse os ossos antes a 200 °C por 30 minutos. Coloque numa panela com 1 cebola cortada ao meio com casca, 1 cenoura com casca, talos de salsinha, 1 folha de louro, 6 grãos de pimenta e 2 litros de água fria.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4033837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4115246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4033837"/>
            <a:ext cx="13380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ponto do caldo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267498"/>
            <a:ext cx="3366195" cy="15433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Leve ao fogo baixo e nunca deixe ferver forte: a fervura turva o caldo. Retire a espuma que subir. Cozinhe por 2 a 3 horas, coe e leve à geladeira. A gordura endurece por cima: retire e guarde, ela é ótima para refogar. Congele o caldo em forminhas de gelo por até 3 meses e use um cubo para enriquecer arroz, feijão, molhos e sopas, como o caldo de mandioca do próximo capítulo. É o seu caldo caseiro, sem cubinhos industrializados.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29236" y="10236845"/>
            <a:ext cx="23306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25</a:t>
            </a:r>
            <a:endParaRPr lang="en-US" sz="63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20915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2360295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5414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96789"/>
            <a:ext cx="1274326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aipim, macaxeira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0957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raiz do Brasil: rica em amido, acessível e um coringa técnico. Une sustentabilidade e brasilidade num ingrediente só.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Poucos ingredientes são tão brasileiros e tão subestimados. A mandioca costuma ficar presa a dois papéis: cozida na manteiga ou frita como acompanhamento.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 é justamente o amido dela que a torna um coringa técnico. Ralada crua, ela se une sozinha e fica crocante na frigideira. Cozida e batida, vira um creme aveludado sem precisar de creme de leite. Misturada com queijo, vira biscoito.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 aviso importante: a mandioca vendida no mercado e na feira é a mandioca mansa, de mesa. Mesmo assim, ela deve ser sempre bem cozida antes de comer. Nunca consuma mandioca crua.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481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CROCÂNCIA PERFEITA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Rösti de mandioca recheado na frigideira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(crosta dourada por fora, cremoso por dentro)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62886" y="6346627"/>
            <a:ext cx="24898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16845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CULINÁRIA ACOLHEDORA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Caldo aveludado de mandioca com gengibre e bacon (ou cogumelos)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(abraço em forma de prato)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71666" y="7115603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525643"/>
            <a:ext cx="8015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SURPRESA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Biscoito de polvilho e mandioca de assadeira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(rápido para o lanche da tarde)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471666" y="7777144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60654" y="7669709"/>
            <a:ext cx="2512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26</a:t>
            </a:r>
            <a:endParaRPr lang="en-US" sz="63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 marrom, que se solta com facilidade, e ponta que estala ao quebrar.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Polpa branca ou amarelada, uniforme, sem estrias escuras, azuladas ou pontos moles.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40254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976092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Raízes médias costumam ser mais macias que as muito grossas.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855456" y="44673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99456" y="4417963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boa cozinha rápido. Se demorar demais, o problema é a raiz, não você.</a:t>
            </a:r>
            <a:endParaRPr lang="en-US" sz="940" dirty="0"/>
          </a:p>
        </p:txBody>
      </p:sp>
      <p:sp>
        <p:nvSpPr>
          <p:cNvPr id="18" name="Shape 15"/>
          <p:cNvSpPr/>
          <p:nvPr/>
        </p:nvSpPr>
        <p:spPr>
          <a:xfrm>
            <a:off x="3869829" y="2213074"/>
            <a:ext cx="3042047" cy="2930128"/>
          </a:xfrm>
          <a:prstGeom prst="roundRect">
            <a:avLst>
              <a:gd name="adj" fmla="val 1150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2" name="Shape 18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casca, fora da geladeira, ela estraga em 2 ou 3 dias.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349228"/>
            <a:ext cx="2501130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melhor caminho: descasque, lave, corte em pedaços e congele crua em sacos por até 3 meses. Ela cozinha ainda melhor depois de congelada.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4077287" y="421043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4221287" y="4161086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Cozida: na geladeira por até 3 dias, coberta pela própria água do cozimento.</a:t>
            </a:r>
            <a:endParaRPr lang="en-US" sz="940" dirty="0"/>
          </a:p>
        </p:txBody>
      </p:sp>
      <p:sp>
        <p:nvSpPr>
          <p:cNvPr id="28" name="Shape 24"/>
          <p:cNvSpPr/>
          <p:nvPr/>
        </p:nvSpPr>
        <p:spPr>
          <a:xfrm>
            <a:off x="647998" y="5323136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37456" y="5512594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5594003"/>
            <a:ext cx="197048" cy="197048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323231" y="5630614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2" name="Shape 27"/>
          <p:cNvSpPr/>
          <p:nvPr/>
        </p:nvSpPr>
        <p:spPr>
          <a:xfrm>
            <a:off x="855456" y="60667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456" y="601741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em toras de 8 a 10 cm. Faça um talho no comprimento e solte a casca marrom junto com a entrecasca rosada, de uma vez.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650863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381" y="6459289"/>
            <a:ext cx="434987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Depois de cozida, abra ao meio e retire o fio central, que é fibroso.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855456" y="676551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999381" y="6716167"/>
            <a:ext cx="5217485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Corte sempre em pedaços de tamanho parecido, para tudo cozinhar por igual.</a:t>
            </a:r>
            <a:endParaRPr lang="en-US" sz="940" dirty="0"/>
          </a:p>
        </p:txBody>
      </p:sp>
      <p:sp>
        <p:nvSpPr>
          <p:cNvPr id="38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6791325" y="10236845"/>
            <a:ext cx="23485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27</a:t>
            </a:r>
            <a:endParaRPr lang="en-US" sz="6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62199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4.1 · A CROCÂNCIA PERFEITA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Rösti de mandioca recheado na frigideira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97819"/>
            <a:ext cx="294086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crosta dourada por fora, cremoso por dentro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6713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2809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639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036713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1992809"/>
            <a:ext cx="203408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RÖSTI GRANDE (2 A 4 PORÇÕES)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14639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9" name="Shape 14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500 g de mandioca crua descascada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14465"/>
            <a:ext cx="145751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e pimenta-do-reino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98" y="403205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manteiga (ou metade manteiga, metade óleo)</a:t>
            </a:r>
            <a:endParaRPr lang="en-US" sz="890" dirty="0"/>
          </a:p>
        </p:txBody>
      </p:sp>
      <p:sp>
        <p:nvSpPr>
          <p:cNvPr id="25" name="Text 20"/>
          <p:cNvSpPr txBox="1"/>
          <p:nvPr/>
        </p:nvSpPr>
        <p:spPr>
          <a:xfrm>
            <a:off x="647998" y="4457849"/>
            <a:ext cx="149552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RECHEIO (ESCOLHA UM)</a:t>
            </a:r>
            <a:endParaRPr lang="en-US" sz="660" dirty="0"/>
          </a:p>
        </p:txBody>
      </p:sp>
      <p:sp>
        <p:nvSpPr>
          <p:cNvPr id="26" name="Shape 21"/>
          <p:cNvSpPr/>
          <p:nvPr/>
        </p:nvSpPr>
        <p:spPr>
          <a:xfrm>
            <a:off x="665998" y="46849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626025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carne-seca dessalgada, cozida e desfiada, refogada com cebola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22990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171033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 150 g de muçarela com 3 colheres (sopa) de requeijão cremoso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2" name="Shape 27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4" name="Text 29"/>
          <p:cNvSpPr txBox="1"/>
          <p:nvPr/>
        </p:nvSpPr>
        <p:spPr>
          <a:xfrm>
            <a:off x="3419773" y="3284041"/>
            <a:ext cx="316456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Rale a mandioca crua no lado grosso do ralador.</a:t>
            </a:r>
            <a:endParaRPr lang="en-US" sz="930" dirty="0"/>
          </a:p>
        </p:txBody>
      </p:sp>
      <p:sp>
        <p:nvSpPr>
          <p:cNvPr id="35" name="Shape 30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6" name="Text 31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7" name="Text 32"/>
          <p:cNvSpPr txBox="1"/>
          <p:nvPr/>
        </p:nvSpPr>
        <p:spPr>
          <a:xfrm>
            <a:off x="3419773" y="3568154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Coloque num pano de prato limpo e torça com força para retirar o máximo de líquido. Descarte o líquido.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Este é o passo que garante a crocância.</a:t>
            </a:r>
            <a:endParaRPr lang="en-US" sz="930" dirty="0"/>
          </a:p>
        </p:txBody>
      </p:sp>
      <p:sp>
        <p:nvSpPr>
          <p:cNvPr id="38" name="Shape 33"/>
          <p:cNvSpPr/>
          <p:nvPr/>
        </p:nvSpPr>
        <p:spPr>
          <a:xfrm>
            <a:off x="3131939" y="420246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3198614" y="424472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0" name="Text 35"/>
          <p:cNvSpPr txBox="1"/>
          <p:nvPr/>
        </p:nvSpPr>
        <p:spPr>
          <a:xfrm>
            <a:off x="3419773" y="4210794"/>
            <a:ext cx="313055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Tempere a mandioca ralada com sal e pimenta.</a:t>
            </a:r>
            <a:endParaRPr lang="en-US" sz="930" dirty="0"/>
          </a:p>
        </p:txBody>
      </p:sp>
      <p:sp>
        <p:nvSpPr>
          <p:cNvPr id="41" name="Shape 36"/>
          <p:cNvSpPr/>
          <p:nvPr/>
        </p:nvSpPr>
        <p:spPr>
          <a:xfrm>
            <a:off x="3131939" y="4486573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2" name="Text 37"/>
          <p:cNvSpPr txBox="1"/>
          <p:nvPr/>
        </p:nvSpPr>
        <p:spPr>
          <a:xfrm>
            <a:off x="3194745" y="4528840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3" name="Text 38"/>
          <p:cNvSpPr txBox="1"/>
          <p:nvPr/>
        </p:nvSpPr>
        <p:spPr>
          <a:xfrm>
            <a:off x="3419773" y="4494907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Aqueça metade da manteiga numa frigideira antiaderente de 20 a 22 cm, em fogo médio. Espalhe metade da mandioca, pressionando com uma espátula para formar uma base compacta.</a:t>
            </a:r>
            <a:endParaRPr lang="en-US" sz="930" dirty="0"/>
          </a:p>
        </p:txBody>
      </p:sp>
      <p:sp>
        <p:nvSpPr>
          <p:cNvPr id="44" name="Shape 39"/>
          <p:cNvSpPr/>
          <p:nvPr/>
        </p:nvSpPr>
        <p:spPr>
          <a:xfrm>
            <a:off x="3131939" y="531227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198465" y="535453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532060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Distribua o recheio, deixando 1 cm livre na borda. Cubra com o restante da mandioca, pressione e feche bem as bordas.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595491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6828" y="5997178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596324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Tampe e cozinhe em fogo médio-baixo por 12 a 15 minutos, até a base ficar dourada e firme (dá para levantar a borda com a espátula para conferir).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65975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7572" y="6639818"/>
            <a:ext cx="16281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66058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Deslize o rösti para um prato, cubra com outro prato, vire e devolva à frigideira com o restante da manteiga. Cozinhe destampado por mais 12 a 15 minutos, até dourar.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4" name="Shape 49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6" name="Text 50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7" name="Text 51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Fogo alto doura por fora e deixa a mandioca crua por dentro. O segredo é fogo médio-baixo e tempo: por fora ela fica dourada, por dentro, cremosa.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0" name="Text 54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28</a:t>
            </a:r>
            <a:endParaRPr lang="en-US" sz="63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87102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4.2 · A CULINÁRIA ACOLHEDORA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Caldo aveludado de mandioca com gengibre e bacon (ou cogumelos)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7150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abraço em forma de prato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198224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(OU 25 MIN NA PRESSÃO)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083719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7120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461593" y="2352377"/>
            <a:ext cx="93970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A 6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46159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800 g de mandioca descascada, em pedaços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98" y="3655814"/>
            <a:ext cx="1997942" cy="4798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bacon em cubinhos (ou 200 g de cogumelos fatiados, na versão vegetariana)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42596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4200823"/>
            <a:ext cx="970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picada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47728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418409"/>
            <a:ext cx="15671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dentes de alho picados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69487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63599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gengibre fresco ralado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507616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501729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1,2 litro de caldo de frango (capítulo 3) ou de legumes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45746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39859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pimenta-do-reino e algumas gotas de limão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83876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98" y="5779889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Cebolinha picada e azeite para finalizar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6" name="Shape 31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panela, doure o bacon em fogo médio até ficar crocante. Retire com escumadeira e reserve, deixando a gordura na panela. (Na versão com cogumelos, doure-os em 1 colher de manteiga e reserve.)</a:t>
            </a:r>
            <a:endParaRPr lang="en-US" sz="930" dirty="0"/>
          </a:p>
        </p:txBody>
      </p:sp>
      <p:sp>
        <p:nvSpPr>
          <p:cNvPr id="39" name="Shape 34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1" name="Text 36"/>
          <p:cNvSpPr txBox="1"/>
          <p:nvPr/>
        </p:nvSpPr>
        <p:spPr>
          <a:xfrm>
            <a:off x="3419773" y="4109740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mesma panela, refogue a cebola até ficar transparente. Junte o alho e o gengibre e refogue por 1 minuto.</a:t>
            </a:r>
            <a:endParaRPr lang="en-US" sz="930" dirty="0"/>
          </a:p>
        </p:txBody>
      </p:sp>
      <p:sp>
        <p:nvSpPr>
          <p:cNvPr id="42" name="Shape 37"/>
          <p:cNvSpPr/>
          <p:nvPr/>
        </p:nvSpPr>
        <p:spPr>
          <a:xfrm>
            <a:off x="3131939" y="456098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3198614" y="4603254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4" name="Text 39"/>
          <p:cNvSpPr txBox="1"/>
          <p:nvPr/>
        </p:nvSpPr>
        <p:spPr>
          <a:xfrm>
            <a:off x="3419773" y="456932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a mandioca e o caldo. Cozinhe tampado até a mandioca começar a desmanchar: 25 a 30 minutos na panela comum ou 12 minutos na pressão.</a:t>
            </a:r>
            <a:endParaRPr lang="en-US" sz="930" dirty="0"/>
          </a:p>
        </p:txBody>
      </p:sp>
      <p:sp>
        <p:nvSpPr>
          <p:cNvPr id="45" name="Shape 40"/>
          <p:cNvSpPr/>
          <p:nvPr/>
        </p:nvSpPr>
        <p:spPr>
          <a:xfrm>
            <a:off x="3131939" y="520362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6" name="Text 41"/>
          <p:cNvSpPr txBox="1"/>
          <p:nvPr/>
        </p:nvSpPr>
        <p:spPr>
          <a:xfrm>
            <a:off x="3194745" y="5245894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7" name="Text 42"/>
          <p:cNvSpPr txBox="1"/>
          <p:nvPr/>
        </p:nvSpPr>
        <p:spPr>
          <a:xfrm>
            <a:off x="3419773" y="5211961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os fios centrais da mandioca. Bata no liquidificador, em levas e com a tampa entreaberta coberta por um pano (o vapor empurra a tampa). Bata só até ficar liso.</a:t>
            </a:r>
            <a:endParaRPr lang="en-US" sz="930" dirty="0"/>
          </a:p>
        </p:txBody>
      </p:sp>
      <p:sp>
        <p:nvSpPr>
          <p:cNvPr id="48" name="Shape 43"/>
          <p:cNvSpPr/>
          <p:nvPr/>
        </p:nvSpPr>
        <p:spPr>
          <a:xfrm>
            <a:off x="3131939" y="5846266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3198465" y="5888534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0" name="Text 45"/>
          <p:cNvSpPr txBox="1"/>
          <p:nvPr/>
        </p:nvSpPr>
        <p:spPr>
          <a:xfrm>
            <a:off x="3419773" y="585460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Volte à panela, ajuste a consistência com mais caldo, se precisar, e tempere com sal, pimenta e gotas de limão.</a:t>
            </a:r>
            <a:endParaRPr lang="en-US" sz="930" dirty="0"/>
          </a:p>
        </p:txBody>
      </p:sp>
      <p:sp>
        <p:nvSpPr>
          <p:cNvPr id="51" name="Shape 46"/>
          <p:cNvSpPr/>
          <p:nvPr/>
        </p:nvSpPr>
        <p:spPr>
          <a:xfrm>
            <a:off x="3131939" y="630584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2" name="Text 47"/>
          <p:cNvSpPr txBox="1"/>
          <p:nvPr/>
        </p:nvSpPr>
        <p:spPr>
          <a:xfrm>
            <a:off x="3196828" y="6348115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3" name="Text 48"/>
          <p:cNvSpPr txBox="1"/>
          <p:nvPr/>
        </p:nvSpPr>
        <p:spPr>
          <a:xfrm>
            <a:off x="3419773" y="6314182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com o bacon (ou os cogumelos) crocante por cima, cebolinha e um fio de azeite.</a:t>
            </a:r>
            <a:endParaRPr lang="en-US" sz="930" dirty="0"/>
          </a:p>
        </p:txBody>
      </p:sp>
      <p:sp>
        <p:nvSpPr>
          <p:cNvPr id="54" name="Shape 49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5" name="Shape 50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8" name="Text 52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gengibre e as gotas de limão no final são o que tiram o caldo do “pesado” e levam ao “aconchegante”. A crocância por cima faz contraste com o creme.</a:t>
            </a:r>
            <a:endParaRPr lang="en-US" sz="1000" dirty="0"/>
          </a:p>
        </p:txBody>
      </p:sp>
      <p:sp>
        <p:nvSpPr>
          <p:cNvPr id="59" name="Shape 5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1" name="Text 55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29</a:t>
            </a:r>
            <a:endParaRPr lang="en-US" sz="63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18452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4.3 · A SURPRESA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788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Biscoito de polvilho e mandioca de assadeira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597819"/>
            <a:ext cx="197724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rápido para o lanche da tarde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036713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1992809"/>
            <a:ext cx="48785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146399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7413" y="1973312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814" y="2036713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288" y="1992809"/>
            <a:ext cx="147551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CERCA DE 30 BISCOITOS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288" y="2146399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mandioca cozida, sem os fios, amassada ainda quente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655814"/>
            <a:ext cx="146284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120 g de polvilho azedo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80 g de queijo meia-cura ou parmesão ralado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54698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472285"/>
            <a:ext cx="15523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óleo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689872"/>
            <a:ext cx="15105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rasa de sal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907459"/>
            <a:ext cx="104492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Leite, se precisar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200 °C e forre uma assadeira com papel-manteiga.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74362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Amasse a mandioca ainda quente até virar um purê liso. Junte o óleo e o sal e misture.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19487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23713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20320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Acrescente o polvilho e misture bem (o calor da mandioca escalda o polvilho e deixa a massa elástica).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65445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469671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66278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o ovo e o queijo e amasse até formar uma massa macia que não grude nas mãos. Se ficar seca, pingue leite, uma colher por vez.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29709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33935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30542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palitos de 8 cm ou bolinhas e disponha na assadeira com espaço entre eles.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575667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579893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5765006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a 30 minutos, até dourarem. Não abra o forno nos primeiros 15 minutos.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É um ótimo destino para a mandioca que sobrou do almoço. A massa crua pode ser congelada já modelada e assada direto do freezer (acrescente 5 a 10 minutos).</a:t>
            </a:r>
            <a:endParaRPr lang="en-US" sz="100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86116" y="10236845"/>
            <a:ext cx="24006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</a:t>
            </a:r>
            <a:endParaRPr lang="en-US" sz="6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5151477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 que não cozinha (ou que desmancha o rösti)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609975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Comprar sem critério, cortar em pedaços de tamanhos diferentes e insistir no fogo por horas. E, no rösti, ralar e levar direto para a frigideira, com toda a água da raiz.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609975"/>
          </a:xfrm>
          <a:prstGeom prst="roundRect">
            <a:avLst>
              <a:gd name="adj" fmla="val 86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Escolha bem: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ponta que estala e polpa uniforme. Raiz velha ou fibrosa não amolece, não importa o tempo.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267075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286125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Congele crua: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os cristais de gelo rompem as fibras e ela cozinha mais rápido e fica mais macia.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89393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12989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Pedaços iguais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e panela de pressão quando a pressa bater.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335810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354860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Esprema a mandioca ralada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no pano: menos água, mais crocância e um rösti que não desmancha.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3711773" y="4962674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4" name="Text 20"/>
          <p:cNvSpPr txBox="1"/>
          <p:nvPr/>
        </p:nvSpPr>
        <p:spPr>
          <a:xfrm>
            <a:off x="3873774" y="4981724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amoleceu?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Não jogue fora: ela ainda serve para o caldo batido.</a:t>
            </a:r>
            <a:endParaRPr lang="en-US" sz="940" dirty="0"/>
          </a:p>
        </p:txBody>
      </p:sp>
      <p:sp>
        <p:nvSpPr>
          <p:cNvPr id="25" name="Text 21"/>
          <p:cNvSpPr txBox="1"/>
          <p:nvPr/>
        </p:nvSpPr>
        <p:spPr>
          <a:xfrm>
            <a:off x="647998" y="5889427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647998" y="607486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7" name="Shape 23"/>
          <p:cNvSpPr/>
          <p:nvPr/>
        </p:nvSpPr>
        <p:spPr>
          <a:xfrm>
            <a:off x="647998" y="6568232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8" name="Shape 24"/>
          <p:cNvSpPr/>
          <p:nvPr/>
        </p:nvSpPr>
        <p:spPr>
          <a:xfrm>
            <a:off x="647998" y="6795492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91914" y="688895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2303859" y="6795492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2447776" y="688895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2" name="Shape 28"/>
          <p:cNvSpPr/>
          <p:nvPr/>
        </p:nvSpPr>
        <p:spPr>
          <a:xfrm>
            <a:off x="647998" y="762922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91914" y="7180659"/>
            <a:ext cx="1040904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Mandioca fresca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2303859" y="762922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447859" y="7190184"/>
            <a:ext cx="4320017" cy="337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Mandioca congelada já descascada (funciona muito bem nas três receitas).</a:t>
            </a:r>
            <a:endParaRPr lang="en-US" sz="920" dirty="0"/>
          </a:p>
        </p:txBody>
      </p:sp>
      <p:sp>
        <p:nvSpPr>
          <p:cNvPr id="36" name="Shape 32"/>
          <p:cNvSpPr/>
          <p:nvPr/>
        </p:nvSpPr>
        <p:spPr>
          <a:xfrm>
            <a:off x="647998" y="800085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91914" y="7727454"/>
            <a:ext cx="46374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Bacon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2303859" y="800085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447776" y="7736979"/>
            <a:ext cx="376080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Linguiça calabresa em cubinhos ou cogumelos dourados.</a:t>
            </a:r>
            <a:endParaRPr lang="en-US" sz="920" dirty="0"/>
          </a:p>
        </p:txBody>
      </p:sp>
      <p:sp>
        <p:nvSpPr>
          <p:cNvPr id="40" name="Shape 36"/>
          <p:cNvSpPr/>
          <p:nvPr/>
        </p:nvSpPr>
        <p:spPr>
          <a:xfrm>
            <a:off x="647998" y="837247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91914" y="8099078"/>
            <a:ext cx="93449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Polvilho azedo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2303859" y="837247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2447776" y="8108603"/>
            <a:ext cx="378647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Polvilho doce (o biscoito fica menos aerado e mais macio).</a:t>
            </a:r>
            <a:endParaRPr lang="en-US" sz="920" dirty="0"/>
          </a:p>
        </p:txBody>
      </p:sp>
      <p:sp>
        <p:nvSpPr>
          <p:cNvPr id="44" name="Shape 40"/>
          <p:cNvSpPr/>
          <p:nvPr/>
        </p:nvSpPr>
        <p:spPr>
          <a:xfrm>
            <a:off x="647998" y="8744099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1914" y="8470702"/>
            <a:ext cx="1118473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Queijo meia-cura</a:t>
            </a:r>
            <a:endParaRPr lang="en-US" sz="1000" dirty="0"/>
          </a:p>
        </p:txBody>
      </p:sp>
      <p:sp>
        <p:nvSpPr>
          <p:cNvPr id="46" name="Shape 42"/>
          <p:cNvSpPr/>
          <p:nvPr/>
        </p:nvSpPr>
        <p:spPr>
          <a:xfrm>
            <a:off x="2303859" y="8744099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2447776" y="8480227"/>
            <a:ext cx="19264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Parmesão ou queijo canastra.</a:t>
            </a:r>
            <a:endParaRPr lang="en-US" sz="920" dirty="0"/>
          </a:p>
        </p:txBody>
      </p:sp>
      <p:sp>
        <p:nvSpPr>
          <p:cNvPr id="48" name="Shape 44"/>
          <p:cNvSpPr/>
          <p:nvPr/>
        </p:nvSpPr>
        <p:spPr>
          <a:xfrm>
            <a:off x="647998" y="9115723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791914" y="8842325"/>
            <a:ext cx="10161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Gengibre fresco</a:t>
            </a:r>
            <a:endParaRPr lang="en-US" sz="1000" dirty="0"/>
          </a:p>
        </p:txBody>
      </p:sp>
      <p:sp>
        <p:nvSpPr>
          <p:cNvPr id="50" name="Shape 46"/>
          <p:cNvSpPr/>
          <p:nvPr/>
        </p:nvSpPr>
        <p:spPr>
          <a:xfrm>
            <a:off x="2303859" y="9115723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2447776" y="8851850"/>
            <a:ext cx="33489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Pimenta-do-reino moída na hora e raspas de limão.</a:t>
            </a:r>
            <a:endParaRPr lang="en-US" sz="920" dirty="0"/>
          </a:p>
        </p:txBody>
      </p:sp>
      <p:sp>
        <p:nvSpPr>
          <p:cNvPr id="52" name="Shape 48"/>
          <p:cNvSpPr/>
          <p:nvPr/>
        </p:nvSpPr>
        <p:spPr>
          <a:xfrm>
            <a:off x="647998" y="948734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91914" y="9213949"/>
            <a:ext cx="77063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Carne-seca</a:t>
            </a:r>
            <a:endParaRPr lang="en-US" sz="1000" dirty="0"/>
          </a:p>
        </p:txBody>
      </p:sp>
      <p:sp>
        <p:nvSpPr>
          <p:cNvPr id="54" name="Shape 50"/>
          <p:cNvSpPr/>
          <p:nvPr/>
        </p:nvSpPr>
        <p:spPr>
          <a:xfrm>
            <a:off x="2303859" y="948734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447776" y="9223474"/>
            <a:ext cx="3226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Frango desfiado (capítulo 3) ou linguiça refogada.</a:t>
            </a:r>
            <a:endParaRPr lang="en-US" sz="920" dirty="0"/>
          </a:p>
        </p:txBody>
      </p:sp>
      <p:sp>
        <p:nvSpPr>
          <p:cNvPr id="56" name="Shape 52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8" name="Text 54"/>
          <p:cNvSpPr txBox="1"/>
          <p:nvPr/>
        </p:nvSpPr>
        <p:spPr>
          <a:xfrm>
            <a:off x="6809333" y="10236845"/>
            <a:ext cx="21684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31</a:t>
            </a:r>
            <a:endParaRPr lang="en-US" sz="63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270717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Água do cozimento, rica em amido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951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água em que a mandioca cozinhou fica rica em amido. Guarde (na geladeira por até 2 dias) e use para dar ponto e cremosidade a molhos, ensopados e ao próprio caldo, no lugar da água ou de parte do creme de leite.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63914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720554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639145"/>
            <a:ext cx="347410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“Fariña” crocante de frigideira com as aparas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387280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Pontas, pedaços quebrados e sobras de mandioca já cozida viram crocância. Rale fino e espalhe numa frigideira com 1 colher de manteiga. Toste em fogo médio, mexendo de vez em quando, até ficar dourada e soltinha. Tempere com sal e use como uma farofa fresca sobre o caldo, saladas, feijão ou ovos.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647998" y="525378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407" y="5335191"/>
            <a:ext cx="197048" cy="197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69789" y="5253782"/>
            <a:ext cx="96410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 as cascas?</a:t>
            </a:r>
            <a:endParaRPr lang="en-US" sz="1060" dirty="0"/>
          </a:p>
        </p:txBody>
      </p:sp>
      <p:sp>
        <p:nvSpPr>
          <p:cNvPr id="17" name="Text 12"/>
          <p:cNvSpPr txBox="1"/>
          <p:nvPr/>
        </p:nvSpPr>
        <p:spPr>
          <a:xfrm>
            <a:off x="1169789" y="5487442"/>
            <a:ext cx="3366195" cy="359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cascas da mandioca não são comestíveis. Mande para a compostagem.</a:t>
            </a:r>
            <a:endParaRPr lang="en-US" sz="960" dirty="0"/>
          </a:p>
        </p:txBody>
      </p:sp>
      <p:sp>
        <p:nvSpPr>
          <p:cNvPr id="18" name="Shape 13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9" name="Shape 14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6" name="Text 19"/>
          <p:cNvSpPr txBox="1"/>
          <p:nvPr/>
        </p:nvSpPr>
        <p:spPr>
          <a:xfrm>
            <a:off x="4129832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</a:t>
            </a:r>
            <a:endParaRPr lang="en-US" sz="63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36848"/>
            <a:ext cx="1197816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CAPÍTULO 5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12763"/>
            <a:ext cx="209142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spc="90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7998" y="1541413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96789"/>
            <a:ext cx="107263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645B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da raiz à rama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095798"/>
            <a:ext cx="3527971" cy="585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Está em quase toda geladeira, mas costuma ficar presa à salada ralada ou ao bolo de sempre. Aqui ela vira protagonista.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4823966" y="396032"/>
            <a:ext cx="3311872" cy="331187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87566" y="859631"/>
            <a:ext cx="2384673" cy="2384673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8125" y="1290191"/>
            <a:ext cx="1523405" cy="152340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47998" y="3779937"/>
            <a:ext cx="108663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INGREDIENTE</a:t>
            </a:r>
            <a:endParaRPr lang="en-US" sz="700" dirty="0"/>
          </a:p>
        </p:txBody>
      </p:sp>
      <p:sp>
        <p:nvSpPr>
          <p:cNvPr id="11" name="Text 8"/>
          <p:cNvSpPr txBox="1"/>
          <p:nvPr/>
        </p:nvSpPr>
        <p:spPr>
          <a:xfrm>
            <a:off x="647998" y="4003179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cenoura está em quase todo refogado, quase toda salada e quase todo lanche da tarde. E quase sempre como coadjuvante.</a:t>
            </a:r>
            <a:endParaRPr lang="en-US" sz="990" dirty="0"/>
          </a:p>
        </p:txBody>
      </p:sp>
      <p:sp>
        <p:nvSpPr>
          <p:cNvPr id="12" name="Text 9"/>
          <p:cNvSpPr txBox="1"/>
          <p:nvPr/>
        </p:nvSpPr>
        <p:spPr>
          <a:xfrm>
            <a:off x="647998" y="4529882"/>
            <a:ext cx="6263878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Ela tem açúcar natural de sobra e, quando encontra calor seco, carameliza e ganha um sabor profundo, quase de castanha. Ralada e bem refogada, vira a base de um hambúrguer. E, num bolo, ela é que garante a umidade.</a:t>
            </a:r>
            <a:endParaRPr lang="en-US" sz="990" dirty="0"/>
          </a:p>
        </p:txBody>
      </p:sp>
      <p:sp>
        <p:nvSpPr>
          <p:cNvPr id="13" name="Text 10"/>
          <p:cNvSpPr txBox="1"/>
          <p:nvPr/>
        </p:nvSpPr>
        <p:spPr>
          <a:xfrm>
            <a:off x="647998" y="5272832"/>
            <a:ext cx="6263878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Nada se perde: a casca é fina e comestível, e a rama, aquelas folhas que quase sempre vão para o lixo, é um tempero fresco e potente.</a:t>
            </a:r>
            <a:endParaRPr lang="en-US" sz="990" dirty="0"/>
          </a:p>
        </p:txBody>
      </p:sp>
      <p:sp>
        <p:nvSpPr>
          <p:cNvPr id="14" name="Text 11"/>
          <p:cNvSpPr txBox="1"/>
          <p:nvPr/>
        </p:nvSpPr>
        <p:spPr>
          <a:xfrm>
            <a:off x="647998" y="5892701"/>
            <a:ext cx="16477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 3 TRANSFORMAÇÕES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647998" y="6748909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7998" y="6287393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28514" y="6360914"/>
            <a:ext cx="20508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680" dirty="0"/>
          </a:p>
        </p:txBody>
      </p:sp>
      <p:sp>
        <p:nvSpPr>
          <p:cNvPr id="18" name="Text 15"/>
          <p:cNvSpPr txBox="1"/>
          <p:nvPr/>
        </p:nvSpPr>
        <p:spPr>
          <a:xfrm>
            <a:off x="1025872" y="6202561"/>
            <a:ext cx="12161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ASSADO INTENSO</a:t>
            </a:r>
            <a:endParaRPr lang="en-US" sz="640" dirty="0"/>
          </a:p>
        </p:txBody>
      </p:sp>
      <p:sp>
        <p:nvSpPr>
          <p:cNvPr id="19" name="Text 16"/>
          <p:cNvSpPr txBox="1"/>
          <p:nvPr/>
        </p:nvSpPr>
        <p:spPr>
          <a:xfrm>
            <a:off x="1025872" y="6319391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Cenouras assadas inteiras, caramelizadas no mel ou melaço com azeite e tomilho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(doçura natural levada ao máximo)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471666" y="6454080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1" name="Text 18"/>
          <p:cNvSpPr txBox="1"/>
          <p:nvPr/>
        </p:nvSpPr>
        <p:spPr>
          <a:xfrm>
            <a:off x="6671370" y="6346627"/>
            <a:ext cx="2405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647998" y="7410450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7998" y="6948934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719882" y="7022455"/>
            <a:ext cx="22234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680" dirty="0"/>
          </a:p>
        </p:txBody>
      </p:sp>
      <p:sp>
        <p:nvSpPr>
          <p:cNvPr id="25" name="Text 22"/>
          <p:cNvSpPr txBox="1"/>
          <p:nvPr/>
        </p:nvSpPr>
        <p:spPr>
          <a:xfrm>
            <a:off x="1025872" y="6864102"/>
            <a:ext cx="124432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PRATO PRINCIPAL</a:t>
            </a:r>
            <a:endParaRPr lang="en-US" sz="640" dirty="0"/>
          </a:p>
        </p:txBody>
      </p:sp>
      <p:sp>
        <p:nvSpPr>
          <p:cNvPr id="26" name="Text 23"/>
          <p:cNvSpPr txBox="1"/>
          <p:nvPr/>
        </p:nvSpPr>
        <p:spPr>
          <a:xfrm>
            <a:off x="1025872" y="6980932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Hambúrguer rústico ou bolinho de cenoura com aveia e especiarias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(saboroso e nutritivo)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471666" y="7115621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28" name="Text 25"/>
          <p:cNvSpPr txBox="1"/>
          <p:nvPr/>
        </p:nvSpPr>
        <p:spPr>
          <a:xfrm>
            <a:off x="6665565" y="7008168"/>
            <a:ext cx="24631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860" dirty="0"/>
          </a:p>
        </p:txBody>
      </p:sp>
      <p:sp>
        <p:nvSpPr>
          <p:cNvPr id="29" name="Shape 26"/>
          <p:cNvSpPr/>
          <p:nvPr/>
        </p:nvSpPr>
        <p:spPr>
          <a:xfrm>
            <a:off x="647998" y="8071991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7998" y="7610475"/>
            <a:ext cx="251966" cy="251966"/>
          </a:xfrm>
          <a:prstGeom prst="ellipse">
            <a:avLst/>
          </a:prstGeom>
          <a:solidFill>
            <a:srgbClr val="C2552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20328" y="7683996"/>
            <a:ext cx="22160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680" dirty="0"/>
          </a:p>
        </p:txBody>
      </p:sp>
      <p:sp>
        <p:nvSpPr>
          <p:cNvPr id="32" name="Text 29"/>
          <p:cNvSpPr txBox="1"/>
          <p:nvPr/>
        </p:nvSpPr>
        <p:spPr>
          <a:xfrm>
            <a:off x="1025872" y="7525643"/>
            <a:ext cx="17285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b="1" spc="115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SOBREMESA DE RESPEITO</a:t>
            </a:r>
            <a:endParaRPr lang="en-US" sz="640" dirty="0"/>
          </a:p>
        </p:txBody>
      </p:sp>
      <p:sp>
        <p:nvSpPr>
          <p:cNvPr id="33" name="Text 30"/>
          <p:cNvSpPr txBox="1"/>
          <p:nvPr/>
        </p:nvSpPr>
        <p:spPr>
          <a:xfrm>
            <a:off x="1025872" y="7642473"/>
            <a:ext cx="431988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Bolo de cenoura da vovó com técnica de chef e calda de chocolate espelhada </a:t>
            </a:r>
            <a:pPr algn="l" indent="0" marL="0">
              <a:lnSpc>
                <a:spcPts val="1250"/>
              </a:lnSpc>
              <a:buNone/>
            </a:pPr>
            <a:r>
              <a:rPr lang="en-US" sz="1000" i="1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(massa fofíssima que não sola)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471666" y="7777162"/>
            <a:ext cx="1062335" cy="0"/>
          </a:xfrm>
          <a:prstGeom prst="line">
            <a:avLst/>
          </a:prstGeom>
          <a:noFill/>
          <a:ln w="9525">
            <a:solidFill>
              <a:srgbClr val="B9AC98"/>
            </a:solidFill>
            <a:prstDash val="sysDot"/>
          </a:ln>
        </p:spPr>
      </p:sp>
      <p:sp>
        <p:nvSpPr>
          <p:cNvPr id="35" name="Text 32"/>
          <p:cNvSpPr txBox="1"/>
          <p:nvPr/>
        </p:nvSpPr>
        <p:spPr>
          <a:xfrm>
            <a:off x="6668839" y="7669709"/>
            <a:ext cx="24303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8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860" dirty="0"/>
          </a:p>
        </p:txBody>
      </p:sp>
      <p:sp>
        <p:nvSpPr>
          <p:cNvPr id="36" name="Shape 33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5"/>
          <p:cNvSpPr txBox="1"/>
          <p:nvPr/>
        </p:nvSpPr>
        <p:spPr>
          <a:xfrm>
            <a:off x="6793706" y="10236845"/>
            <a:ext cx="2324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33</a:t>
            </a:r>
            <a:endParaRPr lang="en-US" sz="63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1014859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ANTES DA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48518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PANELA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Escolher bem, guardar direito e cortar do jeito certo: metade do prato se resolve aqui.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041898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483941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520553"/>
            <a:ext cx="17408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HORA DE ESCOLHER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855456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99456" y="2907357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Firme, lisa, de cor laranja intensa, sem rachaduras nem brotos.</a:t>
            </a:r>
            <a:endParaRPr lang="en-US" sz="940" dirty="0"/>
          </a:p>
        </p:txBody>
      </p:sp>
      <p:sp>
        <p:nvSpPr>
          <p:cNvPr id="12" name="Shape 9"/>
          <p:cNvSpPr/>
          <p:nvPr/>
        </p:nvSpPr>
        <p:spPr>
          <a:xfrm>
            <a:off x="855456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99456" y="3349228"/>
            <a:ext cx="250098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Evite cenouras moles ou com a parte de cima esverdeada.</a:t>
            </a:r>
            <a:endParaRPr lang="en-US" sz="940" dirty="0"/>
          </a:p>
        </p:txBody>
      </p:sp>
      <p:sp>
        <p:nvSpPr>
          <p:cNvPr id="14" name="Shape 11"/>
          <p:cNvSpPr/>
          <p:nvPr/>
        </p:nvSpPr>
        <p:spPr>
          <a:xfrm>
            <a:off x="855456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99456" y="3791099"/>
            <a:ext cx="2500981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encontrar com rama, compre: rama verde e viçosa é sinal de cenoura fresca, e ainda vira pesto.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3869829" y="2213074"/>
            <a:ext cx="3042047" cy="2303264"/>
          </a:xfrm>
          <a:prstGeom prst="roundRect">
            <a:avLst>
              <a:gd name="adj" fmla="val 1862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59287" y="2402532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0696" y="2483941"/>
            <a:ext cx="197048" cy="197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545062" y="2520553"/>
            <a:ext cx="120548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GUARDAR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077287" y="29567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4221287" y="2907357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 rama assim que chegar em casa: ela puxa a umidade da raiz.</a:t>
            </a:r>
            <a:endParaRPr lang="en-US" sz="940" dirty="0"/>
          </a:p>
        </p:txBody>
      </p:sp>
      <p:sp>
        <p:nvSpPr>
          <p:cNvPr id="22" name="Shape 18"/>
          <p:cNvSpPr/>
          <p:nvPr/>
        </p:nvSpPr>
        <p:spPr>
          <a:xfrm>
            <a:off x="4077287" y="339857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4221287" y="3349228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Raiz: em pote fechado com papel-toalha, na geladeira, por 3 a 4 semanas.</a:t>
            </a:r>
            <a:endParaRPr lang="en-US" sz="940" dirty="0"/>
          </a:p>
        </p:txBody>
      </p:sp>
      <p:sp>
        <p:nvSpPr>
          <p:cNvPr id="24" name="Shape 20"/>
          <p:cNvSpPr/>
          <p:nvPr/>
        </p:nvSpPr>
        <p:spPr>
          <a:xfrm>
            <a:off x="4077287" y="3840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4221287" y="3791099"/>
            <a:ext cx="2501130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Rama: lavada, bem seca e enrolada em papel-toalha, por 3 a 4 dias.</a:t>
            </a:r>
            <a:endParaRPr lang="en-US" sz="940" dirty="0"/>
          </a:p>
        </p:txBody>
      </p:sp>
      <p:sp>
        <p:nvSpPr>
          <p:cNvPr id="26" name="Shape 22"/>
          <p:cNvSpPr/>
          <p:nvPr/>
        </p:nvSpPr>
        <p:spPr>
          <a:xfrm>
            <a:off x="647998" y="4696271"/>
            <a:ext cx="6263878" cy="1748284"/>
          </a:xfrm>
          <a:prstGeom prst="roundRect">
            <a:avLst>
              <a:gd name="adj" fmla="val 323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37456" y="4885730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865" y="4967139"/>
            <a:ext cx="197048" cy="197048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1323231" y="5003750"/>
            <a:ext cx="179339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PRÉ-PREPARO E CORTES</a:t>
            </a:r>
            <a:endParaRPr lang="en-US" sz="800" dirty="0"/>
          </a:p>
        </p:txBody>
      </p:sp>
      <p:sp>
        <p:nvSpPr>
          <p:cNvPr id="30" name="Shape 25"/>
          <p:cNvSpPr/>
          <p:nvPr/>
        </p:nvSpPr>
        <p:spPr>
          <a:xfrm>
            <a:off x="855456" y="54399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999381" y="5390555"/>
            <a:ext cx="574221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precisa descascar: escove bem sob água corrente. Se descascar, guarde as cascas.</a:t>
            </a:r>
            <a:endParaRPr lang="en-US" sz="940" dirty="0"/>
          </a:p>
        </p:txBody>
      </p:sp>
      <p:sp>
        <p:nvSpPr>
          <p:cNvPr id="32" name="Shape 27"/>
          <p:cNvSpPr/>
          <p:nvPr/>
        </p:nvSpPr>
        <p:spPr>
          <a:xfrm>
            <a:off x="855456" y="569678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999381" y="5647432"/>
            <a:ext cx="415985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Rodelas em diagonal têm mais superfície e caramelizam mais.</a:t>
            </a:r>
            <a:endParaRPr lang="en-US" sz="940" dirty="0"/>
          </a:p>
        </p:txBody>
      </p:sp>
      <p:sp>
        <p:nvSpPr>
          <p:cNvPr id="34" name="Shape 29"/>
          <p:cNvSpPr/>
          <p:nvPr/>
        </p:nvSpPr>
        <p:spPr>
          <a:xfrm>
            <a:off x="855456" y="595365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999456" y="5904309"/>
            <a:ext cx="5722961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Palitos e meia-lua para assar; ralada fina para bolinhos; em fitas (com o descascador) para saladas cruas.</a:t>
            </a:r>
            <a:endParaRPr lang="en-US" sz="940" dirty="0"/>
          </a:p>
        </p:txBody>
      </p:sp>
      <p:sp>
        <p:nvSpPr>
          <p:cNvPr id="36" name="Shape 3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38" name="Text 33"/>
          <p:cNvSpPr txBox="1"/>
          <p:nvPr/>
        </p:nvSpPr>
        <p:spPr>
          <a:xfrm>
            <a:off x="6785670" y="10236845"/>
            <a:ext cx="24050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34</a:t>
            </a:r>
            <a:endParaRPr lang="en-US" sz="6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1212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5.1 · O ASSADO INTENSO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Cenouras assadas inteiras, caramelizadas no mel ou melaço com azeite e tomilho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225744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doçura natural levada ao máximo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48845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88009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140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65883" y="2352377"/>
            <a:ext cx="73610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PORÇÕES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6588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cenouras médias (cerca de 600 g)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655814"/>
            <a:ext cx="16562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colheres (sopa) de azeite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98" y="3873401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mel (ou melaço)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31357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254698"/>
            <a:ext cx="16490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ramos de tomilho fresco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53116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23" y="4472285"/>
            <a:ext cx="1908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grosso e pimenta-do-reino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98" y="468987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vinagre de maçã ou suco de limão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513004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98" y="5071170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Opcional: iogurte temperado com sal e limão, e amendoim picado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34" name="Shape 2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36" name="Text 31"/>
          <p:cNvSpPr txBox="1"/>
          <p:nvPr/>
        </p:nvSpPr>
        <p:spPr>
          <a:xfrm>
            <a:off x="3419773" y="3284041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220 °C. Escove bem as cenouras. Se forem grossas, corte ao meio no sentido do comprimento.</a:t>
            </a:r>
            <a:endParaRPr lang="en-US" sz="930" dirty="0"/>
          </a:p>
        </p:txBody>
      </p:sp>
      <p:sp>
        <p:nvSpPr>
          <p:cNvPr id="37" name="Shape 32"/>
          <p:cNvSpPr/>
          <p:nvPr/>
        </p:nvSpPr>
        <p:spPr>
          <a:xfrm>
            <a:off x="3131939" y="373528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8" name="Text 33"/>
          <p:cNvSpPr txBox="1"/>
          <p:nvPr/>
        </p:nvSpPr>
        <p:spPr>
          <a:xfrm>
            <a:off x="3198614" y="377755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39" name="Text 34"/>
          <p:cNvSpPr txBox="1"/>
          <p:nvPr/>
        </p:nvSpPr>
        <p:spPr>
          <a:xfrm>
            <a:off x="3419773" y="3743623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assadeira grande, envolva as cenouras com o azeite, sal e pimenta. Deixe espaço entre elas: amontoadas, cozinham no vapor e não caramelizam.</a:t>
            </a:r>
            <a:endParaRPr lang="en-US" sz="930" dirty="0"/>
          </a:p>
        </p:txBody>
      </p:sp>
      <p:sp>
        <p:nvSpPr>
          <p:cNvPr id="40" name="Shape 35"/>
          <p:cNvSpPr/>
          <p:nvPr/>
        </p:nvSpPr>
        <p:spPr>
          <a:xfrm>
            <a:off x="3131939" y="437792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198614" y="4420195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4386263"/>
            <a:ext cx="305504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25 minutos, até começarem a dourar.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670375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Regue com o mel, junte o tomilho, chacoalhe a assadeira e volte ao forno por mais 10 a 15 minutos, até as pontas tostarem e o mel virar uma camada brilhante.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Retire do forno e regue com o vinagre ou limão ainda quente.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5772596"/>
            <a:ext cx="362178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Sirva sobre o iogurte, com amendoim picado por cima.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3" name="Shape 48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56" name="Text 50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mel entra só no final: se for desde o início, queima antes de a cenoura ficar macia. O toque ácido no final equilibra o doce e acende todos os sabores.</a:t>
            </a:r>
            <a:endParaRPr lang="en-US" sz="1000" dirty="0"/>
          </a:p>
        </p:txBody>
      </p:sp>
      <p:sp>
        <p:nvSpPr>
          <p:cNvPr id="57" name="Shape 5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9" name="Text 53"/>
          <p:cNvSpPr txBox="1"/>
          <p:nvPr/>
        </p:nvSpPr>
        <p:spPr>
          <a:xfrm>
            <a:off x="6794004" y="10236845"/>
            <a:ext cx="23217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</a:t>
            </a:r>
            <a:endParaRPr lang="en-US" sz="63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36746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5.2 · O PRATO PRINCIPAL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Hambúrguer rústico ou bolinho de cenoura com aveia e especiarias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3234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saboroso e nutritivo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50740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414141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32881"/>
            <a:ext cx="198209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 MIN (MAIS 20 MIN DE GELADEIRA)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61481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3295948" y="2350740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348" y="2414141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73822" y="2332881"/>
            <a:ext cx="100607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 HAMBÚRGUERES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3673822" y="2561481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Shape 13"/>
          <p:cNvSpPr/>
          <p:nvPr/>
        </p:nvSpPr>
        <p:spPr>
          <a:xfrm>
            <a:off x="665998" y="3333391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809998" y="3274516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raladas (cerca de 300 g)</a:t>
            </a:r>
            <a:endParaRPr lang="en-US" sz="890" dirty="0"/>
          </a:p>
        </p:txBody>
      </p:sp>
      <p:sp>
        <p:nvSpPr>
          <p:cNvPr id="20" name="Shape 15"/>
          <p:cNvSpPr/>
          <p:nvPr/>
        </p:nvSpPr>
        <p:spPr>
          <a:xfrm>
            <a:off x="665998" y="371468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09923" y="3655814"/>
            <a:ext cx="15611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cebola pequena picada</a:t>
            </a:r>
            <a:endParaRPr lang="en-US" sz="890" dirty="0"/>
          </a:p>
        </p:txBody>
      </p:sp>
      <p:sp>
        <p:nvSpPr>
          <p:cNvPr id="22" name="Shape 17"/>
          <p:cNvSpPr/>
          <p:nvPr/>
        </p:nvSpPr>
        <p:spPr>
          <a:xfrm>
            <a:off x="665998" y="3932276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809923" y="3873401"/>
            <a:ext cx="156769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dentes de alho picados</a:t>
            </a:r>
            <a:endParaRPr lang="en-US" sz="890" dirty="0"/>
          </a:p>
        </p:txBody>
      </p:sp>
      <p:sp>
        <p:nvSpPr>
          <p:cNvPr id="24" name="Shape 19"/>
          <p:cNvSpPr/>
          <p:nvPr/>
        </p:nvSpPr>
        <p:spPr>
          <a:xfrm>
            <a:off x="665998" y="414986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809923" y="4090987"/>
            <a:ext cx="20604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(chá) de cominho em pó</a:t>
            </a:r>
            <a:endParaRPr lang="en-US" sz="890" dirty="0"/>
          </a:p>
        </p:txBody>
      </p:sp>
      <p:sp>
        <p:nvSpPr>
          <p:cNvPr id="26" name="Shape 21"/>
          <p:cNvSpPr/>
          <p:nvPr/>
        </p:nvSpPr>
        <p:spPr>
          <a:xfrm>
            <a:off x="665998" y="4367449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7" name="Text 22"/>
          <p:cNvSpPr txBox="1"/>
          <p:nvPr/>
        </p:nvSpPr>
        <p:spPr>
          <a:xfrm>
            <a:off x="809998" y="4308574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½ colher (chá) de páprica defumada</a:t>
            </a:r>
            <a:endParaRPr lang="en-US" sz="890" dirty="0"/>
          </a:p>
        </p:txBody>
      </p:sp>
      <p:sp>
        <p:nvSpPr>
          <p:cNvPr id="28" name="Shape 23"/>
          <p:cNvSpPr/>
          <p:nvPr/>
        </p:nvSpPr>
        <p:spPr>
          <a:xfrm>
            <a:off x="665998" y="474874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809923" y="4689872"/>
            <a:ext cx="204175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xícara (90 g) de aveia em flocos</a:t>
            </a:r>
            <a:endParaRPr lang="en-US" sz="890" dirty="0"/>
          </a:p>
        </p:txBody>
      </p:sp>
      <p:sp>
        <p:nvSpPr>
          <p:cNvPr id="30" name="Shape 25"/>
          <p:cNvSpPr/>
          <p:nvPr/>
        </p:nvSpPr>
        <p:spPr>
          <a:xfrm>
            <a:off x="665998" y="4966334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1" name="Text 26"/>
          <p:cNvSpPr txBox="1"/>
          <p:nvPr/>
        </p:nvSpPr>
        <p:spPr>
          <a:xfrm>
            <a:off x="809923" y="4907459"/>
            <a:ext cx="38427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ovo</a:t>
            </a:r>
            <a:endParaRPr lang="en-US" sz="890" dirty="0"/>
          </a:p>
        </p:txBody>
      </p:sp>
      <p:sp>
        <p:nvSpPr>
          <p:cNvPr id="32" name="Shape 27"/>
          <p:cNvSpPr/>
          <p:nvPr/>
        </p:nvSpPr>
        <p:spPr>
          <a:xfrm>
            <a:off x="665998" y="518392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809923" y="5125045"/>
            <a:ext cx="1985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 g de queijo ralado (opcional)</a:t>
            </a:r>
            <a:endParaRPr lang="en-US" sz="890" dirty="0"/>
          </a:p>
        </p:txBody>
      </p:sp>
      <p:sp>
        <p:nvSpPr>
          <p:cNvPr id="34" name="Shape 29"/>
          <p:cNvSpPr/>
          <p:nvPr/>
        </p:nvSpPr>
        <p:spPr>
          <a:xfrm>
            <a:off x="665998" y="540150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98" y="534263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 colheres (sopa) de cheiro-verde picado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578280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5723930"/>
            <a:ext cx="130166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Sal, pimenta e azeite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0" name="Shape 35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2" name="Text 37"/>
          <p:cNvSpPr txBox="1"/>
          <p:nvPr/>
        </p:nvSpPr>
        <p:spPr>
          <a:xfrm>
            <a:off x="3419773" y="3284041"/>
            <a:ext cx="3492103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Numa frigideira com um fio de azeite, refogue a cebola e o alho. Junte a cenoura ralada, o cominho e a páprica e refogue por cerca de 8 minutos, até a cenoura murchar e perder a água.</a:t>
            </a:r>
            <a:endParaRPr lang="en-US" sz="930" dirty="0"/>
          </a:p>
        </p:txBody>
      </p:sp>
      <p:sp>
        <p:nvSpPr>
          <p:cNvPr id="43" name="Shape 38"/>
          <p:cNvSpPr/>
          <p:nvPr/>
        </p:nvSpPr>
        <p:spPr>
          <a:xfrm>
            <a:off x="3131939" y="4101405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4" name="Text 39"/>
          <p:cNvSpPr txBox="1"/>
          <p:nvPr/>
        </p:nvSpPr>
        <p:spPr>
          <a:xfrm>
            <a:off x="3198614" y="4143673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5" name="Text 40"/>
          <p:cNvSpPr txBox="1"/>
          <p:nvPr/>
        </p:nvSpPr>
        <p:spPr>
          <a:xfrm>
            <a:off x="3419773" y="4109740"/>
            <a:ext cx="277368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Transfira para uma tigela e deixe amornar.</a:t>
            </a:r>
            <a:endParaRPr lang="en-US" sz="930" dirty="0"/>
          </a:p>
        </p:txBody>
      </p:sp>
      <p:sp>
        <p:nvSpPr>
          <p:cNvPr id="46" name="Shape 41"/>
          <p:cNvSpPr/>
          <p:nvPr/>
        </p:nvSpPr>
        <p:spPr>
          <a:xfrm>
            <a:off x="3131939" y="4385518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7" name="Text 42"/>
          <p:cNvSpPr txBox="1"/>
          <p:nvPr/>
        </p:nvSpPr>
        <p:spPr>
          <a:xfrm>
            <a:off x="3198614" y="4427786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48" name="Text 43"/>
          <p:cNvSpPr txBox="1"/>
          <p:nvPr/>
        </p:nvSpPr>
        <p:spPr>
          <a:xfrm>
            <a:off x="3419773" y="4393853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Junte a aveia, o ovo, o queijo e o cheiro-verde. Tempere com sal e pimenta e misture bem.</a:t>
            </a:r>
            <a:endParaRPr lang="en-US" sz="930" dirty="0"/>
          </a:p>
        </p:txBody>
      </p:sp>
      <p:sp>
        <p:nvSpPr>
          <p:cNvPr id="49" name="Shape 44"/>
          <p:cNvSpPr/>
          <p:nvPr/>
        </p:nvSpPr>
        <p:spPr>
          <a:xfrm>
            <a:off x="3131939" y="484510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3194745" y="4887367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1" name="Text 46"/>
          <p:cNvSpPr txBox="1"/>
          <p:nvPr/>
        </p:nvSpPr>
        <p:spPr>
          <a:xfrm>
            <a:off x="3419773" y="485343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Deixe a massa descansar por 15 minutos, para a aveia hidratar e dar liga.</a:t>
            </a:r>
            <a:endParaRPr lang="en-US" sz="930" dirty="0"/>
          </a:p>
        </p:txBody>
      </p:sp>
      <p:sp>
        <p:nvSpPr>
          <p:cNvPr id="52" name="Shape 47"/>
          <p:cNvSpPr/>
          <p:nvPr/>
        </p:nvSpPr>
        <p:spPr>
          <a:xfrm>
            <a:off x="3131939" y="530468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3198465" y="5346948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4" name="Text 49"/>
          <p:cNvSpPr txBox="1"/>
          <p:nvPr/>
        </p:nvSpPr>
        <p:spPr>
          <a:xfrm>
            <a:off x="3419773" y="531301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Modele 6 hambúrgueres com as mãos úmidas e leve à geladeira por 20 minutos.</a:t>
            </a:r>
            <a:endParaRPr lang="en-US" sz="930" dirty="0"/>
          </a:p>
        </p:txBody>
      </p:sp>
      <p:sp>
        <p:nvSpPr>
          <p:cNvPr id="55" name="Shape 50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6" name="Text 51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57" name="Text 52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Doure numa frigideira com azeite, em fogo médio, por 4 minutos de cada lado, virando com cuidado. Ou asse a 200 °C por 20 minutos, virando na metade.</a:t>
            </a:r>
            <a:endParaRPr lang="en-US" sz="930" dirty="0"/>
          </a:p>
        </p:txBody>
      </p:sp>
      <p:sp>
        <p:nvSpPr>
          <p:cNvPr id="58" name="Shape 53"/>
          <p:cNvSpPr/>
          <p:nvPr/>
        </p:nvSpPr>
        <p:spPr>
          <a:xfrm>
            <a:off x="647998" y="9054703"/>
            <a:ext cx="6263878" cy="845195"/>
          </a:xfrm>
          <a:prstGeom prst="roundRect">
            <a:avLst>
              <a:gd name="adj" fmla="val 13824"/>
            </a:avLst>
          </a:prstGeom>
          <a:solidFill>
            <a:srgbClr val="EEE6D8"/>
          </a:solidFill>
          <a:ln/>
        </p:spPr>
      </p:sp>
      <p:sp>
        <p:nvSpPr>
          <p:cNvPr id="59" name="Shape 54"/>
          <p:cNvSpPr/>
          <p:nvPr/>
        </p:nvSpPr>
        <p:spPr>
          <a:xfrm>
            <a:off x="827931" y="9216628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9298037"/>
            <a:ext cx="197048" cy="197048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1331714" y="9216628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2" name="Text 56"/>
          <p:cNvSpPr txBox="1"/>
          <p:nvPr/>
        </p:nvSpPr>
        <p:spPr>
          <a:xfrm>
            <a:off x="1331714" y="9366796"/>
            <a:ext cx="5400229" cy="371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Refogar a cenoura antes é o passo que separa um hambúrguer firme e saboroso de um que desmancha na frigideira. Sirva no pão com o pesto de rama (página “Aproveita Isso Também”).</a:t>
            </a:r>
            <a:endParaRPr lang="en-US" sz="1000" dirty="0"/>
          </a:p>
        </p:txBody>
      </p:sp>
      <p:sp>
        <p:nvSpPr>
          <p:cNvPr id="63" name="Shape 57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5" name="Text 59"/>
          <p:cNvSpPr txBox="1"/>
          <p:nvPr/>
        </p:nvSpPr>
        <p:spPr>
          <a:xfrm>
            <a:off x="6789688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</a:t>
            </a:r>
            <a:endParaRPr lang="en-US" sz="63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611981"/>
            <a:ext cx="290969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40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RECEITA 5.3 · A SOBREMESA DE RESPEITO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78073"/>
            <a:ext cx="4031903" cy="1147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30"/>
              </a:lnSpc>
              <a:buNone/>
            </a:pPr>
            <a:r>
              <a:rPr lang="en-US" sz="24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Bolo de cenoura da vovó com técnica de chef e calda de chocolate espelhada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7998" y="1957388"/>
            <a:ext cx="19107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i="1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massa fofíssima que não sola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799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398" y="2396282"/>
            <a:ext cx="161181" cy="16118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25872" y="2352377"/>
            <a:ext cx="34781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1H10</a:t>
            </a:r>
            <a:endParaRPr lang="en-US" sz="740" dirty="0"/>
          </a:p>
        </p:txBody>
      </p:sp>
      <p:sp>
        <p:nvSpPr>
          <p:cNvPr id="8" name="Text 5"/>
          <p:cNvSpPr txBox="1"/>
          <p:nvPr/>
        </p:nvSpPr>
        <p:spPr>
          <a:xfrm>
            <a:off x="1025872" y="2505968"/>
            <a:ext cx="47580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TEMPO</a:t>
            </a:r>
            <a:endParaRPr lang="en-US" sz="640" dirty="0"/>
          </a:p>
        </p:txBody>
      </p:sp>
      <p:sp>
        <p:nvSpPr>
          <p:cNvPr id="9" name="Shape 6"/>
          <p:cNvSpPr/>
          <p:nvPr/>
        </p:nvSpPr>
        <p:spPr>
          <a:xfrm>
            <a:off x="1675358" y="2332881"/>
            <a:ext cx="287982" cy="287982"/>
          </a:xfrm>
          <a:prstGeom prst="ellipse">
            <a:avLst/>
          </a:prstGeom>
          <a:ln w="9525">
            <a:solidFill>
              <a:srgbClr val="2F2A25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759" y="2396282"/>
            <a:ext cx="161181" cy="16118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053233" y="2352377"/>
            <a:ext cx="16680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30"/>
              </a:lnSpc>
              <a:buNone/>
            </a:pPr>
            <a:r>
              <a:rPr lang="en-US" sz="740" b="1" spc="44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ASSADEIRA DE 20 × 30 CM</a:t>
            </a:r>
            <a:endParaRPr lang="en-US" sz="740" dirty="0"/>
          </a:p>
        </p:txBody>
      </p:sp>
      <p:sp>
        <p:nvSpPr>
          <p:cNvPr id="12" name="Text 8"/>
          <p:cNvSpPr txBox="1"/>
          <p:nvPr/>
        </p:nvSpPr>
        <p:spPr>
          <a:xfrm>
            <a:off x="2053233" y="2505968"/>
            <a:ext cx="8099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00"/>
              </a:lnSpc>
              <a:buNone/>
            </a:pPr>
            <a:r>
              <a:rPr lang="en-US" sz="640" spc="90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RENDIMENTO</a:t>
            </a:r>
            <a:endParaRPr lang="en-US" sz="640" dirty="0"/>
          </a:p>
        </p:txBody>
      </p:sp>
      <p:sp>
        <p:nvSpPr>
          <p:cNvPr id="13" name="Shape 9"/>
          <p:cNvSpPr/>
          <p:nvPr/>
        </p:nvSpPr>
        <p:spPr>
          <a:xfrm>
            <a:off x="5615880" y="252115"/>
            <a:ext cx="2375892" cy="2375892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5948363" y="584597"/>
            <a:ext cx="1710928" cy="171092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330" y="893564"/>
            <a:ext cx="1092845" cy="109284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98" y="3157091"/>
            <a:ext cx="2159943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47998" y="2951857"/>
            <a:ext cx="105891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INGREDIENTES</a:t>
            </a:r>
            <a:endParaRPr lang="en-US" sz="760" dirty="0"/>
          </a:p>
        </p:txBody>
      </p:sp>
      <p:sp>
        <p:nvSpPr>
          <p:cNvPr id="18" name="Text 13"/>
          <p:cNvSpPr txBox="1"/>
          <p:nvPr/>
        </p:nvSpPr>
        <p:spPr>
          <a:xfrm>
            <a:off x="647998" y="3264991"/>
            <a:ext cx="49232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MASSA</a:t>
            </a:r>
            <a:endParaRPr lang="en-US" sz="660" dirty="0"/>
          </a:p>
        </p:txBody>
      </p:sp>
      <p:sp>
        <p:nvSpPr>
          <p:cNvPr id="19" name="Shape 14"/>
          <p:cNvSpPr/>
          <p:nvPr/>
        </p:nvSpPr>
        <p:spPr>
          <a:xfrm>
            <a:off x="665998" y="34920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809998" y="3433167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cenouras médias (cerca de 300 g), em rodelas</a:t>
            </a:r>
            <a:endParaRPr lang="en-US" sz="890" dirty="0"/>
          </a:p>
        </p:txBody>
      </p:sp>
      <p:sp>
        <p:nvSpPr>
          <p:cNvPr id="21" name="Shape 16"/>
          <p:cNvSpPr/>
          <p:nvPr/>
        </p:nvSpPr>
        <p:spPr>
          <a:xfrm>
            <a:off x="665998" y="387334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2" name="Text 17"/>
          <p:cNvSpPr txBox="1"/>
          <p:nvPr/>
        </p:nvSpPr>
        <p:spPr>
          <a:xfrm>
            <a:off x="809923" y="3814465"/>
            <a:ext cx="47327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ovos</a:t>
            </a:r>
            <a:endParaRPr lang="en-US" sz="890" dirty="0"/>
          </a:p>
        </p:txBody>
      </p:sp>
      <p:sp>
        <p:nvSpPr>
          <p:cNvPr id="23" name="Shape 18"/>
          <p:cNvSpPr/>
          <p:nvPr/>
        </p:nvSpPr>
        <p:spPr>
          <a:xfrm>
            <a:off x="665998" y="409092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09923" y="4032052"/>
            <a:ext cx="9495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240 ml de óleo</a:t>
            </a:r>
            <a:endParaRPr lang="en-US" sz="890" dirty="0"/>
          </a:p>
        </p:txBody>
      </p:sp>
      <p:sp>
        <p:nvSpPr>
          <p:cNvPr id="25" name="Shape 20"/>
          <p:cNvSpPr/>
          <p:nvPr/>
        </p:nvSpPr>
        <p:spPr>
          <a:xfrm>
            <a:off x="665998" y="4308513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6" name="Text 21"/>
          <p:cNvSpPr txBox="1"/>
          <p:nvPr/>
        </p:nvSpPr>
        <p:spPr>
          <a:xfrm>
            <a:off x="809923" y="4249638"/>
            <a:ext cx="10203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açúcar</a:t>
            </a:r>
            <a:endParaRPr lang="en-US" sz="890" dirty="0"/>
          </a:p>
        </p:txBody>
      </p:sp>
      <p:sp>
        <p:nvSpPr>
          <p:cNvPr id="27" name="Shape 22"/>
          <p:cNvSpPr/>
          <p:nvPr/>
        </p:nvSpPr>
        <p:spPr>
          <a:xfrm>
            <a:off x="665998" y="4526100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809998" y="4467225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300 g de farinha de trigo, peneirada</a:t>
            </a:r>
            <a:endParaRPr lang="en-US" sz="890" dirty="0"/>
          </a:p>
        </p:txBody>
      </p:sp>
      <p:sp>
        <p:nvSpPr>
          <p:cNvPr id="29" name="Shape 24"/>
          <p:cNvSpPr/>
          <p:nvPr/>
        </p:nvSpPr>
        <p:spPr>
          <a:xfrm>
            <a:off x="665998" y="490739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809998" y="4848523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fermento químico em pó</a:t>
            </a:r>
            <a:endParaRPr lang="en-US" sz="890" dirty="0"/>
          </a:p>
        </p:txBody>
      </p:sp>
      <p:sp>
        <p:nvSpPr>
          <p:cNvPr id="31" name="Shape 26"/>
          <p:cNvSpPr/>
          <p:nvPr/>
        </p:nvSpPr>
        <p:spPr>
          <a:xfrm>
            <a:off x="665998" y="528869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2" name="Text 27"/>
          <p:cNvSpPr txBox="1"/>
          <p:nvPr/>
        </p:nvSpPr>
        <p:spPr>
          <a:xfrm>
            <a:off x="809923" y="5229820"/>
            <a:ext cx="9004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pitada de sal</a:t>
            </a:r>
            <a:endParaRPr lang="en-US" sz="890" dirty="0"/>
          </a:p>
        </p:txBody>
      </p:sp>
      <p:sp>
        <p:nvSpPr>
          <p:cNvPr id="33" name="Text 28"/>
          <p:cNvSpPr txBox="1"/>
          <p:nvPr/>
        </p:nvSpPr>
        <p:spPr>
          <a:xfrm>
            <a:off x="647998" y="5491907"/>
            <a:ext cx="119198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30"/>
              </a:lnSpc>
              <a:buNone/>
            </a:pPr>
            <a:r>
              <a:rPr lang="en-US" sz="660" b="1" spc="106" kern="0" dirty="0">
                <a:solidFill>
                  <a:srgbClr val="C2552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 ESPELHADA</a:t>
            </a:r>
            <a:endParaRPr lang="en-US" sz="660" dirty="0"/>
          </a:p>
        </p:txBody>
      </p:sp>
      <p:sp>
        <p:nvSpPr>
          <p:cNvPr id="34" name="Shape 29"/>
          <p:cNvSpPr/>
          <p:nvPr/>
        </p:nvSpPr>
        <p:spPr>
          <a:xfrm>
            <a:off x="665998" y="5718957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809998" y="5660082"/>
            <a:ext cx="1997942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150 g de chocolate meio amargo picado</a:t>
            </a:r>
            <a:endParaRPr lang="en-US" sz="890" dirty="0"/>
          </a:p>
        </p:txBody>
      </p:sp>
      <p:sp>
        <p:nvSpPr>
          <p:cNvPr id="36" name="Shape 31"/>
          <p:cNvSpPr/>
          <p:nvPr/>
        </p:nvSpPr>
        <p:spPr>
          <a:xfrm>
            <a:off x="665998" y="6100255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809923" y="6041380"/>
            <a:ext cx="221461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caixinha (200 g) de creme de leite</a:t>
            </a:r>
            <a:endParaRPr lang="en-US" sz="890" dirty="0"/>
          </a:p>
        </p:txBody>
      </p:sp>
      <p:sp>
        <p:nvSpPr>
          <p:cNvPr id="38" name="Shape 33"/>
          <p:cNvSpPr/>
          <p:nvPr/>
        </p:nvSpPr>
        <p:spPr>
          <a:xfrm>
            <a:off x="665998" y="6317842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39" name="Text 34"/>
          <p:cNvSpPr txBox="1"/>
          <p:nvPr/>
        </p:nvSpPr>
        <p:spPr>
          <a:xfrm>
            <a:off x="809923" y="6258967"/>
            <a:ext cx="136567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mel</a:t>
            </a:r>
            <a:endParaRPr lang="en-US" sz="890" dirty="0"/>
          </a:p>
        </p:txBody>
      </p:sp>
      <p:sp>
        <p:nvSpPr>
          <p:cNvPr id="40" name="Shape 35"/>
          <p:cNvSpPr/>
          <p:nvPr/>
        </p:nvSpPr>
        <p:spPr>
          <a:xfrm>
            <a:off x="665998" y="6535428"/>
            <a:ext cx="50304" cy="50304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809923" y="6476554"/>
            <a:ext cx="17360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0"/>
              </a:lnSpc>
              <a:buNone/>
            </a:pPr>
            <a:r>
              <a:rPr lang="en-US" sz="8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colher (sopa) de manteiga</a:t>
            </a:r>
            <a:endParaRPr lang="en-US" sz="890" dirty="0"/>
          </a:p>
        </p:txBody>
      </p:sp>
      <p:sp>
        <p:nvSpPr>
          <p:cNvPr id="42" name="Shape 37"/>
          <p:cNvSpPr/>
          <p:nvPr/>
        </p:nvSpPr>
        <p:spPr>
          <a:xfrm>
            <a:off x="3131939" y="3157091"/>
            <a:ext cx="3779937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3131939" y="2951857"/>
            <a:ext cx="141434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50"/>
              </a:lnSpc>
              <a:buNone/>
            </a:pPr>
            <a:r>
              <a:rPr lang="en-US" sz="760" b="1" spc="12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MODO DE PREPARO</a:t>
            </a:r>
            <a:endParaRPr lang="en-US" sz="760" dirty="0"/>
          </a:p>
        </p:txBody>
      </p:sp>
      <p:sp>
        <p:nvSpPr>
          <p:cNvPr id="44" name="Shape 39"/>
          <p:cNvSpPr/>
          <p:nvPr/>
        </p:nvSpPr>
        <p:spPr>
          <a:xfrm>
            <a:off x="3131939" y="3275707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3206651" y="3317974"/>
            <a:ext cx="14481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630" dirty="0"/>
          </a:p>
        </p:txBody>
      </p:sp>
      <p:sp>
        <p:nvSpPr>
          <p:cNvPr id="46" name="Text 41"/>
          <p:cNvSpPr txBox="1"/>
          <p:nvPr/>
        </p:nvSpPr>
        <p:spPr>
          <a:xfrm>
            <a:off x="3419773" y="3284041"/>
            <a:ext cx="379964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Preaqueça o forno a 180 °C e unte e enfarinhe a assadeira.</a:t>
            </a:r>
            <a:endParaRPr lang="en-US" sz="930" dirty="0"/>
          </a:p>
        </p:txBody>
      </p:sp>
      <p:sp>
        <p:nvSpPr>
          <p:cNvPr id="47" name="Shape 42"/>
          <p:cNvSpPr/>
          <p:nvPr/>
        </p:nvSpPr>
        <p:spPr>
          <a:xfrm>
            <a:off x="3131939" y="3559820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48" name="Text 43"/>
          <p:cNvSpPr txBox="1"/>
          <p:nvPr/>
        </p:nvSpPr>
        <p:spPr>
          <a:xfrm>
            <a:off x="3198614" y="3602087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630" dirty="0"/>
          </a:p>
        </p:txBody>
      </p:sp>
      <p:sp>
        <p:nvSpPr>
          <p:cNvPr id="49" name="Text 44"/>
          <p:cNvSpPr txBox="1"/>
          <p:nvPr/>
        </p:nvSpPr>
        <p:spPr>
          <a:xfrm>
            <a:off x="3419773" y="3568154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 liquidificador, bata a cenoura, os ovos, o óleo, o açúcar e o sal por 3 a 4 minutos, até ficar um creme bem liso e claro.</a:t>
            </a:r>
            <a:endParaRPr lang="en-US" sz="930" dirty="0"/>
          </a:p>
        </p:txBody>
      </p:sp>
      <p:sp>
        <p:nvSpPr>
          <p:cNvPr id="50" name="Shape 45"/>
          <p:cNvSpPr/>
          <p:nvPr/>
        </p:nvSpPr>
        <p:spPr>
          <a:xfrm>
            <a:off x="3131939" y="401940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1" name="Text 46"/>
          <p:cNvSpPr txBox="1"/>
          <p:nvPr/>
        </p:nvSpPr>
        <p:spPr>
          <a:xfrm>
            <a:off x="3198614" y="4061668"/>
            <a:ext cx="16073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630" dirty="0"/>
          </a:p>
        </p:txBody>
      </p:sp>
      <p:sp>
        <p:nvSpPr>
          <p:cNvPr id="52" name="Text 47"/>
          <p:cNvSpPr txBox="1"/>
          <p:nvPr/>
        </p:nvSpPr>
        <p:spPr>
          <a:xfrm>
            <a:off x="3419773" y="402773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Despeje numa tigela. Junte a farinha peneirada em três partes, misturando com um fouet ou espátula </a:t>
            </a:r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só até sumir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. Por último, incorpore o fermento delicadamente.</a:t>
            </a:r>
            <a:endParaRPr lang="en-US" sz="930" dirty="0"/>
          </a:p>
        </p:txBody>
      </p:sp>
      <p:sp>
        <p:nvSpPr>
          <p:cNvPr id="53" name="Shape 48"/>
          <p:cNvSpPr/>
          <p:nvPr/>
        </p:nvSpPr>
        <p:spPr>
          <a:xfrm>
            <a:off x="3131939" y="4662041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3194745" y="4704308"/>
            <a:ext cx="16847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630" dirty="0"/>
          </a:p>
        </p:txBody>
      </p:sp>
      <p:sp>
        <p:nvSpPr>
          <p:cNvPr id="55" name="Text 50"/>
          <p:cNvSpPr txBox="1"/>
          <p:nvPr/>
        </p:nvSpPr>
        <p:spPr>
          <a:xfrm>
            <a:off x="3419773" y="4670375"/>
            <a:ext cx="3492103" cy="34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Asse por 35 a 40 minutos, até o palito sair limpo. Não abra o forno nos primeiros 25 minutos.</a:t>
            </a:r>
            <a:endParaRPr lang="en-US" sz="930" dirty="0"/>
          </a:p>
        </p:txBody>
      </p:sp>
      <p:sp>
        <p:nvSpPr>
          <p:cNvPr id="56" name="Shape 51"/>
          <p:cNvSpPr/>
          <p:nvPr/>
        </p:nvSpPr>
        <p:spPr>
          <a:xfrm>
            <a:off x="3131939" y="512162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57" name="Text 52"/>
          <p:cNvSpPr txBox="1"/>
          <p:nvPr/>
        </p:nvSpPr>
        <p:spPr>
          <a:xfrm>
            <a:off x="3198465" y="5163889"/>
            <a:ext cx="16103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630" dirty="0"/>
          </a:p>
        </p:txBody>
      </p:sp>
      <p:sp>
        <p:nvSpPr>
          <p:cNvPr id="58" name="Text 53"/>
          <p:cNvSpPr txBox="1"/>
          <p:nvPr/>
        </p:nvSpPr>
        <p:spPr>
          <a:xfrm>
            <a:off x="3419773" y="5129957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Calda:</a:t>
            </a:r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aqueça o creme de leite até quase ferver e despeje sobre o chocolate picado. Espere 1 minuto e mexa do centro para fora até ficar liso. Junte o mel e a manteiga.</a:t>
            </a:r>
            <a:endParaRPr lang="en-US" sz="930" dirty="0"/>
          </a:p>
        </p:txBody>
      </p:sp>
      <p:sp>
        <p:nvSpPr>
          <p:cNvPr id="59" name="Shape 54"/>
          <p:cNvSpPr/>
          <p:nvPr/>
        </p:nvSpPr>
        <p:spPr>
          <a:xfrm>
            <a:off x="3131939" y="5764262"/>
            <a:ext cx="179933" cy="179933"/>
          </a:xfrm>
          <a:prstGeom prst="ellipse">
            <a:avLst/>
          </a:prstGeom>
          <a:solidFill>
            <a:srgbClr val="2F2A25"/>
          </a:solidFill>
          <a:ln/>
        </p:spPr>
      </p:sp>
      <p:sp>
        <p:nvSpPr>
          <p:cNvPr id="60" name="Text 55"/>
          <p:cNvSpPr txBox="1"/>
          <p:nvPr/>
        </p:nvSpPr>
        <p:spPr>
          <a:xfrm>
            <a:off x="3196828" y="5806529"/>
            <a:ext cx="164455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630" dirty="0"/>
          </a:p>
        </p:txBody>
      </p:sp>
      <p:sp>
        <p:nvSpPr>
          <p:cNvPr id="61" name="Text 56"/>
          <p:cNvSpPr txBox="1"/>
          <p:nvPr/>
        </p:nvSpPr>
        <p:spPr>
          <a:xfrm>
            <a:off x="3419773" y="5772596"/>
            <a:ext cx="3492103" cy="5280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93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 o bolo morno, despeje a calda de uma vez no centro e deixe que ela escorra sozinha, espalhando o mínimo possível, para manter o brilho.</a:t>
            </a:r>
            <a:endParaRPr lang="en-US" sz="930" dirty="0"/>
          </a:p>
        </p:txBody>
      </p:sp>
      <p:sp>
        <p:nvSpPr>
          <p:cNvPr id="62" name="Shape 57"/>
          <p:cNvSpPr/>
          <p:nvPr/>
        </p:nvSpPr>
        <p:spPr>
          <a:xfrm>
            <a:off x="647998" y="8674001"/>
            <a:ext cx="6263878" cy="1225897"/>
          </a:xfrm>
          <a:prstGeom prst="roundRect">
            <a:avLst>
              <a:gd name="adj" fmla="val 6571"/>
            </a:avLst>
          </a:prstGeom>
          <a:solidFill>
            <a:srgbClr val="EEE6D8"/>
          </a:solidFill>
          <a:ln/>
        </p:spPr>
      </p:sp>
      <p:sp>
        <p:nvSpPr>
          <p:cNvPr id="63" name="Shape 58"/>
          <p:cNvSpPr/>
          <p:nvPr/>
        </p:nvSpPr>
        <p:spPr>
          <a:xfrm>
            <a:off x="827931" y="883592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6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340" y="8917335"/>
            <a:ext cx="197048" cy="197048"/>
          </a:xfrm>
          <a:prstGeom prst="rect">
            <a:avLst/>
          </a:prstGeom>
        </p:spPr>
      </p:pic>
      <p:sp>
        <p:nvSpPr>
          <p:cNvPr id="65" name="Text 59"/>
          <p:cNvSpPr txBox="1"/>
          <p:nvPr/>
        </p:nvSpPr>
        <p:spPr>
          <a:xfrm>
            <a:off x="1331714" y="8835926"/>
            <a:ext cx="1317331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70"/>
              </a:lnSpc>
              <a:buNone/>
            </a:pPr>
            <a:r>
              <a:rPr lang="en-US" sz="700" b="1" spc="112" kern="0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TOQUE DO MAMEDE</a:t>
            </a:r>
            <a:endParaRPr lang="en-US" sz="700" dirty="0"/>
          </a:p>
        </p:txBody>
      </p:sp>
      <p:sp>
        <p:nvSpPr>
          <p:cNvPr id="66" name="Text 60"/>
          <p:cNvSpPr txBox="1"/>
          <p:nvPr/>
        </p:nvSpPr>
        <p:spPr>
          <a:xfrm>
            <a:off x="1331714" y="8986093"/>
            <a:ext cx="5400229" cy="7520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00" i="1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Bolo que sola tem três culpados: farinha batida demais, fermento misturado com força e forno aberto cedo. Por isso o liquidificador cuida só da emulsão (cenoura, ovos e óleo), a farinha entra à mão, o fermento vai por último e o forno fica fechado nos primeiros 25 minutos. O mel na calda é o que dá o efeito espelhado.</a:t>
            </a:r>
            <a:endParaRPr lang="en-US" sz="1000" dirty="0"/>
          </a:p>
        </p:txBody>
      </p:sp>
      <p:sp>
        <p:nvSpPr>
          <p:cNvPr id="67" name="Shape 61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68" name="Text 62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69" name="Text 63"/>
          <p:cNvSpPr txBox="1"/>
          <p:nvPr/>
        </p:nvSpPr>
        <p:spPr>
          <a:xfrm>
            <a:off x="6792069" y="10236845"/>
            <a:ext cx="23410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37</a:t>
            </a:r>
            <a:endParaRPr lang="en-US" sz="63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8050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 PULO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1745885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CHEF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537395"/>
            <a:ext cx="3352252" cy="276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Cenoura cozida na água, sem graça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7998" y="1974503"/>
            <a:ext cx="2703909" cy="3168104"/>
          </a:xfrm>
          <a:prstGeom prst="roundRect">
            <a:avLst>
              <a:gd name="adj" fmla="val 1351"/>
            </a:avLst>
          </a:prstGeom>
          <a:solidFill>
            <a:srgbClr val="FBF8F3"/>
          </a:solidFill>
          <a:ln w="9525">
            <a:solidFill>
              <a:srgbClr val="DDD2C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56" y="216396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C2552D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865" y="2245370"/>
            <a:ext cx="197048" cy="19704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323231" y="2281982"/>
            <a:ext cx="615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ERRO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37456" y="2668786"/>
            <a:ext cx="2324993" cy="734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Cozinhar a cenoura em muita água e escorrer. O açúcar e o sabor dela vão embora pelo ralo da pia, junto com a água.</a:t>
            </a:r>
            <a:endParaRPr lang="en-US" sz="940" dirty="0"/>
          </a:p>
        </p:txBody>
      </p:sp>
      <p:sp>
        <p:nvSpPr>
          <p:cNvPr id="11" name="Shape 8"/>
          <p:cNvSpPr/>
          <p:nvPr/>
        </p:nvSpPr>
        <p:spPr>
          <a:xfrm>
            <a:off x="3531840" y="1974503"/>
            <a:ext cx="3380036" cy="3168104"/>
          </a:xfrm>
          <a:prstGeom prst="roundRect">
            <a:avLst>
              <a:gd name="adj" fmla="val 984"/>
            </a:avLst>
          </a:prstGeom>
          <a:solidFill>
            <a:srgbClr val="EEE6D8"/>
          </a:solidFill>
          <a:ln/>
        </p:spPr>
      </p:sp>
      <p:sp>
        <p:nvSpPr>
          <p:cNvPr id="12" name="Shape 9"/>
          <p:cNvSpPr/>
          <p:nvPr/>
        </p:nvSpPr>
        <p:spPr>
          <a:xfrm>
            <a:off x="3711773" y="2154436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3182" y="2235845"/>
            <a:ext cx="197048" cy="19704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197548" y="2272457"/>
            <a:ext cx="8103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00"/>
              </a:lnSpc>
              <a:buNone/>
            </a:pPr>
            <a:r>
              <a:rPr lang="en-US" sz="800" b="1" spc="112" kern="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TÉCNICA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3711773" y="2640211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6" name="Text 12"/>
          <p:cNvSpPr txBox="1"/>
          <p:nvPr/>
        </p:nvSpPr>
        <p:spPr>
          <a:xfrm>
            <a:off x="3873774" y="2659261"/>
            <a:ext cx="2858169" cy="716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Glaçagem, a técnica do chef: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em rodelas numa frigideira, água só até a metade da altura, 1 colher de manteiga, 1 pitada de açúcar e outra de sal.</a:t>
            </a:r>
            <a:endParaRPr lang="en-US" sz="940" dirty="0"/>
          </a:p>
        </p:txBody>
      </p:sp>
      <p:sp>
        <p:nvSpPr>
          <p:cNvPr id="17" name="Text 13"/>
          <p:cNvSpPr txBox="1"/>
          <p:nvPr/>
        </p:nvSpPr>
        <p:spPr>
          <a:xfrm>
            <a:off x="3711773" y="3452068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18" name="Text 14"/>
          <p:cNvSpPr txBox="1"/>
          <p:nvPr/>
        </p:nvSpPr>
        <p:spPr>
          <a:xfrm>
            <a:off x="3873774" y="3471118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Fogo médio e panela destampada: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a cenoura cozinha enquanto a água evapora.</a:t>
            </a:r>
            <a:endParaRPr lang="en-US" sz="940" dirty="0"/>
          </a:p>
        </p:txBody>
      </p:sp>
      <p:sp>
        <p:nvSpPr>
          <p:cNvPr id="19" name="Text 15"/>
          <p:cNvSpPr txBox="1"/>
          <p:nvPr/>
        </p:nvSpPr>
        <p:spPr>
          <a:xfrm>
            <a:off x="3711773" y="3893939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0" name="Text 16"/>
          <p:cNvSpPr txBox="1"/>
          <p:nvPr/>
        </p:nvSpPr>
        <p:spPr>
          <a:xfrm>
            <a:off x="3873774" y="3912989"/>
            <a:ext cx="2858169" cy="53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Quando a água secar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a manteiga e o açúcar viram uma película brilhante que envolve cada rodela. Mexa por 1 minuto e pronto.</a:t>
            </a:r>
            <a:endParaRPr lang="en-US" sz="940" dirty="0"/>
          </a:p>
        </p:txBody>
      </p:sp>
      <p:sp>
        <p:nvSpPr>
          <p:cNvPr id="21" name="Text 17"/>
          <p:cNvSpPr txBox="1"/>
          <p:nvPr/>
        </p:nvSpPr>
        <p:spPr>
          <a:xfrm>
            <a:off x="3711773" y="4520803"/>
            <a:ext cx="133350" cy="1850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4E5B3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940" dirty="0"/>
          </a:p>
        </p:txBody>
      </p:sp>
      <p:sp>
        <p:nvSpPr>
          <p:cNvPr id="22" name="Text 18"/>
          <p:cNvSpPr txBox="1"/>
          <p:nvPr/>
        </p:nvSpPr>
        <p:spPr>
          <a:xfrm>
            <a:off x="3873774" y="4539853"/>
            <a:ext cx="2858169" cy="346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0"/>
              </a:lnSpc>
              <a:buNone/>
            </a:pPr>
            <a:r>
              <a:rPr lang="en-US" sz="9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Resultado:</a:t>
            </a:r>
            <a:pPr algn="l" indent="0" marL="0">
              <a:lnSpc>
                <a:spcPts val="1460"/>
              </a:lnSpc>
              <a:buNone/>
            </a:pPr>
            <a:r>
              <a:rPr lang="en-US" sz="94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cenoura macia, brilhante e com todo o sabor dentro dela, não na água.</a:t>
            </a:r>
            <a:endParaRPr lang="en-US" sz="940" dirty="0"/>
          </a:p>
        </p:txBody>
      </p:sp>
      <p:sp>
        <p:nvSpPr>
          <p:cNvPr id="23" name="Text 19"/>
          <p:cNvSpPr txBox="1"/>
          <p:nvPr/>
        </p:nvSpPr>
        <p:spPr>
          <a:xfrm>
            <a:off x="647998" y="5447556"/>
            <a:ext cx="95622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NÃO TEM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647998" y="5632996"/>
            <a:ext cx="849957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2100" spc="63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ISSO?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647998" y="612636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26" name="Shape 22"/>
          <p:cNvSpPr/>
          <p:nvPr/>
        </p:nvSpPr>
        <p:spPr>
          <a:xfrm>
            <a:off x="647998" y="6353621"/>
            <a:ext cx="1655862" cy="291703"/>
          </a:xfrm>
          <a:prstGeom prst="roundRect">
            <a:avLst>
              <a:gd name="adj" fmla="val 77373"/>
            </a:avLst>
          </a:prstGeom>
          <a:solidFill>
            <a:srgbClr val="4E5B38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791914" y="6447086"/>
            <a:ext cx="996255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NÃO TIVER…</a:t>
            </a:r>
            <a:endParaRPr lang="en-US" sz="680" dirty="0"/>
          </a:p>
        </p:txBody>
      </p:sp>
      <p:sp>
        <p:nvSpPr>
          <p:cNvPr id="28" name="Shape 24"/>
          <p:cNvSpPr/>
          <p:nvPr/>
        </p:nvSpPr>
        <p:spPr>
          <a:xfrm>
            <a:off x="2303859" y="6353621"/>
            <a:ext cx="4608016" cy="291703"/>
          </a:xfrm>
          <a:prstGeom prst="rect">
            <a:avLst/>
          </a:prstGeom>
          <a:solidFill>
            <a:srgbClr val="4E5B38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2447776" y="6447086"/>
            <a:ext cx="419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850"/>
              </a:lnSpc>
              <a:buNone/>
            </a:pPr>
            <a:r>
              <a:rPr lang="en-US" sz="680" b="1" spc="109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USE…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647998" y="7012186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1914" y="6738789"/>
            <a:ext cx="32325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Mel</a:t>
            </a:r>
            <a:endParaRPr lang="en-US" sz="1000" dirty="0"/>
          </a:p>
        </p:txBody>
      </p:sp>
      <p:sp>
        <p:nvSpPr>
          <p:cNvPr id="32" name="Shape 28"/>
          <p:cNvSpPr/>
          <p:nvPr/>
        </p:nvSpPr>
        <p:spPr>
          <a:xfrm>
            <a:off x="2303859" y="7012186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2447776" y="6748314"/>
            <a:ext cx="3650123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Melaço, xarope de bordo ou 1 colher de açúcar mascavo.</a:t>
            </a:r>
            <a:endParaRPr lang="en-US" sz="920" dirty="0"/>
          </a:p>
        </p:txBody>
      </p:sp>
      <p:sp>
        <p:nvSpPr>
          <p:cNvPr id="34" name="Shape 30"/>
          <p:cNvSpPr/>
          <p:nvPr/>
        </p:nvSpPr>
        <p:spPr>
          <a:xfrm>
            <a:off x="647998" y="7383810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91914" y="7110412"/>
            <a:ext cx="96768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Tomilho fresco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2303859" y="7383810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2447776" y="7119938"/>
            <a:ext cx="382264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Alecrim, orégano fresco ou ½ colher (chá) de tomilho seco.</a:t>
            </a:r>
            <a:endParaRPr lang="en-US" sz="920" dirty="0"/>
          </a:p>
        </p:txBody>
      </p:sp>
      <p:sp>
        <p:nvSpPr>
          <p:cNvPr id="38" name="Shape 34"/>
          <p:cNvSpPr/>
          <p:nvPr/>
        </p:nvSpPr>
        <p:spPr>
          <a:xfrm>
            <a:off x="647998" y="7755434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791914" y="7482036"/>
            <a:ext cx="993725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Aveia em flocos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2303859" y="7755434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2447776" y="7491561"/>
            <a:ext cx="2982706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Farinha de rosca ou farinha de mandioca fina.</a:t>
            </a:r>
            <a:endParaRPr lang="en-US" sz="920" dirty="0"/>
          </a:p>
        </p:txBody>
      </p:sp>
      <p:sp>
        <p:nvSpPr>
          <p:cNvPr id="42" name="Shape 38"/>
          <p:cNvSpPr/>
          <p:nvPr/>
        </p:nvSpPr>
        <p:spPr>
          <a:xfrm>
            <a:off x="647998" y="8127057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791914" y="7853660"/>
            <a:ext cx="1510022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Chocolate meio amargo</a:t>
            </a:r>
            <a:endParaRPr lang="en-US" sz="1000" dirty="0"/>
          </a:p>
        </p:txBody>
      </p:sp>
      <p:sp>
        <p:nvSpPr>
          <p:cNvPr id="44" name="Shape 40"/>
          <p:cNvSpPr/>
          <p:nvPr/>
        </p:nvSpPr>
        <p:spPr>
          <a:xfrm>
            <a:off x="2303859" y="8127057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2447776" y="7863185"/>
            <a:ext cx="355511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Chocolate ao leite com 1 colher (sopa) de cacau em pó.</a:t>
            </a:r>
            <a:endParaRPr lang="en-US" sz="920" dirty="0"/>
          </a:p>
        </p:txBody>
      </p:sp>
      <p:sp>
        <p:nvSpPr>
          <p:cNvPr id="46" name="Shape 42"/>
          <p:cNvSpPr/>
          <p:nvPr/>
        </p:nvSpPr>
        <p:spPr>
          <a:xfrm>
            <a:off x="647998" y="8498681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91914" y="8225284"/>
            <a:ext cx="939998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Creme de leite</a:t>
            </a:r>
            <a:endParaRPr lang="en-US" sz="1000" dirty="0"/>
          </a:p>
        </p:txBody>
      </p:sp>
      <p:sp>
        <p:nvSpPr>
          <p:cNvPr id="48" name="Shape 44"/>
          <p:cNvSpPr/>
          <p:nvPr/>
        </p:nvSpPr>
        <p:spPr>
          <a:xfrm>
            <a:off x="2303859" y="8498681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2447776" y="8234809"/>
            <a:ext cx="235812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Leite integral (a calda fica mais fina).</a:t>
            </a:r>
            <a:endParaRPr lang="en-US" sz="920" dirty="0"/>
          </a:p>
        </p:txBody>
      </p:sp>
      <p:sp>
        <p:nvSpPr>
          <p:cNvPr id="50" name="Shape 46"/>
          <p:cNvSpPr/>
          <p:nvPr/>
        </p:nvSpPr>
        <p:spPr>
          <a:xfrm>
            <a:off x="647998" y="8870305"/>
            <a:ext cx="1655862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791914" y="8596908"/>
            <a:ext cx="135867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Amendoim (no pesto)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2303859" y="8870305"/>
            <a:ext cx="4608016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447776" y="8606433"/>
            <a:ext cx="40170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92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Castanha-de-caju, castanha-do-pará ou sementes de girassol.</a:t>
            </a:r>
            <a:endParaRPr lang="en-US" sz="920" dirty="0"/>
          </a:p>
        </p:txBody>
      </p:sp>
      <p:sp>
        <p:nvSpPr>
          <p:cNvPr id="54" name="Shape 50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56" name="Text 52"/>
          <p:cNvSpPr txBox="1"/>
          <p:nvPr/>
        </p:nvSpPr>
        <p:spPr>
          <a:xfrm>
            <a:off x="6787753" y="10236845"/>
            <a:ext cx="23842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38</a:t>
            </a:r>
            <a:endParaRPr lang="en-US" sz="63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808881"/>
            <a:ext cx="1154811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APROVEITA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984796"/>
            <a:ext cx="2636996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ISSO TAMBÉM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571476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817787"/>
            <a:ext cx="424286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Cascas, talos, ramas e aparas: o que ia para o lixo vira sabor.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21855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9407" y="2303264"/>
            <a:ext cx="197048" cy="1970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169789" y="2221855"/>
            <a:ext cx="1684211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Cascas: chips assados</a:t>
            </a:r>
            <a:endParaRPr lang="en-US" sz="1060" dirty="0"/>
          </a:p>
        </p:txBody>
      </p:sp>
      <p:sp>
        <p:nvSpPr>
          <p:cNvPr id="9" name="Text 6"/>
          <p:cNvSpPr txBox="1"/>
          <p:nvPr/>
        </p:nvSpPr>
        <p:spPr>
          <a:xfrm>
            <a:off x="1169789" y="2455515"/>
            <a:ext cx="3366195" cy="114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descascar as cenouras, guarde as cascas. Seque bem, misture com um fio de azeite, sal e uma pitada de cominho e espalhe sem amontoar. Leve à airfryer a 170 °C por 6 a 8 minutos ou ao forno a 150 °C por 15 a 20 minutos, de olho: elas são finas e passam do ponto rápido.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647998" y="3836491"/>
            <a:ext cx="359866" cy="359866"/>
          </a:xfrm>
          <a:prstGeom prst="roundRect">
            <a:avLst>
              <a:gd name="adj" fmla="val 50838"/>
            </a:avLst>
          </a:prstGeom>
          <a:ln w="9525">
            <a:solidFill>
              <a:srgbClr val="4E5B3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407" y="3917900"/>
            <a:ext cx="197048" cy="19704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69789" y="3836491"/>
            <a:ext cx="3366195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20"/>
              </a:lnSpc>
              <a:buNone/>
            </a:pPr>
            <a:r>
              <a:rPr lang="en-US" sz="106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Ramas (folhas): pesto com amendoim ou castanha</a:t>
            </a:r>
            <a:endParaRPr lang="en-US" sz="1060" dirty="0"/>
          </a:p>
        </p:txBody>
      </p:sp>
      <p:sp>
        <p:nvSpPr>
          <p:cNvPr id="13" name="Text 9"/>
          <p:cNvSpPr txBox="1"/>
          <p:nvPr/>
        </p:nvSpPr>
        <p:spPr>
          <a:xfrm>
            <a:off x="1169789" y="4241602"/>
            <a:ext cx="3366195" cy="1938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96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Separe as folhas e os talos finos de 1 maço de rama (cerca de 60 g). Mergulhe por 10 segundos em água fervente e depois em água com gelo: isso fixa a cor e suaviza o amargor. Esprema bem. Bata no processador ou pilão com 50 g de amendoim torrado sem sal, 1 dente de alho, 40 g de parmesão, suco de ½ limão e sal, acrescentando cerca de 120 ml de azeite aos poucos. Use em massas, no hambúrguer de cenoura, sobre as cenouras assadas ou no pão. Dura 5 dias na geladeira, coberto por uma camada de azeite.</a:t>
            </a:r>
            <a:endParaRPr lang="en-US" sz="960" dirty="0"/>
          </a:p>
        </p:txBody>
      </p:sp>
      <p:sp>
        <p:nvSpPr>
          <p:cNvPr id="14" name="Shape 10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5" name="Shape 11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2" name="Text 16"/>
          <p:cNvSpPr txBox="1"/>
          <p:nvPr/>
        </p:nvSpPr>
        <p:spPr>
          <a:xfrm>
            <a:off x="4125813" y="10236845"/>
            <a:ext cx="23648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39</a:t>
            </a:r>
            <a:endParaRPr lang="en-US" sz="63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592931"/>
            <a:ext cx="210659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0"/>
              </a:lnSpc>
              <a:buNone/>
            </a:pPr>
            <a:r>
              <a:rPr lang="en-US" sz="1400" spc="7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BÔNUS: OS 10 PULOS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768846"/>
            <a:ext cx="2406967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70"/>
              </a:lnSpc>
              <a:buNone/>
            </a:pPr>
            <a:r>
              <a:rPr lang="en-US" sz="2700" spc="81" kern="0" dirty="0">
                <a:solidFill>
                  <a:srgbClr val="4E5B38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DO MAMEDE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7998" y="1355527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1601837"/>
            <a:ext cx="4499967" cy="378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30"/>
              </a:lnSpc>
              <a:buNone/>
            </a:pPr>
            <a:r>
              <a:rPr lang="en-US" sz="102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Dez decisões universais de cozinha, que valem para qualquer ingrediente e qualquer receita, deste guia ou da sua vida.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647998" y="221307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7655" y="2321570"/>
            <a:ext cx="23470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87797" y="2213074"/>
            <a:ext cx="17195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Seque antes de dourar</a:t>
            </a:r>
            <a:endParaRPr lang="en-US" sz="1040" dirty="0"/>
          </a:p>
        </p:txBody>
      </p:sp>
      <p:sp>
        <p:nvSpPr>
          <p:cNvPr id="9" name="Text 7"/>
          <p:cNvSpPr txBox="1"/>
          <p:nvPr/>
        </p:nvSpPr>
        <p:spPr>
          <a:xfrm>
            <a:off x="1187797" y="2413248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Umidade é inimiga da crosta. Carne, frango, legumes: tudo passa pelo papel-toalha antes de ir para a frigideira. Enquanto houver água, a comida cozinha no vapor em vez de dourar.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3923854" y="2213074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32052" y="2321570"/>
            <a:ext cx="25762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63653" y="2213074"/>
            <a:ext cx="22081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Frigideira quente de verdade</a:t>
            </a:r>
            <a:endParaRPr lang="en-US" sz="1040" dirty="0"/>
          </a:p>
        </p:txBody>
      </p:sp>
      <p:sp>
        <p:nvSpPr>
          <p:cNvPr id="13" name="Text 11"/>
          <p:cNvSpPr txBox="1"/>
          <p:nvPr/>
        </p:nvSpPr>
        <p:spPr>
          <a:xfrm>
            <a:off x="4463653" y="2413248"/>
            <a:ext cx="2448223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Espere a frigideira aquecer antes de colocar a gordura e a gordura brilhar antes de colocar o alimento. Uma gota de água deve chiar e evaporar na hora.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647998" y="3485257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56642" y="3593753"/>
            <a:ext cx="25672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7797" y="3485257"/>
            <a:ext cx="1323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lote a panela</a:t>
            </a:r>
            <a:endParaRPr lang="en-US" sz="1040" dirty="0"/>
          </a:p>
        </p:txBody>
      </p:sp>
      <p:sp>
        <p:nvSpPr>
          <p:cNvPr id="17" name="Text 15"/>
          <p:cNvSpPr txBox="1"/>
          <p:nvPr/>
        </p:nvSpPr>
        <p:spPr>
          <a:xfrm>
            <a:off x="1187797" y="3685431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Comida amontoada solta líquido e esfria a panela. Deixe espaço entre os pedaços e, se precisar, trabalhe em levas. É mais rápido do que parece.</a:t>
            </a:r>
            <a:endParaRPr lang="en-US" sz="890" dirty="0"/>
          </a:p>
        </p:txBody>
      </p:sp>
      <p:sp>
        <p:nvSpPr>
          <p:cNvPr id="18" name="Shape 16"/>
          <p:cNvSpPr/>
          <p:nvPr/>
        </p:nvSpPr>
        <p:spPr>
          <a:xfrm>
            <a:off x="3923854" y="3485257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026396" y="3593753"/>
            <a:ext cx="26893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4463653" y="3485257"/>
            <a:ext cx="265849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Não mexa: deixe a crosta se formar</a:t>
            </a:r>
            <a:endParaRPr lang="en-US" sz="1040" dirty="0"/>
          </a:p>
        </p:txBody>
      </p:sp>
      <p:sp>
        <p:nvSpPr>
          <p:cNvPr id="21" name="Text 19"/>
          <p:cNvSpPr txBox="1"/>
          <p:nvPr/>
        </p:nvSpPr>
        <p:spPr>
          <a:xfrm>
            <a:off x="4463653" y="3685431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Selar não “fecha os sucos”, como se dizia. Selar cria sabor. E a crosta só se forma se você deixar o alimento quieto. Quando estiver pronto para virar, ele solta sozinho da frigideira.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647998" y="4757440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6047" y="4865936"/>
            <a:ext cx="258068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87797" y="4757440"/>
            <a:ext cx="2448074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 com antecedência e em camadas</a:t>
            </a:r>
            <a:endParaRPr lang="en-US" sz="1040" dirty="0"/>
          </a:p>
        </p:txBody>
      </p:sp>
      <p:sp>
        <p:nvSpPr>
          <p:cNvPr id="25" name="Text 23"/>
          <p:cNvSpPr txBox="1"/>
          <p:nvPr/>
        </p:nvSpPr>
        <p:spPr>
          <a:xfrm>
            <a:off x="1187797" y="5110014"/>
            <a:ext cx="2448074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Salgar carnes com horas de antecedência tempera por dentro. Nas preparações, tempere um pouco em cada etapa, em vez de tudo no final. E sempre prove antes de acrescentar mais.</a:t>
            </a:r>
            <a:endParaRPr lang="en-US" sz="890" dirty="0"/>
          </a:p>
        </p:txBody>
      </p:sp>
      <p:sp>
        <p:nvSpPr>
          <p:cNvPr id="26" name="Shape 24"/>
          <p:cNvSpPr/>
          <p:nvPr/>
        </p:nvSpPr>
        <p:spPr>
          <a:xfrm>
            <a:off x="3923854" y="4757440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9373" y="4865936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463653" y="4757440"/>
            <a:ext cx="11191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Acidez no final</a:t>
            </a:r>
            <a:endParaRPr lang="en-US" sz="1040" dirty="0"/>
          </a:p>
        </p:txBody>
      </p:sp>
      <p:sp>
        <p:nvSpPr>
          <p:cNvPr id="29" name="Text 27"/>
          <p:cNvSpPr txBox="1"/>
          <p:nvPr/>
        </p:nvSpPr>
        <p:spPr>
          <a:xfrm>
            <a:off x="4463653" y="4957614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Algumas gotas de limão ou vinagre no final acordam um prato “sem graça” muitas vezes melhor do que mais sal. Antes de salgar de novo, experimente acidez.</a:t>
            </a:r>
            <a:endParaRPr lang="en-US" sz="890" dirty="0"/>
          </a:p>
        </p:txBody>
      </p:sp>
      <p:sp>
        <p:nvSpPr>
          <p:cNvPr id="30" name="Shape 28"/>
          <p:cNvSpPr/>
          <p:nvPr/>
        </p:nvSpPr>
        <p:spPr>
          <a:xfrm>
            <a:off x="647998" y="6182023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55005" y="6290518"/>
            <a:ext cx="260152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87797" y="6182023"/>
            <a:ext cx="155952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Respeite o descanso</a:t>
            </a:r>
            <a:endParaRPr lang="en-US" sz="1040" dirty="0"/>
          </a:p>
        </p:txBody>
      </p:sp>
      <p:sp>
        <p:nvSpPr>
          <p:cNvPr id="33" name="Text 31"/>
          <p:cNvSpPr txBox="1"/>
          <p:nvPr/>
        </p:nvSpPr>
        <p:spPr>
          <a:xfrm>
            <a:off x="1187797" y="6382196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Carnes descansam antes de cortar; massas descansam antes de modelar; bolos descansam antes de desenformar. Esperar 5 minutos também é técnica.</a:t>
            </a:r>
            <a:endParaRPr lang="en-US" sz="890" dirty="0"/>
          </a:p>
        </p:txBody>
      </p:sp>
      <p:sp>
        <p:nvSpPr>
          <p:cNvPr id="34" name="Shape 32"/>
          <p:cNvSpPr/>
          <p:nvPr/>
        </p:nvSpPr>
        <p:spPr>
          <a:xfrm>
            <a:off x="3923854" y="6182023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028033" y="6290518"/>
            <a:ext cx="26580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463653" y="6182023"/>
            <a:ext cx="19335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fundo da panela é ouro</a:t>
            </a:r>
            <a:endParaRPr lang="en-US" sz="1040" dirty="0"/>
          </a:p>
        </p:txBody>
      </p:sp>
      <p:sp>
        <p:nvSpPr>
          <p:cNvPr id="37" name="Text 35"/>
          <p:cNvSpPr txBox="1"/>
          <p:nvPr/>
        </p:nvSpPr>
        <p:spPr>
          <a:xfrm>
            <a:off x="4463653" y="6382196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Aquele grudado escuro no fundo da frigideira é sabor concentrado. Solte com um pouco de água, caldo ou vinho (deglaçar) e você terá um molho em 2 minutos.</a:t>
            </a:r>
            <a:endParaRPr lang="en-US" sz="890" dirty="0"/>
          </a:p>
        </p:txBody>
      </p:sp>
      <p:sp>
        <p:nvSpPr>
          <p:cNvPr id="38" name="Shape 36"/>
          <p:cNvSpPr/>
          <p:nvPr/>
        </p:nvSpPr>
        <p:spPr>
          <a:xfrm>
            <a:off x="647998" y="745420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53517" y="7562701"/>
            <a:ext cx="26297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187797" y="7454205"/>
            <a:ext cx="163087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Contraste de texturas</a:t>
            </a:r>
            <a:endParaRPr lang="en-US" sz="1040" dirty="0"/>
          </a:p>
        </p:txBody>
      </p:sp>
      <p:sp>
        <p:nvSpPr>
          <p:cNvPr id="41" name="Text 39"/>
          <p:cNvSpPr txBox="1"/>
          <p:nvPr/>
        </p:nvSpPr>
        <p:spPr>
          <a:xfrm>
            <a:off x="1187797" y="7654379"/>
            <a:ext cx="2448074" cy="6774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prato memorável tem algo cremoso e algo crocante. Sementes tostadas, farofa, chips de casca e pele crocante existem para isso.</a:t>
            </a:r>
            <a:endParaRPr lang="en-US" sz="890" dirty="0"/>
          </a:p>
        </p:txBody>
      </p:sp>
      <p:sp>
        <p:nvSpPr>
          <p:cNvPr id="42" name="Shape 40"/>
          <p:cNvSpPr/>
          <p:nvPr/>
        </p:nvSpPr>
        <p:spPr>
          <a:xfrm>
            <a:off x="3923854" y="7454205"/>
            <a:ext cx="359866" cy="359866"/>
          </a:xfrm>
          <a:prstGeom prst="roundRect">
            <a:avLst>
              <a:gd name="adj" fmla="val 50838"/>
            </a:avLst>
          </a:prstGeom>
          <a:solidFill>
            <a:srgbClr val="4E5B38"/>
          </a:solidFill>
          <a:ln w="9525">
            <a:solidFill>
              <a:srgbClr val="4E5B3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043511" y="7562701"/>
            <a:ext cx="23485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3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4463653" y="7454205"/>
            <a:ext cx="228978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040" b="1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Organize antes de ligar o fogo</a:t>
            </a:r>
            <a:endParaRPr lang="en-US" sz="1040" dirty="0"/>
          </a:p>
        </p:txBody>
      </p:sp>
      <p:sp>
        <p:nvSpPr>
          <p:cNvPr id="45" name="Text 43"/>
          <p:cNvSpPr txBox="1"/>
          <p:nvPr/>
        </p:nvSpPr>
        <p:spPr>
          <a:xfrm>
            <a:off x="4463653" y="7654379"/>
            <a:ext cx="2448223" cy="852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buNone/>
            </a:pPr>
            <a:r>
              <a:rPr lang="en-US" sz="89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Leia a receita inteira, separe, corte e meça tudo antes de começar (é o que os chefs chamam de mise en place). Cozinhar fica mais calmo, e o fogo nunca espera por você.</a:t>
            </a:r>
            <a:endParaRPr lang="en-US" sz="890" dirty="0"/>
          </a:p>
        </p:txBody>
      </p:sp>
      <p:sp>
        <p:nvSpPr>
          <p:cNvPr id="46" name="Shape 44"/>
          <p:cNvSpPr/>
          <p:nvPr/>
        </p:nvSpPr>
        <p:spPr>
          <a:xfrm>
            <a:off x="647998" y="10133856"/>
            <a:ext cx="6263878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48" name="Text 46"/>
          <p:cNvSpPr txBox="1"/>
          <p:nvPr/>
        </p:nvSpPr>
        <p:spPr>
          <a:xfrm>
            <a:off x="6778377" y="10236845"/>
            <a:ext cx="24779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63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7998" y="789831"/>
            <a:ext cx="1295662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buNone/>
            </a:pPr>
            <a:r>
              <a:rPr lang="en-US" sz="2600" spc="130" kern="0" dirty="0">
                <a:solidFill>
                  <a:srgbClr val="2F2A25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MUITO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47998" y="1150441"/>
            <a:ext cx="2886527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spc="108" kern="0" dirty="0">
                <a:solidFill>
                  <a:srgbClr val="C2552D"/>
                </a:solidFill>
                <a:latin typeface="Playfair Display" pitchFamily="34" charset="0"/>
                <a:ea typeface="Playfair Display" pitchFamily="34" charset="-122"/>
                <a:cs typeface="Playfair Display" pitchFamily="34" charset="-120"/>
              </a:rPr>
              <a:t>OBRIGADO!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7998" y="1926431"/>
            <a:ext cx="467916" cy="11311"/>
          </a:xfrm>
          <a:prstGeom prst="rect">
            <a:avLst/>
          </a:prstGeom>
          <a:solidFill>
            <a:srgbClr val="2F2A2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7998" y="2146250"/>
            <a:ext cx="3887986" cy="603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você chegou até aqui, já percebeu: não foram 15 receitas novas. Foram 5 ingredientes que você já conhecia, olhados de outro jeito.</a:t>
            </a:r>
            <a:endParaRPr lang="en-US" sz="990" dirty="0"/>
          </a:p>
        </p:txBody>
      </p:sp>
      <p:sp>
        <p:nvSpPr>
          <p:cNvPr id="6" name="Text 4"/>
          <p:cNvSpPr txBox="1"/>
          <p:nvPr/>
        </p:nvSpPr>
        <p:spPr>
          <a:xfrm>
            <a:off x="647998" y="2889200"/>
            <a:ext cx="3887986" cy="820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Agora o convite é levar esse olhar para o resto da sua cozinha. Antes de cozinhar qualquer coisa, pergunte: como escolher, como guardar, como cortar? Que técnica muda o resultado? E o que dá para aproveitar da casca, do talo, do osso?</a:t>
            </a:r>
            <a:endParaRPr lang="en-US" sz="990" dirty="0"/>
          </a:p>
        </p:txBody>
      </p:sp>
      <p:sp>
        <p:nvSpPr>
          <p:cNvPr id="7" name="Text 5"/>
          <p:cNvSpPr txBox="1"/>
          <p:nvPr/>
        </p:nvSpPr>
        <p:spPr>
          <a:xfrm>
            <a:off x="647998" y="3848398"/>
            <a:ext cx="3887986" cy="3876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990" dirty="0">
                <a:solidFill>
                  <a:srgbClr val="2F2A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Cozinhe com afeto, com técnica e sem desperdício. Esse é o Jeito Mamede.</a:t>
            </a:r>
            <a:endParaRPr lang="en-US" sz="990" dirty="0"/>
          </a:p>
        </p:txBody>
      </p:sp>
      <p:sp>
        <p:nvSpPr>
          <p:cNvPr id="8" name="Text 6"/>
          <p:cNvSpPr txBox="1"/>
          <p:nvPr/>
        </p:nvSpPr>
        <p:spPr>
          <a:xfrm>
            <a:off x="647998" y="4466183"/>
            <a:ext cx="3887986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Bom apetite,</a:t>
            </a:r>
            <a:pPr algn="l" indent="0" marL="0">
              <a:lnSpc>
                <a:spcPts val="3150"/>
              </a:lnSpc>
              <a:buNone/>
            </a:pPr>
            <a:endParaRPr lang="en-US" sz="3000" dirty="0"/>
          </a:p>
          <a:p>
            <a:pPr algn="l" indent="0" marL="0">
              <a:lnSpc>
                <a:spcPts val="3150"/>
              </a:lnSpc>
              <a:buNone/>
            </a:pPr>
            <a:r>
              <a:rPr lang="en-US" sz="3000" dirty="0">
                <a:solidFill>
                  <a:srgbClr val="4E5B38"/>
                </a:solidFill>
                <a:latin typeface="Allura" pitchFamily="34" charset="0"/>
                <a:ea typeface="Allura" pitchFamily="34" charset="-122"/>
                <a:cs typeface="Allura" pitchFamily="34" charset="-120"/>
              </a:rPr>
              <a:t>Chef Allan Mamede</a:t>
            </a:r>
            <a:endParaRPr lang="en-US" sz="30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7998" y="5448300"/>
            <a:ext cx="251966" cy="25196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895999" y="0"/>
            <a:ext cx="2663875" cy="10691961"/>
          </a:xfrm>
          <a:prstGeom prst="rect">
            <a:avLst/>
          </a:prstGeom>
          <a:solidFill>
            <a:srgbClr val="EEE6D8"/>
          </a:solidFill>
          <a:ln/>
        </p:spPr>
      </p:sp>
      <p:sp>
        <p:nvSpPr>
          <p:cNvPr id="11" name="Shape 8"/>
          <p:cNvSpPr/>
          <p:nvPr/>
        </p:nvSpPr>
        <p:spPr>
          <a:xfrm>
            <a:off x="4392067" y="791914"/>
            <a:ext cx="2735907" cy="273590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75002" y="1174849"/>
            <a:ext cx="1970038" cy="1970038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701" y="1530548"/>
            <a:ext cx="1258491" cy="1258491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687913" y="4031903"/>
            <a:ext cx="1799927" cy="1799927"/>
          </a:xfrm>
          <a:prstGeom prst="ellipse">
            <a:avLst/>
          </a:prstGeom>
          <a:solidFill>
            <a:srgbClr val="F4EEE4"/>
          </a:solidFill>
          <a:ln/>
          <a:effectLst>
            <a:outerShdw sx="100000" sy="100000" kx="0" ky="0" algn="bl" rotWithShape="0" blurRad="177800" dist="76200" dir="5400000">
              <a:srgbClr val="50401E">
                <a:alpha val="1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5939879" y="4283869"/>
            <a:ext cx="1295995" cy="1295995"/>
          </a:xfrm>
          <a:prstGeom prst="ellipse">
            <a:avLst/>
          </a:prstGeom>
          <a:ln w="9525">
            <a:solidFill>
              <a:srgbClr val="E2D6C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837" y="4517827"/>
            <a:ext cx="827931" cy="827931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895999" y="8459986"/>
            <a:ext cx="2663875" cy="2231975"/>
          </a:xfrm>
          <a:prstGeom prst="rect">
            <a:avLst/>
          </a:prstGeom>
          <a:solidFill>
            <a:srgbClr val="4E5B38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3904" y="9341941"/>
            <a:ext cx="467916" cy="46791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647998" y="10133856"/>
            <a:ext cx="3600004" cy="0"/>
          </a:xfrm>
          <a:prstGeom prst="line">
            <a:avLst/>
          </a:prstGeom>
          <a:noFill/>
          <a:ln w="9525">
            <a:solidFill>
              <a:srgbClr val="DDD2C0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47998" y="10236845"/>
            <a:ext cx="109163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COZINHA MAMEDE</a:t>
            </a:r>
            <a:endParaRPr lang="en-US" sz="630" dirty="0"/>
          </a:p>
        </p:txBody>
      </p:sp>
      <p:sp>
        <p:nvSpPr>
          <p:cNvPr id="21" name="Text 15"/>
          <p:cNvSpPr txBox="1"/>
          <p:nvPr/>
        </p:nvSpPr>
        <p:spPr>
          <a:xfrm>
            <a:off x="4139803" y="10236845"/>
            <a:ext cx="22249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90"/>
              </a:lnSpc>
              <a:buNone/>
            </a:pPr>
            <a:r>
              <a:rPr lang="en-US" sz="630" b="1" spc="101" kern="0" dirty="0">
                <a:solidFill>
                  <a:srgbClr val="6B6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41</a:t>
            </a:r>
            <a:endParaRPr lang="en-US" sz="6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Cozinha Mamede</dc:title>
  <dc:subject>PptxGenJS Presentation</dc:subject>
  <dc:creator>Chef Allan Mamede</dc:creator>
  <cp:lastModifiedBy>Chef Allan Mamede</cp:lastModifiedBy>
  <cp:revision>1</cp:revision>
  <dcterms:created xsi:type="dcterms:W3CDTF">2026-10-13T15:49:56Z</dcterms:created>
  <dcterms:modified xsi:type="dcterms:W3CDTF">2026-10-13T15:49:56Z</dcterms:modified>
</cp:coreProperties>
</file>