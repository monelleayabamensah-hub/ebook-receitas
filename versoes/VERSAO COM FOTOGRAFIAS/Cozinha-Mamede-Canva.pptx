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AGINA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IN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jp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jp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jp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jp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jp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jp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jp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jp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jp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jpg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jp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jp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jp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jp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jp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719882"/>
            <a:ext cx="359866" cy="3598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5764" y="790277"/>
            <a:ext cx="15131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b="1" spc="105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CHEF ALLAN MAMEDE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115764" y="914102"/>
            <a:ext cx="19632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72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 · TÉCNICA · APROVEITAMENTO</a:t>
            </a:r>
            <a:endParaRPr lang="en-US" sz="600" dirty="0"/>
          </a:p>
        </p:txBody>
      </p:sp>
      <p:sp>
        <p:nvSpPr>
          <p:cNvPr id="5" name="Text 2"/>
          <p:cNvSpPr txBox="1"/>
          <p:nvPr/>
        </p:nvSpPr>
        <p:spPr>
          <a:xfrm>
            <a:off x="647998" y="2303711"/>
            <a:ext cx="7072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216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GUIA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47998" y="2311003"/>
            <a:ext cx="3080052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90"/>
              </a:lnSpc>
              <a:buNone/>
            </a:pPr>
            <a:r>
              <a:rPr lang="en-US" sz="6200" spc="-62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Cozinha</a:t>
            </a:r>
            <a:endParaRPr lang="en-US" sz="6200" dirty="0"/>
          </a:p>
        </p:txBody>
      </p:sp>
      <p:sp>
        <p:nvSpPr>
          <p:cNvPr id="7" name="Text 4"/>
          <p:cNvSpPr txBox="1"/>
          <p:nvPr/>
        </p:nvSpPr>
        <p:spPr>
          <a:xfrm>
            <a:off x="647998" y="3059013"/>
            <a:ext cx="325024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90"/>
              </a:lnSpc>
              <a:buNone/>
            </a:pPr>
            <a:r>
              <a:rPr lang="en-US" sz="6200" spc="-62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Mamede</a:t>
            </a:r>
            <a:endParaRPr lang="en-US" sz="6200" dirty="0"/>
          </a:p>
        </p:txBody>
      </p:sp>
      <p:sp>
        <p:nvSpPr>
          <p:cNvPr id="8" name="Text 5"/>
          <p:cNvSpPr txBox="1"/>
          <p:nvPr/>
        </p:nvSpPr>
        <p:spPr>
          <a:xfrm>
            <a:off x="647998" y="4050357"/>
            <a:ext cx="20604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216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TRANSFORMAÇÕES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7998" y="4481215"/>
            <a:ext cx="575965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7998" y="4737050"/>
            <a:ext cx="1778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ingredientes do dia a dia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948238"/>
            <a:ext cx="12129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transformações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159425"/>
            <a:ext cx="21489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Técnica, afeto e aproveitamento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7998" y="6421934"/>
            <a:ext cx="611981" cy="611981"/>
          </a:xfrm>
          <a:prstGeom prst="ellipse">
            <a:avLst/>
          </a:prstGeom>
          <a:solidFill>
            <a:srgbClr val="4E5B3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14" y="6565850"/>
            <a:ext cx="324148" cy="3241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03896" y="6595318"/>
            <a:ext cx="1172766" cy="26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MELHOR</a:t>
            </a:r>
            <a:pPr algn="l" indent="0" marL="0">
              <a:lnSpc>
                <a:spcPts val="1120"/>
              </a:lnSpc>
              <a:buNone/>
            </a:pPr>
            <a:endParaRPr lang="en-US" sz="700" dirty="0"/>
          </a:p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DESPERDICE MENOS</a:t>
            </a:r>
            <a:endParaRPr lang="en-US" sz="700" dirty="0"/>
          </a:p>
        </p:txBody>
      </p:sp>
      <p:pic>
        <p:nvPicPr>
          <p:cNvPr id="16" name="Image 2" descr="/home/user/ebook-luq/versoes/VERSAO COM FOTOGRAFIAS/fotos/cap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527822" y="2519958"/>
            <a:ext cx="5399931" cy="5399931"/>
          </a:xfrm>
          <a:prstGeom prst="ellipse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0" y="10152013"/>
            <a:ext cx="7559873" cy="539948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2819698" y="10360075"/>
            <a:ext cx="2150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7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CHEF ALLAN MAMEDE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96604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700" dirty="0"/>
          </a:p>
        </p:txBody>
      </p:sp>
      <p:sp>
        <p:nvSpPr>
          <p:cNvPr id="3" name="Shape 1"/>
          <p:cNvSpPr/>
          <p:nvPr/>
        </p:nvSpPr>
        <p:spPr>
          <a:xfrm>
            <a:off x="647998" y="102259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7998" y="1166217"/>
            <a:ext cx="377047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2F2A2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Que bom ter você </a:t>
            </a:r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aqui.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7998" y="1874044"/>
            <a:ext cx="3887986" cy="1036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3049488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4008686"/>
            <a:ext cx="3887986" cy="125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5400377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com calma, cozinhe com tempo e, principalmente, prove tudo pelo caminho. É assim que a gente aprende a cozinhar de verdade.</a:t>
            </a:r>
            <a:endParaRPr lang="en-US" sz="990" dirty="0"/>
          </a:p>
        </p:txBody>
      </p:sp>
      <p:sp>
        <p:nvSpPr>
          <p:cNvPr id="9" name="Text 7"/>
          <p:cNvSpPr txBox="1"/>
          <p:nvPr/>
        </p:nvSpPr>
        <p:spPr>
          <a:xfrm>
            <a:off x="647998" y="6224885"/>
            <a:ext cx="240963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i="1" dirty="0">
                <a:solidFill>
                  <a:srgbClr val="4E5B3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Vamos cozinhar!</a:t>
            </a:r>
            <a:endParaRPr lang="en-US" sz="2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6789688"/>
            <a:ext cx="251966" cy="25196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2" name="Image 1" descr="/home/user/ebook-luq/versoes/VERSAO COM FOTOGRAFIAS/fotos/boas-vind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17" name="Text 12"/>
          <p:cNvSpPr txBox="1"/>
          <p:nvPr/>
        </p:nvSpPr>
        <p:spPr>
          <a:xfrm>
            <a:off x="4122241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1221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JEITO MAMEDE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24813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 cozinhar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8424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método que guia todo o material se apoia em três fundamentos.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04281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12422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7797" y="2042815"/>
            <a:ext cx="481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1187797" y="2242989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acolhedora, generosa e com memória de casa, sem afetações desnecessárias nem gastronomia distante da realidade.</a:t>
            </a:r>
            <a:endParaRPr lang="en-US" sz="940" dirty="0"/>
          </a:p>
        </p:txBody>
      </p:sp>
      <p:sp>
        <p:nvSpPr>
          <p:cNvPr id="10" name="Shape 7"/>
          <p:cNvSpPr/>
          <p:nvPr/>
        </p:nvSpPr>
        <p:spPr>
          <a:xfrm>
            <a:off x="647998" y="277385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2855268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7797" y="2773859"/>
            <a:ext cx="6307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</a:t>
            </a:r>
            <a:endParaRPr lang="en-US" sz="1040" dirty="0"/>
          </a:p>
        </p:txBody>
      </p:sp>
      <p:sp>
        <p:nvSpPr>
          <p:cNvPr id="13" name="Text 9"/>
          <p:cNvSpPr txBox="1"/>
          <p:nvPr/>
        </p:nvSpPr>
        <p:spPr>
          <a:xfrm>
            <a:off x="1187797" y="2974032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647998" y="350490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3586311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7797" y="3504902"/>
            <a:ext cx="12379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Aproveitamento</a:t>
            </a:r>
            <a:endParaRPr lang="en-US" sz="1040" dirty="0"/>
          </a:p>
        </p:txBody>
      </p:sp>
      <p:sp>
        <p:nvSpPr>
          <p:cNvPr id="17" name="Text 12"/>
          <p:cNvSpPr txBox="1"/>
          <p:nvPr/>
        </p:nvSpPr>
        <p:spPr>
          <a:xfrm>
            <a:off x="1187797" y="3705076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olhar inteligente para cascas, talos, ramas e ossos, transformando o que iria para o lixo em sabor e textura.</a:t>
            </a:r>
            <a:endParaRPr lang="en-US" sz="94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4380012"/>
            <a:ext cx="8195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USAR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647998" y="4491484"/>
            <a:ext cx="148901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este guia</a:t>
            </a:r>
            <a:endParaRPr lang="en-US" sz="2700" dirty="0"/>
          </a:p>
        </p:txBody>
      </p:sp>
      <p:sp>
        <p:nvSpPr>
          <p:cNvPr id="20" name="Shape 15"/>
          <p:cNvSpPr/>
          <p:nvPr/>
        </p:nvSpPr>
        <p:spPr>
          <a:xfrm>
            <a:off x="647998" y="5069830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47998" y="5316141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um dos 5 capítulos é dedicado a um ingrediente e segue a mesma jornada:</a:t>
            </a:r>
            <a:endParaRPr lang="en-US" sz="1020" dirty="0"/>
          </a:p>
        </p:txBody>
      </p:sp>
      <p:sp>
        <p:nvSpPr>
          <p:cNvPr id="22" name="Shape 17"/>
          <p:cNvSpPr/>
          <p:nvPr/>
        </p:nvSpPr>
        <p:spPr>
          <a:xfrm>
            <a:off x="647998" y="5927378"/>
            <a:ext cx="6263878" cy="3051572"/>
          </a:xfrm>
          <a:prstGeom prst="roundRect">
            <a:avLst>
              <a:gd name="adj" fmla="val 106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739033" y="5936903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7523" y="7531596"/>
            <a:ext cx="2081510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520" y="6152852"/>
            <a:ext cx="305991" cy="30599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27088" y="6566743"/>
            <a:ext cx="9328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801439" y="6762304"/>
            <a:ext cx="1784152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olhar do chef para expandir as possibilidades de uso daquele insumo.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4820692" y="5936903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2739033" y="7531596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30" y="6152852"/>
            <a:ext cx="305991" cy="30599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240792" y="6566743"/>
            <a:ext cx="1068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 Panela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2882950" y="6762304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escolher no mercado, como armazenar e como cortar.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4820692" y="7531596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8452" y="6152852"/>
            <a:ext cx="305991" cy="30599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80874" y="6566743"/>
            <a:ext cx="11611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Transformações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4964609" y="6762304"/>
            <a:ext cx="1793825" cy="584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Três caminhos culinários completamente distintos para aquela sensação de “nunca pensei nisso”.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2739033" y="7531596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0520" y="7747546"/>
            <a:ext cx="305991" cy="30599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194048" y="8161437"/>
            <a:ext cx="9989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 do Chef</a:t>
            </a:r>
            <a:endParaRPr lang="en-US" sz="900" dirty="0"/>
          </a:p>
        </p:txBody>
      </p:sp>
      <p:sp>
        <p:nvSpPr>
          <p:cNvPr id="40" name="Text 31"/>
          <p:cNvSpPr txBox="1"/>
          <p:nvPr/>
        </p:nvSpPr>
        <p:spPr>
          <a:xfrm>
            <a:off x="801439" y="8356997"/>
            <a:ext cx="1784152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erro frequente, desmistificado, com a técnica exata para corrigi-lo.</a:t>
            </a:r>
            <a:endParaRPr lang="en-US" sz="800" dirty="0"/>
          </a:p>
        </p:txBody>
      </p:sp>
      <p:sp>
        <p:nvSpPr>
          <p:cNvPr id="41" name="Shape 32"/>
          <p:cNvSpPr/>
          <p:nvPr/>
        </p:nvSpPr>
        <p:spPr>
          <a:xfrm>
            <a:off x="4820692" y="7531596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2030" y="7747546"/>
            <a:ext cx="305991" cy="30599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296543" y="8161437"/>
            <a:ext cx="9571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 Isso?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2882950" y="8356997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Substituições inteligentes para você cozinhar sem travar.</a:t>
            </a:r>
            <a:endParaRPr lang="en-US" sz="800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8452" y="7747546"/>
            <a:ext cx="305991" cy="305991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86841" y="8161437"/>
            <a:ext cx="1549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 Isso Também</a:t>
            </a:r>
            <a:endParaRPr lang="en-US" sz="900" dirty="0"/>
          </a:p>
        </p:txBody>
      </p:sp>
      <p:sp>
        <p:nvSpPr>
          <p:cNvPr id="47" name="Text 36"/>
          <p:cNvSpPr txBox="1"/>
          <p:nvPr/>
        </p:nvSpPr>
        <p:spPr>
          <a:xfrm>
            <a:off x="4964609" y="8356997"/>
            <a:ext cx="179382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 transformados em preparações saborosas.</a:t>
            </a:r>
            <a:endParaRPr lang="en-US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647998" y="9240441"/>
            <a:ext cx="62638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660" b="1" spc="9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MEDIDAS USADAS</a:t>
            </a:r>
            <a:pPr algn="l" indent="0" marL="0">
              <a:lnSpc>
                <a:spcPts val="1230"/>
              </a:lnSpc>
              <a:buNone/>
            </a:pPr>
            <a:r>
              <a:rPr lang="en-US" sz="7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xícara = 240 ml · 1 colher (sopa) = 15 ml · 1 colher (chá) = 5 ml · forno sempre preaquecido</a:t>
            </a:r>
            <a:endParaRPr lang="en-US" sz="660" dirty="0"/>
          </a:p>
        </p:txBody>
      </p:sp>
      <p:sp>
        <p:nvSpPr>
          <p:cNvPr id="49" name="Shape 38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1" name="Text 40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761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TEM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21519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neste guia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Shape 3"/>
          <p:cNvSpPr/>
          <p:nvPr/>
        </p:nvSpPr>
        <p:spPr>
          <a:xfrm>
            <a:off x="647998" y="1698873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8514" y="177239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1025872" y="1748582"/>
            <a:ext cx="8957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33277" y="1865544"/>
            <a:ext cx="46007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6660803" y="1758107"/>
            <a:ext cx="2510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47998" y="215235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9882" y="2225873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1025872" y="2202061"/>
            <a:ext cx="20824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Jeito Mamede de Cozinhar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11091" y="2319024"/>
            <a:ext cx="352291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4" name="Text 12"/>
          <p:cNvSpPr txBox="1"/>
          <p:nvPr/>
        </p:nvSpPr>
        <p:spPr>
          <a:xfrm>
            <a:off x="6661696" y="2211586"/>
            <a:ext cx="250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47998" y="260583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0328" y="2679353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1025872" y="2655540"/>
            <a:ext cx="1210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32422" y="2772503"/>
            <a:ext cx="43015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7"/>
          <p:cNvSpPr txBox="1"/>
          <p:nvPr/>
        </p:nvSpPr>
        <p:spPr>
          <a:xfrm>
            <a:off x="6660356" y="2665065"/>
            <a:ext cx="251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1025872" y="2958554"/>
            <a:ext cx="36586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418409" y="3065992"/>
            <a:ext cx="211559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2" name="Text 20"/>
          <p:cNvSpPr txBox="1"/>
          <p:nvPr/>
        </p:nvSpPr>
        <p:spPr>
          <a:xfrm>
            <a:off x="6674495" y="2963317"/>
            <a:ext cx="237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1025872" y="3135064"/>
            <a:ext cx="52119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805339" y="3242502"/>
            <a:ext cx="72866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6668839" y="3139827"/>
            <a:ext cx="2430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780" dirty="0"/>
          </a:p>
        </p:txBody>
      </p:sp>
      <p:sp>
        <p:nvSpPr>
          <p:cNvPr id="26" name="Text 24"/>
          <p:cNvSpPr txBox="1"/>
          <p:nvPr/>
        </p:nvSpPr>
        <p:spPr>
          <a:xfrm>
            <a:off x="1025872" y="3311575"/>
            <a:ext cx="47314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5376267" y="3419012"/>
            <a:ext cx="115773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6671667" y="3316337"/>
            <a:ext cx="240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47998" y="358884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5714" y="3662362"/>
            <a:ext cx="2308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025872" y="3638550"/>
            <a:ext cx="1201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24236" y="3755513"/>
            <a:ext cx="430976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1"/>
          <p:cNvSpPr txBox="1"/>
          <p:nvPr/>
        </p:nvSpPr>
        <p:spPr>
          <a:xfrm>
            <a:off x="6692503" y="3648075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1025872" y="3941564"/>
            <a:ext cx="41901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4893022" y="4049002"/>
            <a:ext cx="16409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6" name="Text 34"/>
          <p:cNvSpPr txBox="1"/>
          <p:nvPr/>
        </p:nvSpPr>
        <p:spPr>
          <a:xfrm>
            <a:off x="6696373" y="3946327"/>
            <a:ext cx="2155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780" dirty="0"/>
          </a:p>
        </p:txBody>
      </p:sp>
      <p:sp>
        <p:nvSpPr>
          <p:cNvPr id="37" name="Text 35"/>
          <p:cNvSpPr txBox="1"/>
          <p:nvPr/>
        </p:nvSpPr>
        <p:spPr>
          <a:xfrm>
            <a:off x="1025872" y="4118074"/>
            <a:ext cx="3390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4179243" y="4225512"/>
            <a:ext cx="235475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9" name="Text 37"/>
          <p:cNvSpPr txBox="1"/>
          <p:nvPr/>
        </p:nvSpPr>
        <p:spPr>
          <a:xfrm>
            <a:off x="6705749" y="4122837"/>
            <a:ext cx="2061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780" dirty="0"/>
          </a:p>
        </p:txBody>
      </p:sp>
      <p:sp>
        <p:nvSpPr>
          <p:cNvPr id="40" name="Text 38"/>
          <p:cNvSpPr txBox="1"/>
          <p:nvPr/>
        </p:nvSpPr>
        <p:spPr>
          <a:xfrm>
            <a:off x="1025872" y="4294584"/>
            <a:ext cx="50654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5674519" y="4402022"/>
            <a:ext cx="85948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701433" y="4299347"/>
            <a:ext cx="2104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647998" y="457185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9733" y="4645372"/>
            <a:ext cx="2226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025872" y="4621560"/>
            <a:ext cx="15211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 Frango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09986" y="4738522"/>
            <a:ext cx="402401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7" name="Text 45"/>
          <p:cNvSpPr txBox="1"/>
          <p:nvPr/>
        </p:nvSpPr>
        <p:spPr>
          <a:xfrm>
            <a:off x="6687592" y="4631085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860" dirty="0"/>
          </a:p>
        </p:txBody>
      </p:sp>
      <p:sp>
        <p:nvSpPr>
          <p:cNvPr id="48" name="Text 46"/>
          <p:cNvSpPr txBox="1"/>
          <p:nvPr/>
        </p:nvSpPr>
        <p:spPr>
          <a:xfrm>
            <a:off x="1025872" y="4924574"/>
            <a:ext cx="47829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5422255" y="5032011"/>
            <a:ext cx="111174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0" name="Text 48"/>
          <p:cNvSpPr txBox="1"/>
          <p:nvPr/>
        </p:nvSpPr>
        <p:spPr>
          <a:xfrm>
            <a:off x="6705600" y="4929336"/>
            <a:ext cx="206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780" dirty="0"/>
          </a:p>
        </p:txBody>
      </p:sp>
      <p:sp>
        <p:nvSpPr>
          <p:cNvPr id="51" name="Text 49"/>
          <p:cNvSpPr txBox="1"/>
          <p:nvPr/>
        </p:nvSpPr>
        <p:spPr>
          <a:xfrm>
            <a:off x="1025872" y="5101084"/>
            <a:ext cx="3826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</a:t>
            </a:r>
            <a:endParaRPr lang="en-US" sz="860" dirty="0"/>
          </a:p>
        </p:txBody>
      </p:sp>
      <p:sp>
        <p:nvSpPr>
          <p:cNvPr id="52" name="Shape 50"/>
          <p:cNvSpPr/>
          <p:nvPr/>
        </p:nvSpPr>
        <p:spPr>
          <a:xfrm>
            <a:off x="4568577" y="5208522"/>
            <a:ext cx="19654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3" name="Text 51"/>
          <p:cNvSpPr txBox="1"/>
          <p:nvPr/>
        </p:nvSpPr>
        <p:spPr>
          <a:xfrm>
            <a:off x="6685062" y="5105846"/>
            <a:ext cx="2268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780" dirty="0"/>
          </a:p>
        </p:txBody>
      </p:sp>
      <p:sp>
        <p:nvSpPr>
          <p:cNvPr id="54" name="Text 52"/>
          <p:cNvSpPr txBox="1"/>
          <p:nvPr/>
        </p:nvSpPr>
        <p:spPr>
          <a:xfrm>
            <a:off x="1025872" y="5277594"/>
            <a:ext cx="4082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4796879" y="5385032"/>
            <a:ext cx="173712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6" name="Text 54"/>
          <p:cNvSpPr txBox="1"/>
          <p:nvPr/>
        </p:nvSpPr>
        <p:spPr>
          <a:xfrm>
            <a:off x="6685508" y="5282357"/>
            <a:ext cx="2263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647998" y="555486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17947" y="5628382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80" dirty="0"/>
          </a:p>
        </p:txBody>
      </p:sp>
      <p:sp>
        <p:nvSpPr>
          <p:cNvPr id="59" name="Text 57"/>
          <p:cNvSpPr txBox="1"/>
          <p:nvPr/>
        </p:nvSpPr>
        <p:spPr>
          <a:xfrm>
            <a:off x="1025872" y="5604570"/>
            <a:ext cx="7490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86533" y="5721532"/>
            <a:ext cx="474746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1" name="Text 59"/>
          <p:cNvSpPr txBox="1"/>
          <p:nvPr/>
        </p:nvSpPr>
        <p:spPr>
          <a:xfrm>
            <a:off x="6665565" y="5614095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1025872" y="5907584"/>
            <a:ext cx="25156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</a:t>
            </a:r>
            <a:endParaRPr lang="en-US" sz="860" dirty="0"/>
          </a:p>
        </p:txBody>
      </p:sp>
      <p:sp>
        <p:nvSpPr>
          <p:cNvPr id="63" name="Shape 61"/>
          <p:cNvSpPr/>
          <p:nvPr/>
        </p:nvSpPr>
        <p:spPr>
          <a:xfrm>
            <a:off x="3397895" y="6015021"/>
            <a:ext cx="313610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4" name="Text 62"/>
          <p:cNvSpPr txBox="1"/>
          <p:nvPr/>
        </p:nvSpPr>
        <p:spPr>
          <a:xfrm>
            <a:off x="6678216" y="5912346"/>
            <a:ext cx="2336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780" dirty="0"/>
          </a:p>
        </p:txBody>
      </p:sp>
      <p:sp>
        <p:nvSpPr>
          <p:cNvPr id="65" name="Text 63"/>
          <p:cNvSpPr txBox="1"/>
          <p:nvPr/>
        </p:nvSpPr>
        <p:spPr>
          <a:xfrm>
            <a:off x="1025872" y="6084094"/>
            <a:ext cx="42625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</a:t>
            </a:r>
            <a:endParaRPr lang="en-US" sz="860" dirty="0"/>
          </a:p>
        </p:txBody>
      </p:sp>
      <p:sp>
        <p:nvSpPr>
          <p:cNvPr id="66" name="Shape 64"/>
          <p:cNvSpPr/>
          <p:nvPr/>
        </p:nvSpPr>
        <p:spPr>
          <a:xfrm>
            <a:off x="4957614" y="6191531"/>
            <a:ext cx="157638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7" name="Text 65"/>
          <p:cNvSpPr txBox="1"/>
          <p:nvPr/>
        </p:nvSpPr>
        <p:spPr>
          <a:xfrm>
            <a:off x="6681043" y="6088856"/>
            <a:ext cx="2308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780" dirty="0"/>
          </a:p>
        </p:txBody>
      </p:sp>
      <p:sp>
        <p:nvSpPr>
          <p:cNvPr id="68" name="Text 66"/>
          <p:cNvSpPr txBox="1"/>
          <p:nvPr/>
        </p:nvSpPr>
        <p:spPr>
          <a:xfrm>
            <a:off x="1025872" y="6260604"/>
            <a:ext cx="27338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</a:t>
            </a:r>
            <a:endParaRPr lang="en-US" sz="860" dirty="0"/>
          </a:p>
        </p:txBody>
      </p:sp>
      <p:sp>
        <p:nvSpPr>
          <p:cNvPr id="69" name="Shape 67"/>
          <p:cNvSpPr/>
          <p:nvPr/>
        </p:nvSpPr>
        <p:spPr>
          <a:xfrm>
            <a:off x="3592711" y="6368042"/>
            <a:ext cx="294129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0" name="Text 68"/>
          <p:cNvSpPr txBox="1"/>
          <p:nvPr/>
        </p:nvSpPr>
        <p:spPr>
          <a:xfrm>
            <a:off x="6676132" y="6265366"/>
            <a:ext cx="235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7998" y="653787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18989" y="6611392"/>
            <a:ext cx="2242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80" dirty="0"/>
          </a:p>
        </p:txBody>
      </p:sp>
      <p:sp>
        <p:nvSpPr>
          <p:cNvPr id="73" name="Text 71"/>
          <p:cNvSpPr txBox="1"/>
          <p:nvPr/>
        </p:nvSpPr>
        <p:spPr>
          <a:xfrm>
            <a:off x="1025872" y="6587579"/>
            <a:ext cx="6552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1692771" y="6704542"/>
            <a:ext cx="484123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5" name="Text 73"/>
          <p:cNvSpPr txBox="1"/>
          <p:nvPr/>
        </p:nvSpPr>
        <p:spPr>
          <a:xfrm>
            <a:off x="6671072" y="6597104"/>
            <a:ext cx="240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860" dirty="0"/>
          </a:p>
        </p:txBody>
      </p:sp>
      <p:sp>
        <p:nvSpPr>
          <p:cNvPr id="76" name="Text 74"/>
          <p:cNvSpPr txBox="1"/>
          <p:nvPr/>
        </p:nvSpPr>
        <p:spPr>
          <a:xfrm>
            <a:off x="1025872" y="6890593"/>
            <a:ext cx="49444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</a:t>
            </a:r>
            <a:endParaRPr lang="en-US" sz="860" dirty="0"/>
          </a:p>
        </p:txBody>
      </p:sp>
      <p:sp>
        <p:nvSpPr>
          <p:cNvPr id="77" name="Shape 75"/>
          <p:cNvSpPr/>
          <p:nvPr/>
        </p:nvSpPr>
        <p:spPr>
          <a:xfrm>
            <a:off x="5566470" y="6998029"/>
            <a:ext cx="96753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8" name="Text 76"/>
          <p:cNvSpPr txBox="1"/>
          <p:nvPr/>
        </p:nvSpPr>
        <p:spPr>
          <a:xfrm>
            <a:off x="6686699" y="6895356"/>
            <a:ext cx="225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780" dirty="0"/>
          </a:p>
        </p:txBody>
      </p:sp>
      <p:sp>
        <p:nvSpPr>
          <p:cNvPr id="79" name="Text 77"/>
          <p:cNvSpPr txBox="1"/>
          <p:nvPr/>
        </p:nvSpPr>
        <p:spPr>
          <a:xfrm>
            <a:off x="1025872" y="7067104"/>
            <a:ext cx="41261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</a:t>
            </a:r>
            <a:endParaRPr lang="en-US" sz="860" dirty="0"/>
          </a:p>
        </p:txBody>
      </p:sp>
      <p:sp>
        <p:nvSpPr>
          <p:cNvPr id="80" name="Shape 78"/>
          <p:cNvSpPr/>
          <p:nvPr/>
        </p:nvSpPr>
        <p:spPr>
          <a:xfrm>
            <a:off x="4835872" y="7174539"/>
            <a:ext cx="169812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1" name="Text 79"/>
          <p:cNvSpPr txBox="1"/>
          <p:nvPr/>
        </p:nvSpPr>
        <p:spPr>
          <a:xfrm>
            <a:off x="6681341" y="7071866"/>
            <a:ext cx="230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780" dirty="0"/>
          </a:p>
        </p:txBody>
      </p:sp>
      <p:sp>
        <p:nvSpPr>
          <p:cNvPr id="82" name="Text 80"/>
          <p:cNvSpPr txBox="1"/>
          <p:nvPr/>
        </p:nvSpPr>
        <p:spPr>
          <a:xfrm>
            <a:off x="1025872" y="7243614"/>
            <a:ext cx="47165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</a:t>
            </a:r>
            <a:endParaRPr lang="en-US" sz="860" dirty="0"/>
          </a:p>
        </p:txBody>
      </p:sp>
      <p:sp>
        <p:nvSpPr>
          <p:cNvPr id="83" name="Shape 81"/>
          <p:cNvSpPr/>
          <p:nvPr/>
        </p:nvSpPr>
        <p:spPr>
          <a:xfrm>
            <a:off x="5363021" y="7351049"/>
            <a:ext cx="117098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4" name="Text 82"/>
          <p:cNvSpPr txBox="1"/>
          <p:nvPr/>
        </p:nvSpPr>
        <p:spPr>
          <a:xfrm>
            <a:off x="6684615" y="7248376"/>
            <a:ext cx="227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647998" y="7520880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716756" y="7594402"/>
            <a:ext cx="2286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80" dirty="0"/>
          </a:p>
        </p:txBody>
      </p:sp>
      <p:sp>
        <p:nvSpPr>
          <p:cNvPr id="87" name="Text 85"/>
          <p:cNvSpPr txBox="1"/>
          <p:nvPr/>
        </p:nvSpPr>
        <p:spPr>
          <a:xfrm>
            <a:off x="1025872" y="7570589"/>
            <a:ext cx="2253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Bônus: Os 10 Pulos do Mamede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163788" y="7687549"/>
            <a:ext cx="337021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9" name="Text 87"/>
          <p:cNvSpPr txBox="1"/>
          <p:nvPr/>
        </p:nvSpPr>
        <p:spPr>
          <a:xfrm>
            <a:off x="6649938" y="7580114"/>
            <a:ext cx="2619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860" dirty="0"/>
          </a:p>
        </p:txBody>
      </p:sp>
      <p:sp>
        <p:nvSpPr>
          <p:cNvPr id="90" name="Shape 88"/>
          <p:cNvSpPr/>
          <p:nvPr/>
        </p:nvSpPr>
        <p:spPr>
          <a:xfrm>
            <a:off x="647998" y="7974360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717947" y="8047881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5872" y="8024068"/>
            <a:ext cx="16955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seguir cozinhando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2665661" y="8141029"/>
            <a:ext cx="386834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4" name="Text 92"/>
          <p:cNvSpPr txBox="1"/>
          <p:nvPr/>
        </p:nvSpPr>
        <p:spPr>
          <a:xfrm>
            <a:off x="6684615" y="8033593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860" dirty="0"/>
          </a:p>
        </p:txBody>
      </p:sp>
      <p:sp>
        <p:nvSpPr>
          <p:cNvPr id="95" name="Shape 9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97" name="Text 95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691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3527971" cy="123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Abóbora Cabotiá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213211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87488"/>
            <a:ext cx="14890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ou abóbora japonesa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71507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Versátil, barata e símbolo de comida afetiva. E 100% aproveitável, da casca à semente: exatamente o que pede o consumo consciente.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tem mais: a casca é comestível e as sementes viram petisco. Da cabotiá, quase nada vai para o lixo.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3011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CLÁSSICO AFETIVO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(conforto refinado)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58273" y="6346627"/>
            <a:ext cx="2536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8404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INUSITADO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(o lado salgado que ninguém espera)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52915" y="7008168"/>
            <a:ext cx="2589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8810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LADO DOCE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(uma sobremesa de memória afetiva)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55743" y="7669709"/>
            <a:ext cx="256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85967" y="10236845"/>
            <a:ext cx="2402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Pegue na mão: ela deve parecer pesada para o tamanho. Isso indica polpa densa e pouca água.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62048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571131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firme, sem partes moles, rachaduras ou manchas úmidas.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6235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013002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Cabinho seco e bem preso. Se estiver verde e úmido, ela foi colhida cedo demais.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68921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639866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Comprando em pedaço: procure polpa laranja intensa e sementes bem formadas.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49984"/>
            <a:ext cx="3042047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Inteira: em local fresco, seco e arejado, fora da geladeira, por até 1 a 2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Cortada: retire as sementes, envolva em filme e guarde na geladeira por até 5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382800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Assada ou cozida: em porções no freezer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545038"/>
            <a:ext cx="6263878" cy="2190155"/>
          </a:xfrm>
          <a:prstGeom prst="roundRect">
            <a:avLst>
              <a:gd name="adj" fmla="val 2059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73449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815905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852517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2886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6239321"/>
            <a:ext cx="50014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Estabilize primeiro: corte uma fatia fina da base para ela não rolar na tábua.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455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49619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a faca mais pesada que você tiver e corte ao meio, de cima para baixo. Retire as sementes com uma colher.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9874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456" y="6938070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Gomos com casca para assar; cubos de 2 cm para refogar e cozinhar; ralada para bolinhos e massas.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855456" y="742929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999381" y="7379940"/>
            <a:ext cx="62841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descascar, apoie o gomo deitado na tábua e corte a casca com a faca, de cima para baixo.</a:t>
            </a:r>
            <a:endParaRPr lang="en-US" sz="940" dirty="0"/>
          </a:p>
        </p:txBody>
      </p:sp>
      <p:sp>
        <p:nvSpPr>
          <p:cNvPr id="40" name="Shape 3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8896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1.1 · O CLÁSSICO AFETIVO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Nhoque de abóbora tostado na manteiga de garrafa e sálvia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15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conforto refinado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3393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1H15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abóbora cabotiá com casca (cerca de 600 g de polpa)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51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gema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1842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parmesão ralado fino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98" y="424963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180 a 220 g de farinha de trigo (mais um pouco para polvilhar)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68981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630936"/>
            <a:ext cx="21199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noz-moscada ralada na hora</a:t>
            </a:r>
            <a:endParaRPr lang="en-US" sz="890" dirty="0"/>
          </a:p>
        </p:txBody>
      </p:sp>
      <p:sp>
        <p:nvSpPr>
          <p:cNvPr id="27" name="Text 22"/>
          <p:cNvSpPr txBox="1"/>
          <p:nvPr/>
        </p:nvSpPr>
        <p:spPr>
          <a:xfrm>
            <a:off x="647998" y="4893022"/>
            <a:ext cx="10362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FINALIZAR</a:t>
            </a:r>
            <a:endParaRPr lang="en-US" sz="660" dirty="0"/>
          </a:p>
        </p:txBody>
      </p:sp>
      <p:sp>
        <p:nvSpPr>
          <p:cNvPr id="28" name="Shape 23"/>
          <p:cNvSpPr/>
          <p:nvPr/>
        </p:nvSpPr>
        <p:spPr>
          <a:xfrm>
            <a:off x="665998" y="51200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06119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colheres (sopa) de manteiga de garrafa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5013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442496"/>
            <a:ext cx="15131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folhas de sálvia fresca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e parmesão a gosto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Assar, e não cozinhar na água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é o que garante um nhoque leve.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92668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56932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38668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428952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395020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um teste: modele uma bolinha e cozinhe em água fervente. Se desmanchar, acrescente mais 1 ou 2 colheres de farinha.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Divida a massa, faça rolinhos de 2 cm de espessura sobre a bancada enfarinhada e corte em pedaços de 2 cm.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4972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água fervente com sal, em levas. Quando os nhoques subirem, conte 30 segundos e retire com escumadeira.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713154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7572" y="7173813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7139880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8" name="Shape 53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60" name="Text 54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1" name="Text 55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4" name="Text 58"/>
          <p:cNvSpPr txBox="1"/>
          <p:nvPr/>
        </p:nvSpPr>
        <p:spPr>
          <a:xfrm>
            <a:off x="6784479" y="10236845"/>
            <a:ext cx="2416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63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1.2 · O INUSITADO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50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Hambúrguer ou bolinho cremoso assado de abóbora com especiarias e queijo coalho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2275284"/>
            <a:ext cx="23089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lado salgado que ninguém espera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68753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75093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669679"/>
            <a:ext cx="14089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 (MAIS 30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89827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722811" y="268753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11" y="275093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0685" y="2669679"/>
            <a:ext cx="15792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BOLINHOS OU 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100685" y="289827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306663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3101429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4829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424089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abóbora cabotiá assada e amassada (veja o passo 1 do nhoque)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402797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96909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queijo coalho em cubinhos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40927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350395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6268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98" y="45679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colheres (sopa) de farinha de rosca (ou de aveia em flocos finos)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500815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949279"/>
            <a:ext cx="1819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cebola picada bem miúda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22574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5166866"/>
            <a:ext cx="14180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dente de alho picado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44332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5384453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66091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602039"/>
            <a:ext cx="22182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defumada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87850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81962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25979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6200924"/>
            <a:ext cx="18904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azeite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306663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3101429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42527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467546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43361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06791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11018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0762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71055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75282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71889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Cubra e leve à geladeira por 30 minutos. A massa firma e fica muito mais fácil de modelar.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17014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521240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17847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81278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855047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821114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4" name="Shape 49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1150" dirty="0"/>
          </a:p>
        </p:txBody>
      </p:sp>
      <p:sp>
        <p:nvSpPr>
          <p:cNvPr id="58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0" name="Text 54"/>
          <p:cNvSpPr txBox="1"/>
          <p:nvPr/>
        </p:nvSpPr>
        <p:spPr>
          <a:xfrm>
            <a:off x="6780461" y="10236845"/>
            <a:ext cx="2457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9130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1.3 · O LADO DOCE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Crepúsculo: doce de abóbora cremoso de colher com coco e raspas de laranja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3717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sobremesa de memória afetiva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9145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1 KG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kg de polpa de abóbora cabotiá em cubos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080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xícara de água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308574"/>
            <a:ext cx="1229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coco ralado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526161"/>
            <a:ext cx="2186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pau de canela e 3 cravos-da-índia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743748"/>
            <a:ext cx="11801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Raspas de 1 laranja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0202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961334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 de fundo grosso, cozinhe a abóbora com a água, tampada, em fogo médio, até ficar bem macia (cerca de 15 minutos).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abóbora na própria panela. Junte o açúcar, a canela e os cravos.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o coco ralado e cozinhe por mais 10 minutos, mexendo.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retire a canela e os cravos e só então junte as raspas de laranja e a pitada de sal.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1311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310488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Nhoque de abóbora que vira chiclete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2983111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1307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2983111"/>
          </a:xfrm>
          <a:prstGeom prst="roundRect">
            <a:avLst>
              <a:gd name="adj" fmla="val 1110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abóbora em vez de cozinhar: a água evapora e o sabor concentra.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14116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6021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o vapor sair: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espalhe o purê numa travessa e espere amornar antes de juntar a farinha.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6803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87080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aos poucos: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pare assim que a massa deixar de grudar. Massa de nhoque é úmida mesmo.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94895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413945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sove: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misture só o necessário. Quanto mais você trabalha a massa, mais elástica ela fica.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340697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452170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603051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257776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351240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257776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351240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9151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642943"/>
            <a:ext cx="1048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9151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652468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Abóbora-paulista ou moranga (têm mais água: asse por mais tempo e escorra o purê numa peneira) ou batata-doce.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63830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89738"/>
            <a:ext cx="12546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Manteiga de garrafa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63830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859" y="7199263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Ghee ou manteiga comum com um fio de azeite (que evita que ela queime).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800993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736532"/>
            <a:ext cx="82257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Sálvia fresca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800993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746057"/>
            <a:ext cx="17743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 ou tomilho frescos.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38155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108156"/>
            <a:ext cx="8786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Queijo coalho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38155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117681"/>
            <a:ext cx="26970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Queijo meia-cura ou muçarela em cubos.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75317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479780"/>
            <a:ext cx="8483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75317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89305"/>
            <a:ext cx="38921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com 2 colheres (sopa) a mais de coco ralado.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12480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851404"/>
            <a:ext cx="5412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Laranja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12480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860929"/>
            <a:ext cx="4020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Tangerina, ou metade da quantidade de raspas de limão-taiti.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2189" y="10236845"/>
            <a:ext cx="223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6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27305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chips crocantes temperados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7340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5481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73401"/>
            <a:ext cx="3432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Sementes: snack crocante com páprica e sal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107061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Lave as sementes numa peneira, separando as fibras, e seque muito bem com um pano. Tempere com um fio de azeite, sal e páprica defumada e asse a 160 °C por 20 a 25 minutos, mexendo de vez em quando, até dourarem e estalarem. Use como petisco ou para dar crocância a saladas, sopas e ao próprio nhoque.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61532" y="10236845"/>
            <a:ext cx="2007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6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895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3527971" cy="123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Banana-da-Terra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213211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87488"/>
            <a:ext cx="169404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ou banana-prata firme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71507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 nacional por excelência. Transita entre o salgado e o doce e leva sofisticação ao prato sem pesar no bolso.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Aprender a ler a casca é aprender a escolher o que fazer com ela. E, no fim, a própria casca ainda vira recheio.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5620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RÁPIDA DE FRIGIDEIRA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(sem peixe, mas cheia de sabor)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81936" y="6346627"/>
            <a:ext cx="229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7768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TEXTURA SURPREENDENTE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acompanhar carnes ou legumes assados)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92205" y="7008168"/>
            <a:ext cx="2196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4510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CHEF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sobremesa de restaurante feita em casa)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87592" y="7669709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6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pelo uso: amarela com pintas para as receitas deste capítulo; mais verde se for fritar em chips; bem madura para doces.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80547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756124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fruta deve estar firme ao toque, sem partes afundadas.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2473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197995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pontas com bolor ou casca rachada, por onde a fruta resseca.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4998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Fora da geladeira, de preferência penduradas, longe de outras frutas.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amadurecer mais rápido, guarde num saco de papel fechado.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828008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frear o amadurecimento, leve à geladeira: a casca escurece, mas a polpa se mantém.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50422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454872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Maduras demais? Descasque, corte e congele em saco fechado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60045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49503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630912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6752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1036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54328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 a banana-da-terra: corte as duas pontas, faça um talho raso ao longo da casca e solte-a com o polegar.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455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96199"/>
            <a:ext cx="41755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grossas em diagonal (2 cm) para frigideira e moqueca.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80242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53076"/>
            <a:ext cx="32892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Lâminas no comprimento para grelhar e flambar.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6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03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2.1 · A RÁPIDA DE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Moqueca expressa de frigideira com banana, leite de coco e pimenta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959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sem peixe, mas cheia de sabor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877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264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665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139" y="2340025"/>
            <a:ext cx="7268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139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 e firmes, em rodelas diagonais de 2 cm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8784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8195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azeite de dendê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200823"/>
            <a:ext cx="12371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em rodelas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418409"/>
            <a:ext cx="18775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pimentão vermelho em tiras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635996"/>
            <a:ext cx="1367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tomates em rodelas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9124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853583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5071170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34763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28875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pimenta dedo-de-moça (ou pimenta-de-cheiro) picada, sem sementes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8926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833765"/>
            <a:ext cx="10611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½ limão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1102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98" y="60513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Coentro (ou cheiro-verde) e sal a gosto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frigideira, com o restante do dendê, refogue a cebola, o pimentão e o alho por 3 minutos.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38626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tomate e a pimenta e cozinhe até o tomate começar a desmanchar.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83750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487977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84584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deixe ferver por 5 minutos, até engrossar levemente. Acerte o sal.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as bananas para a frigideira e cozinhe só por 3 a 4 minutos, para aquecerem no molho sem desmanchar.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regue com o suco de limão e finalize com coentro.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7" name="Shape 52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Dourar a banana antes é o que dá estrutura e sabor à moqueca. Sirva com arroz branco e farofa de dendê.</a:t>
            </a:r>
            <a:endParaRPr lang="en-US" sz="1150" dirty="0"/>
          </a:p>
        </p:txBody>
      </p:sp>
      <p:sp>
        <p:nvSpPr>
          <p:cNvPr id="61" name="Shape 5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3" name="Text 57"/>
          <p:cNvSpPr txBox="1"/>
          <p:nvPr/>
        </p:nvSpPr>
        <p:spPr>
          <a:xfrm>
            <a:off x="6801594" y="10236845"/>
            <a:ext cx="2245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635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2.2 · A TEXTURA SURPREENDENTE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80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Purê aveludado de banana grelhada com noz-moscada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76983"/>
            <a:ext cx="30067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acompanhar carnes ou legumes assados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477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0874"/>
            <a:ext cx="4793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4464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8930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331" y="203477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6805" y="1990874"/>
            <a:ext cx="2375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 COMO ACOMPANHAMENTO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6805" y="2144464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23" y="3274516"/>
            <a:ext cx="1796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5509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492103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70969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ml de leite quente (ou caldo de frango)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18080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Noz-moscada ralada na hora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28" name="Shape 2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0" name="Text 25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Descasque as bananas e corte em lâminas no sentido do comprimento.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3" name="Text 28"/>
          <p:cNvSpPr txBox="1"/>
          <p:nvPr/>
        </p:nvSpPr>
        <p:spPr>
          <a:xfrm>
            <a:off x="3419773" y="374362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930" dirty="0"/>
          </a:p>
        </p:txBody>
      </p:sp>
      <p:sp>
        <p:nvSpPr>
          <p:cNvPr id="34" name="Shape 29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456932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panela, junte o leite quente e amasse bem com um garfo ou espremedor, em fogo baixo.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502890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manteiga restante e mexa até ficar aveludado. Se quiser mais liso, passe por uma peneira.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548014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465" y="5522416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548848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com sal, pimenta e noz-moscada. Se estiver doce demais, equilibre com algumas gotas de limão.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44" name="Shape 39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47" name="Text 41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É um acompanhamento salgado de respeito: fica perfeito com carne de sol, frango assado ou peixe grelhado.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0" name="Text 44"/>
          <p:cNvSpPr txBox="1"/>
          <p:nvPr/>
        </p:nvSpPr>
        <p:spPr>
          <a:xfrm>
            <a:off x="6809184" y="10236845"/>
            <a:ext cx="2169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6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5984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2.3 · A SOBREMESA DE CHEF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Bananas flambadas no rum ou na cachaça com crosta de açúcar mascavo e canela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693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sobremesa de restaurante feita em casa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60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bananas-da-terra ou 4 bananas-prata firmes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65581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açúcar mascavo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0959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037112"/>
            <a:ext cx="19089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canela em pó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6082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ml de rum ou cachaça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10459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1 laranja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125045"/>
            <a:ext cx="1804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Sorvete de creme para servir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as bananas ao meio no sentido do comprimento (e ao meio na largura, se forem grandes).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o açúcar mascavo com a canela e o sal e polvilhe sobre o lado cortado das bananas, pressionando.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203204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028902"/>
            <a:ext cx="3492103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suco de laranja e deixe borbulhar por 1 minuto, até formar uma calda.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4972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as bananas quentes com a calda e uma bola de sorvete.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6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31342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Banana que vira papa na frigideira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2798118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 a banana em frigideira morna e ficar mexendo. Ela solta líquido, cozinha no próprio vapor e desmancha antes de dourar.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2798118"/>
          </a:xfrm>
          <a:prstGeom prst="roundRect">
            <a:avLst>
              <a:gd name="adj" fmla="val 1261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com a gordura já brilhando, antes de a banana entrar.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14116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6021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Espaço: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amontoe. Se precisar, doure em duas levas.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583037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602087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deixe 2 minutos parada e vire uma única vez.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02490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043958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 no ponto: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amarela com pintinhas. Preta demais desmancha; verde demais não carameliza.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155704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267176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584552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072783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166247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072783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166247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673134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457950"/>
            <a:ext cx="103837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673134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467475"/>
            <a:ext cx="4827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Banana-prata firme (cozinha mais rápido: reduza os tempos pela metade).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10297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6829574"/>
            <a:ext cx="10060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Azeite de dendê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10297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6839099"/>
            <a:ext cx="3998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comum com 1 colher (chá) de colorau ou páprica doce.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47459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201198"/>
            <a:ext cx="8483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47459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210723"/>
            <a:ext cx="34167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Creme de leite com 2 colheres (sopa) de coco ralado.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02138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572821"/>
            <a:ext cx="102408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Rum ou cachaça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02138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859" y="7582346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Conhaque ou uísque. Sem álcool: dobre o suco de laranja e pule a flambagem.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39301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119616"/>
            <a:ext cx="1028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Açúcar mascavo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39301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129141"/>
            <a:ext cx="4359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Açúcar demerara, ou açúcar comum com 1 colher (chá) de melado.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76463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491240"/>
            <a:ext cx="863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Noz-moscada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76463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500765"/>
            <a:ext cx="27053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canela ou de cravo em pó.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7250" y="10236845"/>
            <a:ext cx="2189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6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34565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“carne” vegetal desfiada e temperada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66278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744194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662785"/>
            <a:ext cx="8323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usar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896445"/>
            <a:ext cx="3366195" cy="753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39952" y="10236845"/>
            <a:ext cx="222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6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895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3527971" cy="123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 de Frango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213211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87488"/>
            <a:ext cx="10359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osso e pele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715071"/>
            <a:ext cx="3527971" cy="792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proteína é um dos itens que mais pesam no orçamento da família. A sobrecoxa é muito mais saborosa, suculenta e barata que o peito, e com técnica de chef você passa a dominá-la.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6293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 DA FRIGIDEIRA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pele mais crocante que você já fez)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92503" y="6346627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3029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COZIMENTO LENTO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massas, tortas e sanduíches)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70477" y="7008168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5546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TECNOLÓGICO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(maciez extrema, no forno ou na airfryer)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70477" y="7669709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6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inteira, de cor clara e uniforme, sem manchas escuras.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8613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 líquido na bandeja e nenhum cheiro forte.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82800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Congelada: sem cristais grossos de gelo, que indicam que ela descongelou e congelou de novo.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4998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geladeira, na prateleira de baixo, por até 2 dias.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freezer, em porções achatadas dentro de sacos, por até 3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82800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Descongele sempre na geladeira, de um dia para o outro. Nunca na pia.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733181"/>
            <a:ext cx="6263878" cy="1933277"/>
          </a:xfrm>
          <a:prstGeom prst="roundRect">
            <a:avLst>
              <a:gd name="adj" fmla="val 264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92263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004048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4066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7681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427464"/>
            <a:ext cx="60112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bem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papel-toalha antes de qualquer preparo. Pele molhada não fica crocante.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7336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5684341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desossar: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1755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126212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 antecipada: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6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783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3.1 · A TÉCNICA DA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 desossada com pele ultracrocante ao molho rústico de limão e alho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2986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pele mais crocante que você já fez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783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788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8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5763" y="2340025"/>
            <a:ext cx="9353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A 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576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23" y="3433167"/>
            <a:ext cx="22252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sobrecoxas desossadas, com pele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0962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075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2721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68341"/>
            <a:ext cx="1319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óleo</a:t>
            </a:r>
            <a:endParaRPr lang="en-US" sz="890" dirty="0"/>
          </a:p>
        </p:txBody>
      </p:sp>
      <p:sp>
        <p:nvSpPr>
          <p:cNvPr id="23" name="Text 18"/>
          <p:cNvSpPr txBox="1"/>
          <p:nvPr/>
        </p:nvSpPr>
        <p:spPr>
          <a:xfrm>
            <a:off x="647998" y="4130427"/>
            <a:ext cx="5206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MOLHO</a:t>
            </a:r>
            <a:endParaRPr lang="en-US" sz="660" dirty="0"/>
          </a:p>
        </p:txBody>
      </p:sp>
      <p:sp>
        <p:nvSpPr>
          <p:cNvPr id="24" name="Shape 19"/>
          <p:cNvSpPr/>
          <p:nvPr/>
        </p:nvSpPr>
        <p:spPr>
          <a:xfrm>
            <a:off x="665998" y="43574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98603"/>
            <a:ext cx="1590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dentes de alho fatiados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750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5161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ml de caldo de frango (ou água)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563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897487"/>
            <a:ext cx="1522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1 limão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739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1150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 gelada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55524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496371"/>
            <a:ext cx="995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Salsinha picada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muito bem as sobrecoxas e tempere com sal e pimenta dos dois lados.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mexer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A gordura da pele derrete aos poucos e ela frita na própria gordura até ficar dourada e crocante.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Vire e cozinhe por mais 4 a 6 minutos, até o centro atingir 75 °C ou o suco sair transparente ao furar.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grade ou prato, com a pele para cima, e deixe descansar 5 minutos.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gordura da frigideira, deixando cerca de 1 colher. Em fogo baixo, doure o alho por 1 minuto.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6590705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740806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5786" y="7450336"/>
            <a:ext cx="1663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741640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o molho no fundo do prato e o frango por cima, para a pele continuar crocante.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61" name="Shape 56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63" name="Text 57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4" name="Text 58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1150" dirty="0"/>
          </a:p>
        </p:txBody>
      </p:sp>
      <p:sp>
        <p:nvSpPr>
          <p:cNvPr id="65" name="Shape 5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7" name="Text 61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6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4316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3.2 · O COZIMENTO LENTO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Frango desfiado suculento ao molho de tomate caseiro e ervas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169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massas, tortas e sanduíches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18652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1H20 (OU 40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979241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642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57116" y="2340025"/>
            <a:ext cx="731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357116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 (cerca de 1 kg)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308574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526161"/>
            <a:ext cx="1023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cenoura ralada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474374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extrato de tomate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12504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tomates bem maduros picados (ou 1 lata de tomate pelado)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56521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506343"/>
            <a:ext cx="962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folha de louro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723930"/>
            <a:ext cx="22086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ml de caldo de frango ou água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000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98" y="5941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Orégano, manjericão e cheiro-verde a gosto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gordura que ficou na panela, refogue a cebola, o alho e a cenoura até ficarem macios.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extrato de tomate e mexa por 1 minuto, até ele escurecer levemente. Isso tira o gosto ácido de lata e aprofunda o sabor.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os tomates, o louro e o caldo, raspando o fundo. Volte o frango para a panela.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baixo por 50 a 60 minutos (ou 20 minutos na panela de pressão), até a carne soltar do osso.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ossos e a pele (guarde os ossos para o caldo). Desfie a carne com dois garfos dentro do próprio molho.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60" name="Text 55"/>
          <p:cNvSpPr txBox="1"/>
          <p:nvPr/>
        </p:nvSpPr>
        <p:spPr>
          <a:xfrm>
            <a:off x="3419773" y="659070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destampado até o molho envolver o frango. Finalize com as ervas e acerte o sal.</a:t>
            </a:r>
            <a:endParaRPr lang="en-US" sz="930" dirty="0"/>
          </a:p>
        </p:txBody>
      </p:sp>
      <p:sp>
        <p:nvSpPr>
          <p:cNvPr id="61" name="Shape 56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62" name="Shape 57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5" name="Text 59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1150" dirty="0"/>
          </a:p>
        </p:txBody>
      </p:sp>
      <p:sp>
        <p:nvSpPr>
          <p:cNvPr id="66" name="Shape 6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8" name="Text 62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6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131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3.3 · O ASSADO TECNOLÓGICO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 marinada no iogurte com especiarias, assada até dourar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6878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maciez extrema, no forno ou na airfryer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1982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 (MAIS 2 H DE MARINADA)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4314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715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2189" y="2340025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2189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7142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MARINADA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170 g de iogurte natural integral (1 pote)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1530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ralados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20580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gengibre ralado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49638"/>
            <a:ext cx="18705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doce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467225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7436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684812"/>
            <a:ext cx="17053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cúrcuma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612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902398"/>
            <a:ext cx="16068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½ limão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1788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119985"/>
            <a:ext cx="1220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sal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3964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23" y="5337572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35" name="Text 30"/>
          <p:cNvSpPr txBox="1"/>
          <p:nvPr/>
        </p:nvSpPr>
        <p:spPr>
          <a:xfrm>
            <a:off x="647998" y="5599658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36" name="Shape 31"/>
          <p:cNvSpPr/>
          <p:nvPr/>
        </p:nvSpPr>
        <p:spPr>
          <a:xfrm>
            <a:off x="665998" y="58267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5767834"/>
            <a:ext cx="1860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70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todos os ingredientes da marinada numa tigela.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21079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485343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forno: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asse a 220 °C por 35 a 40 minutos. Nos últimos 5 minutos, ligue o grill, se o seu forno tiver, para formar manchas tostadas.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48773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530007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49607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airfryer: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180 °C por 15 minutos, vire, e mais 8 a 10 minutos a 200 °C.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594732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598958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5955655"/>
            <a:ext cx="27976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descansar 5 minutos antes de servir.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647998" y="8822382"/>
            <a:ext cx="6263878" cy="1077516"/>
          </a:xfrm>
          <a:prstGeom prst="roundRect">
            <a:avLst>
              <a:gd name="adj" fmla="val 8506"/>
            </a:avLst>
          </a:prstGeom>
          <a:solidFill>
            <a:srgbClr val="EEE6D8"/>
          </a:solidFill>
          <a:ln/>
        </p:spPr>
      </p:sp>
      <p:sp>
        <p:nvSpPr>
          <p:cNvPr id="59" name="Shape 54"/>
          <p:cNvSpPr/>
          <p:nvPr/>
        </p:nvSpPr>
        <p:spPr>
          <a:xfrm>
            <a:off x="827931" y="898430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065716"/>
            <a:ext cx="197048" cy="197048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1331714" y="8984307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2" name="Text 56"/>
          <p:cNvSpPr txBox="1"/>
          <p:nvPr/>
        </p:nvSpPr>
        <p:spPr>
          <a:xfrm>
            <a:off x="1331714" y="9124950"/>
            <a:ext cx="5400229" cy="618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1150" dirty="0"/>
          </a:p>
        </p:txBody>
      </p:sp>
      <p:sp>
        <p:nvSpPr>
          <p:cNvPr id="63" name="Shape 57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5" name="Text 59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6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254731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Pele borrachuda e frango seco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salgue antes: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papel-toalha e, se der, sal com antecedência na geladeira, descoberto.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14116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6021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para baixo e paciência: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fogo médio, peso por cima e nada de mexer até ela soltar sozinha da frigideira.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6803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87080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pela temperatura: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sobrecoxa fica melhor entre 75 °C e 80 °C. Um termômetro culinário custa menos que uma pizza e acaba com o achismo.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7988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98938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Descanso: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5 minutos antes de cortar, para os sucos se redistribuírem.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525691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7163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6215509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442770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536234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442770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536234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2765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827937"/>
            <a:ext cx="7067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Sobrecoxa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2765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837462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Coxa (aumente um pouco o tempo) ou peito (reduza bastante o tempo e retire do fogo a 65 °C: ele resseca fácil).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6481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374731"/>
            <a:ext cx="96321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Iogurte natural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6481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384256"/>
            <a:ext cx="46065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Coalhada seca, ou leite com suco de limão descansado por 10 minutos.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8019752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746355"/>
            <a:ext cx="9978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Caldo de frango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8019752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755880"/>
            <a:ext cx="31543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com as aparas e um ramo de cheiro-verde.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39137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117979"/>
            <a:ext cx="9148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Tomate fresco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39137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127504"/>
            <a:ext cx="22689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Tomate pelado em lata ou passata.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9307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98" y="8489603"/>
            <a:ext cx="136786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Manteiga gelada no molho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9307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99128"/>
            <a:ext cx="37474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(o molho fica mais fino, mas igualmente saboroso).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30235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9028956"/>
            <a:ext cx="6243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Cúrcuma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30235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9038481"/>
            <a:ext cx="2856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açafrão-da-terra ou de curry.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6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35296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Ossos e aparas: fundo caseiro ultra-aromático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34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07074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152156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070747"/>
            <a:ext cx="13380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ponto do caldo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304407"/>
            <a:ext cx="3366195" cy="1543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sopas, como o caldo de mandioca do próximo capítulo. É o seu caldo caseiro, sem cubinhos industrializados.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29236" y="10236845"/>
            <a:ext cx="2330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6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993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240996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Mandioca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161404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769418"/>
            <a:ext cx="13076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aipim, macaxeira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19700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raiz do Brasil: rica em amido, acessível e um coringa técnico. Une sustentabilidade e brasilidade num ingrediente só.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481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CROCÂNCIA PERFEITA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(crosta dourada por fora, cremoso por dentro)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62886" y="6346627"/>
            <a:ext cx="2489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6845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CULINÁRIA ACOLHEDORA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(abraço em forma de prato)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8015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SURPRESA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(rápido para o lanche da tarde)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60654" y="7669709"/>
            <a:ext cx="2512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6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marrom, que se solta com facilidade, e ponta que estala ao quebrar.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8613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Polpa branca ou amarelada, uniforme, sem estrias escuras, azuladas ou pontos moles.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6235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013002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Raízes médias costumam ser mais macias que as muito grossas.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50422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454872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boa cozinha rápido. Se demorar demais, o problema é a raiz, não você.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4998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casca, fora da geladeira, ela estraga em 2 ou 3 dias.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86138"/>
            <a:ext cx="2501130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2473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197995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Cozida: na geladeira por até 3 dias, coberta pela própria água do cozimento.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60045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49503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630912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6752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1036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54328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em toras de 8 a 10 cm. Faça um talho no comprimento e solte a casca marrom junto com a entrecasca rosada, de uma vez.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455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96199"/>
            <a:ext cx="434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de cozida, abra ao meio e retire o fio central, que é fibroso.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80242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53076"/>
            <a:ext cx="52174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sempre em pedaços de tamanho parecido, para tudo cozinhar por igual.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791325" y="10236845"/>
            <a:ext cx="2348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6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621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4.1 · A CROCÂNCIA PERFEITA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80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Rösti de mandioca recheado na frigideira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76983"/>
            <a:ext cx="2923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crosta dourada por fora, cremoso por dentro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477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0874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4464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03477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1990874"/>
            <a:ext cx="20340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RÖSTI GRANDE (2 A 4 PORÇÕES)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144464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mandioca crua descascada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98" y="40320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manteiga (ou metade manteiga, metade óleo)</a:t>
            </a:r>
            <a:endParaRPr lang="en-US" sz="890" dirty="0"/>
          </a:p>
        </p:txBody>
      </p:sp>
      <p:sp>
        <p:nvSpPr>
          <p:cNvPr id="23" name="Text 18"/>
          <p:cNvSpPr txBox="1"/>
          <p:nvPr/>
        </p:nvSpPr>
        <p:spPr>
          <a:xfrm>
            <a:off x="647998" y="4457849"/>
            <a:ext cx="14955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(ESCOLHA UM)</a:t>
            </a:r>
            <a:endParaRPr lang="en-US" sz="660" dirty="0"/>
          </a:p>
        </p:txBody>
      </p:sp>
      <p:sp>
        <p:nvSpPr>
          <p:cNvPr id="24" name="Shape 19"/>
          <p:cNvSpPr/>
          <p:nvPr/>
        </p:nvSpPr>
        <p:spPr>
          <a:xfrm>
            <a:off x="665998" y="46849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626025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carne-seca dessalgada, cozida e desfiada, refogada com cebola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22990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5171033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 150 g de muçarela com 3 colheres (sopa) de requeijão cremoso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0" name="Shape 2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2" name="Text 27"/>
          <p:cNvSpPr txBox="1"/>
          <p:nvPr/>
        </p:nvSpPr>
        <p:spPr>
          <a:xfrm>
            <a:off x="3419773" y="3284041"/>
            <a:ext cx="31645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Rale a mandioca crua no lado grosso do ralador.</a:t>
            </a:r>
            <a:endParaRPr lang="en-US" sz="930" dirty="0"/>
          </a:p>
        </p:txBody>
      </p:sp>
      <p:sp>
        <p:nvSpPr>
          <p:cNvPr id="33" name="Shape 28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5" name="Text 30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o passo que garante a crocância.</a:t>
            </a:r>
            <a:endParaRPr lang="en-US" sz="930" dirty="0"/>
          </a:p>
        </p:txBody>
      </p:sp>
      <p:sp>
        <p:nvSpPr>
          <p:cNvPr id="36" name="Shape 31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4210794"/>
            <a:ext cx="31305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a mandioca ralada com sal e pimenta.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4486573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4745" y="4528840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4494907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531227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465" y="535453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532060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Distribua o recheio, deixando 1 cm livre na borda. Cubra com o restante da mandioca, pressione e feche bem as bordas.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95491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6828" y="599717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96324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65975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7572" y="6639818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66058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2" name="Shape 47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5" name="Text 49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1150" dirty="0"/>
          </a:p>
        </p:txBody>
      </p:sp>
      <p:sp>
        <p:nvSpPr>
          <p:cNvPr id="56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6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871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4.2 · A CULINÁRIA ACOLHEDORA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Caldo aveludado de mandioca com gengibre e bacon (ou cogumelos)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714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abraço em forma de prato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19822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(OU 25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3719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120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1593" y="2340025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159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mandioca descascada, em pedaços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655814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bacon em cubinhos (ou 200 g de cogumelos fatiados, na versão vegetariana)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200823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418409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63599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gengibre fresco ralado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0761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501729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 litro de caldo de frango (capítulo 3) ou de legumes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45746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39859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8387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7798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Cebolinha picada e azeite para finalizar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panela, refogue a cebola até ficar transparente. Junte o alho e o gengibre e refogue por 1 minuto.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21196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84626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888534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85460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à panela, ajuste a consistência com mais caldo, se precisar, e tempere com sal, pimenta e gotas de limão.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30584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348115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31418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com o bacon (ou os cogumelos) crocante por cima, cebolinha e um fio de azeite.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6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45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4.3 · A SURPRESA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80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Biscoito de polvilho e mandioca de assadeira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76983"/>
            <a:ext cx="1985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rápido para o lanche da tarde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477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0874"/>
            <a:ext cx="4878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4464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413" y="197137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814" y="203477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288" y="1990874"/>
            <a:ext cx="14755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30 BISCOITOS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288" y="2144464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mandioca cozida, sem os fios, amassada ainda quente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462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g de polvilho azedo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g de queijo meia-cura ou parmesão ralado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5523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óleo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1510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rasa de sal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1044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Leite, se precisar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2" name="Shape 2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200 °C e forre uma assadeira com papel-manteiga.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mandioca ainda quente até virar um purê liso. Junte o óleo e o sal e misture.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20320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polvilho e misture bem (o calor da mandioca escalda o polvilho e deixa a massa elástica).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6544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4745" y="469671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6627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palitos de 8 cm ou bolinhas e disponha na assadeira com espaço entre eles.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a 30 minutos, até dourarem. Não abra o forno nos primeiros 15 minutos.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1" name="Shape 46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4" name="Text 48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1150" dirty="0"/>
          </a:p>
        </p:txBody>
      </p:sp>
      <p:sp>
        <p:nvSpPr>
          <p:cNvPr id="55" name="Shape 4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7" name="Text 51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6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47710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Mandioca que não cozinha (ou que desmancha o rösti)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3609975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3609975"/>
          </a:xfrm>
          <a:prstGeom prst="roundRect">
            <a:avLst>
              <a:gd name="adj" fmla="val 86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bem: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ponta que estala e polpa uniforme. Raiz velha ou fibrosa não amolece, não importa o tempo.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32616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345210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Congele crua: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os cristais de gelo rompem as fibras e ela cozinha mais rápido e fica mais macia.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953024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72074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Pedaços iguais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panela de pressão quando a pressa bater.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94895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413945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Esprema a mandioca ralada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pano: menos água, mais crocância e um rösti que não desmancha.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3711773" y="502175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4" name="Text 20"/>
          <p:cNvSpPr txBox="1"/>
          <p:nvPr/>
        </p:nvSpPr>
        <p:spPr>
          <a:xfrm>
            <a:off x="3873774" y="5040809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amoleceu?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jogue fora: ela ainda serve para o caldo batido.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647998" y="5967561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47998" y="6079034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7" name="Shape 23"/>
          <p:cNvSpPr/>
          <p:nvPr/>
        </p:nvSpPr>
        <p:spPr>
          <a:xfrm>
            <a:off x="647998" y="6657380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8" name="Shape 24"/>
          <p:cNvSpPr/>
          <p:nvPr/>
        </p:nvSpPr>
        <p:spPr>
          <a:xfrm>
            <a:off x="647998" y="6884640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91914" y="6978104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2303859" y="6884640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2447776" y="6978104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2" name="Shape 28"/>
          <p:cNvSpPr/>
          <p:nvPr/>
        </p:nvSpPr>
        <p:spPr>
          <a:xfrm>
            <a:off x="647998" y="771837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91914" y="7269807"/>
            <a:ext cx="10297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Mandioca fresca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2303859" y="771837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447859" y="7279332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congelada já descascada (funciona muito bem nas três receitas).</a:t>
            </a:r>
            <a:endParaRPr lang="en-US" sz="920" dirty="0"/>
          </a:p>
        </p:txBody>
      </p:sp>
      <p:sp>
        <p:nvSpPr>
          <p:cNvPr id="36" name="Shape 32"/>
          <p:cNvSpPr/>
          <p:nvPr/>
        </p:nvSpPr>
        <p:spPr>
          <a:xfrm>
            <a:off x="647998" y="80899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91914" y="7816602"/>
            <a:ext cx="4606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Bacon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2303859" y="80899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447776" y="7826127"/>
            <a:ext cx="37608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Linguiça calabresa em cubinhos ou cogumelos dourados.</a:t>
            </a:r>
            <a:endParaRPr lang="en-US" sz="920" dirty="0"/>
          </a:p>
        </p:txBody>
      </p:sp>
      <p:sp>
        <p:nvSpPr>
          <p:cNvPr id="40" name="Shape 36"/>
          <p:cNvSpPr/>
          <p:nvPr/>
        </p:nvSpPr>
        <p:spPr>
          <a:xfrm>
            <a:off x="647998" y="84616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91914" y="8188226"/>
            <a:ext cx="9280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Polvilho azedo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2303859" y="84616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2447776" y="8197751"/>
            <a:ext cx="37864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Polvilho doce (o biscoito fica menos aerado e mais macio).</a:t>
            </a:r>
            <a:endParaRPr lang="en-US" sz="920" dirty="0"/>
          </a:p>
        </p:txBody>
      </p:sp>
      <p:sp>
        <p:nvSpPr>
          <p:cNvPr id="44" name="Shape 40"/>
          <p:cNvSpPr/>
          <p:nvPr/>
        </p:nvSpPr>
        <p:spPr>
          <a:xfrm>
            <a:off x="647998" y="883324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1914" y="8559850"/>
            <a:ext cx="10756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Queijo meia-cura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2303859" y="883324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2447776" y="8569375"/>
            <a:ext cx="19264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Parmesão ou queijo canastra.</a:t>
            </a:r>
            <a:endParaRPr lang="en-US" sz="920" dirty="0"/>
          </a:p>
        </p:txBody>
      </p:sp>
      <p:sp>
        <p:nvSpPr>
          <p:cNvPr id="48" name="Shape 44"/>
          <p:cNvSpPr/>
          <p:nvPr/>
        </p:nvSpPr>
        <p:spPr>
          <a:xfrm>
            <a:off x="647998" y="920487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91914" y="8931473"/>
            <a:ext cx="1006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Gengibre fresco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2303859" y="920487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2447776" y="8940998"/>
            <a:ext cx="334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moída na hora e raspas de limão.</a:t>
            </a:r>
            <a:endParaRPr lang="en-US" sz="920" dirty="0"/>
          </a:p>
        </p:txBody>
      </p:sp>
      <p:sp>
        <p:nvSpPr>
          <p:cNvPr id="52" name="Shape 48"/>
          <p:cNvSpPr/>
          <p:nvPr/>
        </p:nvSpPr>
        <p:spPr>
          <a:xfrm>
            <a:off x="647998" y="957649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91914" y="9303097"/>
            <a:ext cx="739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Carne-seca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2303859" y="957649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447776" y="9312622"/>
            <a:ext cx="3226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(capítulo 3) ou linguiça refogada.</a:t>
            </a:r>
            <a:endParaRPr lang="en-US" sz="920" dirty="0"/>
          </a:p>
        </p:txBody>
      </p:sp>
      <p:sp>
        <p:nvSpPr>
          <p:cNvPr id="56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4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</a:t>
            </a:r>
            <a:endParaRPr lang="en-US" sz="6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27071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do cozimento, rica em amido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951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6760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757464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676055"/>
            <a:ext cx="34741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“Fariña” crocante de frigideira com as aparas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39097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Pontas, pedaços quebrados e sobras de mandioca já cozida viram crocância.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647998" y="52906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5372100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69789" y="5290691"/>
            <a:ext cx="9641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as cascas?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169789" y="5524351"/>
            <a:ext cx="3366195" cy="359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cascas da mandioca não são comestíveis. Mande para a compostagem.</a:t>
            </a:r>
            <a:endParaRPr lang="en-US" sz="960" dirty="0"/>
          </a:p>
        </p:txBody>
      </p:sp>
      <p:sp>
        <p:nvSpPr>
          <p:cNvPr id="18" name="Shape 13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9" name="Image 3" descr="/home/user/ebook-luq/versoes/VERSAO COM FOTOGRAFIAS/fotos/aproveita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4" name="Text 17"/>
          <p:cNvSpPr txBox="1"/>
          <p:nvPr/>
        </p:nvSpPr>
        <p:spPr>
          <a:xfrm>
            <a:off x="4129832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</a:t>
            </a:r>
            <a:endParaRPr lang="en-US" sz="6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55898"/>
            <a:ext cx="7896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838795"/>
            <a:ext cx="210443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20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Cenoura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7998" y="161404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769418"/>
            <a:ext cx="10891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i="1" dirty="0">
                <a:solidFill>
                  <a:srgbClr val="6B645B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raiz à rama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197001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Está em quase toda geladeira, mas costuma ficar presa à salada ralada ou ao bolo de sempre. Aqui ela vira protagonista.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cenoura está em quase todo refogado, quase toda salada e quase todo lanche da tarde. E quase sempre como coadjuvante.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2161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INTENSO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(doçura natural levada ao máximo)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80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71370" y="6346627"/>
            <a:ext cx="2405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2443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PRATO PRINCIPAL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(saboroso e nutritivo)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21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728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RESPEITO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(massa fofíssima que não sola)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68839" y="7669709"/>
            <a:ext cx="2430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93706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63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693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41251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panela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52085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5746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4426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Firme, lisa, de cor laranja intensa, sem rachaduras nem brotos.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8613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cenouras moles ou com a parte de cima esverdeada.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82800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encontrar com rama, compre: rama verde e viçosa é sinal de cenoura fresca, e ainda vira pesto.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4998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3944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52085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5746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936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4426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 rama assim que chegar em casa: ela puxa a umidade da raiz.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4354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8613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Raiz: em pote fechado com papel-toalha, na geladeira, por 3 a 4 semanas.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773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82800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Rama: lavada, bem seca e enrolada em papel-toalha, por 3 a 4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733181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92263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004048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4066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7681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427464"/>
            <a:ext cx="57422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precisa descascar: escove bem sob água corrente. Se descascar, guarde as cascas.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7336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5684341"/>
            <a:ext cx="4159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em diagonal têm mais superfície e caramelizam mais.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59905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59412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Palitos e meia-lua para assar; ralada fina para bolinhos; em fitas (com o descascador) para saladas cruas.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5670" y="10236845"/>
            <a:ext cx="24050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endParaRPr lang="en-US" sz="6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121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5.1 · O ASSADO INTENSO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Cenouras assadas inteiras, caramelizadas no mel ou melaço com azeite e tomilho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231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doçura natural levada ao máximo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2340025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cenouras médias (cerca de 600 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6562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azeite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mel (ou melaço)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16490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ramos de tomilho fresco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908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grosso e pimenta-do-reino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68987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vinagre de maçã ou suco de limão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07117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Opcional: iogurte temperado com sal e limão, e amendoim picado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2" name="Shape 2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220 °C. Escove bem as cenouras. Se forem grossas, corte ao meio no sentido do comprimento.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386263"/>
            <a:ext cx="30550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minutos, até começarem a dourar.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67037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do forno e regue com o vinagre ou limão ainda quente.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772596"/>
            <a:ext cx="36217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sobre o iogurte, com amendoim picado por cima.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1" name="Shape 46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4" name="Text 48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1150" dirty="0"/>
          </a:p>
        </p:txBody>
      </p:sp>
      <p:sp>
        <p:nvSpPr>
          <p:cNvPr id="55" name="Shape 4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7" name="Text 51"/>
          <p:cNvSpPr txBox="1"/>
          <p:nvPr/>
        </p:nvSpPr>
        <p:spPr>
          <a:xfrm>
            <a:off x="6794004" y="10236845"/>
            <a:ext cx="2321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6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674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5.2 · O PRATO PRINCIPAL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Hambúrguer rústico ou bolinho de cenoura com aveia e especiarias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3163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saboroso e nutritivo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383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401788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20528"/>
            <a:ext cx="19820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(MAIS 20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4912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295948" y="23383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348" y="2401788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73822" y="2320528"/>
            <a:ext cx="10060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673822" y="254912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raladas (cerca de 300 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561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pequena picada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páprica defumada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2041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xícara (90 g) de aveia em flocos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125045"/>
            <a:ext cx="1985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queijo ralado (opcional)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4015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34263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723930"/>
            <a:ext cx="1301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 e azeite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109740"/>
            <a:ext cx="2773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tigela e deixe amornar.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38551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42778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39385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aveia, o ovo, o queijo e o cheiro-verde. Tempere com sal e pimenta e misture bem.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85343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a massa descansar por 15 minutos, para a aveia hidratar e dar liga.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6 hambúrgueres com as mãos úmidas e leve à geladeira por 20 minutos.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647998" y="9026723"/>
            <a:ext cx="6263878" cy="873175"/>
          </a:xfrm>
          <a:prstGeom prst="roundRect">
            <a:avLst>
              <a:gd name="adj" fmla="val 12953"/>
            </a:avLst>
          </a:prstGeom>
          <a:solidFill>
            <a:srgbClr val="EEE6D8"/>
          </a:solidFill>
          <a:ln/>
        </p:spPr>
      </p:sp>
      <p:sp>
        <p:nvSpPr>
          <p:cNvPr id="57" name="Shape 52"/>
          <p:cNvSpPr/>
          <p:nvPr/>
        </p:nvSpPr>
        <p:spPr>
          <a:xfrm>
            <a:off x="827931" y="918864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70057"/>
            <a:ext cx="197048" cy="197048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1331714" y="918864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1331714" y="9329291"/>
            <a:ext cx="5400229" cy="41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1150" dirty="0"/>
          </a:p>
        </p:txBody>
      </p:sp>
      <p:sp>
        <p:nvSpPr>
          <p:cNvPr id="61" name="Shape 5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3" name="Text 57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63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096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5.3 · A SOBREMESA DE RESPEITO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59023"/>
            <a:ext cx="4031903" cy="115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5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Bolo de cenoura da vovó com técnica de chef e calda de chocolate espelhada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26134"/>
            <a:ext cx="19237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massa fofíssima que não sola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799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83929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40025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49361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2052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83929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40025"/>
            <a:ext cx="16680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ASSADEIRA DE 20 × 30 CM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49361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(cerca de 300 g), em rodelas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4732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ovos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949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ml de óleo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49638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4672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farinha de trigo, peneirada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9073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4848523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fermento químico em pó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528869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5229820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1" name="Text 26"/>
          <p:cNvSpPr txBox="1"/>
          <p:nvPr/>
        </p:nvSpPr>
        <p:spPr>
          <a:xfrm>
            <a:off x="647998" y="5491907"/>
            <a:ext cx="11919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 ESPELHADA</a:t>
            </a:r>
            <a:endParaRPr lang="en-US" sz="660" dirty="0"/>
          </a:p>
        </p:txBody>
      </p:sp>
      <p:sp>
        <p:nvSpPr>
          <p:cNvPr id="32" name="Shape 27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chocolate meio amargo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10025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6041380"/>
            <a:ext cx="22146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caixinha (200 g) de creme de leite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3178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6258967"/>
            <a:ext cx="13656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mel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665998" y="653542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809923" y="6476554"/>
            <a:ext cx="1736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manteiga</a:t>
            </a:r>
            <a:endParaRPr lang="en-US" sz="890" dirty="0"/>
          </a:p>
        </p:txBody>
      </p:sp>
      <p:sp>
        <p:nvSpPr>
          <p:cNvPr id="40" name="Shape 3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2" name="Shape 3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3284041"/>
            <a:ext cx="3799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180 °C e unte e enfarinhe a assadeira.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356815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liquidificador, bata a cenoura, os ovos, o óleo, o açúcar e o sal por 3 a 4 minutos, até ficar um creme bem liso e claro.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401940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614" y="4061668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402773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até sumir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Por último, incorpore o fermento delicadamente.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467037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35 a 40 minutos, até o palito sair limpo. Não abra o forno nos primeiros 25 minutos.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512162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8465" y="5163889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5129957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647998" y="8618041"/>
            <a:ext cx="6263878" cy="1281857"/>
          </a:xfrm>
          <a:prstGeom prst="roundRect">
            <a:avLst>
              <a:gd name="adj" fmla="val 6010"/>
            </a:avLst>
          </a:prstGeom>
          <a:solidFill>
            <a:srgbClr val="EEE6D8"/>
          </a:solidFill>
          <a:ln/>
        </p:spPr>
      </p:sp>
      <p:sp>
        <p:nvSpPr>
          <p:cNvPr id="61" name="Shape 56"/>
          <p:cNvSpPr/>
          <p:nvPr/>
        </p:nvSpPr>
        <p:spPr>
          <a:xfrm>
            <a:off x="827931" y="877996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8861375"/>
            <a:ext cx="197048" cy="197048"/>
          </a:xfrm>
          <a:prstGeom prst="rect">
            <a:avLst/>
          </a:prstGeom>
        </p:spPr>
      </p:pic>
      <p:sp>
        <p:nvSpPr>
          <p:cNvPr id="63" name="Text 57"/>
          <p:cNvSpPr txBox="1"/>
          <p:nvPr/>
        </p:nvSpPr>
        <p:spPr>
          <a:xfrm>
            <a:off x="1331714" y="8779966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4" name="Text 58"/>
          <p:cNvSpPr txBox="1"/>
          <p:nvPr/>
        </p:nvSpPr>
        <p:spPr>
          <a:xfrm>
            <a:off x="1331714" y="8920609"/>
            <a:ext cx="5400229" cy="822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2F2A2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Bolo que sola tem três culpados: farinha batida demais, fermento misturado com força e forno aberto cedo. Por isso o liquidificador cuida só da emulsão (cenoura, ovos e óleo), a farinha entra à mão, o fermento vai por último e o forno fica fechado nos primeiros 25 minutos. O mel na calda é o que dá o efeito espelhado.</a:t>
            </a:r>
            <a:endParaRPr lang="en-US" sz="1150" dirty="0"/>
          </a:p>
        </p:txBody>
      </p:sp>
      <p:sp>
        <p:nvSpPr>
          <p:cNvPr id="65" name="Shape 5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7" name="Text 61"/>
          <p:cNvSpPr txBox="1"/>
          <p:nvPr/>
        </p:nvSpPr>
        <p:spPr>
          <a:xfrm>
            <a:off x="6792069" y="10236845"/>
            <a:ext cx="2341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63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5560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154802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chef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74304"/>
            <a:ext cx="309955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0"/>
              </a:lnSpc>
              <a:buNone/>
            </a:pPr>
            <a:r>
              <a:rPr lang="en-US" sz="1700" i="1" dirty="0">
                <a:solidFill>
                  <a:srgbClr val="C255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Cenoura cozida na água, sem graça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7998" y="2033587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22304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304455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341066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727871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cenoura em muita água e escorrer. O açúcar e o sabor dela vão embora pelo ralo da pia, junto com a água.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2033587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21352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94930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331541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9929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718346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Glaçagem, a técnica do chef: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em rodelas numa frigideira, água só até a metade da altura, 1 colher de manteiga, 1 pitada de açúcar e outra de sal.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51115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53020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Fogo médio e panela destampada: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cenoura cozinha enquanto a água evapora.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953024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72074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água secar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 manteiga e o açúcar viram uma película brilhante que envolve cada rodela. Mexa por 1 minuto e pronto.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7988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98938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macia, brilhante e com todo o sabor dentro dela, não na água.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525691"/>
            <a:ext cx="6466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7163"/>
            <a:ext cx="85739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700" spc="-14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isso?</a:t>
            </a:r>
            <a:endParaRPr lang="en-US" sz="2700" dirty="0"/>
          </a:p>
        </p:txBody>
      </p:sp>
      <p:sp>
        <p:nvSpPr>
          <p:cNvPr id="25" name="Shape 21"/>
          <p:cNvSpPr/>
          <p:nvPr/>
        </p:nvSpPr>
        <p:spPr>
          <a:xfrm>
            <a:off x="647998" y="6215509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442770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536234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442770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536234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10133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827937"/>
            <a:ext cx="3101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Mel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10133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837462"/>
            <a:ext cx="3650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Melaço, xarope de bordo ou 1 colher de açúcar mascavo.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47295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99561"/>
            <a:ext cx="95473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Tomilho fresco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47295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209086"/>
            <a:ext cx="38226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Alecrim, orégano fresco ou ½ colher (chá) de tomilho seco.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844582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571184"/>
            <a:ext cx="9843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Aveia em flocos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844582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580709"/>
            <a:ext cx="29827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de rosca ou farinha de mandioca fina.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2162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942808"/>
            <a:ext cx="14848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Chocolate meio amargo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2162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7952333"/>
            <a:ext cx="35551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Chocolate ao leite com 1 colher (sopa) de cacau em pó.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5878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314432"/>
            <a:ext cx="9227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Creme de leite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5878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323957"/>
            <a:ext cx="23581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 integral (a calda fica mais fina).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95945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686056"/>
            <a:ext cx="136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Amendoim (no pesto)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95945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695581"/>
            <a:ext cx="4017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Castanha-de-caju, castanha-do-pará ou sementes de girassol.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38</a:t>
            </a:r>
            <a:endParaRPr lang="en-US" sz="6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7725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29878"/>
            <a:ext cx="26950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isso também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60838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54696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5876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40173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58764"/>
            <a:ext cx="16842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Cascas: chips assados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9242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7340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5481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73401"/>
            <a:ext cx="336619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Ramas (folhas): pesto com amendoim ou castanha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278511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5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25813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</a:t>
            </a:r>
            <a:endParaRPr lang="en-US" sz="63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3513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spc="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BÔNUS: OS 10 PULOS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13929"/>
            <a:ext cx="243630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0"/>
              </a:lnSpc>
              <a:buNone/>
            </a:pPr>
            <a:r>
              <a:rPr lang="en-US" sz="3400" spc="-17" kern="0" dirty="0">
                <a:solidFill>
                  <a:srgbClr val="4E5B38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do Mamede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7998" y="139243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38746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decisões universais de cozinha, que valem para qualquer ingrediente e qualquer receita, deste guia ou da sua vida.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4998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7655" y="2358479"/>
            <a:ext cx="2347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87797" y="2249984"/>
            <a:ext cx="17195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antes de dourar</a:t>
            </a:r>
            <a:endParaRPr lang="en-US" sz="1040" dirty="0"/>
          </a:p>
        </p:txBody>
      </p:sp>
      <p:sp>
        <p:nvSpPr>
          <p:cNvPr id="9" name="Text 7"/>
          <p:cNvSpPr txBox="1"/>
          <p:nvPr/>
        </p:nvSpPr>
        <p:spPr>
          <a:xfrm>
            <a:off x="1187797" y="2450157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3923854" y="224998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32052" y="2358479"/>
            <a:ext cx="257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63653" y="2249984"/>
            <a:ext cx="22081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4463653" y="2450157"/>
            <a:ext cx="2448223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647998" y="3522166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642" y="3630662"/>
            <a:ext cx="25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7797" y="3522166"/>
            <a:ext cx="1323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lote a panela</a:t>
            </a:r>
            <a:endParaRPr lang="en-US" sz="1040" dirty="0"/>
          </a:p>
        </p:txBody>
      </p:sp>
      <p:sp>
        <p:nvSpPr>
          <p:cNvPr id="17" name="Text 15"/>
          <p:cNvSpPr txBox="1"/>
          <p:nvPr/>
        </p:nvSpPr>
        <p:spPr>
          <a:xfrm>
            <a:off x="1187797" y="3722340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3923854" y="3522166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6396" y="3630662"/>
            <a:ext cx="2689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63653" y="3522166"/>
            <a:ext cx="2658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 deixe a crosta se formar</a:t>
            </a:r>
            <a:endParaRPr lang="en-US" sz="1040" dirty="0"/>
          </a:p>
        </p:txBody>
      </p:sp>
      <p:sp>
        <p:nvSpPr>
          <p:cNvPr id="21" name="Text 19"/>
          <p:cNvSpPr txBox="1"/>
          <p:nvPr/>
        </p:nvSpPr>
        <p:spPr>
          <a:xfrm>
            <a:off x="4463653" y="3722340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647998" y="4794349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047" y="4902845"/>
            <a:ext cx="2580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87797" y="4794349"/>
            <a:ext cx="244807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com antecedência e em camadas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1187797" y="5146923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890" dirty="0"/>
          </a:p>
        </p:txBody>
      </p:sp>
      <p:sp>
        <p:nvSpPr>
          <p:cNvPr id="26" name="Shape 24"/>
          <p:cNvSpPr/>
          <p:nvPr/>
        </p:nvSpPr>
        <p:spPr>
          <a:xfrm>
            <a:off x="3923854" y="4794349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9373" y="4902845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463653" y="4794349"/>
            <a:ext cx="11191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Acidez no final</a:t>
            </a:r>
            <a:endParaRPr lang="en-US" sz="1040" dirty="0"/>
          </a:p>
        </p:txBody>
      </p:sp>
      <p:sp>
        <p:nvSpPr>
          <p:cNvPr id="29" name="Text 27"/>
          <p:cNvSpPr txBox="1"/>
          <p:nvPr/>
        </p:nvSpPr>
        <p:spPr>
          <a:xfrm>
            <a:off x="4463653" y="4994523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890" dirty="0"/>
          </a:p>
        </p:txBody>
      </p:sp>
      <p:sp>
        <p:nvSpPr>
          <p:cNvPr id="30" name="Shape 28"/>
          <p:cNvSpPr/>
          <p:nvPr/>
        </p:nvSpPr>
        <p:spPr>
          <a:xfrm>
            <a:off x="647998" y="6218932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5005" y="6327428"/>
            <a:ext cx="260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87797" y="6218932"/>
            <a:ext cx="15595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Respeite o descanso</a:t>
            </a:r>
            <a:endParaRPr lang="en-US" sz="1040" dirty="0"/>
          </a:p>
        </p:txBody>
      </p:sp>
      <p:sp>
        <p:nvSpPr>
          <p:cNvPr id="33" name="Text 31"/>
          <p:cNvSpPr txBox="1"/>
          <p:nvPr/>
        </p:nvSpPr>
        <p:spPr>
          <a:xfrm>
            <a:off x="1187797" y="6419106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890" dirty="0"/>
          </a:p>
        </p:txBody>
      </p:sp>
      <p:sp>
        <p:nvSpPr>
          <p:cNvPr id="34" name="Shape 32"/>
          <p:cNvSpPr/>
          <p:nvPr/>
        </p:nvSpPr>
        <p:spPr>
          <a:xfrm>
            <a:off x="3923854" y="6218932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8033" y="6327428"/>
            <a:ext cx="26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463653" y="6218932"/>
            <a:ext cx="1933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fundo da panela é ouro</a:t>
            </a:r>
            <a:endParaRPr lang="en-US" sz="1040" dirty="0"/>
          </a:p>
        </p:txBody>
      </p:sp>
      <p:sp>
        <p:nvSpPr>
          <p:cNvPr id="37" name="Text 35"/>
          <p:cNvSpPr txBox="1"/>
          <p:nvPr/>
        </p:nvSpPr>
        <p:spPr>
          <a:xfrm>
            <a:off x="4463653" y="6419106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890" dirty="0"/>
          </a:p>
        </p:txBody>
      </p:sp>
      <p:sp>
        <p:nvSpPr>
          <p:cNvPr id="38" name="Shape 36"/>
          <p:cNvSpPr/>
          <p:nvPr/>
        </p:nvSpPr>
        <p:spPr>
          <a:xfrm>
            <a:off x="647998" y="749111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3517" y="7599611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87797" y="7491115"/>
            <a:ext cx="16308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Contraste de texturas</a:t>
            </a:r>
            <a:endParaRPr lang="en-US" sz="1040" dirty="0"/>
          </a:p>
        </p:txBody>
      </p:sp>
      <p:sp>
        <p:nvSpPr>
          <p:cNvPr id="41" name="Text 39"/>
          <p:cNvSpPr txBox="1"/>
          <p:nvPr/>
        </p:nvSpPr>
        <p:spPr>
          <a:xfrm>
            <a:off x="1187797" y="7691289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prato memorável tem algo cremoso e algo crocante. Sementes tostadas, farofa, chips de casca e pele crocante existem para isso.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3923854" y="749111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043511" y="7599611"/>
            <a:ext cx="234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463653" y="7491115"/>
            <a:ext cx="22897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Organize antes de ligar o fogo</a:t>
            </a:r>
            <a:endParaRPr lang="en-US" sz="1040" dirty="0"/>
          </a:p>
        </p:txBody>
      </p:sp>
      <p:sp>
        <p:nvSpPr>
          <p:cNvPr id="45" name="Text 43"/>
          <p:cNvSpPr txBox="1"/>
          <p:nvPr/>
        </p:nvSpPr>
        <p:spPr>
          <a:xfrm>
            <a:off x="4463653" y="7691289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890" dirty="0"/>
          </a:p>
        </p:txBody>
      </p:sp>
      <p:sp>
        <p:nvSpPr>
          <p:cNvPr id="46" name="Shape 44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8" name="Text 46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63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61256"/>
            <a:ext cx="107113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2F2A2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Muito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1140023"/>
            <a:ext cx="2675834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0"/>
              </a:lnSpc>
              <a:buNone/>
            </a:pPr>
            <a:r>
              <a:rPr lang="en-US" sz="4400" spc="-22" kern="0" dirty="0">
                <a:solidFill>
                  <a:srgbClr val="C2552D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7998" y="2030760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250579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993529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3952726"/>
            <a:ext cx="3887986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com afeto, com técnica e sem desperdício. Esse é o Jeito Mamede.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4560987"/>
            <a:ext cx="3887986" cy="859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i="1" dirty="0">
                <a:solidFill>
                  <a:srgbClr val="4E5B3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Bom apetite,</a:t>
            </a:r>
            <a:pPr algn="l" indent="0" marL="0">
              <a:lnSpc>
                <a:spcPts val="2940"/>
              </a:lnSpc>
              <a:buNone/>
            </a:pPr>
            <a:endParaRPr lang="en-US" sz="28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800" i="1" dirty="0">
                <a:solidFill>
                  <a:srgbClr val="4E5B3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Chef Allan Mamede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499050"/>
            <a:ext cx="251966" cy="25196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1" name="Image 1" descr="/home/user/ebook-luq/versoes/VERSAO COM FOTOGRAFIAS/fotos/obrigad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16" name="Text 11"/>
          <p:cNvSpPr txBox="1"/>
          <p:nvPr/>
        </p:nvSpPr>
        <p:spPr>
          <a:xfrm>
            <a:off x="4139803" y="10236845"/>
            <a:ext cx="2224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2026-10-13T17:25:04Z</dcterms:created>
  <dcterms:modified xsi:type="dcterms:W3CDTF">2026-10-13T17:25:04Z</dcterms:modified>
</cp:coreProperties>
</file>