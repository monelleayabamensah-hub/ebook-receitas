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7560000" cy="10692000"/>
  <p:notesSz cx="10692000" cy="756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998" y="719882"/>
            <a:ext cx="359866" cy="35986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5764" y="790277"/>
            <a:ext cx="15131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750" b="1" spc="105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CHEF ALLAN MAMEDE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1115764" y="914102"/>
            <a:ext cx="19632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spc="72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AFETO · TÉCNICA · APROVEITAMENTO</a:t>
            </a:r>
            <a:endParaRPr lang="en-US" sz="600" dirty="0"/>
          </a:p>
        </p:txBody>
      </p:sp>
      <p:sp>
        <p:nvSpPr>
          <p:cNvPr id="5" name="Text 2"/>
          <p:cNvSpPr txBox="1"/>
          <p:nvPr/>
        </p:nvSpPr>
        <p:spPr>
          <a:xfrm>
            <a:off x="647998" y="2303711"/>
            <a:ext cx="93970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spc="136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GUIA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47998" y="2530078"/>
            <a:ext cx="2727674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52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Cozinha</a:t>
            </a:r>
            <a:endParaRPr lang="en-US" sz="5200" dirty="0"/>
          </a:p>
        </p:txBody>
      </p:sp>
      <p:sp>
        <p:nvSpPr>
          <p:cNvPr id="7" name="Text 4"/>
          <p:cNvSpPr txBox="1"/>
          <p:nvPr/>
        </p:nvSpPr>
        <p:spPr>
          <a:xfrm>
            <a:off x="647998" y="3203525"/>
            <a:ext cx="2843855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5200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Mamede</a:t>
            </a:r>
            <a:endParaRPr lang="en-US" sz="5200" dirty="0"/>
          </a:p>
        </p:txBody>
      </p:sp>
      <p:sp>
        <p:nvSpPr>
          <p:cNvPr id="8" name="Text 5"/>
          <p:cNvSpPr txBox="1"/>
          <p:nvPr/>
        </p:nvSpPr>
        <p:spPr>
          <a:xfrm>
            <a:off x="647998" y="4053632"/>
            <a:ext cx="290886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spc="136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 TRANSFORMAÇÕES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7998" y="4636889"/>
            <a:ext cx="575965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7998" y="4892725"/>
            <a:ext cx="17787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95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ingredientes do dia a dia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47998" y="5103912"/>
            <a:ext cx="1212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95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transformações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47998" y="5315099"/>
            <a:ext cx="21489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95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Técnica, afeto e aproveitamento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7998" y="6577608"/>
            <a:ext cx="611981" cy="611981"/>
          </a:xfrm>
          <a:prstGeom prst="ellipse">
            <a:avLst/>
          </a:prstGeom>
          <a:solidFill>
            <a:srgbClr val="4E5B3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14" y="6721525"/>
            <a:ext cx="324148" cy="32414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03896" y="6750993"/>
            <a:ext cx="1172766" cy="265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b="1" spc="98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COZINHE MELHOR</a:t>
            </a:r>
            <a:pPr algn="l" indent="0" marL="0">
              <a:lnSpc>
                <a:spcPts val="1120"/>
              </a:lnSpc>
              <a:buNone/>
            </a:pPr>
            <a:endParaRPr lang="en-US" sz="700" dirty="0"/>
          </a:p>
          <a:p>
            <a:pPr algn="l" indent="0" marL="0">
              <a:lnSpc>
                <a:spcPts val="1120"/>
              </a:lnSpc>
              <a:buNone/>
            </a:pPr>
            <a:r>
              <a:rPr lang="en-US" sz="700" b="1" spc="98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DESPERDICE MENOS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3527822" y="2519958"/>
            <a:ext cx="5399931" cy="5399931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83720" y="3275856"/>
            <a:ext cx="3888135" cy="3888135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762" y="4067919"/>
            <a:ext cx="719882" cy="719882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698" y="4067919"/>
            <a:ext cx="719882" cy="719882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9782" y="4067919"/>
            <a:ext cx="719882" cy="719882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5762" y="5651897"/>
            <a:ext cx="719882" cy="719882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1698" y="5651897"/>
            <a:ext cx="719882" cy="719882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0" y="10152013"/>
            <a:ext cx="7559873" cy="539948"/>
          </a:xfrm>
          <a:prstGeom prst="rect">
            <a:avLst/>
          </a:prstGeom>
          <a:solidFill>
            <a:srgbClr val="4E5B38"/>
          </a:solidFill>
          <a:ln/>
        </p:spPr>
      </p:sp>
      <p:sp>
        <p:nvSpPr>
          <p:cNvPr id="24" name="Text 15"/>
          <p:cNvSpPr txBox="1"/>
          <p:nvPr/>
        </p:nvSpPr>
        <p:spPr>
          <a:xfrm>
            <a:off x="2819698" y="10360075"/>
            <a:ext cx="2150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76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CHEF ALLAN MAMEDE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827931"/>
            <a:ext cx="96604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BOAS-VINDAS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647998" y="1022598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7998" y="1175742"/>
            <a:ext cx="37989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Que bom ter você </a:t>
            </a:r>
            <a:pPr algn="l" indent="0" marL="0">
              <a:lnSpc>
                <a:spcPts val="2990"/>
              </a:lnSpc>
              <a:buNone/>
            </a:pPr>
            <a:r>
              <a:rPr lang="en-US" sz="2600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aqui.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7998" y="1874044"/>
            <a:ext cx="3887986" cy="1036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Pare de fazer sempre a mesma comida do mesmo jeito. Você não precisa encher o carrinho com ingredientes caros ou exóticos para sair da rotina: o segredo está em aprender a enxergar novas possibilidades com aquilo que já compra toda semana.</a:t>
            </a:r>
            <a:endParaRPr lang="en-US" sz="990" dirty="0"/>
          </a:p>
        </p:txBody>
      </p:sp>
      <p:sp>
        <p:nvSpPr>
          <p:cNvPr id="6" name="Text 4"/>
          <p:cNvSpPr txBox="1"/>
          <p:nvPr/>
        </p:nvSpPr>
        <p:spPr>
          <a:xfrm>
            <a:off x="647998" y="3049488"/>
            <a:ext cx="3887986" cy="8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Este é um guia prático para transformar 5 ingredientes cotidianos em 15 preparações completamente diferentes, unindo técnica profissional, sabor afetivo e aproveitamento integral.</a:t>
            </a:r>
            <a:endParaRPr lang="en-US" sz="990" dirty="0"/>
          </a:p>
        </p:txBody>
      </p:sp>
      <p:sp>
        <p:nvSpPr>
          <p:cNvPr id="7" name="Text 5"/>
          <p:cNvSpPr txBox="1"/>
          <p:nvPr/>
        </p:nvSpPr>
        <p:spPr>
          <a:xfrm>
            <a:off x="647998" y="4008686"/>
            <a:ext cx="3887986" cy="125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Aqui você não vai encontrar receitas soltas. Cada capítulo é dedicado a um ingrediente e mostra o caminho inteiro: como escolher no mercado, como guardar, como cortar, como cozinhar de três jeitos que você talvez nunca tenha imaginado e, no fim, o que fazer com a casca, a rama, o osso e a sobra.</a:t>
            </a:r>
            <a:endParaRPr lang="en-US" sz="990" dirty="0"/>
          </a:p>
        </p:txBody>
      </p:sp>
      <p:sp>
        <p:nvSpPr>
          <p:cNvPr id="8" name="Text 6"/>
          <p:cNvSpPr txBox="1"/>
          <p:nvPr/>
        </p:nvSpPr>
        <p:spPr>
          <a:xfrm>
            <a:off x="647998" y="5400377"/>
            <a:ext cx="3887986" cy="60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Leia com calma, cozinhe com tempo e, principalmente, prove tudo pelo caminho. É assim que a gente aprende a cozinhar de verdade.</a:t>
            </a:r>
            <a:endParaRPr lang="en-US" sz="990" dirty="0"/>
          </a:p>
        </p:txBody>
      </p:sp>
      <p:sp>
        <p:nvSpPr>
          <p:cNvPr id="9" name="Text 7"/>
          <p:cNvSpPr txBox="1"/>
          <p:nvPr/>
        </p:nvSpPr>
        <p:spPr>
          <a:xfrm>
            <a:off x="647998" y="6234410"/>
            <a:ext cx="239229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4E5B38"/>
                </a:solidFill>
                <a:latin typeface="Allura" pitchFamily="34" charset="0"/>
                <a:ea typeface="Allura" pitchFamily="34" charset="-122"/>
                <a:cs typeface="Allura" pitchFamily="34" charset="-120"/>
              </a:rPr>
              <a:t>Vamos cozinhar!</a:t>
            </a:r>
            <a:endParaRPr lang="en-US" sz="3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998" y="6816477"/>
            <a:ext cx="251966" cy="25196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895999" y="0"/>
            <a:ext cx="2663875" cy="10691961"/>
          </a:xfrm>
          <a:prstGeom prst="rect">
            <a:avLst/>
          </a:prstGeom>
          <a:solidFill>
            <a:srgbClr val="EEE6D8"/>
          </a:solidFill>
          <a:ln/>
        </p:spPr>
      </p:sp>
      <p:sp>
        <p:nvSpPr>
          <p:cNvPr id="12" name="Shape 9"/>
          <p:cNvSpPr/>
          <p:nvPr/>
        </p:nvSpPr>
        <p:spPr>
          <a:xfrm>
            <a:off x="4392067" y="791914"/>
            <a:ext cx="2735907" cy="2735907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75002" y="1174849"/>
            <a:ext cx="1970038" cy="197003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701" y="1530548"/>
            <a:ext cx="1258491" cy="1258491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687913" y="4031903"/>
            <a:ext cx="1799927" cy="1799927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39879" y="4283869"/>
            <a:ext cx="1295995" cy="1295995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837" y="4517827"/>
            <a:ext cx="827931" cy="827931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895999" y="8459986"/>
            <a:ext cx="2663875" cy="2231975"/>
          </a:xfrm>
          <a:prstGeom prst="rect">
            <a:avLst/>
          </a:prstGeom>
          <a:solidFill>
            <a:srgbClr val="4E5B3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04" y="9341941"/>
            <a:ext cx="467916" cy="46791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7998" y="10133856"/>
            <a:ext cx="3600004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22" name="Text 16"/>
          <p:cNvSpPr txBox="1"/>
          <p:nvPr/>
        </p:nvSpPr>
        <p:spPr>
          <a:xfrm>
            <a:off x="4122241" y="10236845"/>
            <a:ext cx="2400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6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592931"/>
            <a:ext cx="176338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JEITO MAMEDE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68846"/>
            <a:ext cx="268266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 COZINHAR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35552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601837"/>
            <a:ext cx="48424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método que guia todo o material se apoia em três fundamentos.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005905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407" y="2087314"/>
            <a:ext cx="197048" cy="197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7797" y="2005905"/>
            <a:ext cx="481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Afeto</a:t>
            </a:r>
            <a:endParaRPr lang="en-US" sz="1040" dirty="0"/>
          </a:p>
        </p:txBody>
      </p:sp>
      <p:sp>
        <p:nvSpPr>
          <p:cNvPr id="9" name="Text 6"/>
          <p:cNvSpPr txBox="1"/>
          <p:nvPr/>
        </p:nvSpPr>
        <p:spPr>
          <a:xfrm>
            <a:off x="1187797" y="2206079"/>
            <a:ext cx="572407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Comida acolhedora, generosa e com memória de casa, sem afetações desnecessárias nem gastronomia distante da realidade.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647998" y="2736949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07" y="2818358"/>
            <a:ext cx="197048" cy="197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7797" y="2736949"/>
            <a:ext cx="6307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Técnica</a:t>
            </a:r>
            <a:endParaRPr lang="en-US" sz="1040" dirty="0"/>
          </a:p>
        </p:txBody>
      </p:sp>
      <p:sp>
        <p:nvSpPr>
          <p:cNvPr id="13" name="Text 9"/>
          <p:cNvSpPr txBox="1"/>
          <p:nvPr/>
        </p:nvSpPr>
        <p:spPr>
          <a:xfrm>
            <a:off x="1187797" y="2937123"/>
            <a:ext cx="572407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Decisões simples de chef (ponto de frigideira, cortes, descanso da carne, acidez e texturas) que mudam radicalmente o resultado final.</a:t>
            </a:r>
            <a:endParaRPr lang="en-US" sz="940" dirty="0"/>
          </a:p>
        </p:txBody>
      </p:sp>
      <p:sp>
        <p:nvSpPr>
          <p:cNvPr id="14" name="Shape 10"/>
          <p:cNvSpPr/>
          <p:nvPr/>
        </p:nvSpPr>
        <p:spPr>
          <a:xfrm>
            <a:off x="647998" y="3467993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07" y="3549402"/>
            <a:ext cx="197048" cy="197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7797" y="3467993"/>
            <a:ext cx="12379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Aproveitamento</a:t>
            </a:r>
            <a:endParaRPr lang="en-US" sz="1040" dirty="0"/>
          </a:p>
        </p:txBody>
      </p:sp>
      <p:sp>
        <p:nvSpPr>
          <p:cNvPr id="17" name="Text 12"/>
          <p:cNvSpPr txBox="1"/>
          <p:nvPr/>
        </p:nvSpPr>
        <p:spPr>
          <a:xfrm>
            <a:off x="1187797" y="3668167"/>
            <a:ext cx="572407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olhar inteligente para cascas, talos, ramas e ossos, transformando o que iria para o lixo em sabor e textura.</a:t>
            </a:r>
            <a:endParaRPr lang="en-US" sz="940" dirty="0"/>
          </a:p>
        </p:txBody>
      </p:sp>
      <p:sp>
        <p:nvSpPr>
          <p:cNvPr id="18" name="Text 13"/>
          <p:cNvSpPr txBox="1"/>
          <p:nvPr/>
        </p:nvSpPr>
        <p:spPr>
          <a:xfrm>
            <a:off x="647998" y="4324052"/>
            <a:ext cx="123382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COMO USAR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7998" y="4509492"/>
            <a:ext cx="156886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spc="63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ESTE GUIA</a:t>
            </a:r>
            <a:endParaRPr lang="en-US" sz="2100" dirty="0"/>
          </a:p>
        </p:txBody>
      </p:sp>
      <p:sp>
        <p:nvSpPr>
          <p:cNvPr id="20" name="Shape 15"/>
          <p:cNvSpPr/>
          <p:nvPr/>
        </p:nvSpPr>
        <p:spPr>
          <a:xfrm>
            <a:off x="647998" y="500285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47998" y="5249168"/>
            <a:ext cx="449996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um dos 5 capítulos é dedicado a um ingrediente e segue a mesma jornada:</a:t>
            </a:r>
            <a:endParaRPr lang="en-US" sz="1020" dirty="0"/>
          </a:p>
        </p:txBody>
      </p:sp>
      <p:sp>
        <p:nvSpPr>
          <p:cNvPr id="22" name="Shape 17"/>
          <p:cNvSpPr/>
          <p:nvPr/>
        </p:nvSpPr>
        <p:spPr>
          <a:xfrm>
            <a:off x="647998" y="5860405"/>
            <a:ext cx="6263878" cy="3051572"/>
          </a:xfrm>
          <a:prstGeom prst="roundRect">
            <a:avLst>
              <a:gd name="adj" fmla="val 106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2739033" y="5869930"/>
            <a:ext cx="0" cy="1594693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57523" y="7464623"/>
            <a:ext cx="2081510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0520" y="6085880"/>
            <a:ext cx="305991" cy="305991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227088" y="6499771"/>
            <a:ext cx="9328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Ingrediente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801439" y="6695331"/>
            <a:ext cx="1784152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olhar do chef para expandir as possibilidades de uso daquele insumo.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4820692" y="5869930"/>
            <a:ext cx="0" cy="1594693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2739033" y="7464623"/>
            <a:ext cx="2081659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2030" y="6085880"/>
            <a:ext cx="305991" cy="305991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3240792" y="6499771"/>
            <a:ext cx="10684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da Panela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2882950" y="6695331"/>
            <a:ext cx="1784300" cy="290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escolher no mercado, como armazenar e como cortar.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4820692" y="7464623"/>
            <a:ext cx="2081659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8452" y="6085880"/>
            <a:ext cx="305991" cy="305991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5280874" y="6499771"/>
            <a:ext cx="11611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Transformações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4964609" y="6695331"/>
            <a:ext cx="1793825" cy="584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Três caminhos culinários completamente distintos para aquela sensação de “nunca pensei nisso”.</a:t>
            </a:r>
            <a:endParaRPr lang="en-US" sz="800" dirty="0"/>
          </a:p>
        </p:txBody>
      </p:sp>
      <p:sp>
        <p:nvSpPr>
          <p:cNvPr id="37" name="Shape 29"/>
          <p:cNvSpPr/>
          <p:nvPr/>
        </p:nvSpPr>
        <p:spPr>
          <a:xfrm>
            <a:off x="2739033" y="7464623"/>
            <a:ext cx="0" cy="1437829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0520" y="7680573"/>
            <a:ext cx="305991" cy="305991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194048" y="8094464"/>
            <a:ext cx="9989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Pulo do Chef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801439" y="8290024"/>
            <a:ext cx="1784152" cy="290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erro frequente, desmistificado, com a técnica exata para corrigi-lo.</a:t>
            </a:r>
            <a:endParaRPr lang="en-US" sz="800" dirty="0"/>
          </a:p>
        </p:txBody>
      </p:sp>
      <p:sp>
        <p:nvSpPr>
          <p:cNvPr id="41" name="Shape 32"/>
          <p:cNvSpPr/>
          <p:nvPr/>
        </p:nvSpPr>
        <p:spPr>
          <a:xfrm>
            <a:off x="4820692" y="7464623"/>
            <a:ext cx="0" cy="1437829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2030" y="7680573"/>
            <a:ext cx="305991" cy="305991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3296543" y="8094464"/>
            <a:ext cx="9571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Tem Isso?</a:t>
            </a:r>
            <a:endParaRPr lang="en-US" sz="900" dirty="0"/>
          </a:p>
        </p:txBody>
      </p:sp>
      <p:sp>
        <p:nvSpPr>
          <p:cNvPr id="44" name="Text 34"/>
          <p:cNvSpPr txBox="1"/>
          <p:nvPr/>
        </p:nvSpPr>
        <p:spPr>
          <a:xfrm>
            <a:off x="2882950" y="8290024"/>
            <a:ext cx="1784300" cy="290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Substituições inteligentes para você cozinhar sem travar.</a:t>
            </a:r>
            <a:endParaRPr lang="en-US" sz="800" dirty="0"/>
          </a:p>
        </p:txBody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08452" y="7680573"/>
            <a:ext cx="305991" cy="305991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5086841" y="8094464"/>
            <a:ext cx="15493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Aproveita Isso Também</a:t>
            </a:r>
            <a:endParaRPr lang="en-US" sz="900" dirty="0"/>
          </a:p>
        </p:txBody>
      </p:sp>
      <p:sp>
        <p:nvSpPr>
          <p:cNvPr id="47" name="Text 36"/>
          <p:cNvSpPr txBox="1"/>
          <p:nvPr/>
        </p:nvSpPr>
        <p:spPr>
          <a:xfrm>
            <a:off x="4964609" y="8290024"/>
            <a:ext cx="179382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Cascas, talos, ramas e aparas transformados em preparações saborosas.</a:t>
            </a:r>
            <a:endParaRPr lang="en-US" sz="800" dirty="0"/>
          </a:p>
        </p:txBody>
      </p:sp>
      <p:sp>
        <p:nvSpPr>
          <p:cNvPr id="48" name="Text 37"/>
          <p:cNvSpPr txBox="1"/>
          <p:nvPr/>
        </p:nvSpPr>
        <p:spPr>
          <a:xfrm>
            <a:off x="647998" y="9173468"/>
            <a:ext cx="62638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660" b="1" spc="9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MEDIDAS USADAS</a:t>
            </a:r>
            <a:pPr algn="l" indent="0" marL="0">
              <a:lnSpc>
                <a:spcPts val="1230"/>
              </a:lnSpc>
              <a:buNone/>
            </a:pPr>
            <a:r>
              <a:rPr lang="en-US" sz="7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 xícara = 240 ml · 1 colher (sopa) = 15 ml · 1 colher (chá) = 5 ml · forno sempre preaquecido</a:t>
            </a:r>
            <a:endParaRPr lang="en-US" sz="660" dirty="0"/>
          </a:p>
        </p:txBody>
      </p:sp>
      <p:sp>
        <p:nvSpPr>
          <p:cNvPr id="49" name="Shape 38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0" name="Text 39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1" name="Text 40"/>
          <p:cNvSpPr txBox="1"/>
          <p:nvPr/>
        </p:nvSpPr>
        <p:spPr>
          <a:xfrm>
            <a:off x="6786860" y="10236845"/>
            <a:ext cx="2393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592931"/>
            <a:ext cx="11528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QUE TEM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68846"/>
            <a:ext cx="229978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NESTE GUIA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35552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Shape 3"/>
          <p:cNvSpPr/>
          <p:nvPr/>
        </p:nvSpPr>
        <p:spPr>
          <a:xfrm>
            <a:off x="647998" y="1661964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8514" y="1735485"/>
            <a:ext cx="2050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680" dirty="0"/>
          </a:p>
        </p:txBody>
      </p:sp>
      <p:sp>
        <p:nvSpPr>
          <p:cNvPr id="7" name="Text 5"/>
          <p:cNvSpPr txBox="1"/>
          <p:nvPr/>
        </p:nvSpPr>
        <p:spPr>
          <a:xfrm>
            <a:off x="1025872" y="1711672"/>
            <a:ext cx="8957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Boas-vindas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33277" y="1828635"/>
            <a:ext cx="4600724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9" name="Text 7"/>
          <p:cNvSpPr txBox="1"/>
          <p:nvPr/>
        </p:nvSpPr>
        <p:spPr>
          <a:xfrm>
            <a:off x="6660803" y="1721197"/>
            <a:ext cx="2510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647998" y="2115443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9882" y="2188964"/>
            <a:ext cx="222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680" dirty="0"/>
          </a:p>
        </p:txBody>
      </p:sp>
      <p:sp>
        <p:nvSpPr>
          <p:cNvPr id="12" name="Text 10"/>
          <p:cNvSpPr txBox="1"/>
          <p:nvPr/>
        </p:nvSpPr>
        <p:spPr>
          <a:xfrm>
            <a:off x="1025872" y="2165152"/>
            <a:ext cx="20824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Jeito Mamede de Cozinhar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11091" y="2282114"/>
            <a:ext cx="3522911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14" name="Text 12"/>
          <p:cNvSpPr txBox="1"/>
          <p:nvPr/>
        </p:nvSpPr>
        <p:spPr>
          <a:xfrm>
            <a:off x="6661696" y="2174677"/>
            <a:ext cx="250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647998" y="2568922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0328" y="2642443"/>
            <a:ext cx="2216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80" dirty="0"/>
          </a:p>
        </p:txBody>
      </p:sp>
      <p:sp>
        <p:nvSpPr>
          <p:cNvPr id="17" name="Text 15"/>
          <p:cNvSpPr txBox="1"/>
          <p:nvPr/>
        </p:nvSpPr>
        <p:spPr>
          <a:xfrm>
            <a:off x="1025872" y="2618631"/>
            <a:ext cx="12103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Abóbora Cabotiá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32422" y="2735593"/>
            <a:ext cx="4301579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19" name="Text 17"/>
          <p:cNvSpPr txBox="1"/>
          <p:nvPr/>
        </p:nvSpPr>
        <p:spPr>
          <a:xfrm>
            <a:off x="6660356" y="2628156"/>
            <a:ext cx="2515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860" dirty="0"/>
          </a:p>
        </p:txBody>
      </p:sp>
      <p:sp>
        <p:nvSpPr>
          <p:cNvPr id="20" name="Text 18"/>
          <p:cNvSpPr txBox="1"/>
          <p:nvPr/>
        </p:nvSpPr>
        <p:spPr>
          <a:xfrm>
            <a:off x="1025872" y="2921645"/>
            <a:ext cx="36586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Nhoque de abóbora tostado na manteiga de garrafa e sálvia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418409" y="3029083"/>
            <a:ext cx="2115592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2" name="Text 20"/>
          <p:cNvSpPr txBox="1"/>
          <p:nvPr/>
        </p:nvSpPr>
        <p:spPr>
          <a:xfrm>
            <a:off x="6674495" y="2926407"/>
            <a:ext cx="2373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780" dirty="0"/>
          </a:p>
        </p:txBody>
      </p:sp>
      <p:sp>
        <p:nvSpPr>
          <p:cNvPr id="23" name="Text 21"/>
          <p:cNvSpPr txBox="1"/>
          <p:nvPr/>
        </p:nvSpPr>
        <p:spPr>
          <a:xfrm>
            <a:off x="1025872" y="3098155"/>
            <a:ext cx="52119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Hambúrguer ou bolinho cremoso assado de abóbora com especiarias e queijo coalho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805339" y="3205593"/>
            <a:ext cx="728663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5" name="Text 23"/>
          <p:cNvSpPr txBox="1"/>
          <p:nvPr/>
        </p:nvSpPr>
        <p:spPr>
          <a:xfrm>
            <a:off x="6668839" y="3102918"/>
            <a:ext cx="2430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780" dirty="0"/>
          </a:p>
        </p:txBody>
      </p:sp>
      <p:sp>
        <p:nvSpPr>
          <p:cNvPr id="26" name="Text 24"/>
          <p:cNvSpPr txBox="1"/>
          <p:nvPr/>
        </p:nvSpPr>
        <p:spPr>
          <a:xfrm>
            <a:off x="1025872" y="3274665"/>
            <a:ext cx="4731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Crepúsculo: doce de abóbora cremoso de colher com coco e raspas de laranja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5376267" y="3382103"/>
            <a:ext cx="1157734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8" name="Text 26"/>
          <p:cNvSpPr txBox="1"/>
          <p:nvPr/>
        </p:nvSpPr>
        <p:spPr>
          <a:xfrm>
            <a:off x="6671667" y="3279428"/>
            <a:ext cx="240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47998" y="3551932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5714" y="3625453"/>
            <a:ext cx="2308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680" dirty="0"/>
          </a:p>
        </p:txBody>
      </p:sp>
      <p:sp>
        <p:nvSpPr>
          <p:cNvPr id="31" name="Text 29"/>
          <p:cNvSpPr txBox="1"/>
          <p:nvPr/>
        </p:nvSpPr>
        <p:spPr>
          <a:xfrm>
            <a:off x="1025872" y="3601641"/>
            <a:ext cx="1201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Banana-da-Terra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24236" y="3718603"/>
            <a:ext cx="430976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33" name="Text 31"/>
          <p:cNvSpPr txBox="1"/>
          <p:nvPr/>
        </p:nvSpPr>
        <p:spPr>
          <a:xfrm>
            <a:off x="6692503" y="3611166"/>
            <a:ext cx="2193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860" dirty="0"/>
          </a:p>
        </p:txBody>
      </p:sp>
      <p:sp>
        <p:nvSpPr>
          <p:cNvPr id="34" name="Text 32"/>
          <p:cNvSpPr txBox="1"/>
          <p:nvPr/>
        </p:nvSpPr>
        <p:spPr>
          <a:xfrm>
            <a:off x="1025872" y="3904655"/>
            <a:ext cx="41901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Moqueca expressa de frigideira com banana, leite de coco e pimenta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4893022" y="4012092"/>
            <a:ext cx="1640979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36" name="Text 34"/>
          <p:cNvSpPr txBox="1"/>
          <p:nvPr/>
        </p:nvSpPr>
        <p:spPr>
          <a:xfrm>
            <a:off x="6696373" y="3909417"/>
            <a:ext cx="2155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780" dirty="0"/>
          </a:p>
        </p:txBody>
      </p:sp>
      <p:sp>
        <p:nvSpPr>
          <p:cNvPr id="37" name="Text 35"/>
          <p:cNvSpPr txBox="1"/>
          <p:nvPr/>
        </p:nvSpPr>
        <p:spPr>
          <a:xfrm>
            <a:off x="1025872" y="4081165"/>
            <a:ext cx="33907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Purê aveludado de banana grelhada com noz-moscada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4179243" y="4188602"/>
            <a:ext cx="2354759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39" name="Text 37"/>
          <p:cNvSpPr txBox="1"/>
          <p:nvPr/>
        </p:nvSpPr>
        <p:spPr>
          <a:xfrm>
            <a:off x="6705749" y="4085927"/>
            <a:ext cx="2061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780" dirty="0"/>
          </a:p>
        </p:txBody>
      </p:sp>
      <p:sp>
        <p:nvSpPr>
          <p:cNvPr id="40" name="Text 38"/>
          <p:cNvSpPr txBox="1"/>
          <p:nvPr/>
        </p:nvSpPr>
        <p:spPr>
          <a:xfrm>
            <a:off x="1025872" y="4257675"/>
            <a:ext cx="50654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Bananas flambadas no rum ou na cachaça com crosta de açúcar mascavo e canela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5674519" y="4365113"/>
            <a:ext cx="859482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42" name="Text 40"/>
          <p:cNvSpPr txBox="1"/>
          <p:nvPr/>
        </p:nvSpPr>
        <p:spPr>
          <a:xfrm>
            <a:off x="6701433" y="4262438"/>
            <a:ext cx="2104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647998" y="4534942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19733" y="4608463"/>
            <a:ext cx="22264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680" dirty="0"/>
          </a:p>
        </p:txBody>
      </p:sp>
      <p:sp>
        <p:nvSpPr>
          <p:cNvPr id="45" name="Text 43"/>
          <p:cNvSpPr txBox="1"/>
          <p:nvPr/>
        </p:nvSpPr>
        <p:spPr>
          <a:xfrm>
            <a:off x="1025872" y="4584650"/>
            <a:ext cx="15211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Sobrecoxa de Frango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509986" y="4701613"/>
            <a:ext cx="402401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47" name="Text 45"/>
          <p:cNvSpPr txBox="1"/>
          <p:nvPr/>
        </p:nvSpPr>
        <p:spPr>
          <a:xfrm>
            <a:off x="6687592" y="4594175"/>
            <a:ext cx="2242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860" dirty="0"/>
          </a:p>
        </p:txBody>
      </p:sp>
      <p:sp>
        <p:nvSpPr>
          <p:cNvPr id="48" name="Text 46"/>
          <p:cNvSpPr txBox="1"/>
          <p:nvPr/>
        </p:nvSpPr>
        <p:spPr>
          <a:xfrm>
            <a:off x="1025872" y="4887664"/>
            <a:ext cx="47829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Sobrecoxa desossada com pele ultracrocante ao molho rústico de limão e alho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5422255" y="4995102"/>
            <a:ext cx="1111746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50" name="Text 48"/>
          <p:cNvSpPr txBox="1"/>
          <p:nvPr/>
        </p:nvSpPr>
        <p:spPr>
          <a:xfrm>
            <a:off x="6705600" y="4892427"/>
            <a:ext cx="2062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en-US" sz="780" dirty="0"/>
          </a:p>
        </p:txBody>
      </p:sp>
      <p:sp>
        <p:nvSpPr>
          <p:cNvPr id="51" name="Text 49"/>
          <p:cNvSpPr txBox="1"/>
          <p:nvPr/>
        </p:nvSpPr>
        <p:spPr>
          <a:xfrm>
            <a:off x="1025872" y="5064175"/>
            <a:ext cx="38268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Frango desfiado suculento ao molho de tomate caseiro e ervas</a:t>
            </a:r>
            <a:endParaRPr lang="en-US" sz="860" dirty="0"/>
          </a:p>
        </p:txBody>
      </p:sp>
      <p:sp>
        <p:nvSpPr>
          <p:cNvPr id="52" name="Shape 50"/>
          <p:cNvSpPr/>
          <p:nvPr/>
        </p:nvSpPr>
        <p:spPr>
          <a:xfrm>
            <a:off x="4568577" y="5171612"/>
            <a:ext cx="1965424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53" name="Text 51"/>
          <p:cNvSpPr txBox="1"/>
          <p:nvPr/>
        </p:nvSpPr>
        <p:spPr>
          <a:xfrm>
            <a:off x="6685062" y="5068937"/>
            <a:ext cx="2268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</a:t>
            </a:r>
            <a:endParaRPr lang="en-US" sz="780" dirty="0"/>
          </a:p>
        </p:txBody>
      </p:sp>
      <p:sp>
        <p:nvSpPr>
          <p:cNvPr id="54" name="Text 52"/>
          <p:cNvSpPr txBox="1"/>
          <p:nvPr/>
        </p:nvSpPr>
        <p:spPr>
          <a:xfrm>
            <a:off x="1025872" y="5240685"/>
            <a:ext cx="40825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Sobrecoxa marinada no iogurte com especiarias, assada até dourar</a:t>
            </a:r>
            <a:endParaRPr lang="en-US" sz="860" dirty="0"/>
          </a:p>
        </p:txBody>
      </p:sp>
      <p:sp>
        <p:nvSpPr>
          <p:cNvPr id="55" name="Shape 53"/>
          <p:cNvSpPr/>
          <p:nvPr/>
        </p:nvSpPr>
        <p:spPr>
          <a:xfrm>
            <a:off x="4796879" y="5348122"/>
            <a:ext cx="1737122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56" name="Text 54"/>
          <p:cNvSpPr txBox="1"/>
          <p:nvPr/>
        </p:nvSpPr>
        <p:spPr>
          <a:xfrm>
            <a:off x="6685508" y="5245447"/>
            <a:ext cx="2263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647998" y="5517952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717947" y="5591473"/>
            <a:ext cx="22636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680" dirty="0"/>
          </a:p>
        </p:txBody>
      </p:sp>
      <p:sp>
        <p:nvSpPr>
          <p:cNvPr id="59" name="Text 57"/>
          <p:cNvSpPr txBox="1"/>
          <p:nvPr/>
        </p:nvSpPr>
        <p:spPr>
          <a:xfrm>
            <a:off x="1025872" y="5567660"/>
            <a:ext cx="7490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Mandioca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786533" y="5684623"/>
            <a:ext cx="4747468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61" name="Text 59"/>
          <p:cNvSpPr txBox="1"/>
          <p:nvPr/>
        </p:nvSpPr>
        <p:spPr>
          <a:xfrm>
            <a:off x="6665565" y="5577185"/>
            <a:ext cx="2463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</a:t>
            </a:r>
            <a:endParaRPr lang="en-US" sz="860" dirty="0"/>
          </a:p>
        </p:txBody>
      </p:sp>
      <p:sp>
        <p:nvSpPr>
          <p:cNvPr id="62" name="Text 60"/>
          <p:cNvSpPr txBox="1"/>
          <p:nvPr/>
        </p:nvSpPr>
        <p:spPr>
          <a:xfrm>
            <a:off x="1025872" y="5870674"/>
            <a:ext cx="25156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Rösti de mandioca recheado na frigideira</a:t>
            </a:r>
            <a:endParaRPr lang="en-US" sz="860" dirty="0"/>
          </a:p>
        </p:txBody>
      </p:sp>
      <p:sp>
        <p:nvSpPr>
          <p:cNvPr id="63" name="Shape 61"/>
          <p:cNvSpPr/>
          <p:nvPr/>
        </p:nvSpPr>
        <p:spPr>
          <a:xfrm>
            <a:off x="3397895" y="5978112"/>
            <a:ext cx="3136106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64" name="Text 62"/>
          <p:cNvSpPr txBox="1"/>
          <p:nvPr/>
        </p:nvSpPr>
        <p:spPr>
          <a:xfrm>
            <a:off x="6678216" y="5875437"/>
            <a:ext cx="2336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780" dirty="0"/>
          </a:p>
        </p:txBody>
      </p:sp>
      <p:sp>
        <p:nvSpPr>
          <p:cNvPr id="65" name="Text 63"/>
          <p:cNvSpPr txBox="1"/>
          <p:nvPr/>
        </p:nvSpPr>
        <p:spPr>
          <a:xfrm>
            <a:off x="1025872" y="6047184"/>
            <a:ext cx="42625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Caldo aveludado de mandioca com gengibre e bacon (ou cogumelos)</a:t>
            </a:r>
            <a:endParaRPr lang="en-US" sz="860" dirty="0"/>
          </a:p>
        </p:txBody>
      </p:sp>
      <p:sp>
        <p:nvSpPr>
          <p:cNvPr id="66" name="Shape 64"/>
          <p:cNvSpPr/>
          <p:nvPr/>
        </p:nvSpPr>
        <p:spPr>
          <a:xfrm>
            <a:off x="4957614" y="6154622"/>
            <a:ext cx="1576388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67" name="Text 65"/>
          <p:cNvSpPr txBox="1"/>
          <p:nvPr/>
        </p:nvSpPr>
        <p:spPr>
          <a:xfrm>
            <a:off x="6681043" y="6051947"/>
            <a:ext cx="2308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</a:t>
            </a:r>
            <a:endParaRPr lang="en-US" sz="780" dirty="0"/>
          </a:p>
        </p:txBody>
      </p:sp>
      <p:sp>
        <p:nvSpPr>
          <p:cNvPr id="68" name="Text 66"/>
          <p:cNvSpPr txBox="1"/>
          <p:nvPr/>
        </p:nvSpPr>
        <p:spPr>
          <a:xfrm>
            <a:off x="1025872" y="6223695"/>
            <a:ext cx="27338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Biscoito de polvilho e mandioca de assadeira</a:t>
            </a:r>
            <a:endParaRPr lang="en-US" sz="860" dirty="0"/>
          </a:p>
        </p:txBody>
      </p:sp>
      <p:sp>
        <p:nvSpPr>
          <p:cNvPr id="69" name="Shape 67"/>
          <p:cNvSpPr/>
          <p:nvPr/>
        </p:nvSpPr>
        <p:spPr>
          <a:xfrm>
            <a:off x="3592711" y="6331132"/>
            <a:ext cx="2941290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70" name="Text 68"/>
          <p:cNvSpPr txBox="1"/>
          <p:nvPr/>
        </p:nvSpPr>
        <p:spPr>
          <a:xfrm>
            <a:off x="6676132" y="6228457"/>
            <a:ext cx="2357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647998" y="6500961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718989" y="6574482"/>
            <a:ext cx="2242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680" dirty="0"/>
          </a:p>
        </p:txBody>
      </p:sp>
      <p:sp>
        <p:nvSpPr>
          <p:cNvPr id="73" name="Text 71"/>
          <p:cNvSpPr txBox="1"/>
          <p:nvPr/>
        </p:nvSpPr>
        <p:spPr>
          <a:xfrm>
            <a:off x="1025872" y="6550670"/>
            <a:ext cx="6552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Cenoura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1692771" y="6667633"/>
            <a:ext cx="4841230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75" name="Text 73"/>
          <p:cNvSpPr txBox="1"/>
          <p:nvPr/>
        </p:nvSpPr>
        <p:spPr>
          <a:xfrm>
            <a:off x="6671072" y="6560195"/>
            <a:ext cx="240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</a:t>
            </a:r>
            <a:endParaRPr lang="en-US" sz="860" dirty="0"/>
          </a:p>
        </p:txBody>
      </p:sp>
      <p:sp>
        <p:nvSpPr>
          <p:cNvPr id="76" name="Text 74"/>
          <p:cNvSpPr txBox="1"/>
          <p:nvPr/>
        </p:nvSpPr>
        <p:spPr>
          <a:xfrm>
            <a:off x="1025872" y="6853684"/>
            <a:ext cx="49444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Cenouras assadas inteiras, caramelizadas no mel ou melaço com azeite e tomilho</a:t>
            </a:r>
            <a:endParaRPr lang="en-US" sz="860" dirty="0"/>
          </a:p>
        </p:txBody>
      </p:sp>
      <p:sp>
        <p:nvSpPr>
          <p:cNvPr id="77" name="Shape 75"/>
          <p:cNvSpPr/>
          <p:nvPr/>
        </p:nvSpPr>
        <p:spPr>
          <a:xfrm>
            <a:off x="5566470" y="6961119"/>
            <a:ext cx="967532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78" name="Text 76"/>
          <p:cNvSpPr txBox="1"/>
          <p:nvPr/>
        </p:nvSpPr>
        <p:spPr>
          <a:xfrm>
            <a:off x="6686699" y="6858446"/>
            <a:ext cx="2251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</a:t>
            </a:r>
            <a:endParaRPr lang="en-US" sz="780" dirty="0"/>
          </a:p>
        </p:txBody>
      </p:sp>
      <p:sp>
        <p:nvSpPr>
          <p:cNvPr id="79" name="Text 77"/>
          <p:cNvSpPr txBox="1"/>
          <p:nvPr/>
        </p:nvSpPr>
        <p:spPr>
          <a:xfrm>
            <a:off x="1025872" y="7030194"/>
            <a:ext cx="41261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Hambúrguer rústico ou bolinho de cenoura com aveia e especiarias</a:t>
            </a:r>
            <a:endParaRPr lang="en-US" sz="860" dirty="0"/>
          </a:p>
        </p:txBody>
      </p:sp>
      <p:sp>
        <p:nvSpPr>
          <p:cNvPr id="80" name="Shape 78"/>
          <p:cNvSpPr/>
          <p:nvPr/>
        </p:nvSpPr>
        <p:spPr>
          <a:xfrm>
            <a:off x="4835872" y="7137629"/>
            <a:ext cx="1698129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81" name="Text 79"/>
          <p:cNvSpPr txBox="1"/>
          <p:nvPr/>
        </p:nvSpPr>
        <p:spPr>
          <a:xfrm>
            <a:off x="6681341" y="7034957"/>
            <a:ext cx="2305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</a:t>
            </a:r>
            <a:endParaRPr lang="en-US" sz="780" dirty="0"/>
          </a:p>
        </p:txBody>
      </p:sp>
      <p:sp>
        <p:nvSpPr>
          <p:cNvPr id="82" name="Text 80"/>
          <p:cNvSpPr txBox="1"/>
          <p:nvPr/>
        </p:nvSpPr>
        <p:spPr>
          <a:xfrm>
            <a:off x="1025872" y="7206704"/>
            <a:ext cx="47165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Bolo de cenoura da vovó com técnica de chef e calda de chocolate espelhada</a:t>
            </a:r>
            <a:endParaRPr lang="en-US" sz="860" dirty="0"/>
          </a:p>
        </p:txBody>
      </p:sp>
      <p:sp>
        <p:nvSpPr>
          <p:cNvPr id="83" name="Shape 81"/>
          <p:cNvSpPr/>
          <p:nvPr/>
        </p:nvSpPr>
        <p:spPr>
          <a:xfrm>
            <a:off x="5363021" y="7314140"/>
            <a:ext cx="1170980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84" name="Text 82"/>
          <p:cNvSpPr txBox="1"/>
          <p:nvPr/>
        </p:nvSpPr>
        <p:spPr>
          <a:xfrm>
            <a:off x="6684615" y="7211467"/>
            <a:ext cx="2272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</a:t>
            </a:r>
            <a:endParaRPr lang="en-US" sz="780" dirty="0"/>
          </a:p>
        </p:txBody>
      </p:sp>
      <p:sp>
        <p:nvSpPr>
          <p:cNvPr id="85" name="Shape 83"/>
          <p:cNvSpPr/>
          <p:nvPr/>
        </p:nvSpPr>
        <p:spPr>
          <a:xfrm>
            <a:off x="647998" y="7483971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716756" y="7557492"/>
            <a:ext cx="228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680" dirty="0"/>
          </a:p>
        </p:txBody>
      </p:sp>
      <p:sp>
        <p:nvSpPr>
          <p:cNvPr id="87" name="Text 85"/>
          <p:cNvSpPr txBox="1"/>
          <p:nvPr/>
        </p:nvSpPr>
        <p:spPr>
          <a:xfrm>
            <a:off x="1025872" y="7533680"/>
            <a:ext cx="2253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Bônus: Os 10 Pulos do Mamede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3163788" y="7650640"/>
            <a:ext cx="3370213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89" name="Text 87"/>
          <p:cNvSpPr txBox="1"/>
          <p:nvPr/>
        </p:nvSpPr>
        <p:spPr>
          <a:xfrm>
            <a:off x="6649938" y="7543205"/>
            <a:ext cx="2619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</a:t>
            </a:r>
            <a:endParaRPr lang="en-US" sz="860" dirty="0"/>
          </a:p>
        </p:txBody>
      </p:sp>
      <p:sp>
        <p:nvSpPr>
          <p:cNvPr id="90" name="Shape 88"/>
          <p:cNvSpPr/>
          <p:nvPr/>
        </p:nvSpPr>
        <p:spPr>
          <a:xfrm>
            <a:off x="647998" y="7937450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717947" y="8010971"/>
            <a:ext cx="22636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680" dirty="0"/>
          </a:p>
        </p:txBody>
      </p:sp>
      <p:sp>
        <p:nvSpPr>
          <p:cNvPr id="92" name="Text 90"/>
          <p:cNvSpPr txBox="1"/>
          <p:nvPr/>
        </p:nvSpPr>
        <p:spPr>
          <a:xfrm>
            <a:off x="1025872" y="7987159"/>
            <a:ext cx="16955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seguir cozinhando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2665661" y="8104119"/>
            <a:ext cx="3868341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94" name="Text 92"/>
          <p:cNvSpPr txBox="1"/>
          <p:nvPr/>
        </p:nvSpPr>
        <p:spPr>
          <a:xfrm>
            <a:off x="6684615" y="7996684"/>
            <a:ext cx="2272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41</a:t>
            </a:r>
            <a:endParaRPr lang="en-US" sz="860" dirty="0"/>
          </a:p>
        </p:txBody>
      </p:sp>
      <p:sp>
        <p:nvSpPr>
          <p:cNvPr id="95" name="Shape 93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97" name="Text 95"/>
          <p:cNvSpPr txBox="1"/>
          <p:nvPr/>
        </p:nvSpPr>
        <p:spPr>
          <a:xfrm>
            <a:off x="6778377" y="10236845"/>
            <a:ext cx="247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6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736848"/>
            <a:ext cx="11889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CAPÍTULO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912763"/>
            <a:ext cx="3527971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spc="90" kern="0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ABÓBORA CABOTIÁ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7998" y="1960513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2115889"/>
            <a:ext cx="149318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B645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ou abóbora japonesa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7998" y="2514898"/>
            <a:ext cx="3527971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Versátil, barata e símbolo de comida afetiva. E 100% aproveitável, da casca à semente: exatamente o que pede o consumo consciente.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823966" y="396032"/>
            <a:ext cx="3311872" cy="331187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87566" y="859631"/>
            <a:ext cx="2384673" cy="2384673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8125" y="1290191"/>
            <a:ext cx="1523405" cy="15234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7998" y="3779937"/>
            <a:ext cx="1086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INGREDIENTE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647998" y="4003179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cabotiá é a abóbora mais generosa da feira. Tem polpa densa, pouca água e doçura natural, e é justamente isso que permite levá-la do nhoque ao doce de colher sem perder identidade.</a:t>
            </a:r>
            <a:endParaRPr lang="en-US" sz="990" dirty="0"/>
          </a:p>
        </p:txBody>
      </p:sp>
      <p:sp>
        <p:nvSpPr>
          <p:cNvPr id="12" name="Text 9"/>
          <p:cNvSpPr txBox="1"/>
          <p:nvPr/>
        </p:nvSpPr>
        <p:spPr>
          <a:xfrm>
            <a:off x="647998" y="4529882"/>
            <a:ext cx="6263878" cy="60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erro mais comum é tratá-la sempre do mesmo jeito: cozida na água, no refogado, como acompanhamento. Quando você assa a cabotiá, a água evapora, os açúcares caramelizam e o sabor se concentra. É outra abóbora.</a:t>
            </a:r>
            <a:endParaRPr lang="en-US" sz="990" dirty="0"/>
          </a:p>
        </p:txBody>
      </p:sp>
      <p:sp>
        <p:nvSpPr>
          <p:cNvPr id="13" name="Text 10"/>
          <p:cNvSpPr txBox="1"/>
          <p:nvPr/>
        </p:nvSpPr>
        <p:spPr>
          <a:xfrm>
            <a:off x="647998" y="5272832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tem mais: a casca é comestível e as sementes viram petisco. Da cabotiá, quase nada vai para o lixo.</a:t>
            </a:r>
            <a:endParaRPr lang="en-US" sz="990" dirty="0"/>
          </a:p>
        </p:txBody>
      </p:sp>
      <p:sp>
        <p:nvSpPr>
          <p:cNvPr id="14" name="Text 11"/>
          <p:cNvSpPr txBox="1"/>
          <p:nvPr/>
        </p:nvSpPr>
        <p:spPr>
          <a:xfrm>
            <a:off x="647998" y="5892701"/>
            <a:ext cx="16477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3 TRANSFORMAÇÕES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47998" y="6748909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7998" y="6287393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28514" y="6360914"/>
            <a:ext cx="2050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680" dirty="0"/>
          </a:p>
        </p:txBody>
      </p:sp>
      <p:sp>
        <p:nvSpPr>
          <p:cNvPr id="18" name="Text 15"/>
          <p:cNvSpPr txBox="1"/>
          <p:nvPr/>
        </p:nvSpPr>
        <p:spPr>
          <a:xfrm>
            <a:off x="1025872" y="6202561"/>
            <a:ext cx="1301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CLÁSSICO AFETIVO</a:t>
            </a:r>
            <a:endParaRPr lang="en-US" sz="640" dirty="0"/>
          </a:p>
        </p:txBody>
      </p:sp>
      <p:sp>
        <p:nvSpPr>
          <p:cNvPr id="19" name="Text 16"/>
          <p:cNvSpPr txBox="1"/>
          <p:nvPr/>
        </p:nvSpPr>
        <p:spPr>
          <a:xfrm>
            <a:off x="1025872" y="6319391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Nhoque de abóbora tostado na manteiga de garrafa e sálvia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(conforto refinado)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71666" y="6454062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1" name="Text 18"/>
          <p:cNvSpPr txBox="1"/>
          <p:nvPr/>
        </p:nvSpPr>
        <p:spPr>
          <a:xfrm>
            <a:off x="6658273" y="6346627"/>
            <a:ext cx="2536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647998" y="7410450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7998" y="6948934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19882" y="7022455"/>
            <a:ext cx="222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680" dirty="0"/>
          </a:p>
        </p:txBody>
      </p:sp>
      <p:sp>
        <p:nvSpPr>
          <p:cNvPr id="25" name="Text 22"/>
          <p:cNvSpPr txBox="1"/>
          <p:nvPr/>
        </p:nvSpPr>
        <p:spPr>
          <a:xfrm>
            <a:off x="1025872" y="6864102"/>
            <a:ext cx="8404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INUSITADO</a:t>
            </a:r>
            <a:endParaRPr lang="en-US" sz="640" dirty="0"/>
          </a:p>
        </p:txBody>
      </p:sp>
      <p:sp>
        <p:nvSpPr>
          <p:cNvPr id="26" name="Text 23"/>
          <p:cNvSpPr txBox="1"/>
          <p:nvPr/>
        </p:nvSpPr>
        <p:spPr>
          <a:xfrm>
            <a:off x="1025872" y="6980932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Hambúrguer ou bolinho cremoso assado de abóbora com especiarias e queijo coalho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(o lado salgado que ninguém espera)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71666" y="7115603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8" name="Text 25"/>
          <p:cNvSpPr txBox="1"/>
          <p:nvPr/>
        </p:nvSpPr>
        <p:spPr>
          <a:xfrm>
            <a:off x="6652915" y="7008168"/>
            <a:ext cx="2589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647998" y="8071991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7998" y="7610475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20328" y="7683996"/>
            <a:ext cx="2216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80" dirty="0"/>
          </a:p>
        </p:txBody>
      </p:sp>
      <p:sp>
        <p:nvSpPr>
          <p:cNvPr id="32" name="Text 29"/>
          <p:cNvSpPr txBox="1"/>
          <p:nvPr/>
        </p:nvSpPr>
        <p:spPr>
          <a:xfrm>
            <a:off x="1025872" y="7525643"/>
            <a:ext cx="881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LADO DOCE</a:t>
            </a:r>
            <a:endParaRPr lang="en-US" sz="640" dirty="0"/>
          </a:p>
        </p:txBody>
      </p:sp>
      <p:sp>
        <p:nvSpPr>
          <p:cNvPr id="33" name="Text 30"/>
          <p:cNvSpPr txBox="1"/>
          <p:nvPr/>
        </p:nvSpPr>
        <p:spPr>
          <a:xfrm>
            <a:off x="1025872" y="7642473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Crepúsculo: doce de abóbora cremoso de colher com coco e raspas de laranja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(uma sobremesa de memória afetiva)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471666" y="7777144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35" name="Text 32"/>
          <p:cNvSpPr txBox="1"/>
          <p:nvPr/>
        </p:nvSpPr>
        <p:spPr>
          <a:xfrm>
            <a:off x="6655743" y="7669709"/>
            <a:ext cx="2561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38" name="Text 35"/>
          <p:cNvSpPr txBox="1"/>
          <p:nvPr/>
        </p:nvSpPr>
        <p:spPr>
          <a:xfrm>
            <a:off x="6785967" y="10236845"/>
            <a:ext cx="2402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6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592931"/>
            <a:ext cx="101485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ANTES 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68846"/>
            <a:ext cx="148518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PANELA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35552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601837"/>
            <a:ext cx="449996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Escolher bem, guardar direito e cortar do jeito certo: metade do prato se resolve aqui.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13074"/>
            <a:ext cx="3041898" cy="3115121"/>
          </a:xfrm>
          <a:prstGeom prst="roundRect">
            <a:avLst>
              <a:gd name="adj" fmla="val 1067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40253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483941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520553"/>
            <a:ext cx="17408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HORA DE ESCOLHER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55456" y="295670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99456" y="2907357"/>
            <a:ext cx="2500981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Pegue na mão: ela deve parecer pesada para o tamanho. Isso indica polpa densa e pouca água.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855456" y="358357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99456" y="3534221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 firme, sem partes moles, rachaduras ou manchas úmidas.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855456" y="402544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99456" y="3976092"/>
            <a:ext cx="2500981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Cabinho seco e bem preso. Se estiver verde e úmido, ela foi colhida cedo demais.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55456" y="465230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99456" y="4602956"/>
            <a:ext cx="2500981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Comprando em pedaço: procure polpa laranja intensa e sementes bem formadas.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3869829" y="2213074"/>
            <a:ext cx="3042047" cy="3115121"/>
          </a:xfrm>
          <a:prstGeom prst="roundRect">
            <a:avLst>
              <a:gd name="adj" fmla="val 1067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059287" y="240253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696" y="2483941"/>
            <a:ext cx="197048" cy="19704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545062" y="2520553"/>
            <a:ext cx="12054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GUARDAR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4077287" y="295670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221287" y="2907357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Inteira: em local fresco, seco e arejado, fora da geladeira, por até 1 a 2 meses.</a:t>
            </a:r>
            <a:endParaRPr lang="en-US" sz="940" dirty="0"/>
          </a:p>
        </p:txBody>
      </p:sp>
      <p:sp>
        <p:nvSpPr>
          <p:cNvPr id="24" name="Shape 20"/>
          <p:cNvSpPr/>
          <p:nvPr/>
        </p:nvSpPr>
        <p:spPr>
          <a:xfrm>
            <a:off x="4077287" y="339857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221287" y="3349228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Cortada: retire as sementes, envolva em filme e guarde na geladeira por até 5 dias.</a:t>
            </a:r>
            <a:endParaRPr lang="en-US" sz="940" dirty="0"/>
          </a:p>
        </p:txBody>
      </p:sp>
      <p:sp>
        <p:nvSpPr>
          <p:cNvPr id="26" name="Shape 22"/>
          <p:cNvSpPr/>
          <p:nvPr/>
        </p:nvSpPr>
        <p:spPr>
          <a:xfrm>
            <a:off x="4077287" y="38404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221287" y="3791099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Assada ou cozida: em porções no freezer por até 3 meses.</a:t>
            </a:r>
            <a:endParaRPr lang="en-US" sz="940" dirty="0"/>
          </a:p>
        </p:txBody>
      </p:sp>
      <p:sp>
        <p:nvSpPr>
          <p:cNvPr id="28" name="Shape 24"/>
          <p:cNvSpPr/>
          <p:nvPr/>
        </p:nvSpPr>
        <p:spPr>
          <a:xfrm>
            <a:off x="647998" y="5508129"/>
            <a:ext cx="6263878" cy="2190155"/>
          </a:xfrm>
          <a:prstGeom prst="roundRect">
            <a:avLst>
              <a:gd name="adj" fmla="val 2059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37456" y="5697587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865" y="5778996"/>
            <a:ext cx="197048" cy="197048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323231" y="5815608"/>
            <a:ext cx="1793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PRÉ-PREPARO E CORTES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855456" y="625176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999381" y="6202412"/>
            <a:ext cx="50014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Estabilize primeiro: corte uma fatia fina da base para ela não rolar na tábua.</a:t>
            </a:r>
            <a:endParaRPr lang="en-US" sz="940" dirty="0"/>
          </a:p>
        </p:txBody>
      </p:sp>
      <p:sp>
        <p:nvSpPr>
          <p:cNvPr id="34" name="Shape 29"/>
          <p:cNvSpPr/>
          <p:nvPr/>
        </p:nvSpPr>
        <p:spPr>
          <a:xfrm>
            <a:off x="855456" y="650863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999456" y="6459289"/>
            <a:ext cx="572296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a faca mais pesada que você tiver e corte ao meio, de cima para baixo. Retire as sementes com uma colher.</a:t>
            </a:r>
            <a:endParaRPr lang="en-US" sz="940" dirty="0"/>
          </a:p>
        </p:txBody>
      </p:sp>
      <p:sp>
        <p:nvSpPr>
          <p:cNvPr id="36" name="Shape 31"/>
          <p:cNvSpPr/>
          <p:nvPr/>
        </p:nvSpPr>
        <p:spPr>
          <a:xfrm>
            <a:off x="855456" y="695051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999456" y="6901160"/>
            <a:ext cx="572296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Gomos com casca para assar; cubos de 2 cm para refogar e cozinhar; ralada para bolinhos e massas.</a:t>
            </a:r>
            <a:endParaRPr lang="en-US" sz="940" dirty="0"/>
          </a:p>
        </p:txBody>
      </p:sp>
      <p:sp>
        <p:nvSpPr>
          <p:cNvPr id="38" name="Shape 33"/>
          <p:cNvSpPr/>
          <p:nvPr/>
        </p:nvSpPr>
        <p:spPr>
          <a:xfrm>
            <a:off x="855456" y="739238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999381" y="7343031"/>
            <a:ext cx="62841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descascar, apoie o gomo deitado na tábua e corte a casca com a faca, de cima para baixo.</a:t>
            </a:r>
            <a:endParaRPr lang="en-US" sz="940" dirty="0"/>
          </a:p>
        </p:txBody>
      </p:sp>
      <p:sp>
        <p:nvSpPr>
          <p:cNvPr id="40" name="Shape 35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42" name="Text 37"/>
          <p:cNvSpPr txBox="1"/>
          <p:nvPr/>
        </p:nvSpPr>
        <p:spPr>
          <a:xfrm>
            <a:off x="6782544" y="10236845"/>
            <a:ext cx="2436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6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38896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1.1 · O CLÁSSICO AFETIVO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Nhoque de abóbora tostado na manteiga de garrafa e sálvia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57388"/>
            <a:ext cx="11506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conforto refinado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96282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52377"/>
            <a:ext cx="3393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1H15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505968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7535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759" y="2396282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53233" y="2352377"/>
            <a:ext cx="7361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PORÇÕES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53233" y="2505968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Text 13"/>
          <p:cNvSpPr txBox="1"/>
          <p:nvPr/>
        </p:nvSpPr>
        <p:spPr>
          <a:xfrm>
            <a:off x="647998" y="3264991"/>
            <a:ext cx="4923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MASSA</a:t>
            </a:r>
            <a:endParaRPr lang="en-US" sz="660" dirty="0"/>
          </a:p>
        </p:txBody>
      </p:sp>
      <p:sp>
        <p:nvSpPr>
          <p:cNvPr id="19" name="Shape 14"/>
          <p:cNvSpPr/>
          <p:nvPr/>
        </p:nvSpPr>
        <p:spPr>
          <a:xfrm>
            <a:off x="665998" y="349204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09998" y="3433167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800 g de abóbora cabotiá com casca (cerca de 600 g de polpa)</a:t>
            </a:r>
            <a:endParaRPr lang="en-US" sz="890" dirty="0"/>
          </a:p>
        </p:txBody>
      </p:sp>
      <p:sp>
        <p:nvSpPr>
          <p:cNvPr id="21" name="Shape 16"/>
          <p:cNvSpPr/>
          <p:nvPr/>
        </p:nvSpPr>
        <p:spPr>
          <a:xfrm>
            <a:off x="665998" y="387334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09923" y="3814465"/>
            <a:ext cx="5168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gema</a:t>
            </a:r>
            <a:endParaRPr lang="en-US" sz="890" dirty="0"/>
          </a:p>
        </p:txBody>
      </p:sp>
      <p:sp>
        <p:nvSpPr>
          <p:cNvPr id="23" name="Shape 18"/>
          <p:cNvSpPr/>
          <p:nvPr/>
        </p:nvSpPr>
        <p:spPr>
          <a:xfrm>
            <a:off x="665998" y="409092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09923" y="4032052"/>
            <a:ext cx="18420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 g de parmesão ralado fino</a:t>
            </a:r>
            <a:endParaRPr lang="en-US" sz="890" dirty="0"/>
          </a:p>
        </p:txBody>
      </p:sp>
      <p:sp>
        <p:nvSpPr>
          <p:cNvPr id="25" name="Shape 20"/>
          <p:cNvSpPr/>
          <p:nvPr/>
        </p:nvSpPr>
        <p:spPr>
          <a:xfrm>
            <a:off x="665998" y="430851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09998" y="4249638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180 a 220 g de farinha de trigo (mais um pouco para polvilhar)</a:t>
            </a:r>
            <a:endParaRPr lang="en-US" sz="890" dirty="0"/>
          </a:p>
        </p:txBody>
      </p:sp>
      <p:sp>
        <p:nvSpPr>
          <p:cNvPr id="27" name="Shape 22"/>
          <p:cNvSpPr/>
          <p:nvPr/>
        </p:nvSpPr>
        <p:spPr>
          <a:xfrm>
            <a:off x="665998" y="468981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809923" y="4630936"/>
            <a:ext cx="21199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 e noz-moscada ralada na hora</a:t>
            </a:r>
            <a:endParaRPr lang="en-US" sz="890" dirty="0"/>
          </a:p>
        </p:txBody>
      </p:sp>
      <p:sp>
        <p:nvSpPr>
          <p:cNvPr id="29" name="Text 24"/>
          <p:cNvSpPr txBox="1"/>
          <p:nvPr/>
        </p:nvSpPr>
        <p:spPr>
          <a:xfrm>
            <a:off x="647998" y="4893022"/>
            <a:ext cx="10362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FINALIZAR</a:t>
            </a:r>
            <a:endParaRPr lang="en-US" sz="660" dirty="0"/>
          </a:p>
        </p:txBody>
      </p:sp>
      <p:sp>
        <p:nvSpPr>
          <p:cNvPr id="30" name="Shape 25"/>
          <p:cNvSpPr/>
          <p:nvPr/>
        </p:nvSpPr>
        <p:spPr>
          <a:xfrm>
            <a:off x="665998" y="512007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98" y="5061198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colheres (sopa) de manteiga de garrafa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665998" y="550137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9923" y="5442496"/>
            <a:ext cx="15131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folhas de sálvia fresca</a:t>
            </a:r>
            <a:endParaRPr lang="en-US" sz="890" dirty="0"/>
          </a:p>
        </p:txBody>
      </p:sp>
      <p:sp>
        <p:nvSpPr>
          <p:cNvPr id="34" name="Shape 29"/>
          <p:cNvSpPr/>
          <p:nvPr/>
        </p:nvSpPr>
        <p:spPr>
          <a:xfrm>
            <a:off x="665998" y="571895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09998" y="5660082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Pimenta-do-reino e parmesão a gosto</a:t>
            </a:r>
            <a:endParaRPr lang="en-US" sz="890" dirty="0"/>
          </a:p>
        </p:txBody>
      </p:sp>
      <p:sp>
        <p:nvSpPr>
          <p:cNvPr id="36" name="Shape 31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8" name="Shape 33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40" name="Text 35"/>
          <p:cNvSpPr txBox="1"/>
          <p:nvPr/>
        </p:nvSpPr>
        <p:spPr>
          <a:xfrm>
            <a:off x="3419773" y="3284041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Corte a abóbora em gomos, sem tirar a casca, e asse a 200 °C por 35 a 40 minutos, até ficar bem macia. </a:t>
            </a:r>
            <a:pPr algn="l" indent="0" marL="0">
              <a:lnSpc>
                <a:spcPts val="1440"/>
              </a:lnSpc>
              <a:buNone/>
            </a:pPr>
            <a:r>
              <a:rPr lang="en-US" sz="93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Assar, e não cozinhar na água</a:t>
            </a:r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é o que garante um nhoque leve.</a:t>
            </a:r>
            <a:endParaRPr lang="en-US" sz="930" dirty="0"/>
          </a:p>
        </p:txBody>
      </p:sp>
      <p:sp>
        <p:nvSpPr>
          <p:cNvPr id="41" name="Shape 36"/>
          <p:cNvSpPr/>
          <p:nvPr/>
        </p:nvSpPr>
        <p:spPr>
          <a:xfrm>
            <a:off x="3131939" y="391834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3198614" y="3960614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3" name="Text 38"/>
          <p:cNvSpPr txBox="1"/>
          <p:nvPr/>
        </p:nvSpPr>
        <p:spPr>
          <a:xfrm>
            <a:off x="3419773" y="3926681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Raspe a polpa da casca e passe pelo espremedor (ou amasse muito bem com um garfo). Espalhe o purê numa travessa e deixe esfriar descoberto, para o vapor ir embora.</a:t>
            </a:r>
            <a:endParaRPr lang="en-US" sz="930" dirty="0"/>
          </a:p>
        </p:txBody>
      </p:sp>
      <p:sp>
        <p:nvSpPr>
          <p:cNvPr id="44" name="Shape 39"/>
          <p:cNvSpPr/>
          <p:nvPr/>
        </p:nvSpPr>
        <p:spPr>
          <a:xfrm>
            <a:off x="3131939" y="456098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3198614" y="4603254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6" name="Text 41"/>
          <p:cNvSpPr txBox="1"/>
          <p:nvPr/>
        </p:nvSpPr>
        <p:spPr>
          <a:xfrm>
            <a:off x="3419773" y="4569321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Junte a gema, o parmesão, sal e noz-moscada. Acrescente a farinha aos poucos, misturando com as mãos só até a massa ficar macia e soltar dos dedos. Ela pode continuar levemente úmida.</a:t>
            </a:r>
            <a:endParaRPr lang="en-US" sz="930" dirty="0"/>
          </a:p>
        </p:txBody>
      </p:sp>
      <p:sp>
        <p:nvSpPr>
          <p:cNvPr id="47" name="Shape 42"/>
          <p:cNvSpPr/>
          <p:nvPr/>
        </p:nvSpPr>
        <p:spPr>
          <a:xfrm>
            <a:off x="3131939" y="5386685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3194745" y="5428952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9" name="Text 44"/>
          <p:cNvSpPr txBox="1"/>
          <p:nvPr/>
        </p:nvSpPr>
        <p:spPr>
          <a:xfrm>
            <a:off x="3419773" y="5395020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Faça um teste: modele uma bolinha e cozinhe em água fervente. Se desmanchar, acrescente mais 1 ou 2 colheres de farinha.</a:t>
            </a:r>
            <a:endParaRPr lang="en-US" sz="930" dirty="0"/>
          </a:p>
        </p:txBody>
      </p:sp>
      <p:sp>
        <p:nvSpPr>
          <p:cNvPr id="50" name="Shape 45"/>
          <p:cNvSpPr/>
          <p:nvPr/>
        </p:nvSpPr>
        <p:spPr>
          <a:xfrm>
            <a:off x="3131939" y="6029325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3198465" y="6071592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2" name="Text 47"/>
          <p:cNvSpPr txBox="1"/>
          <p:nvPr/>
        </p:nvSpPr>
        <p:spPr>
          <a:xfrm>
            <a:off x="3419773" y="6037659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Divida a massa, faça rolinhos de 2 cm de espessura sobre a bancada enfarinhada e corte em pedaços de 2 cm.</a:t>
            </a:r>
            <a:endParaRPr lang="en-US" sz="930" dirty="0"/>
          </a:p>
        </p:txBody>
      </p:sp>
      <p:sp>
        <p:nvSpPr>
          <p:cNvPr id="53" name="Shape 48"/>
          <p:cNvSpPr/>
          <p:nvPr/>
        </p:nvSpPr>
        <p:spPr>
          <a:xfrm>
            <a:off x="3131939" y="6488906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4" name="Text 49"/>
          <p:cNvSpPr txBox="1"/>
          <p:nvPr/>
        </p:nvSpPr>
        <p:spPr>
          <a:xfrm>
            <a:off x="3196828" y="6531173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5" name="Text 50"/>
          <p:cNvSpPr txBox="1"/>
          <p:nvPr/>
        </p:nvSpPr>
        <p:spPr>
          <a:xfrm>
            <a:off x="3419773" y="6497241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Cozinhe em água fervente com sal, em levas. Quando os nhoques subirem, conte 30 segundos e retire com escumadeira.</a:t>
            </a:r>
            <a:endParaRPr lang="en-US" sz="930" dirty="0"/>
          </a:p>
        </p:txBody>
      </p:sp>
      <p:sp>
        <p:nvSpPr>
          <p:cNvPr id="56" name="Shape 51"/>
          <p:cNvSpPr/>
          <p:nvPr/>
        </p:nvSpPr>
        <p:spPr>
          <a:xfrm>
            <a:off x="3131939" y="7131546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7" name="Text 52"/>
          <p:cNvSpPr txBox="1"/>
          <p:nvPr/>
        </p:nvSpPr>
        <p:spPr>
          <a:xfrm>
            <a:off x="3197572" y="7173813"/>
            <a:ext cx="1628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630" dirty="0"/>
          </a:p>
        </p:txBody>
      </p:sp>
      <p:sp>
        <p:nvSpPr>
          <p:cNvPr id="58" name="Text 53"/>
          <p:cNvSpPr txBox="1"/>
          <p:nvPr/>
        </p:nvSpPr>
        <p:spPr>
          <a:xfrm>
            <a:off x="3419773" y="7139880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Numa frigideira grande, aqueça a manteiga de garrafa e frite as folhas de sálvia até ficarem crocantes. Junte os nhoques escorridos e deixe dourar 2 minutos sem mexer. Vire, finalize com pimenta e parmesão e sirva na hora.</a:t>
            </a:r>
            <a:endParaRPr lang="en-US" sz="930" dirty="0"/>
          </a:p>
        </p:txBody>
      </p:sp>
      <p:sp>
        <p:nvSpPr>
          <p:cNvPr id="59" name="Shape 54"/>
          <p:cNvSpPr/>
          <p:nvPr/>
        </p:nvSpPr>
        <p:spPr>
          <a:xfrm>
            <a:off x="647998" y="9054703"/>
            <a:ext cx="6263878" cy="845195"/>
          </a:xfrm>
          <a:prstGeom prst="roundRect">
            <a:avLst>
              <a:gd name="adj" fmla="val 13824"/>
            </a:avLst>
          </a:prstGeom>
          <a:solidFill>
            <a:srgbClr val="EEE6D8"/>
          </a:solidFill>
          <a:ln/>
        </p:spPr>
      </p:sp>
      <p:sp>
        <p:nvSpPr>
          <p:cNvPr id="60" name="Shape 55"/>
          <p:cNvSpPr/>
          <p:nvPr/>
        </p:nvSpPr>
        <p:spPr>
          <a:xfrm>
            <a:off x="827931" y="921662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6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98037"/>
            <a:ext cx="197048" cy="197048"/>
          </a:xfrm>
          <a:prstGeom prst="rect">
            <a:avLst/>
          </a:prstGeom>
        </p:spPr>
      </p:pic>
      <p:sp>
        <p:nvSpPr>
          <p:cNvPr id="62" name="Text 56"/>
          <p:cNvSpPr txBox="1"/>
          <p:nvPr/>
        </p:nvSpPr>
        <p:spPr>
          <a:xfrm>
            <a:off x="1331714" y="921662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63" name="Text 57"/>
          <p:cNvSpPr txBox="1"/>
          <p:nvPr/>
        </p:nvSpPr>
        <p:spPr>
          <a:xfrm>
            <a:off x="1331714" y="9366796"/>
            <a:ext cx="540022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Os nhoques podem ser congelados crus, espalhados numa assadeira enfarinhada. Depois de firmes, passe para um saco. Cozinhe direto do congelador, sem descongelar.</a:t>
            </a:r>
            <a:endParaRPr lang="en-US" sz="1000" dirty="0"/>
          </a:p>
        </p:txBody>
      </p:sp>
      <p:sp>
        <p:nvSpPr>
          <p:cNvPr id="64" name="Shape 58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5" name="Text 59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6" name="Text 60"/>
          <p:cNvSpPr txBox="1"/>
          <p:nvPr/>
        </p:nvSpPr>
        <p:spPr>
          <a:xfrm>
            <a:off x="6784479" y="10236845"/>
            <a:ext cx="2416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6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18634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1.2 · O INUSITADO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1507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Hambúrguer ou bolinho cremoso assado de abóbora com especiarias e queijo coalho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2316956"/>
            <a:ext cx="22991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lado salgado que ninguém espera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2710309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773710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692450"/>
            <a:ext cx="14089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1H (MAIS 30 MIN DE GELADEIRA)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921050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2722811" y="2710309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211" y="2773710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100685" y="2692450"/>
            <a:ext cx="15792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BOLINHOS OU 6 HAMBÚRGUERES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3100685" y="2921050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329434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3124200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Shape 13"/>
          <p:cNvSpPr/>
          <p:nvPr/>
        </p:nvSpPr>
        <p:spPr>
          <a:xfrm>
            <a:off x="665998" y="350573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98" y="3446859"/>
            <a:ext cx="1997942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 g de abóbora cabotiá assada e amassada (veja o passo 1 do nhoque)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405074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98" y="3991868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 g de queijo coalho em cubinhos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443204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23" y="4373166"/>
            <a:ext cx="3842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ovo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64962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98" y="4590752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colheres (sopa) de farinha de rosca (ou de aveia em flocos finos)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503092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23" y="4972050"/>
            <a:ext cx="18193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½ cebola picada bem miúda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524851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23" y="5189637"/>
            <a:ext cx="14180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dente de alho picado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546609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23" y="5407223"/>
            <a:ext cx="20604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cominho em pó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665998" y="568368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9923" y="5624810"/>
            <a:ext cx="22182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páprica defumada</a:t>
            </a:r>
            <a:endParaRPr lang="en-US" sz="890" dirty="0"/>
          </a:p>
        </p:txBody>
      </p:sp>
      <p:sp>
        <p:nvSpPr>
          <p:cNvPr id="34" name="Shape 29"/>
          <p:cNvSpPr/>
          <p:nvPr/>
        </p:nvSpPr>
        <p:spPr>
          <a:xfrm>
            <a:off x="665998" y="590127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09998" y="5842397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colheres (sopa) de cheiro-verde picado</a:t>
            </a:r>
            <a:endParaRPr lang="en-US" sz="890" dirty="0"/>
          </a:p>
        </p:txBody>
      </p:sp>
      <p:sp>
        <p:nvSpPr>
          <p:cNvPr id="36" name="Shape 31"/>
          <p:cNvSpPr/>
          <p:nvPr/>
        </p:nvSpPr>
        <p:spPr>
          <a:xfrm>
            <a:off x="665998" y="628257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809923" y="6223695"/>
            <a:ext cx="18904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Sal, pimenta-do-reino e azeite</a:t>
            </a:r>
            <a:endParaRPr lang="en-US" sz="890" dirty="0"/>
          </a:p>
        </p:txBody>
      </p:sp>
      <p:sp>
        <p:nvSpPr>
          <p:cNvPr id="38" name="Shape 33"/>
          <p:cNvSpPr/>
          <p:nvPr/>
        </p:nvSpPr>
        <p:spPr>
          <a:xfrm>
            <a:off x="3131939" y="3329434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3131939" y="3124200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40" name="Shape 35"/>
          <p:cNvSpPr/>
          <p:nvPr/>
        </p:nvSpPr>
        <p:spPr>
          <a:xfrm>
            <a:off x="3131939" y="344805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3206651" y="3490317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42" name="Text 37"/>
          <p:cNvSpPr txBox="1"/>
          <p:nvPr/>
        </p:nvSpPr>
        <p:spPr>
          <a:xfrm>
            <a:off x="3419773" y="3456384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Refogue a cebola e o alho num fio de azeite até ficarem macios. Junte o cominho e a páprica e mexa por 30 segundos, só para despertar o aroma das especiarias.</a:t>
            </a:r>
            <a:endParaRPr lang="en-US" sz="930" dirty="0"/>
          </a:p>
        </p:txBody>
      </p:sp>
      <p:sp>
        <p:nvSpPr>
          <p:cNvPr id="43" name="Shape 38"/>
          <p:cNvSpPr/>
          <p:nvPr/>
        </p:nvSpPr>
        <p:spPr>
          <a:xfrm>
            <a:off x="3131939" y="409069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3198614" y="4132957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5" name="Text 40"/>
          <p:cNvSpPr txBox="1"/>
          <p:nvPr/>
        </p:nvSpPr>
        <p:spPr>
          <a:xfrm>
            <a:off x="3419773" y="4099024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Numa tigela, misture o purê de abóbora, o refogado, o ovo, a farinha de rosca e o cheiro-verde. Tempere com sal e pimenta. Por último, incorpore o queijo coalho.</a:t>
            </a:r>
            <a:endParaRPr lang="en-US" sz="930" dirty="0"/>
          </a:p>
        </p:txBody>
      </p:sp>
      <p:sp>
        <p:nvSpPr>
          <p:cNvPr id="46" name="Shape 41"/>
          <p:cNvSpPr/>
          <p:nvPr/>
        </p:nvSpPr>
        <p:spPr>
          <a:xfrm>
            <a:off x="3131939" y="473333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3198614" y="4775597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8" name="Text 43"/>
          <p:cNvSpPr txBox="1"/>
          <p:nvPr/>
        </p:nvSpPr>
        <p:spPr>
          <a:xfrm>
            <a:off x="3419773" y="4741664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Cubra e leve à geladeira por 30 minutos. A massa firma e fica muito mais fácil de modelar.</a:t>
            </a:r>
            <a:endParaRPr lang="en-US" sz="930" dirty="0"/>
          </a:p>
        </p:txBody>
      </p:sp>
      <p:sp>
        <p:nvSpPr>
          <p:cNvPr id="49" name="Shape 44"/>
          <p:cNvSpPr/>
          <p:nvPr/>
        </p:nvSpPr>
        <p:spPr>
          <a:xfrm>
            <a:off x="3131939" y="519291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3194745" y="5235178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51" name="Text 46"/>
          <p:cNvSpPr txBox="1"/>
          <p:nvPr/>
        </p:nvSpPr>
        <p:spPr>
          <a:xfrm>
            <a:off x="3419773" y="5201245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 as mãos untadas, modele bolinhos ou discos de hambúrguer. Disponha numa assadeira com papel-manteiga e pincele azeite por cima.</a:t>
            </a:r>
            <a:endParaRPr lang="en-US" sz="930" dirty="0"/>
          </a:p>
        </p:txBody>
      </p:sp>
      <p:sp>
        <p:nvSpPr>
          <p:cNvPr id="52" name="Shape 47"/>
          <p:cNvSpPr/>
          <p:nvPr/>
        </p:nvSpPr>
        <p:spPr>
          <a:xfrm>
            <a:off x="3131939" y="583555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3198465" y="5877818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4" name="Text 49"/>
          <p:cNvSpPr txBox="1"/>
          <p:nvPr/>
        </p:nvSpPr>
        <p:spPr>
          <a:xfrm>
            <a:off x="3419773" y="5843885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 a 200 °C por 25 a 30 minutos, virando na metade do tempo, até dourar. Para hambúrgueres, também dá para dourar numa frigideira bem quente, 4 minutos de cada lado.</a:t>
            </a:r>
            <a:endParaRPr lang="en-US" sz="930" dirty="0"/>
          </a:p>
        </p:txBody>
      </p:sp>
      <p:sp>
        <p:nvSpPr>
          <p:cNvPr id="55" name="Shape 50"/>
          <p:cNvSpPr/>
          <p:nvPr/>
        </p:nvSpPr>
        <p:spPr>
          <a:xfrm>
            <a:off x="647998" y="9054703"/>
            <a:ext cx="6263878" cy="845195"/>
          </a:xfrm>
          <a:prstGeom prst="roundRect">
            <a:avLst>
              <a:gd name="adj" fmla="val 13824"/>
            </a:avLst>
          </a:prstGeom>
          <a:solidFill>
            <a:srgbClr val="EEE6D8"/>
          </a:solidFill>
          <a:ln/>
        </p:spPr>
      </p:sp>
      <p:sp>
        <p:nvSpPr>
          <p:cNvPr id="56" name="Shape 51"/>
          <p:cNvSpPr/>
          <p:nvPr/>
        </p:nvSpPr>
        <p:spPr>
          <a:xfrm>
            <a:off x="827931" y="921662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98037"/>
            <a:ext cx="197048" cy="197048"/>
          </a:xfrm>
          <a:prstGeom prst="rect">
            <a:avLst/>
          </a:prstGeom>
        </p:spPr>
      </p:pic>
      <p:sp>
        <p:nvSpPr>
          <p:cNvPr id="58" name="Text 52"/>
          <p:cNvSpPr txBox="1"/>
          <p:nvPr/>
        </p:nvSpPr>
        <p:spPr>
          <a:xfrm>
            <a:off x="1331714" y="921662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59" name="Text 53"/>
          <p:cNvSpPr txBox="1"/>
          <p:nvPr/>
        </p:nvSpPr>
        <p:spPr>
          <a:xfrm>
            <a:off x="1331714" y="9366796"/>
            <a:ext cx="540022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queijo coalho derrete só em parte e cria um coração cremoso, com pontos tostados por fora. Sirva com um molho de iogurte, limão e hortelã.</a:t>
            </a:r>
            <a:endParaRPr lang="en-US" sz="1000" dirty="0"/>
          </a:p>
        </p:txBody>
      </p:sp>
      <p:sp>
        <p:nvSpPr>
          <p:cNvPr id="60" name="Shape 54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1" name="Text 55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2" name="Text 56"/>
          <p:cNvSpPr txBox="1"/>
          <p:nvPr/>
        </p:nvSpPr>
        <p:spPr>
          <a:xfrm>
            <a:off x="6780461" y="10236845"/>
            <a:ext cx="2457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6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19130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1.3 · O LADO DOCE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Crepúsculo: doce de abóbora cremoso de colher com coco e raspas de laranja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57388"/>
            <a:ext cx="23429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uma sobremesa de memória afetiva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96282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52377"/>
            <a:ext cx="347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1H10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505968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7535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759" y="2396282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53233" y="2352377"/>
            <a:ext cx="9145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CERCA DE 1 KG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53233" y="2505968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Shape 13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98" y="327451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kg de polpa de abóbora cabotiá em cubos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371468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23" y="3655814"/>
            <a:ext cx="10203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 g de açúcar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393227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23" y="3873401"/>
            <a:ext cx="10806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½ xícara de água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14986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23" y="4090987"/>
            <a:ext cx="14651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 ml de leite de coco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43674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23" y="4308574"/>
            <a:ext cx="12298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 g de coco ralado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458503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23" y="4526161"/>
            <a:ext cx="2186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pau de canela e 3 cravos-da-índia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480262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23" y="4743748"/>
            <a:ext cx="11801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Raspas de 1 laranja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665998" y="502020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9923" y="4961334"/>
            <a:ext cx="9004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pitada de sal</a:t>
            </a:r>
            <a:endParaRPr lang="en-US" sz="890" dirty="0"/>
          </a:p>
        </p:txBody>
      </p:sp>
      <p:sp>
        <p:nvSpPr>
          <p:cNvPr id="34" name="Shape 29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6" name="Shape 31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38" name="Text 33"/>
          <p:cNvSpPr txBox="1"/>
          <p:nvPr/>
        </p:nvSpPr>
        <p:spPr>
          <a:xfrm>
            <a:off x="3419773" y="3284041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Numa panela de fundo grosso, cozinhe a abóbora com a água, tampada, em fogo médio, até ficar bem macia (cerca de 15 minutos).</a:t>
            </a:r>
            <a:endParaRPr lang="en-US" sz="930" dirty="0"/>
          </a:p>
        </p:txBody>
      </p:sp>
      <p:sp>
        <p:nvSpPr>
          <p:cNvPr id="39" name="Shape 34"/>
          <p:cNvSpPr/>
          <p:nvPr/>
        </p:nvSpPr>
        <p:spPr>
          <a:xfrm>
            <a:off x="3131939" y="391834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3198614" y="3960614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1" name="Text 36"/>
          <p:cNvSpPr txBox="1"/>
          <p:nvPr/>
        </p:nvSpPr>
        <p:spPr>
          <a:xfrm>
            <a:off x="3419773" y="392668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Amasse a abóbora na própria panela. Junte o açúcar, a canela e os cravos.</a:t>
            </a:r>
            <a:endParaRPr lang="en-US" sz="930" dirty="0"/>
          </a:p>
        </p:txBody>
      </p:sp>
      <p:sp>
        <p:nvSpPr>
          <p:cNvPr id="42" name="Shape 37"/>
          <p:cNvSpPr/>
          <p:nvPr/>
        </p:nvSpPr>
        <p:spPr>
          <a:xfrm>
            <a:off x="3131939" y="437792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3198614" y="442019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4" name="Text 39"/>
          <p:cNvSpPr txBox="1"/>
          <p:nvPr/>
        </p:nvSpPr>
        <p:spPr>
          <a:xfrm>
            <a:off x="3419773" y="4386263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Cozinhe em fogo baixo, mexendo com frequência, até o doce começar a desgrudar do fundo da panela, por 30 a 40 minutos. Cuidado: ele espirra. Use uma colher de cabo longo.</a:t>
            </a:r>
            <a:endParaRPr lang="en-US" sz="930" dirty="0"/>
          </a:p>
        </p:txBody>
      </p:sp>
      <p:sp>
        <p:nvSpPr>
          <p:cNvPr id="45" name="Shape 40"/>
          <p:cNvSpPr/>
          <p:nvPr/>
        </p:nvSpPr>
        <p:spPr>
          <a:xfrm>
            <a:off x="3131939" y="520362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3194745" y="5245894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7" name="Text 42"/>
          <p:cNvSpPr txBox="1"/>
          <p:nvPr/>
        </p:nvSpPr>
        <p:spPr>
          <a:xfrm>
            <a:off x="3419773" y="521196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Acrescente o leite de coco e o coco ralado e cozinhe por mais 10 minutos, mexendo.</a:t>
            </a:r>
            <a:endParaRPr lang="en-US" sz="930" dirty="0"/>
          </a:p>
        </p:txBody>
      </p:sp>
      <p:sp>
        <p:nvSpPr>
          <p:cNvPr id="48" name="Shape 43"/>
          <p:cNvSpPr/>
          <p:nvPr/>
        </p:nvSpPr>
        <p:spPr>
          <a:xfrm>
            <a:off x="3131939" y="566320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3198465" y="5705475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0" name="Text 45"/>
          <p:cNvSpPr txBox="1"/>
          <p:nvPr/>
        </p:nvSpPr>
        <p:spPr>
          <a:xfrm>
            <a:off x="3419773" y="5671542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Desligue o fogo, retire a canela e os cravos e só então junte as raspas de laranja e a pitada de sal.</a:t>
            </a:r>
            <a:endParaRPr lang="en-US" sz="930" dirty="0"/>
          </a:p>
        </p:txBody>
      </p:sp>
      <p:sp>
        <p:nvSpPr>
          <p:cNvPr id="51" name="Shape 46"/>
          <p:cNvSpPr/>
          <p:nvPr/>
        </p:nvSpPr>
        <p:spPr>
          <a:xfrm>
            <a:off x="3131939" y="6122789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2" name="Text 47"/>
          <p:cNvSpPr txBox="1"/>
          <p:nvPr/>
        </p:nvSpPr>
        <p:spPr>
          <a:xfrm>
            <a:off x="3196828" y="6165056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3" name="Text 48"/>
          <p:cNvSpPr txBox="1"/>
          <p:nvPr/>
        </p:nvSpPr>
        <p:spPr>
          <a:xfrm>
            <a:off x="3419773" y="6131123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Ponto certo: ao passar a colher no fundo, o doce abre um caminho que demora a se fechar. Lembre que ele engrossa bastante ao esfriar.</a:t>
            </a:r>
            <a:endParaRPr lang="en-US" sz="930" dirty="0"/>
          </a:p>
        </p:txBody>
      </p:sp>
      <p:sp>
        <p:nvSpPr>
          <p:cNvPr id="54" name="Shape 49"/>
          <p:cNvSpPr/>
          <p:nvPr/>
        </p:nvSpPr>
        <p:spPr>
          <a:xfrm>
            <a:off x="647998" y="9054703"/>
            <a:ext cx="6263878" cy="845195"/>
          </a:xfrm>
          <a:prstGeom prst="roundRect">
            <a:avLst>
              <a:gd name="adj" fmla="val 13824"/>
            </a:avLst>
          </a:prstGeom>
          <a:solidFill>
            <a:srgbClr val="EEE6D8"/>
          </a:solidFill>
          <a:ln/>
        </p:spPr>
      </p:sp>
      <p:sp>
        <p:nvSpPr>
          <p:cNvPr id="55" name="Shape 50"/>
          <p:cNvSpPr/>
          <p:nvPr/>
        </p:nvSpPr>
        <p:spPr>
          <a:xfrm>
            <a:off x="827931" y="921662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98037"/>
            <a:ext cx="197048" cy="197048"/>
          </a:xfrm>
          <a:prstGeom prst="rect">
            <a:avLst/>
          </a:prstGeom>
        </p:spPr>
      </p:pic>
      <p:sp>
        <p:nvSpPr>
          <p:cNvPr id="57" name="Text 51"/>
          <p:cNvSpPr txBox="1"/>
          <p:nvPr/>
        </p:nvSpPr>
        <p:spPr>
          <a:xfrm>
            <a:off x="1331714" y="921662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58" name="Text 52"/>
          <p:cNvSpPr txBox="1"/>
          <p:nvPr/>
        </p:nvSpPr>
        <p:spPr>
          <a:xfrm>
            <a:off x="1331714" y="9366796"/>
            <a:ext cx="540022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Raspas de cítricos vão sempre no final, com o fogo desligado: o calor prolongado evapora os óleos aromáticos da casca. A pitada de sal não salga, ela faz o doce parecer mais doce e menos enjoativo.</a:t>
            </a:r>
            <a:endParaRPr lang="en-US" sz="1000" dirty="0"/>
          </a:p>
        </p:txBody>
      </p:sp>
      <p:sp>
        <p:nvSpPr>
          <p:cNvPr id="59" name="Shape 53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1" name="Text 55"/>
          <p:cNvSpPr txBox="1"/>
          <p:nvPr/>
        </p:nvSpPr>
        <p:spPr>
          <a:xfrm>
            <a:off x="6782544" y="10236845"/>
            <a:ext cx="2436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6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592931"/>
            <a:ext cx="8050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PULO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68846"/>
            <a:ext cx="174588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 CHEF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35552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537395"/>
            <a:ext cx="347660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Nhoque de abóbora que vira chiclete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7998" y="1974503"/>
            <a:ext cx="2703909" cy="2983111"/>
          </a:xfrm>
          <a:prstGeom prst="roundRect">
            <a:avLst>
              <a:gd name="adj" fmla="val 135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163961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C255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245370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281982"/>
            <a:ext cx="615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ERRO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37456" y="2668786"/>
            <a:ext cx="2324993" cy="1307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Cozinhar a abóbora na água. Ela absorve líquido, a massa fica mole e a única saída parece ser jogar mais e mais farinha. O resultado é um nhoque pesado, borrachudo e com gosto de farinha, em vez de gosto de abóbora.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3531840" y="1974503"/>
            <a:ext cx="3380036" cy="2983111"/>
          </a:xfrm>
          <a:prstGeom prst="roundRect">
            <a:avLst>
              <a:gd name="adj" fmla="val 1110"/>
            </a:avLst>
          </a:prstGeom>
          <a:solidFill>
            <a:srgbClr val="EEE6D8"/>
          </a:solidFill>
          <a:ln/>
        </p:spPr>
      </p:sp>
      <p:sp>
        <p:nvSpPr>
          <p:cNvPr id="12" name="Shape 9"/>
          <p:cNvSpPr/>
          <p:nvPr/>
        </p:nvSpPr>
        <p:spPr>
          <a:xfrm>
            <a:off x="3711773" y="2154436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182" y="2235845"/>
            <a:ext cx="197048" cy="197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97548" y="2272457"/>
            <a:ext cx="8103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TÉCNICA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3711773" y="2640211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6" name="Text 12"/>
          <p:cNvSpPr txBox="1"/>
          <p:nvPr/>
        </p:nvSpPr>
        <p:spPr>
          <a:xfrm>
            <a:off x="3873774" y="2659261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abóbora em vez de cozinhar: a água evapora e o sabor concentra.</a:t>
            </a:r>
            <a:endParaRPr lang="en-US" sz="940" dirty="0"/>
          </a:p>
        </p:txBody>
      </p:sp>
      <p:sp>
        <p:nvSpPr>
          <p:cNvPr id="17" name="Text 13"/>
          <p:cNvSpPr txBox="1"/>
          <p:nvPr/>
        </p:nvSpPr>
        <p:spPr>
          <a:xfrm>
            <a:off x="3711773" y="3082082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8" name="Text 14"/>
          <p:cNvSpPr txBox="1"/>
          <p:nvPr/>
        </p:nvSpPr>
        <p:spPr>
          <a:xfrm>
            <a:off x="3873774" y="3101132"/>
            <a:ext cx="2858169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Deixe o vapor sair: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espalhe o purê numa travessa e espere amornar antes de juntar a farinha.</a:t>
            </a:r>
            <a:endParaRPr lang="en-US" sz="940" dirty="0"/>
          </a:p>
        </p:txBody>
      </p:sp>
      <p:sp>
        <p:nvSpPr>
          <p:cNvPr id="19" name="Text 15"/>
          <p:cNvSpPr txBox="1"/>
          <p:nvPr/>
        </p:nvSpPr>
        <p:spPr>
          <a:xfrm>
            <a:off x="3711773" y="3708946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0" name="Text 16"/>
          <p:cNvSpPr txBox="1"/>
          <p:nvPr/>
        </p:nvSpPr>
        <p:spPr>
          <a:xfrm>
            <a:off x="3873774" y="3727996"/>
            <a:ext cx="2858169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Farinha aos poucos: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pare assim que a massa deixar de grudar. Massa de nhoque é úmida mesmo.</a:t>
            </a:r>
            <a:endParaRPr lang="en-US" sz="940" dirty="0"/>
          </a:p>
        </p:txBody>
      </p:sp>
      <p:sp>
        <p:nvSpPr>
          <p:cNvPr id="21" name="Text 17"/>
          <p:cNvSpPr txBox="1"/>
          <p:nvPr/>
        </p:nvSpPr>
        <p:spPr>
          <a:xfrm>
            <a:off x="3711773" y="4335810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2" name="Text 18"/>
          <p:cNvSpPr txBox="1"/>
          <p:nvPr/>
        </p:nvSpPr>
        <p:spPr>
          <a:xfrm>
            <a:off x="3873774" y="4354860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sove: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misture só o necessário. Quanto mais você trabalha a massa, mais elástica ela fica.</a:t>
            </a:r>
            <a:endParaRPr lang="en-US" sz="940" dirty="0"/>
          </a:p>
        </p:txBody>
      </p:sp>
      <p:sp>
        <p:nvSpPr>
          <p:cNvPr id="23" name="Text 19"/>
          <p:cNvSpPr txBox="1"/>
          <p:nvPr/>
        </p:nvSpPr>
        <p:spPr>
          <a:xfrm>
            <a:off x="647998" y="5262563"/>
            <a:ext cx="95622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NÃO TEM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47998" y="5448002"/>
            <a:ext cx="84995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spc="63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ISSO?</a:t>
            </a:r>
            <a:endParaRPr lang="en-US" sz="2100" dirty="0"/>
          </a:p>
        </p:txBody>
      </p:sp>
      <p:sp>
        <p:nvSpPr>
          <p:cNvPr id="25" name="Shape 21"/>
          <p:cNvSpPr/>
          <p:nvPr/>
        </p:nvSpPr>
        <p:spPr>
          <a:xfrm>
            <a:off x="647998" y="5941368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26" name="Shape 22"/>
          <p:cNvSpPr/>
          <p:nvPr/>
        </p:nvSpPr>
        <p:spPr>
          <a:xfrm>
            <a:off x="647998" y="6168628"/>
            <a:ext cx="1655862" cy="291703"/>
          </a:xfrm>
          <a:prstGeom prst="roundRect">
            <a:avLst>
              <a:gd name="adj" fmla="val 77373"/>
            </a:avLst>
          </a:prstGeom>
          <a:solidFill>
            <a:srgbClr val="4E5B38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91914" y="6262092"/>
            <a:ext cx="996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NÃO TIVER…</a:t>
            </a:r>
            <a:endParaRPr lang="en-US" sz="680" dirty="0"/>
          </a:p>
        </p:txBody>
      </p:sp>
      <p:sp>
        <p:nvSpPr>
          <p:cNvPr id="28" name="Shape 24"/>
          <p:cNvSpPr/>
          <p:nvPr/>
        </p:nvSpPr>
        <p:spPr>
          <a:xfrm>
            <a:off x="2303859" y="6168628"/>
            <a:ext cx="4608016" cy="291703"/>
          </a:xfrm>
          <a:prstGeom prst="rect">
            <a:avLst/>
          </a:prstGeom>
          <a:solidFill>
            <a:srgbClr val="4E5B38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2447776" y="6262092"/>
            <a:ext cx="4199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USE…</a:t>
            </a:r>
            <a:endParaRPr lang="en-US" sz="680" dirty="0"/>
          </a:p>
        </p:txBody>
      </p:sp>
      <p:sp>
        <p:nvSpPr>
          <p:cNvPr id="30" name="Shape 26"/>
          <p:cNvSpPr/>
          <p:nvPr/>
        </p:nvSpPr>
        <p:spPr>
          <a:xfrm>
            <a:off x="647998" y="7002363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91914" y="6553795"/>
            <a:ext cx="10374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Abóbora cabotiá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2303859" y="7002363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2447859" y="6563320"/>
            <a:ext cx="4320017" cy="33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Abóbora-paulista ou moranga (têm mais água: asse por mais tempo e escorra o purê numa peneira) ou batata-doce.</a:t>
            </a:r>
            <a:endParaRPr lang="en-US" sz="920" dirty="0"/>
          </a:p>
        </p:txBody>
      </p:sp>
      <p:sp>
        <p:nvSpPr>
          <p:cNvPr id="34" name="Shape 30"/>
          <p:cNvSpPr/>
          <p:nvPr/>
        </p:nvSpPr>
        <p:spPr>
          <a:xfrm>
            <a:off x="647998" y="7549158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91914" y="7100590"/>
            <a:ext cx="12708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Manteiga de garrafa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2303859" y="7549158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2447859" y="7110115"/>
            <a:ext cx="4320017" cy="33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Ghee ou manteiga comum com um fio de azeite (que evita que ela queime).</a:t>
            </a:r>
            <a:endParaRPr lang="en-US" sz="920" dirty="0"/>
          </a:p>
        </p:txBody>
      </p:sp>
      <p:sp>
        <p:nvSpPr>
          <p:cNvPr id="38" name="Shape 34"/>
          <p:cNvSpPr/>
          <p:nvPr/>
        </p:nvSpPr>
        <p:spPr>
          <a:xfrm>
            <a:off x="647998" y="7920782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91914" y="7647384"/>
            <a:ext cx="8170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Sálvia fresca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2303859" y="7920782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2447776" y="7656909"/>
            <a:ext cx="17743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Alecrim ou tomilho frescos.</a:t>
            </a:r>
            <a:endParaRPr lang="en-US" sz="920" dirty="0"/>
          </a:p>
        </p:txBody>
      </p:sp>
      <p:sp>
        <p:nvSpPr>
          <p:cNvPr id="42" name="Shape 38"/>
          <p:cNvSpPr/>
          <p:nvPr/>
        </p:nvSpPr>
        <p:spPr>
          <a:xfrm>
            <a:off x="647998" y="8292405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791914" y="8019008"/>
            <a:ext cx="8937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Queijo coalho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2303859" y="8292405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2447776" y="8028533"/>
            <a:ext cx="26970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Queijo meia-cura ou muçarela em cubos.</a:t>
            </a:r>
            <a:endParaRPr lang="en-US" sz="920" dirty="0"/>
          </a:p>
        </p:txBody>
      </p:sp>
      <p:sp>
        <p:nvSpPr>
          <p:cNvPr id="46" name="Shape 42"/>
          <p:cNvSpPr/>
          <p:nvPr/>
        </p:nvSpPr>
        <p:spPr>
          <a:xfrm>
            <a:off x="647998" y="8664029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91914" y="8390632"/>
            <a:ext cx="86335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Leite de coco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2303859" y="8664029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2447776" y="8400157"/>
            <a:ext cx="38921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 ml de leite com 2 colheres (sopa) a mais de coco ralado.</a:t>
            </a:r>
            <a:endParaRPr lang="en-US" sz="920" dirty="0"/>
          </a:p>
        </p:txBody>
      </p:sp>
      <p:sp>
        <p:nvSpPr>
          <p:cNvPr id="50" name="Shape 46"/>
          <p:cNvSpPr/>
          <p:nvPr/>
        </p:nvSpPr>
        <p:spPr>
          <a:xfrm>
            <a:off x="647998" y="9035653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791914" y="8762256"/>
            <a:ext cx="5448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Laranja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2303859" y="9035653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2447776" y="8771781"/>
            <a:ext cx="40203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Tangerina, ou metade da quantidade de raspas de limão-taiti.</a:t>
            </a:r>
            <a:endParaRPr lang="en-US" sz="920" dirty="0"/>
          </a:p>
        </p:txBody>
      </p:sp>
      <p:sp>
        <p:nvSpPr>
          <p:cNvPr id="54" name="Shape 50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6" name="Text 52"/>
          <p:cNvSpPr txBox="1"/>
          <p:nvPr/>
        </p:nvSpPr>
        <p:spPr>
          <a:xfrm>
            <a:off x="6802189" y="10236845"/>
            <a:ext cx="2239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6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808881"/>
            <a:ext cx="11548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APROVEITA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984796"/>
            <a:ext cx="26369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ISSO TAMBÉM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57147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817787"/>
            <a:ext cx="42428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Cascas, talos, ramas e aparas: o que ia para o lixo vira sabor.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21855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407" y="2303264"/>
            <a:ext cx="197048" cy="197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69789" y="2221855"/>
            <a:ext cx="27305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Casca: chips crocantes temperados</a:t>
            </a:r>
            <a:endParaRPr lang="en-US" sz="1060" dirty="0"/>
          </a:p>
        </p:txBody>
      </p:sp>
      <p:sp>
        <p:nvSpPr>
          <p:cNvPr id="9" name="Text 6"/>
          <p:cNvSpPr txBox="1"/>
          <p:nvPr/>
        </p:nvSpPr>
        <p:spPr>
          <a:xfrm>
            <a:off x="1169789" y="2455515"/>
            <a:ext cx="3366195" cy="1148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Quando a receita pedir abóbora descascada, tire a casca em tiras finas com um descascador de legumes. Misture com um fio de azeite, sal e páprica e espalhe sem amontoar. Leve à airfryer a 180 °C por 8 a 12 minutos, chacoalhando na metade, ou ao forno a 160 °C por 20 a 25 minutos. Elas ficam crocantes ao esfriar.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647998" y="3836491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07" y="3917900"/>
            <a:ext cx="197048" cy="197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69789" y="3836491"/>
            <a:ext cx="3432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Sementes: snack crocante com páprica e sal</a:t>
            </a:r>
            <a:endParaRPr lang="en-US" sz="1060" dirty="0"/>
          </a:p>
        </p:txBody>
      </p:sp>
      <p:sp>
        <p:nvSpPr>
          <p:cNvPr id="13" name="Text 9"/>
          <p:cNvSpPr txBox="1"/>
          <p:nvPr/>
        </p:nvSpPr>
        <p:spPr>
          <a:xfrm>
            <a:off x="1169789" y="4070152"/>
            <a:ext cx="3366195" cy="1148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Lave as sementes numa peneira, separando as fibras, e seque muito bem com um pano. Tempere com um fio de azeite, sal e páprica defumada e asse a 160 °C por 20 a 25 minutos, mexendo de vez em quando, até dourarem e estalarem. Use como petisco ou para dar crocância a saladas, sopas e ao próprio nhoque.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4895999" y="0"/>
            <a:ext cx="2663875" cy="10691961"/>
          </a:xfrm>
          <a:prstGeom prst="rect">
            <a:avLst/>
          </a:prstGeom>
          <a:solidFill>
            <a:srgbClr val="EEE6D8"/>
          </a:solidFill>
          <a:ln/>
        </p:spPr>
      </p:sp>
      <p:sp>
        <p:nvSpPr>
          <p:cNvPr id="15" name="Shape 11"/>
          <p:cNvSpPr/>
          <p:nvPr/>
        </p:nvSpPr>
        <p:spPr>
          <a:xfrm>
            <a:off x="4392067" y="791914"/>
            <a:ext cx="2735907" cy="2735907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75002" y="1174849"/>
            <a:ext cx="1970038" cy="197003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701" y="1530548"/>
            <a:ext cx="1258491" cy="1258491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895999" y="8459986"/>
            <a:ext cx="2663875" cy="2231975"/>
          </a:xfrm>
          <a:prstGeom prst="rect">
            <a:avLst/>
          </a:prstGeom>
          <a:solidFill>
            <a:srgbClr val="4E5B3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04" y="9341941"/>
            <a:ext cx="467916" cy="46791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7998" y="10133856"/>
            <a:ext cx="3600004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22" name="Text 16"/>
          <p:cNvSpPr txBox="1"/>
          <p:nvPr/>
        </p:nvSpPr>
        <p:spPr>
          <a:xfrm>
            <a:off x="4161532" y="10236845"/>
            <a:ext cx="2007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6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736848"/>
            <a:ext cx="12106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CAPÍTULO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912763"/>
            <a:ext cx="3527971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spc="90" kern="0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BANANA-DA-TERRA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7998" y="1960513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2115889"/>
            <a:ext cx="168654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B645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ou banana-prata firme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7998" y="2514898"/>
            <a:ext cx="3527971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ingrediente nacional por excelência. Transita entre o salgado e o doce e leva sofisticação ao prato sem pesar no bolso.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823966" y="396032"/>
            <a:ext cx="3311872" cy="331187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87566" y="859631"/>
            <a:ext cx="2384673" cy="2384673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8125" y="1290191"/>
            <a:ext cx="1523405" cy="15234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7998" y="3779937"/>
            <a:ext cx="1086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INGREDIENTE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647998" y="4003179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banana-da-terra é uma banana de cozinhar. Crua, ela é dura e pouco agradável; no fogo, vira outra coisa: macia, caramelizada, cheia de sabor.</a:t>
            </a:r>
            <a:endParaRPr lang="en-US" sz="990" dirty="0"/>
          </a:p>
        </p:txBody>
      </p:sp>
      <p:sp>
        <p:nvSpPr>
          <p:cNvPr id="12" name="Text 9"/>
          <p:cNvSpPr txBox="1"/>
          <p:nvPr/>
        </p:nvSpPr>
        <p:spPr>
          <a:xfrm>
            <a:off x="647998" y="4529882"/>
            <a:ext cx="6263878" cy="60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segredo está no estágio de maturação. Verde, ela é rica em amido e se comporta quase como uma batata. Amarela com pintinhas pretas, fica no ponto mais versátil: doce, mas firme. Com a casca quase toda preta, está doce e macia, perfeita para purês e sobremesas.</a:t>
            </a:r>
            <a:endParaRPr lang="en-US" sz="990" dirty="0"/>
          </a:p>
        </p:txBody>
      </p:sp>
      <p:sp>
        <p:nvSpPr>
          <p:cNvPr id="13" name="Text 10"/>
          <p:cNvSpPr txBox="1"/>
          <p:nvPr/>
        </p:nvSpPr>
        <p:spPr>
          <a:xfrm>
            <a:off x="647998" y="5272832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Aprender a ler a casca é aprender a escolher o que fazer com ela. E, no fim, a própria casca ainda vira recheio.</a:t>
            </a:r>
            <a:endParaRPr lang="en-US" sz="990" dirty="0"/>
          </a:p>
        </p:txBody>
      </p:sp>
      <p:sp>
        <p:nvSpPr>
          <p:cNvPr id="14" name="Text 11"/>
          <p:cNvSpPr txBox="1"/>
          <p:nvPr/>
        </p:nvSpPr>
        <p:spPr>
          <a:xfrm>
            <a:off x="647998" y="5892701"/>
            <a:ext cx="16477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3 TRANSFORMAÇÕES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47998" y="6748909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7998" y="6287393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28514" y="6360914"/>
            <a:ext cx="2050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680" dirty="0"/>
          </a:p>
        </p:txBody>
      </p:sp>
      <p:sp>
        <p:nvSpPr>
          <p:cNvPr id="18" name="Text 15"/>
          <p:cNvSpPr txBox="1"/>
          <p:nvPr/>
        </p:nvSpPr>
        <p:spPr>
          <a:xfrm>
            <a:off x="1025872" y="6202561"/>
            <a:ext cx="15620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RÁPIDA DE FRIGIDEIRA</a:t>
            </a:r>
            <a:endParaRPr lang="en-US" sz="640" dirty="0"/>
          </a:p>
        </p:txBody>
      </p:sp>
      <p:sp>
        <p:nvSpPr>
          <p:cNvPr id="19" name="Text 16"/>
          <p:cNvSpPr txBox="1"/>
          <p:nvPr/>
        </p:nvSpPr>
        <p:spPr>
          <a:xfrm>
            <a:off x="1025872" y="6319391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Moqueca expressa de frigideira com banana, leite de coco e pimenta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(sem peixe, mas cheia de sabor)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71666" y="6454062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1" name="Text 18"/>
          <p:cNvSpPr txBox="1"/>
          <p:nvPr/>
        </p:nvSpPr>
        <p:spPr>
          <a:xfrm>
            <a:off x="6681936" y="6346627"/>
            <a:ext cx="2299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647998" y="7410450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7998" y="6948934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19882" y="7022455"/>
            <a:ext cx="222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680" dirty="0"/>
          </a:p>
        </p:txBody>
      </p:sp>
      <p:sp>
        <p:nvSpPr>
          <p:cNvPr id="25" name="Text 22"/>
          <p:cNvSpPr txBox="1"/>
          <p:nvPr/>
        </p:nvSpPr>
        <p:spPr>
          <a:xfrm>
            <a:off x="1025872" y="6864102"/>
            <a:ext cx="17768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TEXTURA SURPREENDENTE</a:t>
            </a:r>
            <a:endParaRPr lang="en-US" sz="640" dirty="0"/>
          </a:p>
        </p:txBody>
      </p:sp>
      <p:sp>
        <p:nvSpPr>
          <p:cNvPr id="26" name="Text 23"/>
          <p:cNvSpPr txBox="1"/>
          <p:nvPr/>
        </p:nvSpPr>
        <p:spPr>
          <a:xfrm>
            <a:off x="1025872" y="6980932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Purê aveludado de banana grelhada com noz-moscada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(para acompanhar carnes ou legumes assados)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71666" y="7115603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8" name="Text 25"/>
          <p:cNvSpPr txBox="1"/>
          <p:nvPr/>
        </p:nvSpPr>
        <p:spPr>
          <a:xfrm>
            <a:off x="6692205" y="7008168"/>
            <a:ext cx="2196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647998" y="8071991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7998" y="7610475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20328" y="7683996"/>
            <a:ext cx="2216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80" dirty="0"/>
          </a:p>
        </p:txBody>
      </p:sp>
      <p:sp>
        <p:nvSpPr>
          <p:cNvPr id="32" name="Text 29"/>
          <p:cNvSpPr txBox="1"/>
          <p:nvPr/>
        </p:nvSpPr>
        <p:spPr>
          <a:xfrm>
            <a:off x="1025872" y="7525643"/>
            <a:ext cx="14510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SOBREMESA DE CHEF</a:t>
            </a:r>
            <a:endParaRPr lang="en-US" sz="640" dirty="0"/>
          </a:p>
        </p:txBody>
      </p:sp>
      <p:sp>
        <p:nvSpPr>
          <p:cNvPr id="33" name="Text 30"/>
          <p:cNvSpPr txBox="1"/>
          <p:nvPr/>
        </p:nvSpPr>
        <p:spPr>
          <a:xfrm>
            <a:off x="1025872" y="7642473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Bananas flambadas no rum ou na cachaça com crosta de açúcar mascavo e canela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(a sobremesa de restaurante feita em casa)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471666" y="7777144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35" name="Text 32"/>
          <p:cNvSpPr txBox="1"/>
          <p:nvPr/>
        </p:nvSpPr>
        <p:spPr>
          <a:xfrm>
            <a:off x="6687592" y="7669709"/>
            <a:ext cx="2242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38" name="Text 35"/>
          <p:cNvSpPr txBox="1"/>
          <p:nvPr/>
        </p:nvSpPr>
        <p:spPr>
          <a:xfrm>
            <a:off x="6809333" y="10236845"/>
            <a:ext cx="2168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6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592931"/>
            <a:ext cx="101485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ANTES 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68846"/>
            <a:ext cx="148518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PANELA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35552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601837"/>
            <a:ext cx="449996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Escolher bem, guardar direito e cortar do jeito certo: metade do prato se resolve aqui.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13074"/>
            <a:ext cx="3041898" cy="2930128"/>
          </a:xfrm>
          <a:prstGeom prst="roundRect">
            <a:avLst>
              <a:gd name="adj" fmla="val 1150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40253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483941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520553"/>
            <a:ext cx="17408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HORA DE ESCOLHER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55456" y="295670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99456" y="2907357"/>
            <a:ext cx="2500981" cy="716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Escolha pelo uso: amarela com pintas para as receitas deste capítulo; mais verde se for fritar em chips; bem madura para doces.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855456" y="376856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99456" y="3719215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fruta deve estar firme ao toque, sem partes afundadas.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855456" y="421043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99456" y="4161086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Evite pontas com bolor ou casca rachada, por onde a fruta resseca.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3869829" y="2213074"/>
            <a:ext cx="3042047" cy="2930128"/>
          </a:xfrm>
          <a:prstGeom prst="roundRect">
            <a:avLst>
              <a:gd name="adj" fmla="val 1150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59287" y="240253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696" y="2483941"/>
            <a:ext cx="197048" cy="19704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545062" y="2520553"/>
            <a:ext cx="12054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GUARDAR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077287" y="295670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221287" y="2907357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Fora da geladeira, de preferência penduradas, longe de outras frutas.</a:t>
            </a:r>
            <a:endParaRPr lang="en-US" sz="940" dirty="0"/>
          </a:p>
        </p:txBody>
      </p:sp>
      <p:sp>
        <p:nvSpPr>
          <p:cNvPr id="22" name="Shape 18"/>
          <p:cNvSpPr/>
          <p:nvPr/>
        </p:nvSpPr>
        <p:spPr>
          <a:xfrm>
            <a:off x="4077287" y="339857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221287" y="3349228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amadurecer mais rápido, guarde num saco de papel fechado.</a:t>
            </a:r>
            <a:endParaRPr lang="en-US" sz="940" dirty="0"/>
          </a:p>
        </p:txBody>
      </p:sp>
      <p:sp>
        <p:nvSpPr>
          <p:cNvPr id="24" name="Shape 20"/>
          <p:cNvSpPr/>
          <p:nvPr/>
        </p:nvSpPr>
        <p:spPr>
          <a:xfrm>
            <a:off x="4077287" y="38404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221287" y="3791099"/>
            <a:ext cx="2501130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frear o amadurecimento, leve à geladeira: a casca escurece, mas a polpa se mantém.</a:t>
            </a:r>
            <a:endParaRPr lang="en-US" sz="940" dirty="0"/>
          </a:p>
        </p:txBody>
      </p:sp>
      <p:sp>
        <p:nvSpPr>
          <p:cNvPr id="26" name="Shape 22"/>
          <p:cNvSpPr/>
          <p:nvPr/>
        </p:nvSpPr>
        <p:spPr>
          <a:xfrm>
            <a:off x="4077287" y="446731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221287" y="4417963"/>
            <a:ext cx="2501130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Maduras demais? Descasque, corte e congele em saco fechado por até 3 meses.</a:t>
            </a:r>
            <a:endParaRPr lang="en-US" sz="940" dirty="0"/>
          </a:p>
        </p:txBody>
      </p:sp>
      <p:sp>
        <p:nvSpPr>
          <p:cNvPr id="28" name="Shape 24"/>
          <p:cNvSpPr/>
          <p:nvPr/>
        </p:nvSpPr>
        <p:spPr>
          <a:xfrm>
            <a:off x="647998" y="5323136"/>
            <a:ext cx="6263878" cy="1748284"/>
          </a:xfrm>
          <a:prstGeom prst="roundRect">
            <a:avLst>
              <a:gd name="adj" fmla="val 323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37456" y="5512594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865" y="5594003"/>
            <a:ext cx="197048" cy="197048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323231" y="5630614"/>
            <a:ext cx="1793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PRÉ-PREPARO E CORTES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855456" y="606676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999456" y="6017419"/>
            <a:ext cx="572296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descascar a banana-da-terra: corte as duas pontas, faça um talho raso ao longo da casca e solte-a com o polegar.</a:t>
            </a:r>
            <a:endParaRPr lang="en-US" sz="940" dirty="0"/>
          </a:p>
        </p:txBody>
      </p:sp>
      <p:sp>
        <p:nvSpPr>
          <p:cNvPr id="34" name="Shape 29"/>
          <p:cNvSpPr/>
          <p:nvPr/>
        </p:nvSpPr>
        <p:spPr>
          <a:xfrm>
            <a:off x="855456" y="650863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999381" y="6459289"/>
            <a:ext cx="41755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Rodelas grossas em diagonal (2 cm) para frigideira e moqueca.</a:t>
            </a:r>
            <a:endParaRPr lang="en-US" sz="940" dirty="0"/>
          </a:p>
        </p:txBody>
      </p:sp>
      <p:sp>
        <p:nvSpPr>
          <p:cNvPr id="36" name="Shape 31"/>
          <p:cNvSpPr/>
          <p:nvPr/>
        </p:nvSpPr>
        <p:spPr>
          <a:xfrm>
            <a:off x="855456" y="676551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999381" y="6716167"/>
            <a:ext cx="32892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Lâminas no comprimento para grelhar e flambar.</a:t>
            </a:r>
            <a:endParaRPr lang="en-US" sz="940" dirty="0"/>
          </a:p>
        </p:txBody>
      </p:sp>
      <p:sp>
        <p:nvSpPr>
          <p:cNvPr id="38" name="Shape 33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40" name="Text 35"/>
          <p:cNvSpPr txBox="1"/>
          <p:nvPr/>
        </p:nvSpPr>
        <p:spPr>
          <a:xfrm>
            <a:off x="6809333" y="10236845"/>
            <a:ext cx="2168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6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7036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2.1 · A RÁPIDA DE FRIGIDEIRA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Moqueca expressa de frigideira com banana, leite de coco e pimenta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57388"/>
            <a:ext cx="19702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sem peixe, mas cheia de sabor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96282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52377"/>
            <a:ext cx="4877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 MIN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505968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87264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665" y="2396282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65139" y="2352377"/>
            <a:ext cx="7268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PORÇÕES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65139" y="2505968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Shape 13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98" y="3274516"/>
            <a:ext cx="1997942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bananas-da-terra maduras e firmes, em rodelas diagonais de 2 cm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387840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98" y="3819525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colheres (sopa) de azeite de dendê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425969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23" y="4200823"/>
            <a:ext cx="12371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cebola em rodelas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47728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23" y="4418409"/>
            <a:ext cx="18775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pimentão vermelho em tiras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469487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23" y="4635996"/>
            <a:ext cx="136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tomates em rodelas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491245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23" y="4853583"/>
            <a:ext cx="15676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dentes de alho picados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513004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23" y="5071170"/>
            <a:ext cx="14651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 ml de leite de coco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665998" y="534763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9998" y="5288756"/>
            <a:ext cx="1997942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pimenta dedo-de-moça (ou pimenta-de-cheiro) picada, sem sementes</a:t>
            </a:r>
            <a:endParaRPr lang="en-US" sz="890" dirty="0"/>
          </a:p>
        </p:txBody>
      </p:sp>
      <p:sp>
        <p:nvSpPr>
          <p:cNvPr id="34" name="Shape 29"/>
          <p:cNvSpPr/>
          <p:nvPr/>
        </p:nvSpPr>
        <p:spPr>
          <a:xfrm>
            <a:off x="665998" y="589264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09923" y="5833765"/>
            <a:ext cx="1061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Suco de ½ limão</a:t>
            </a:r>
            <a:endParaRPr lang="en-US" sz="890" dirty="0"/>
          </a:p>
        </p:txBody>
      </p:sp>
      <p:sp>
        <p:nvSpPr>
          <p:cNvPr id="36" name="Shape 31"/>
          <p:cNvSpPr/>
          <p:nvPr/>
        </p:nvSpPr>
        <p:spPr>
          <a:xfrm>
            <a:off x="665998" y="611022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809998" y="6051352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Coentro (ou cheiro-verde) e sal a gosto</a:t>
            </a:r>
            <a:endParaRPr lang="en-US" sz="890" dirty="0"/>
          </a:p>
        </p:txBody>
      </p:sp>
      <p:sp>
        <p:nvSpPr>
          <p:cNvPr id="38" name="Shape 33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40" name="Shape 35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42" name="Text 37"/>
          <p:cNvSpPr txBox="1"/>
          <p:nvPr/>
        </p:nvSpPr>
        <p:spPr>
          <a:xfrm>
            <a:off x="3419773" y="3284041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Aqueça 1 colher de dendê numa frigideira grande. Doure as rodelas de banana, 2 minutos de cada lado, sem mexer. Tempere com uma pitada de sal e reserve.</a:t>
            </a:r>
            <a:endParaRPr lang="en-US" sz="930" dirty="0"/>
          </a:p>
        </p:txBody>
      </p:sp>
      <p:sp>
        <p:nvSpPr>
          <p:cNvPr id="43" name="Shape 38"/>
          <p:cNvSpPr/>
          <p:nvPr/>
        </p:nvSpPr>
        <p:spPr>
          <a:xfrm>
            <a:off x="3131939" y="391834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3198614" y="3960614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5" name="Text 40"/>
          <p:cNvSpPr txBox="1"/>
          <p:nvPr/>
        </p:nvSpPr>
        <p:spPr>
          <a:xfrm>
            <a:off x="3419773" y="392668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mesma frigideira, com o restante do dendê, refogue a cebola, o pimentão e o alho por 3 minutos.</a:t>
            </a:r>
            <a:endParaRPr lang="en-US" sz="930" dirty="0"/>
          </a:p>
        </p:txBody>
      </p:sp>
      <p:sp>
        <p:nvSpPr>
          <p:cNvPr id="46" name="Shape 41"/>
          <p:cNvSpPr/>
          <p:nvPr/>
        </p:nvSpPr>
        <p:spPr>
          <a:xfrm>
            <a:off x="3131939" y="437792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3198614" y="442019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8" name="Text 43"/>
          <p:cNvSpPr txBox="1"/>
          <p:nvPr/>
        </p:nvSpPr>
        <p:spPr>
          <a:xfrm>
            <a:off x="3419773" y="4386263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Junte o tomate e a pimenta e cozinhe até o tomate começar a desmanchar.</a:t>
            </a:r>
            <a:endParaRPr lang="en-US" sz="930" dirty="0"/>
          </a:p>
        </p:txBody>
      </p:sp>
      <p:sp>
        <p:nvSpPr>
          <p:cNvPr id="49" name="Shape 44"/>
          <p:cNvSpPr/>
          <p:nvPr/>
        </p:nvSpPr>
        <p:spPr>
          <a:xfrm>
            <a:off x="3131939" y="4837509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3194745" y="4879777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51" name="Text 46"/>
          <p:cNvSpPr txBox="1"/>
          <p:nvPr/>
        </p:nvSpPr>
        <p:spPr>
          <a:xfrm>
            <a:off x="3419773" y="4845844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Acrescente o leite de coco e deixe ferver por 5 minutos, até engrossar levemente. Acerte o sal.</a:t>
            </a:r>
            <a:endParaRPr lang="en-US" sz="930" dirty="0"/>
          </a:p>
        </p:txBody>
      </p:sp>
      <p:sp>
        <p:nvSpPr>
          <p:cNvPr id="52" name="Shape 47"/>
          <p:cNvSpPr/>
          <p:nvPr/>
        </p:nvSpPr>
        <p:spPr>
          <a:xfrm>
            <a:off x="3131939" y="529709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3198465" y="5339358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4" name="Text 49"/>
          <p:cNvSpPr txBox="1"/>
          <p:nvPr/>
        </p:nvSpPr>
        <p:spPr>
          <a:xfrm>
            <a:off x="3419773" y="5305425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Volte as bananas para a frigideira e cozinhe só por 3 a 4 minutos, para aquecerem no molho sem desmanchar.</a:t>
            </a:r>
            <a:endParaRPr lang="en-US" sz="930" dirty="0"/>
          </a:p>
        </p:txBody>
      </p:sp>
      <p:sp>
        <p:nvSpPr>
          <p:cNvPr id="55" name="Shape 50"/>
          <p:cNvSpPr/>
          <p:nvPr/>
        </p:nvSpPr>
        <p:spPr>
          <a:xfrm>
            <a:off x="3131939" y="5756672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6" name="Text 51"/>
          <p:cNvSpPr txBox="1"/>
          <p:nvPr/>
        </p:nvSpPr>
        <p:spPr>
          <a:xfrm>
            <a:off x="3196828" y="5798939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7" name="Text 52"/>
          <p:cNvSpPr txBox="1"/>
          <p:nvPr/>
        </p:nvSpPr>
        <p:spPr>
          <a:xfrm>
            <a:off x="3419773" y="5765006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Desligue o fogo, regue com o suco de limão e finalize com coentro.</a:t>
            </a:r>
            <a:endParaRPr lang="en-US" sz="930" dirty="0"/>
          </a:p>
        </p:txBody>
      </p:sp>
      <p:sp>
        <p:nvSpPr>
          <p:cNvPr id="58" name="Shape 53"/>
          <p:cNvSpPr/>
          <p:nvPr/>
        </p:nvSpPr>
        <p:spPr>
          <a:xfrm>
            <a:off x="647998" y="9054703"/>
            <a:ext cx="6263878" cy="845195"/>
          </a:xfrm>
          <a:prstGeom prst="roundRect">
            <a:avLst>
              <a:gd name="adj" fmla="val 13824"/>
            </a:avLst>
          </a:prstGeom>
          <a:solidFill>
            <a:srgbClr val="EEE6D8"/>
          </a:solidFill>
          <a:ln/>
        </p:spPr>
      </p:sp>
      <p:sp>
        <p:nvSpPr>
          <p:cNvPr id="59" name="Shape 54"/>
          <p:cNvSpPr/>
          <p:nvPr/>
        </p:nvSpPr>
        <p:spPr>
          <a:xfrm>
            <a:off x="827931" y="921662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6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98037"/>
            <a:ext cx="197048" cy="197048"/>
          </a:xfrm>
          <a:prstGeom prst="rect">
            <a:avLst/>
          </a:prstGeom>
        </p:spPr>
      </p:pic>
      <p:sp>
        <p:nvSpPr>
          <p:cNvPr id="61" name="Text 55"/>
          <p:cNvSpPr txBox="1"/>
          <p:nvPr/>
        </p:nvSpPr>
        <p:spPr>
          <a:xfrm>
            <a:off x="1331714" y="921662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62" name="Text 56"/>
          <p:cNvSpPr txBox="1"/>
          <p:nvPr/>
        </p:nvSpPr>
        <p:spPr>
          <a:xfrm>
            <a:off x="1331714" y="9366796"/>
            <a:ext cx="540022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Dourar a banana antes é o que dá estrutura e sabor à moqueca. Sirva com arroz branco e farofa de dendê.</a:t>
            </a:r>
            <a:endParaRPr lang="en-US" sz="1000" dirty="0"/>
          </a:p>
        </p:txBody>
      </p:sp>
      <p:sp>
        <p:nvSpPr>
          <p:cNvPr id="63" name="Shape 57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4" name="Text 58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5" name="Text 59"/>
          <p:cNvSpPr txBox="1"/>
          <p:nvPr/>
        </p:nvSpPr>
        <p:spPr>
          <a:xfrm>
            <a:off x="6801594" y="10236845"/>
            <a:ext cx="2245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6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9635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2.2 · A TEXTURA SURPREENDENTE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788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Purê aveludado de banana grelhada com noz-moscada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597819"/>
            <a:ext cx="29778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para acompanhar carnes ou legumes assados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1973312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036713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1992809"/>
            <a:ext cx="4793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 MIN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146399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78930" y="1973312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331" y="2036713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56805" y="1992809"/>
            <a:ext cx="23754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PORÇÕES COMO ACOMPANHAMENTO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56805" y="2146399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Shape 13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23" y="3274516"/>
            <a:ext cx="17963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bananas-da-terra maduras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355097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23" y="3492103"/>
            <a:ext cx="18989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colheres (sopa) de manteiga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376856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98" y="3709690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 ml de leite quente (ou caldo de frango)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14986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23" y="4090987"/>
            <a:ext cx="18080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Noz-moscada ralada na hora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43674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98" y="4308574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Sal, pimenta-do-reino e algumas gotas de limão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0" name="Shape 25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32" name="Text 27"/>
          <p:cNvSpPr txBox="1"/>
          <p:nvPr/>
        </p:nvSpPr>
        <p:spPr>
          <a:xfrm>
            <a:off x="3419773" y="328404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Descasque as bananas e corte em lâminas no sentido do comprimento.</a:t>
            </a:r>
            <a:endParaRPr lang="en-US" sz="930" dirty="0"/>
          </a:p>
        </p:txBody>
      </p:sp>
      <p:sp>
        <p:nvSpPr>
          <p:cNvPr id="33" name="Shape 28"/>
          <p:cNvSpPr/>
          <p:nvPr/>
        </p:nvSpPr>
        <p:spPr>
          <a:xfrm>
            <a:off x="3131939" y="373528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3198614" y="377755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35" name="Text 30"/>
          <p:cNvSpPr txBox="1"/>
          <p:nvPr/>
        </p:nvSpPr>
        <p:spPr>
          <a:xfrm>
            <a:off x="3419773" y="3743623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Aqueça 1 colher de manteiga numa frigideira e grelhe as lâminas em fogo médio-alto até ficarem bem douradas dos dois lados. É essa caramelização que dá profundidade ao purê.</a:t>
            </a:r>
            <a:endParaRPr lang="en-US" sz="930" dirty="0"/>
          </a:p>
        </p:txBody>
      </p:sp>
      <p:sp>
        <p:nvSpPr>
          <p:cNvPr id="36" name="Shape 31"/>
          <p:cNvSpPr/>
          <p:nvPr/>
        </p:nvSpPr>
        <p:spPr>
          <a:xfrm>
            <a:off x="3131939" y="456098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3198614" y="4603254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38" name="Text 33"/>
          <p:cNvSpPr txBox="1"/>
          <p:nvPr/>
        </p:nvSpPr>
        <p:spPr>
          <a:xfrm>
            <a:off x="3419773" y="456932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Transfira para uma panela, junte o leite quente e amasse bem com um garfo ou espremedor, em fogo baixo.</a:t>
            </a:r>
            <a:endParaRPr lang="en-US" sz="930" dirty="0"/>
          </a:p>
        </p:txBody>
      </p:sp>
      <p:sp>
        <p:nvSpPr>
          <p:cNvPr id="39" name="Shape 34"/>
          <p:cNvSpPr/>
          <p:nvPr/>
        </p:nvSpPr>
        <p:spPr>
          <a:xfrm>
            <a:off x="3131939" y="502056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3194745" y="5062835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1" name="Text 36"/>
          <p:cNvSpPr txBox="1"/>
          <p:nvPr/>
        </p:nvSpPr>
        <p:spPr>
          <a:xfrm>
            <a:off x="3419773" y="5028902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Acrescente a manteiga restante e mexa até ficar aveludado. Se quiser mais liso, passe por uma peneira.</a:t>
            </a:r>
            <a:endParaRPr lang="en-US" sz="930" dirty="0"/>
          </a:p>
        </p:txBody>
      </p:sp>
      <p:sp>
        <p:nvSpPr>
          <p:cNvPr id="42" name="Shape 37"/>
          <p:cNvSpPr/>
          <p:nvPr/>
        </p:nvSpPr>
        <p:spPr>
          <a:xfrm>
            <a:off x="3131939" y="5480149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3198465" y="5522416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44" name="Text 39"/>
          <p:cNvSpPr txBox="1"/>
          <p:nvPr/>
        </p:nvSpPr>
        <p:spPr>
          <a:xfrm>
            <a:off x="3419773" y="5488484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Tempere com sal, pimenta e noz-moscada. Se estiver doce demais, equilibre com algumas gotas de limão.</a:t>
            </a:r>
            <a:endParaRPr lang="en-US" sz="930" dirty="0"/>
          </a:p>
        </p:txBody>
      </p:sp>
      <p:sp>
        <p:nvSpPr>
          <p:cNvPr id="45" name="Shape 40"/>
          <p:cNvSpPr/>
          <p:nvPr/>
        </p:nvSpPr>
        <p:spPr>
          <a:xfrm>
            <a:off x="647998" y="9054703"/>
            <a:ext cx="6263878" cy="845195"/>
          </a:xfrm>
          <a:prstGeom prst="roundRect">
            <a:avLst>
              <a:gd name="adj" fmla="val 13824"/>
            </a:avLst>
          </a:prstGeom>
          <a:solidFill>
            <a:srgbClr val="EEE6D8"/>
          </a:solidFill>
          <a:ln/>
        </p:spPr>
      </p:sp>
      <p:sp>
        <p:nvSpPr>
          <p:cNvPr id="46" name="Shape 41"/>
          <p:cNvSpPr/>
          <p:nvPr/>
        </p:nvSpPr>
        <p:spPr>
          <a:xfrm>
            <a:off x="827931" y="921662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98037"/>
            <a:ext cx="197048" cy="197048"/>
          </a:xfrm>
          <a:prstGeom prst="rect">
            <a:avLst/>
          </a:prstGeom>
        </p:spPr>
      </p:pic>
      <p:sp>
        <p:nvSpPr>
          <p:cNvPr id="48" name="Text 42"/>
          <p:cNvSpPr txBox="1"/>
          <p:nvPr/>
        </p:nvSpPr>
        <p:spPr>
          <a:xfrm>
            <a:off x="1331714" y="921662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49" name="Text 43"/>
          <p:cNvSpPr txBox="1"/>
          <p:nvPr/>
        </p:nvSpPr>
        <p:spPr>
          <a:xfrm>
            <a:off x="1331714" y="9366796"/>
            <a:ext cx="540022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É um acompanhamento salgado de respeito: fica perfeito com carne de sol, frango assado ou peixe grelhado.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2" name="Text 46"/>
          <p:cNvSpPr txBox="1"/>
          <p:nvPr/>
        </p:nvSpPr>
        <p:spPr>
          <a:xfrm>
            <a:off x="6809184" y="10236845"/>
            <a:ext cx="2169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6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5984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2.3 · A SOBREMESA DE CHEF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Bananas flambadas no rum ou na cachaça com crosta de açúcar mascavo e canela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57388"/>
            <a:ext cx="27028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sobremesa de restaurante feita em casa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96282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52377"/>
            <a:ext cx="4604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MIN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505968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7535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759" y="2396282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53233" y="2352377"/>
            <a:ext cx="7361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PORÇÕES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53233" y="2505968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Shape 13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98" y="327451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bananas-da-terra ou 4 bananas-prata firmes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371468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98" y="3655814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colheres (sopa) de açúcar mascavo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409598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23" y="4037112"/>
            <a:ext cx="19089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canela em pó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31357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23" y="4254698"/>
            <a:ext cx="18989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colheres (sopa) de manteiga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453116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23" y="4472285"/>
            <a:ext cx="16082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 ml de rum ou cachaça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474874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23" y="4689872"/>
            <a:ext cx="10459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Suco de 1 laranja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496633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23" y="4907459"/>
            <a:ext cx="9004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pitada de sal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665998" y="518392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9923" y="5125045"/>
            <a:ext cx="18048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Sorvete de creme para servir</a:t>
            </a:r>
            <a:endParaRPr lang="en-US" sz="890" dirty="0"/>
          </a:p>
        </p:txBody>
      </p:sp>
      <p:sp>
        <p:nvSpPr>
          <p:cNvPr id="34" name="Shape 29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6" name="Shape 31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38" name="Text 33"/>
          <p:cNvSpPr txBox="1"/>
          <p:nvPr/>
        </p:nvSpPr>
        <p:spPr>
          <a:xfrm>
            <a:off x="3419773" y="328404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Corte as bananas ao meio no sentido do comprimento (e ao meio na largura, se forem grandes).</a:t>
            </a:r>
            <a:endParaRPr lang="en-US" sz="930" dirty="0"/>
          </a:p>
        </p:txBody>
      </p:sp>
      <p:sp>
        <p:nvSpPr>
          <p:cNvPr id="39" name="Shape 34"/>
          <p:cNvSpPr/>
          <p:nvPr/>
        </p:nvSpPr>
        <p:spPr>
          <a:xfrm>
            <a:off x="3131939" y="373528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3198614" y="377755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1" name="Text 36"/>
          <p:cNvSpPr txBox="1"/>
          <p:nvPr/>
        </p:nvSpPr>
        <p:spPr>
          <a:xfrm>
            <a:off x="3419773" y="3743623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Misture o açúcar mascavo com a canela e o sal e polvilhe sobre o lado cortado das bananas, pressionando.</a:t>
            </a:r>
            <a:endParaRPr lang="en-US" sz="930" dirty="0"/>
          </a:p>
        </p:txBody>
      </p:sp>
      <p:sp>
        <p:nvSpPr>
          <p:cNvPr id="42" name="Shape 37"/>
          <p:cNvSpPr/>
          <p:nvPr/>
        </p:nvSpPr>
        <p:spPr>
          <a:xfrm>
            <a:off x="3131939" y="419487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3198614" y="4237137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4" name="Text 39"/>
          <p:cNvSpPr txBox="1"/>
          <p:nvPr/>
        </p:nvSpPr>
        <p:spPr>
          <a:xfrm>
            <a:off x="3419773" y="4203204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Aqueça a manteiga numa frigideira até espumar. Coloque as bananas com o lado do açúcar para baixo e não mexa por 2 a 3 minutos, até formar uma crosta. Vire com cuidado.</a:t>
            </a:r>
            <a:endParaRPr lang="en-US" sz="930" dirty="0"/>
          </a:p>
        </p:txBody>
      </p:sp>
      <p:sp>
        <p:nvSpPr>
          <p:cNvPr id="45" name="Shape 40"/>
          <p:cNvSpPr/>
          <p:nvPr/>
        </p:nvSpPr>
        <p:spPr>
          <a:xfrm>
            <a:off x="3131939" y="502056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3194745" y="5062835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7" name="Text 42"/>
          <p:cNvSpPr txBox="1"/>
          <p:nvPr/>
        </p:nvSpPr>
        <p:spPr>
          <a:xfrm>
            <a:off x="3419773" y="5028902"/>
            <a:ext cx="3492103" cy="894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Flambe com segurança: desligue o fogo, coloque o rum medido num copinho e despeje na frigideira. Afaste o rosto, religue o fogo e incline levemente a frigideira (ou acenda com um fósforo longo). Deixe a chama apagar sozinha.</a:t>
            </a:r>
            <a:endParaRPr lang="en-US" sz="930" dirty="0"/>
          </a:p>
        </p:txBody>
      </p:sp>
      <p:sp>
        <p:nvSpPr>
          <p:cNvPr id="48" name="Shape 43"/>
          <p:cNvSpPr/>
          <p:nvPr/>
        </p:nvSpPr>
        <p:spPr>
          <a:xfrm>
            <a:off x="3131939" y="6029325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3198465" y="6071592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0" name="Text 45"/>
          <p:cNvSpPr txBox="1"/>
          <p:nvPr/>
        </p:nvSpPr>
        <p:spPr>
          <a:xfrm>
            <a:off x="3419773" y="6037659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Junte o suco de laranja e deixe borbulhar por 1 minuto, até formar uma calda.</a:t>
            </a:r>
            <a:endParaRPr lang="en-US" sz="930" dirty="0"/>
          </a:p>
        </p:txBody>
      </p:sp>
      <p:sp>
        <p:nvSpPr>
          <p:cNvPr id="51" name="Shape 46"/>
          <p:cNvSpPr/>
          <p:nvPr/>
        </p:nvSpPr>
        <p:spPr>
          <a:xfrm>
            <a:off x="3131939" y="6488906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2" name="Text 47"/>
          <p:cNvSpPr txBox="1"/>
          <p:nvPr/>
        </p:nvSpPr>
        <p:spPr>
          <a:xfrm>
            <a:off x="3196828" y="6531173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3" name="Text 48"/>
          <p:cNvSpPr txBox="1"/>
          <p:nvPr/>
        </p:nvSpPr>
        <p:spPr>
          <a:xfrm>
            <a:off x="3419773" y="649724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Sirva as bananas quentes com a calda e uma bola de sorvete.</a:t>
            </a:r>
            <a:endParaRPr lang="en-US" sz="930" dirty="0"/>
          </a:p>
        </p:txBody>
      </p:sp>
      <p:sp>
        <p:nvSpPr>
          <p:cNvPr id="54" name="Shape 49"/>
          <p:cNvSpPr/>
          <p:nvPr/>
        </p:nvSpPr>
        <p:spPr>
          <a:xfrm>
            <a:off x="647998" y="9054703"/>
            <a:ext cx="6263878" cy="845195"/>
          </a:xfrm>
          <a:prstGeom prst="roundRect">
            <a:avLst>
              <a:gd name="adj" fmla="val 13824"/>
            </a:avLst>
          </a:prstGeom>
          <a:solidFill>
            <a:srgbClr val="EEE6D8"/>
          </a:solidFill>
          <a:ln/>
        </p:spPr>
      </p:sp>
      <p:sp>
        <p:nvSpPr>
          <p:cNvPr id="55" name="Shape 50"/>
          <p:cNvSpPr/>
          <p:nvPr/>
        </p:nvSpPr>
        <p:spPr>
          <a:xfrm>
            <a:off x="827931" y="921662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98037"/>
            <a:ext cx="197048" cy="197048"/>
          </a:xfrm>
          <a:prstGeom prst="rect">
            <a:avLst/>
          </a:prstGeom>
        </p:spPr>
      </p:pic>
      <p:sp>
        <p:nvSpPr>
          <p:cNvPr id="57" name="Text 51"/>
          <p:cNvSpPr txBox="1"/>
          <p:nvPr/>
        </p:nvSpPr>
        <p:spPr>
          <a:xfrm>
            <a:off x="1331714" y="921662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58" name="Text 52"/>
          <p:cNvSpPr txBox="1"/>
          <p:nvPr/>
        </p:nvSpPr>
        <p:spPr>
          <a:xfrm>
            <a:off x="1331714" y="9366796"/>
            <a:ext cx="540022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Nunca despeje a bebida direto da garrafa perto do fogo, e desligue o exaustor durante a flambagem. Flambar queima o álcool e deixa só o aroma da bebida na calda.</a:t>
            </a:r>
            <a:endParaRPr lang="en-US" sz="1000" dirty="0"/>
          </a:p>
        </p:txBody>
      </p:sp>
      <p:sp>
        <p:nvSpPr>
          <p:cNvPr id="59" name="Shape 53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1" name="Text 55"/>
          <p:cNvSpPr txBox="1"/>
          <p:nvPr/>
        </p:nvSpPr>
        <p:spPr>
          <a:xfrm>
            <a:off x="6805761" y="10236845"/>
            <a:ext cx="220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6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592931"/>
            <a:ext cx="8050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PULO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68846"/>
            <a:ext cx="174588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 CHEF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35552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537395"/>
            <a:ext cx="32695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Banana que vira papa na frigideira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7998" y="1974503"/>
            <a:ext cx="2703909" cy="2798118"/>
          </a:xfrm>
          <a:prstGeom prst="roundRect">
            <a:avLst>
              <a:gd name="adj" fmla="val 135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163961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C255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245370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281982"/>
            <a:ext cx="615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ERRO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37456" y="2668786"/>
            <a:ext cx="2324993" cy="734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Colocar a banana em frigideira morna e ficar mexendo. Ela solta líquido, cozinha no próprio vapor e desmancha antes de dourar.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3531840" y="1974503"/>
            <a:ext cx="3380036" cy="2798118"/>
          </a:xfrm>
          <a:prstGeom prst="roundRect">
            <a:avLst>
              <a:gd name="adj" fmla="val 1261"/>
            </a:avLst>
          </a:prstGeom>
          <a:solidFill>
            <a:srgbClr val="EEE6D8"/>
          </a:solidFill>
          <a:ln/>
        </p:spPr>
      </p:sp>
      <p:sp>
        <p:nvSpPr>
          <p:cNvPr id="12" name="Shape 9"/>
          <p:cNvSpPr/>
          <p:nvPr/>
        </p:nvSpPr>
        <p:spPr>
          <a:xfrm>
            <a:off x="3711773" y="2154436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182" y="2235845"/>
            <a:ext cx="197048" cy="197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97548" y="2272457"/>
            <a:ext cx="8103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TÉCNICA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3711773" y="2640211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6" name="Text 12"/>
          <p:cNvSpPr txBox="1"/>
          <p:nvPr/>
        </p:nvSpPr>
        <p:spPr>
          <a:xfrm>
            <a:off x="3873774" y="2659261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Frigideira quente de verdade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com a gordura já brilhando, antes de a banana entrar.</a:t>
            </a:r>
            <a:endParaRPr lang="en-US" sz="940" dirty="0"/>
          </a:p>
        </p:txBody>
      </p:sp>
      <p:sp>
        <p:nvSpPr>
          <p:cNvPr id="17" name="Text 13"/>
          <p:cNvSpPr txBox="1"/>
          <p:nvPr/>
        </p:nvSpPr>
        <p:spPr>
          <a:xfrm>
            <a:off x="3711773" y="3082082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8" name="Text 14"/>
          <p:cNvSpPr txBox="1"/>
          <p:nvPr/>
        </p:nvSpPr>
        <p:spPr>
          <a:xfrm>
            <a:off x="3873774" y="3101132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Espaço: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não amontoe. Se precisar, doure em duas levas.</a:t>
            </a:r>
            <a:endParaRPr lang="en-US" sz="940" dirty="0"/>
          </a:p>
        </p:txBody>
      </p:sp>
      <p:sp>
        <p:nvSpPr>
          <p:cNvPr id="19" name="Text 15"/>
          <p:cNvSpPr txBox="1"/>
          <p:nvPr/>
        </p:nvSpPr>
        <p:spPr>
          <a:xfrm>
            <a:off x="3711773" y="3523952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0" name="Text 16"/>
          <p:cNvSpPr txBox="1"/>
          <p:nvPr/>
        </p:nvSpPr>
        <p:spPr>
          <a:xfrm>
            <a:off x="3873774" y="3543002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mexa: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deixe 2 minutos parada e vire uma única vez.</a:t>
            </a:r>
            <a:endParaRPr lang="en-US" sz="940" dirty="0"/>
          </a:p>
        </p:txBody>
      </p:sp>
      <p:sp>
        <p:nvSpPr>
          <p:cNvPr id="21" name="Text 17"/>
          <p:cNvSpPr txBox="1"/>
          <p:nvPr/>
        </p:nvSpPr>
        <p:spPr>
          <a:xfrm>
            <a:off x="3711773" y="3965823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2" name="Text 18"/>
          <p:cNvSpPr txBox="1"/>
          <p:nvPr/>
        </p:nvSpPr>
        <p:spPr>
          <a:xfrm>
            <a:off x="3873774" y="3984873"/>
            <a:ext cx="2858169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Banana no ponto: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amarela com pintinhas. Preta demais desmancha; verde demais não carameliza.</a:t>
            </a:r>
            <a:endParaRPr lang="en-US" sz="940" dirty="0"/>
          </a:p>
        </p:txBody>
      </p:sp>
      <p:sp>
        <p:nvSpPr>
          <p:cNvPr id="23" name="Text 19"/>
          <p:cNvSpPr txBox="1"/>
          <p:nvPr/>
        </p:nvSpPr>
        <p:spPr>
          <a:xfrm>
            <a:off x="647998" y="5077569"/>
            <a:ext cx="95622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NÃO TEM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47998" y="5263009"/>
            <a:ext cx="84995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spc="63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ISSO?</a:t>
            </a:r>
            <a:endParaRPr lang="en-US" sz="2100" dirty="0"/>
          </a:p>
        </p:txBody>
      </p:sp>
      <p:sp>
        <p:nvSpPr>
          <p:cNvPr id="25" name="Shape 21"/>
          <p:cNvSpPr/>
          <p:nvPr/>
        </p:nvSpPr>
        <p:spPr>
          <a:xfrm>
            <a:off x="647998" y="5756374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26" name="Shape 22"/>
          <p:cNvSpPr/>
          <p:nvPr/>
        </p:nvSpPr>
        <p:spPr>
          <a:xfrm>
            <a:off x="647998" y="5983635"/>
            <a:ext cx="1655862" cy="291703"/>
          </a:xfrm>
          <a:prstGeom prst="roundRect">
            <a:avLst>
              <a:gd name="adj" fmla="val 77373"/>
            </a:avLst>
          </a:prstGeom>
          <a:solidFill>
            <a:srgbClr val="4E5B38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91914" y="6077099"/>
            <a:ext cx="996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NÃO TIVER…</a:t>
            </a:r>
            <a:endParaRPr lang="en-US" sz="680" dirty="0"/>
          </a:p>
        </p:txBody>
      </p:sp>
      <p:sp>
        <p:nvSpPr>
          <p:cNvPr id="28" name="Shape 24"/>
          <p:cNvSpPr/>
          <p:nvPr/>
        </p:nvSpPr>
        <p:spPr>
          <a:xfrm>
            <a:off x="2303859" y="5983635"/>
            <a:ext cx="4608016" cy="291703"/>
          </a:xfrm>
          <a:prstGeom prst="rect">
            <a:avLst/>
          </a:prstGeom>
          <a:solidFill>
            <a:srgbClr val="4E5B38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2447776" y="6077099"/>
            <a:ext cx="4199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USE…</a:t>
            </a:r>
            <a:endParaRPr lang="en-US" sz="680" dirty="0"/>
          </a:p>
        </p:txBody>
      </p:sp>
      <p:sp>
        <p:nvSpPr>
          <p:cNvPr id="30" name="Shape 26"/>
          <p:cNvSpPr/>
          <p:nvPr/>
        </p:nvSpPr>
        <p:spPr>
          <a:xfrm>
            <a:off x="647998" y="6642199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91914" y="6368802"/>
            <a:ext cx="10821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Banana-da-terra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2303859" y="6642199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2447776" y="6378327"/>
            <a:ext cx="48276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Banana-prata firme (cozinha mais rápido: reduza os tempos pela metade).</a:t>
            </a:r>
            <a:endParaRPr lang="en-US" sz="920" dirty="0"/>
          </a:p>
        </p:txBody>
      </p:sp>
      <p:sp>
        <p:nvSpPr>
          <p:cNvPr id="34" name="Shape 30"/>
          <p:cNvSpPr/>
          <p:nvPr/>
        </p:nvSpPr>
        <p:spPr>
          <a:xfrm>
            <a:off x="647998" y="7013823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91914" y="6740426"/>
            <a:ext cx="10184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Azeite de dendê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2303859" y="7013823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2447776" y="6749951"/>
            <a:ext cx="3998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Azeite comum com 1 colher (chá) de colorau ou páprica doce.</a:t>
            </a:r>
            <a:endParaRPr lang="en-US" sz="920" dirty="0"/>
          </a:p>
        </p:txBody>
      </p:sp>
      <p:sp>
        <p:nvSpPr>
          <p:cNvPr id="38" name="Shape 34"/>
          <p:cNvSpPr/>
          <p:nvPr/>
        </p:nvSpPr>
        <p:spPr>
          <a:xfrm>
            <a:off x="647998" y="7385447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91914" y="7112050"/>
            <a:ext cx="86335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Leite de coco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2303859" y="7385447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2447776" y="7121575"/>
            <a:ext cx="34167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Creme de leite com 2 colheres (sopa) de coco ralado.</a:t>
            </a:r>
            <a:endParaRPr lang="en-US" sz="920" dirty="0"/>
          </a:p>
        </p:txBody>
      </p:sp>
      <p:sp>
        <p:nvSpPr>
          <p:cNvPr id="42" name="Shape 38"/>
          <p:cNvSpPr/>
          <p:nvPr/>
        </p:nvSpPr>
        <p:spPr>
          <a:xfrm>
            <a:off x="647998" y="7932241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791914" y="7483673"/>
            <a:ext cx="10391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Rum ou cachaça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2303859" y="7932241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2447859" y="7493198"/>
            <a:ext cx="4320017" cy="33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Conhaque ou uísque. Sem álcool: dobre o suco de laranja e pule a flambagem.</a:t>
            </a:r>
            <a:endParaRPr lang="en-US" sz="920" dirty="0"/>
          </a:p>
        </p:txBody>
      </p:sp>
      <p:sp>
        <p:nvSpPr>
          <p:cNvPr id="46" name="Shape 42"/>
          <p:cNvSpPr/>
          <p:nvPr/>
        </p:nvSpPr>
        <p:spPr>
          <a:xfrm>
            <a:off x="647998" y="8303865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91914" y="8030468"/>
            <a:ext cx="102765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Açúcar mascavo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2303859" y="8303865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2447776" y="8039993"/>
            <a:ext cx="43590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Açúcar demerara, ou açúcar comum com 1 colher (chá) de melado.</a:t>
            </a:r>
            <a:endParaRPr lang="en-US" sz="920" dirty="0"/>
          </a:p>
        </p:txBody>
      </p:sp>
      <p:sp>
        <p:nvSpPr>
          <p:cNvPr id="50" name="Shape 46"/>
          <p:cNvSpPr/>
          <p:nvPr/>
        </p:nvSpPr>
        <p:spPr>
          <a:xfrm>
            <a:off x="647998" y="8675489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791914" y="8402092"/>
            <a:ext cx="89430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Noz-moscada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2303859" y="8675489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2447776" y="8411617"/>
            <a:ext cx="27053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pitada de canela ou de cravo em pó.</a:t>
            </a:r>
            <a:endParaRPr lang="en-US" sz="920" dirty="0"/>
          </a:p>
        </p:txBody>
      </p:sp>
      <p:sp>
        <p:nvSpPr>
          <p:cNvPr id="54" name="Shape 50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6" name="Text 52"/>
          <p:cNvSpPr txBox="1"/>
          <p:nvPr/>
        </p:nvSpPr>
        <p:spPr>
          <a:xfrm>
            <a:off x="6807250" y="10236845"/>
            <a:ext cx="2189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en-US" sz="6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808881"/>
            <a:ext cx="11548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APROVEITA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984796"/>
            <a:ext cx="26369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ISSO TAMBÉM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57147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817787"/>
            <a:ext cx="42428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Cascas, talos, ramas e aparas: o que ia para o lixo vira sabor.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21855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407" y="2303264"/>
            <a:ext cx="197048" cy="197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69789" y="2221855"/>
            <a:ext cx="34565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Casca: “carne” vegetal desfiada e temperada</a:t>
            </a:r>
            <a:endParaRPr lang="en-US" sz="1060" dirty="0"/>
          </a:p>
        </p:txBody>
      </p:sp>
      <p:sp>
        <p:nvSpPr>
          <p:cNvPr id="9" name="Text 6"/>
          <p:cNvSpPr txBox="1"/>
          <p:nvPr/>
        </p:nvSpPr>
        <p:spPr>
          <a:xfrm>
            <a:off x="1169789" y="2455515"/>
            <a:ext cx="3366195" cy="193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Funciona melhor com cascas de banana-prata ou nanica, maduras e bem lavadas (a da banana-da-terra é mais grossa: cozinhe antes por 15 minutos em água). Corte as pontas e desfie as cascas no comprimento com um garfo. Deixe de molho em água com limão por 10 minutos e escorra. Refogue cebola, alho e tomate, junte as cascas, cominho, páprica e colorau e cozinhe em fogo baixo, tampado, por 15 a 20 minutos, pingando água se secar. Ajuste o sal e finalize com cheiro-verde.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647998" y="4625876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07" y="4707285"/>
            <a:ext cx="197048" cy="197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69789" y="4625876"/>
            <a:ext cx="8323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Onde usar</a:t>
            </a:r>
            <a:endParaRPr lang="en-US" sz="1060" dirty="0"/>
          </a:p>
        </p:txBody>
      </p:sp>
      <p:sp>
        <p:nvSpPr>
          <p:cNvPr id="13" name="Text 9"/>
          <p:cNvSpPr txBox="1"/>
          <p:nvPr/>
        </p:nvSpPr>
        <p:spPr>
          <a:xfrm>
            <a:off x="1169789" y="4859536"/>
            <a:ext cx="3366195" cy="753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Recheio de pastel, tapioca e torta; fricassê com creme de leite e queijo gratinado; refogado para servir com arroz e feijão. Com as cascas de 5 bananas você faz recheio para uns 10 pastéis.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4895999" y="0"/>
            <a:ext cx="2663875" cy="10691961"/>
          </a:xfrm>
          <a:prstGeom prst="rect">
            <a:avLst/>
          </a:prstGeom>
          <a:solidFill>
            <a:srgbClr val="EEE6D8"/>
          </a:solidFill>
          <a:ln/>
        </p:spPr>
      </p:sp>
      <p:sp>
        <p:nvSpPr>
          <p:cNvPr id="15" name="Shape 11"/>
          <p:cNvSpPr/>
          <p:nvPr/>
        </p:nvSpPr>
        <p:spPr>
          <a:xfrm>
            <a:off x="4392067" y="791914"/>
            <a:ext cx="2735907" cy="2735907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75002" y="1174849"/>
            <a:ext cx="1970038" cy="197003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701" y="1530548"/>
            <a:ext cx="1258491" cy="1258491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895999" y="8459986"/>
            <a:ext cx="2663875" cy="2231975"/>
          </a:xfrm>
          <a:prstGeom prst="rect">
            <a:avLst/>
          </a:prstGeom>
          <a:solidFill>
            <a:srgbClr val="4E5B3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04" y="9341941"/>
            <a:ext cx="467916" cy="46791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7998" y="10133856"/>
            <a:ext cx="3600004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22" name="Text 16"/>
          <p:cNvSpPr txBox="1"/>
          <p:nvPr/>
        </p:nvSpPr>
        <p:spPr>
          <a:xfrm>
            <a:off x="4139952" y="10236845"/>
            <a:ext cx="2223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6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736848"/>
            <a:ext cx="12049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CAPÍTULO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912763"/>
            <a:ext cx="3527971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spc="90" kern="0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SOBRECOXA DE FRANGO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7998" y="1960513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2115889"/>
            <a:ext cx="108246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B645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 osso e pele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7998" y="2514898"/>
            <a:ext cx="3527971" cy="79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proteína é um dos itens que mais pesam no orçamento da família. A sobrecoxa é muito mais saborosa, suculenta e barata que o peito, e com técnica de chef você passa a dominá-la.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823966" y="396032"/>
            <a:ext cx="3311872" cy="331187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87566" y="859631"/>
            <a:ext cx="2384673" cy="2384673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8125" y="1290191"/>
            <a:ext cx="1523405" cy="15234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7998" y="3779937"/>
            <a:ext cx="1086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INGREDIENTE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647998" y="4003179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existe um corte que perdoa, é a sobrecoxa. Por ser carne escura, tem mais gordura e mais colágeno: aguenta mais tempo de fogo, continua suculenta e tem muito mais sabor que o peito.</a:t>
            </a:r>
            <a:endParaRPr lang="en-US" sz="990" dirty="0"/>
          </a:p>
        </p:txBody>
      </p:sp>
      <p:sp>
        <p:nvSpPr>
          <p:cNvPr id="12" name="Text 9"/>
          <p:cNvSpPr txBox="1"/>
          <p:nvPr/>
        </p:nvSpPr>
        <p:spPr>
          <a:xfrm>
            <a:off x="647998" y="4529882"/>
            <a:ext cx="6263878" cy="60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ela vem com dois presentes que quase todo mundo joga fora. A pele, que bem trabalhada fica crocante como um torresmo. E o osso, que vira um caldo capaz de transformar qualquer arroz, molho ou sopa.</a:t>
            </a:r>
            <a:endParaRPr lang="en-US" sz="990" dirty="0"/>
          </a:p>
        </p:txBody>
      </p:sp>
      <p:sp>
        <p:nvSpPr>
          <p:cNvPr id="13" name="Text 10"/>
          <p:cNvSpPr txBox="1"/>
          <p:nvPr/>
        </p:nvSpPr>
        <p:spPr>
          <a:xfrm>
            <a:off x="647998" y="5272832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Neste capítulo, a mesma peça vai para a frigideira, para a panela e para o forno, cada vez com uma técnica e um resultado diferentes.</a:t>
            </a:r>
            <a:endParaRPr lang="en-US" sz="990" dirty="0"/>
          </a:p>
        </p:txBody>
      </p:sp>
      <p:sp>
        <p:nvSpPr>
          <p:cNvPr id="14" name="Text 11"/>
          <p:cNvSpPr txBox="1"/>
          <p:nvPr/>
        </p:nvSpPr>
        <p:spPr>
          <a:xfrm>
            <a:off x="647998" y="5892701"/>
            <a:ext cx="16477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3 TRANSFORMAÇÕES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47998" y="6748909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7998" y="6287393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28514" y="6360914"/>
            <a:ext cx="2050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680" dirty="0"/>
          </a:p>
        </p:txBody>
      </p:sp>
      <p:sp>
        <p:nvSpPr>
          <p:cNvPr id="18" name="Text 15"/>
          <p:cNvSpPr txBox="1"/>
          <p:nvPr/>
        </p:nvSpPr>
        <p:spPr>
          <a:xfrm>
            <a:off x="1025872" y="6202561"/>
            <a:ext cx="16293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TÉCNICA DA FRIGIDEIRA</a:t>
            </a:r>
            <a:endParaRPr lang="en-US" sz="640" dirty="0"/>
          </a:p>
        </p:txBody>
      </p:sp>
      <p:sp>
        <p:nvSpPr>
          <p:cNvPr id="19" name="Text 16"/>
          <p:cNvSpPr txBox="1"/>
          <p:nvPr/>
        </p:nvSpPr>
        <p:spPr>
          <a:xfrm>
            <a:off x="1025872" y="6319391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Sobrecoxa desossada com pele ultracrocante ao molho rústico de limão e alho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(a pele mais crocante que você já fez)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71666" y="6454062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1" name="Text 18"/>
          <p:cNvSpPr txBox="1"/>
          <p:nvPr/>
        </p:nvSpPr>
        <p:spPr>
          <a:xfrm>
            <a:off x="6692503" y="6346627"/>
            <a:ext cx="2193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647998" y="7410450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7998" y="6948934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19882" y="7022455"/>
            <a:ext cx="222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680" dirty="0"/>
          </a:p>
        </p:txBody>
      </p:sp>
      <p:sp>
        <p:nvSpPr>
          <p:cNvPr id="25" name="Text 22"/>
          <p:cNvSpPr txBox="1"/>
          <p:nvPr/>
        </p:nvSpPr>
        <p:spPr>
          <a:xfrm>
            <a:off x="1025872" y="6864102"/>
            <a:ext cx="13029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COZIMENTO LENTO</a:t>
            </a:r>
            <a:endParaRPr lang="en-US" sz="640" dirty="0"/>
          </a:p>
        </p:txBody>
      </p:sp>
      <p:sp>
        <p:nvSpPr>
          <p:cNvPr id="26" name="Text 23"/>
          <p:cNvSpPr txBox="1"/>
          <p:nvPr/>
        </p:nvSpPr>
        <p:spPr>
          <a:xfrm>
            <a:off x="1025872" y="6980932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Frango desfiado suculento ao molho de tomate caseiro e ervas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(para massas, tortas e sanduíches)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71666" y="7115603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8" name="Text 25"/>
          <p:cNvSpPr txBox="1"/>
          <p:nvPr/>
        </p:nvSpPr>
        <p:spPr>
          <a:xfrm>
            <a:off x="6670477" y="7008168"/>
            <a:ext cx="2413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647998" y="8071991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7998" y="7610475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20328" y="7683996"/>
            <a:ext cx="2216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80" dirty="0"/>
          </a:p>
        </p:txBody>
      </p:sp>
      <p:sp>
        <p:nvSpPr>
          <p:cNvPr id="32" name="Text 29"/>
          <p:cNvSpPr txBox="1"/>
          <p:nvPr/>
        </p:nvSpPr>
        <p:spPr>
          <a:xfrm>
            <a:off x="1025872" y="7525643"/>
            <a:ext cx="15546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ASSADO TECNOLÓGICO</a:t>
            </a:r>
            <a:endParaRPr lang="en-US" sz="640" dirty="0"/>
          </a:p>
        </p:txBody>
      </p:sp>
      <p:sp>
        <p:nvSpPr>
          <p:cNvPr id="33" name="Text 30"/>
          <p:cNvSpPr txBox="1"/>
          <p:nvPr/>
        </p:nvSpPr>
        <p:spPr>
          <a:xfrm>
            <a:off x="1025872" y="7642473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Sobrecoxa marinada no iogurte com especiarias, assada até dourar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(maciez extrema, no forno ou na airfryer)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471666" y="7777144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35" name="Text 32"/>
          <p:cNvSpPr txBox="1"/>
          <p:nvPr/>
        </p:nvSpPr>
        <p:spPr>
          <a:xfrm>
            <a:off x="6670477" y="7669709"/>
            <a:ext cx="2413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38" name="Text 35"/>
          <p:cNvSpPr txBox="1"/>
          <p:nvPr/>
        </p:nvSpPr>
        <p:spPr>
          <a:xfrm>
            <a:off x="6805761" y="10236845"/>
            <a:ext cx="220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63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592931"/>
            <a:ext cx="101485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ANTES 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68846"/>
            <a:ext cx="148518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PANELA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35552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601837"/>
            <a:ext cx="449996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Escolher bem, guardar direito e cortar do jeito certo: metade do prato se resolve aqui.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13074"/>
            <a:ext cx="3041898" cy="2303264"/>
          </a:xfrm>
          <a:prstGeom prst="roundRect">
            <a:avLst>
              <a:gd name="adj" fmla="val 1862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40253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483941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520553"/>
            <a:ext cx="17408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HORA DE ESCOLHER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55456" y="295670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99456" y="2907357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Pele inteira, de cor clara e uniforme, sem manchas escuras.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855456" y="339857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99456" y="3349228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Pouco líquido na bandeja e nenhum cheiro forte.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855456" y="38404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99456" y="3791099"/>
            <a:ext cx="2500981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Congelada: sem cristais grossos de gelo, que indicam que ela descongelou e congelou de novo.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3869829" y="2213074"/>
            <a:ext cx="3042047" cy="2303264"/>
          </a:xfrm>
          <a:prstGeom prst="roundRect">
            <a:avLst>
              <a:gd name="adj" fmla="val 1862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59287" y="240253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696" y="2483941"/>
            <a:ext cx="197048" cy="19704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545062" y="2520553"/>
            <a:ext cx="12054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GUARDAR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077287" y="295670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221287" y="2907357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geladeira, na prateleira de baixo, por até 2 dias.</a:t>
            </a:r>
            <a:endParaRPr lang="en-US" sz="940" dirty="0"/>
          </a:p>
        </p:txBody>
      </p:sp>
      <p:sp>
        <p:nvSpPr>
          <p:cNvPr id="22" name="Shape 18"/>
          <p:cNvSpPr/>
          <p:nvPr/>
        </p:nvSpPr>
        <p:spPr>
          <a:xfrm>
            <a:off x="4077287" y="339857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221287" y="3349228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freezer, em porções achatadas dentro de sacos, por até 3 meses.</a:t>
            </a:r>
            <a:endParaRPr lang="en-US" sz="940" dirty="0"/>
          </a:p>
        </p:txBody>
      </p:sp>
      <p:sp>
        <p:nvSpPr>
          <p:cNvPr id="24" name="Shape 20"/>
          <p:cNvSpPr/>
          <p:nvPr/>
        </p:nvSpPr>
        <p:spPr>
          <a:xfrm>
            <a:off x="4077287" y="38404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221287" y="3791099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Descongele sempre na geladeira, de um dia para o outro. Nunca na pia.</a:t>
            </a:r>
            <a:endParaRPr lang="en-US" sz="940" dirty="0"/>
          </a:p>
        </p:txBody>
      </p:sp>
      <p:sp>
        <p:nvSpPr>
          <p:cNvPr id="26" name="Shape 22"/>
          <p:cNvSpPr/>
          <p:nvPr/>
        </p:nvSpPr>
        <p:spPr>
          <a:xfrm>
            <a:off x="647998" y="4696271"/>
            <a:ext cx="6263878" cy="1933277"/>
          </a:xfrm>
          <a:prstGeom prst="roundRect">
            <a:avLst>
              <a:gd name="adj" fmla="val 2642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37456" y="4885730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865" y="4967139"/>
            <a:ext cx="197048" cy="197048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323231" y="5003750"/>
            <a:ext cx="1793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PRÉ-PREPARO E CORTES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855456" y="543990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99381" y="5390555"/>
            <a:ext cx="60112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Seque bem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 papel-toalha antes de qualquer preparo. Pele molhada não fica crocante.</a:t>
            </a:r>
            <a:endParaRPr lang="en-US" sz="940" dirty="0"/>
          </a:p>
        </p:txBody>
      </p:sp>
      <p:sp>
        <p:nvSpPr>
          <p:cNvPr id="32" name="Shape 27"/>
          <p:cNvSpPr/>
          <p:nvPr/>
        </p:nvSpPr>
        <p:spPr>
          <a:xfrm>
            <a:off x="855456" y="569678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999456" y="5647432"/>
            <a:ext cx="572296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desossar: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 a pele para baixo, faça um corte ao longo do osso, raspe a carne em volta com a ponta da faca e solte a articulação. Guarde o osso no freezer para o caldo.</a:t>
            </a:r>
            <a:endParaRPr lang="en-US" sz="940" dirty="0"/>
          </a:p>
        </p:txBody>
      </p:sp>
      <p:sp>
        <p:nvSpPr>
          <p:cNvPr id="34" name="Shape 29"/>
          <p:cNvSpPr/>
          <p:nvPr/>
        </p:nvSpPr>
        <p:spPr>
          <a:xfrm>
            <a:off x="855456" y="613865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999456" y="6089303"/>
            <a:ext cx="572296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Salga antecipada: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 colher (chá) de sal para cada 500 g, de 1 hora até 24 horas antes, na geladeira e descoberta. A carne fica mais temperada e a pele, mais seca.</a:t>
            </a:r>
            <a:endParaRPr lang="en-US" sz="940" dirty="0"/>
          </a:p>
        </p:txBody>
      </p:sp>
      <p:sp>
        <p:nvSpPr>
          <p:cNvPr id="36" name="Shape 31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38" name="Text 33"/>
          <p:cNvSpPr txBox="1"/>
          <p:nvPr/>
        </p:nvSpPr>
        <p:spPr>
          <a:xfrm>
            <a:off x="6786116" y="10236845"/>
            <a:ext cx="2400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6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77834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3.1 · A TÉCNICA DA FRIGIDEIRA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Sobrecoxa desossada com pele ultracrocante ao molho rústico de limão e alho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57388"/>
            <a:ext cx="23454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pele mais crocante que você já fez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96282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52377"/>
            <a:ext cx="4783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 MIN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505968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7788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289" y="2396282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55763" y="2352377"/>
            <a:ext cx="935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A 4 PORÇÕES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55763" y="2505968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Text 13"/>
          <p:cNvSpPr txBox="1"/>
          <p:nvPr/>
        </p:nvSpPr>
        <p:spPr>
          <a:xfrm>
            <a:off x="647998" y="3264991"/>
            <a:ext cx="5753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FRANGO</a:t>
            </a:r>
            <a:endParaRPr lang="en-US" sz="660" dirty="0"/>
          </a:p>
        </p:txBody>
      </p:sp>
      <p:sp>
        <p:nvSpPr>
          <p:cNvPr id="19" name="Shape 14"/>
          <p:cNvSpPr/>
          <p:nvPr/>
        </p:nvSpPr>
        <p:spPr>
          <a:xfrm>
            <a:off x="665998" y="349204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09923" y="3433167"/>
            <a:ext cx="22252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sobrecoxas desossadas, com pele</a:t>
            </a:r>
            <a:endParaRPr lang="en-US" sz="890" dirty="0"/>
          </a:p>
        </p:txBody>
      </p:sp>
      <p:sp>
        <p:nvSpPr>
          <p:cNvPr id="21" name="Shape 16"/>
          <p:cNvSpPr/>
          <p:nvPr/>
        </p:nvSpPr>
        <p:spPr>
          <a:xfrm>
            <a:off x="665998" y="370962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09923" y="3650754"/>
            <a:ext cx="14575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 e pimenta-do-reino</a:t>
            </a:r>
            <a:endParaRPr lang="en-US" sz="890" dirty="0"/>
          </a:p>
        </p:txBody>
      </p:sp>
      <p:sp>
        <p:nvSpPr>
          <p:cNvPr id="23" name="Shape 18"/>
          <p:cNvSpPr/>
          <p:nvPr/>
        </p:nvSpPr>
        <p:spPr>
          <a:xfrm>
            <a:off x="665998" y="392721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09923" y="3868341"/>
            <a:ext cx="13194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óleo</a:t>
            </a:r>
            <a:endParaRPr lang="en-US" sz="890" dirty="0"/>
          </a:p>
        </p:txBody>
      </p:sp>
      <p:sp>
        <p:nvSpPr>
          <p:cNvPr id="25" name="Text 20"/>
          <p:cNvSpPr txBox="1"/>
          <p:nvPr/>
        </p:nvSpPr>
        <p:spPr>
          <a:xfrm>
            <a:off x="647998" y="4130427"/>
            <a:ext cx="5206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MOLHO</a:t>
            </a:r>
            <a:endParaRPr lang="en-US" sz="660" dirty="0"/>
          </a:p>
        </p:txBody>
      </p:sp>
      <p:sp>
        <p:nvSpPr>
          <p:cNvPr id="26" name="Shape 21"/>
          <p:cNvSpPr/>
          <p:nvPr/>
        </p:nvSpPr>
        <p:spPr>
          <a:xfrm>
            <a:off x="665998" y="435747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23" y="4298603"/>
            <a:ext cx="15900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dentes de alho fatiados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457506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98" y="4516189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 ml de caldo de frango (ou água)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495636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23" y="4897487"/>
            <a:ext cx="15223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Suco e raspas de 1 limão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665998" y="51739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9998" y="5115074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colheres (sopa) de manteiga gelada</a:t>
            </a:r>
            <a:endParaRPr lang="en-US" sz="890" dirty="0"/>
          </a:p>
        </p:txBody>
      </p:sp>
      <p:sp>
        <p:nvSpPr>
          <p:cNvPr id="34" name="Shape 29"/>
          <p:cNvSpPr/>
          <p:nvPr/>
        </p:nvSpPr>
        <p:spPr>
          <a:xfrm>
            <a:off x="665998" y="555524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09923" y="5496371"/>
            <a:ext cx="9958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Salsinha picada</a:t>
            </a:r>
            <a:endParaRPr lang="en-US" sz="890" dirty="0"/>
          </a:p>
        </p:txBody>
      </p:sp>
      <p:sp>
        <p:nvSpPr>
          <p:cNvPr id="36" name="Shape 31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8" name="Shape 33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40" name="Text 35"/>
          <p:cNvSpPr txBox="1"/>
          <p:nvPr/>
        </p:nvSpPr>
        <p:spPr>
          <a:xfrm>
            <a:off x="3419773" y="328404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Seque muito bem as sobrecoxas e tempere com sal e pimenta dos dois lados.</a:t>
            </a:r>
            <a:endParaRPr lang="en-US" sz="930" dirty="0"/>
          </a:p>
        </p:txBody>
      </p:sp>
      <p:sp>
        <p:nvSpPr>
          <p:cNvPr id="41" name="Shape 36"/>
          <p:cNvSpPr/>
          <p:nvPr/>
        </p:nvSpPr>
        <p:spPr>
          <a:xfrm>
            <a:off x="3131939" y="373528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3198614" y="377755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3" name="Text 38"/>
          <p:cNvSpPr txBox="1"/>
          <p:nvPr/>
        </p:nvSpPr>
        <p:spPr>
          <a:xfrm>
            <a:off x="3419773" y="3743623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Coloque o óleo numa frigideira de fundo grosso e disponha as sobrecoxas com a pele para baixo, ainda com a frigideira fria. Ligue em fogo médio.</a:t>
            </a:r>
            <a:endParaRPr lang="en-US" sz="930" dirty="0"/>
          </a:p>
        </p:txBody>
      </p:sp>
      <p:sp>
        <p:nvSpPr>
          <p:cNvPr id="44" name="Shape 39"/>
          <p:cNvSpPr/>
          <p:nvPr/>
        </p:nvSpPr>
        <p:spPr>
          <a:xfrm>
            <a:off x="3131939" y="437792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3198614" y="442019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6" name="Text 41"/>
          <p:cNvSpPr txBox="1"/>
          <p:nvPr/>
        </p:nvSpPr>
        <p:spPr>
          <a:xfrm>
            <a:off x="3419773" y="4386263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Coloque um peso por cima (uma panela menor com água, por exemplo) e deixe por 12 a 15 minutos </a:t>
            </a:r>
            <a:pPr algn="l" indent="0" marL="0">
              <a:lnSpc>
                <a:spcPts val="1440"/>
              </a:lnSpc>
              <a:buNone/>
            </a:pPr>
            <a:r>
              <a:rPr lang="en-US" sz="93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 mexer</a:t>
            </a:r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A gordura da pele derrete aos poucos e ela frita na própria gordura até ficar dourada e crocante.</a:t>
            </a:r>
            <a:endParaRPr lang="en-US" sz="930" dirty="0"/>
          </a:p>
        </p:txBody>
      </p:sp>
      <p:sp>
        <p:nvSpPr>
          <p:cNvPr id="47" name="Shape 42"/>
          <p:cNvSpPr/>
          <p:nvPr/>
        </p:nvSpPr>
        <p:spPr>
          <a:xfrm>
            <a:off x="3131939" y="520362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3194745" y="5245894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9" name="Text 44"/>
          <p:cNvSpPr txBox="1"/>
          <p:nvPr/>
        </p:nvSpPr>
        <p:spPr>
          <a:xfrm>
            <a:off x="3419773" y="521196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Vire e cozinhe por mais 4 a 6 minutos, até o centro atingir 75 °C ou o suco sair transparente ao furar.</a:t>
            </a:r>
            <a:endParaRPr lang="en-US" sz="930" dirty="0"/>
          </a:p>
        </p:txBody>
      </p:sp>
      <p:sp>
        <p:nvSpPr>
          <p:cNvPr id="50" name="Shape 45"/>
          <p:cNvSpPr/>
          <p:nvPr/>
        </p:nvSpPr>
        <p:spPr>
          <a:xfrm>
            <a:off x="3131939" y="566320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3198465" y="5705475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2" name="Text 47"/>
          <p:cNvSpPr txBox="1"/>
          <p:nvPr/>
        </p:nvSpPr>
        <p:spPr>
          <a:xfrm>
            <a:off x="3419773" y="5671542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Transfira para uma grade ou prato, com a pele para cima, e deixe descansar 5 minutos.</a:t>
            </a:r>
            <a:endParaRPr lang="en-US" sz="930" dirty="0"/>
          </a:p>
        </p:txBody>
      </p:sp>
      <p:sp>
        <p:nvSpPr>
          <p:cNvPr id="53" name="Shape 48"/>
          <p:cNvSpPr/>
          <p:nvPr/>
        </p:nvSpPr>
        <p:spPr>
          <a:xfrm>
            <a:off x="3131939" y="6122789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4" name="Text 49"/>
          <p:cNvSpPr txBox="1"/>
          <p:nvPr/>
        </p:nvSpPr>
        <p:spPr>
          <a:xfrm>
            <a:off x="3196828" y="6165056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5" name="Text 50"/>
          <p:cNvSpPr txBox="1"/>
          <p:nvPr/>
        </p:nvSpPr>
        <p:spPr>
          <a:xfrm>
            <a:off x="3419773" y="6131123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Retire o excesso de gordura da frigideira, deixando cerca de 1 colher. Em fogo baixo, doure o alho por 1 minuto.</a:t>
            </a:r>
            <a:endParaRPr lang="en-US" sz="930" dirty="0"/>
          </a:p>
        </p:txBody>
      </p:sp>
      <p:sp>
        <p:nvSpPr>
          <p:cNvPr id="56" name="Shape 51"/>
          <p:cNvSpPr/>
          <p:nvPr/>
        </p:nvSpPr>
        <p:spPr>
          <a:xfrm>
            <a:off x="3131939" y="658237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7" name="Text 52"/>
          <p:cNvSpPr txBox="1"/>
          <p:nvPr/>
        </p:nvSpPr>
        <p:spPr>
          <a:xfrm>
            <a:off x="3197572" y="6624637"/>
            <a:ext cx="1628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630" dirty="0"/>
          </a:p>
        </p:txBody>
      </p:sp>
      <p:sp>
        <p:nvSpPr>
          <p:cNvPr id="58" name="Text 53"/>
          <p:cNvSpPr txBox="1"/>
          <p:nvPr/>
        </p:nvSpPr>
        <p:spPr>
          <a:xfrm>
            <a:off x="3419773" y="6590705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Junte o caldo e raspe bem o fundo com uma colher de pau. Deixe reduzir à metade. Desligue o fogo, junte o suco e as raspas de limão e a manteiga gelada, mexendo até o molho engrossar e brilhar. Finalize com salsinha.</a:t>
            </a:r>
            <a:endParaRPr lang="en-US" sz="930" dirty="0"/>
          </a:p>
        </p:txBody>
      </p:sp>
      <p:sp>
        <p:nvSpPr>
          <p:cNvPr id="59" name="Shape 54"/>
          <p:cNvSpPr/>
          <p:nvPr/>
        </p:nvSpPr>
        <p:spPr>
          <a:xfrm>
            <a:off x="3131939" y="7408069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60" name="Text 55"/>
          <p:cNvSpPr txBox="1"/>
          <p:nvPr/>
        </p:nvSpPr>
        <p:spPr>
          <a:xfrm>
            <a:off x="3195786" y="7450336"/>
            <a:ext cx="1663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630" dirty="0"/>
          </a:p>
        </p:txBody>
      </p:sp>
      <p:sp>
        <p:nvSpPr>
          <p:cNvPr id="61" name="Text 56"/>
          <p:cNvSpPr txBox="1"/>
          <p:nvPr/>
        </p:nvSpPr>
        <p:spPr>
          <a:xfrm>
            <a:off x="3419773" y="7416403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Sirva o molho no fundo do prato e o frango por cima, para a pele continuar crocante.</a:t>
            </a:r>
            <a:endParaRPr lang="en-US" sz="930" dirty="0"/>
          </a:p>
        </p:txBody>
      </p:sp>
      <p:sp>
        <p:nvSpPr>
          <p:cNvPr id="62" name="Shape 57"/>
          <p:cNvSpPr/>
          <p:nvPr/>
        </p:nvSpPr>
        <p:spPr>
          <a:xfrm>
            <a:off x="647998" y="9054703"/>
            <a:ext cx="6263878" cy="845195"/>
          </a:xfrm>
          <a:prstGeom prst="roundRect">
            <a:avLst>
              <a:gd name="adj" fmla="val 13824"/>
            </a:avLst>
          </a:prstGeom>
          <a:solidFill>
            <a:srgbClr val="EEE6D8"/>
          </a:solidFill>
          <a:ln/>
        </p:spPr>
      </p:sp>
      <p:sp>
        <p:nvSpPr>
          <p:cNvPr id="63" name="Shape 58"/>
          <p:cNvSpPr/>
          <p:nvPr/>
        </p:nvSpPr>
        <p:spPr>
          <a:xfrm>
            <a:off x="827931" y="921662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6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98037"/>
            <a:ext cx="197048" cy="197048"/>
          </a:xfrm>
          <a:prstGeom prst="rect">
            <a:avLst/>
          </a:prstGeom>
        </p:spPr>
      </p:pic>
      <p:sp>
        <p:nvSpPr>
          <p:cNvPr id="65" name="Text 59"/>
          <p:cNvSpPr txBox="1"/>
          <p:nvPr/>
        </p:nvSpPr>
        <p:spPr>
          <a:xfrm>
            <a:off x="1331714" y="921662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66" name="Text 60"/>
          <p:cNvSpPr txBox="1"/>
          <p:nvPr/>
        </p:nvSpPr>
        <p:spPr>
          <a:xfrm>
            <a:off x="1331714" y="9366796"/>
            <a:ext cx="540022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Aquele fundo grudado na frigideira é sabor puro. Soltá-lo com um líquido (deglaçar) transforma o que iria para a pia no melhor molho do prato.</a:t>
            </a:r>
            <a:endParaRPr lang="en-US" sz="1000" dirty="0"/>
          </a:p>
        </p:txBody>
      </p:sp>
      <p:sp>
        <p:nvSpPr>
          <p:cNvPr id="67" name="Shape 61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8" name="Text 62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9" name="Text 63"/>
          <p:cNvSpPr txBox="1"/>
          <p:nvPr/>
        </p:nvSpPr>
        <p:spPr>
          <a:xfrm>
            <a:off x="6809333" y="10236845"/>
            <a:ext cx="2168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en-US" sz="6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4316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3.2 · O COZIMENTO LENTO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Frango desfiado suculento ao molho de tomate caseiro e ervas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57388"/>
            <a:ext cx="21666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para massas, tortas e sanduíches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96282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52377"/>
            <a:ext cx="1865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1H20 (OU 40 MIN NA PRESSÃO)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505968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2979241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642" y="2396282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57116" y="2352377"/>
            <a:ext cx="7311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PORÇÕES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3357116" y="2505968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Shape 13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98" y="327451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sobrecoxas com osso e pele (cerca de 1 kg)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371468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23" y="3655814"/>
            <a:ext cx="14575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 e pimenta-do-reino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393227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23" y="3873401"/>
            <a:ext cx="14938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(sopa) de azeite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14986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23" y="4090987"/>
            <a:ext cx="9700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cebola picada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43674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23" y="4308574"/>
            <a:ext cx="15671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dentes de alho picados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458503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23" y="4526161"/>
            <a:ext cx="10231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cenoura ralada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480262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98" y="4743748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(sopa) de extrato de tomate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665998" y="518392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9998" y="5125045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tomates bem maduros picados (ou 1 lata de tomate pelado)</a:t>
            </a:r>
            <a:endParaRPr lang="en-US" sz="890" dirty="0"/>
          </a:p>
        </p:txBody>
      </p:sp>
      <p:sp>
        <p:nvSpPr>
          <p:cNvPr id="34" name="Shape 29"/>
          <p:cNvSpPr/>
          <p:nvPr/>
        </p:nvSpPr>
        <p:spPr>
          <a:xfrm>
            <a:off x="665998" y="556521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09923" y="5506343"/>
            <a:ext cx="962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folha de louro</a:t>
            </a:r>
            <a:endParaRPr lang="en-US" sz="890" dirty="0"/>
          </a:p>
        </p:txBody>
      </p:sp>
      <p:sp>
        <p:nvSpPr>
          <p:cNvPr id="36" name="Shape 31"/>
          <p:cNvSpPr/>
          <p:nvPr/>
        </p:nvSpPr>
        <p:spPr>
          <a:xfrm>
            <a:off x="665998" y="578280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809923" y="5723930"/>
            <a:ext cx="22086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 ml de caldo de frango ou água</a:t>
            </a:r>
            <a:endParaRPr lang="en-US" sz="890" dirty="0"/>
          </a:p>
        </p:txBody>
      </p:sp>
      <p:sp>
        <p:nvSpPr>
          <p:cNvPr id="38" name="Shape 33"/>
          <p:cNvSpPr/>
          <p:nvPr/>
        </p:nvSpPr>
        <p:spPr>
          <a:xfrm>
            <a:off x="665998" y="6000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809998" y="594151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Orégano, manjericão e cheiro-verde a gosto</a:t>
            </a:r>
            <a:endParaRPr lang="en-US" sz="890" dirty="0"/>
          </a:p>
        </p:txBody>
      </p:sp>
      <p:sp>
        <p:nvSpPr>
          <p:cNvPr id="40" name="Shape 35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42" name="Shape 37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44" name="Text 39"/>
          <p:cNvSpPr txBox="1"/>
          <p:nvPr/>
        </p:nvSpPr>
        <p:spPr>
          <a:xfrm>
            <a:off x="3419773" y="3284041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Seque e tempere as sobrecoxas com sal e pimenta. Doure no azeite, com a pele para baixo, por 6 a 8 minutos, até ficarem bem douradas. Vire, doure o outro lado por 2 minutos e reserve.</a:t>
            </a:r>
            <a:endParaRPr lang="en-US" sz="930" dirty="0"/>
          </a:p>
        </p:txBody>
      </p:sp>
      <p:sp>
        <p:nvSpPr>
          <p:cNvPr id="45" name="Shape 40"/>
          <p:cNvSpPr/>
          <p:nvPr/>
        </p:nvSpPr>
        <p:spPr>
          <a:xfrm>
            <a:off x="3131939" y="4101405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3198614" y="4143673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7" name="Text 42"/>
          <p:cNvSpPr txBox="1"/>
          <p:nvPr/>
        </p:nvSpPr>
        <p:spPr>
          <a:xfrm>
            <a:off x="3419773" y="4109740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gordura que ficou na panela, refogue a cebola, o alho e a cenoura até ficarem macios.</a:t>
            </a:r>
            <a:endParaRPr lang="en-US" sz="930" dirty="0"/>
          </a:p>
        </p:txBody>
      </p:sp>
      <p:sp>
        <p:nvSpPr>
          <p:cNvPr id="48" name="Shape 43"/>
          <p:cNvSpPr/>
          <p:nvPr/>
        </p:nvSpPr>
        <p:spPr>
          <a:xfrm>
            <a:off x="3131939" y="456098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3198614" y="4603254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50" name="Text 45"/>
          <p:cNvSpPr txBox="1"/>
          <p:nvPr/>
        </p:nvSpPr>
        <p:spPr>
          <a:xfrm>
            <a:off x="3419773" y="4569321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Junte o extrato de tomate e mexa por 1 minuto, até ele escurecer levemente. Isso tira o gosto ácido de lata e aprofunda o sabor.</a:t>
            </a:r>
            <a:endParaRPr lang="en-US" sz="930" dirty="0"/>
          </a:p>
        </p:txBody>
      </p:sp>
      <p:sp>
        <p:nvSpPr>
          <p:cNvPr id="51" name="Shape 46"/>
          <p:cNvSpPr/>
          <p:nvPr/>
        </p:nvSpPr>
        <p:spPr>
          <a:xfrm>
            <a:off x="3131939" y="520362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2" name="Text 47"/>
          <p:cNvSpPr txBox="1"/>
          <p:nvPr/>
        </p:nvSpPr>
        <p:spPr>
          <a:xfrm>
            <a:off x="3194745" y="5245894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53" name="Text 48"/>
          <p:cNvSpPr txBox="1"/>
          <p:nvPr/>
        </p:nvSpPr>
        <p:spPr>
          <a:xfrm>
            <a:off x="3419773" y="521196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Acrescente os tomates, o louro e o caldo, raspando o fundo. Volte o frango para a panela.</a:t>
            </a:r>
            <a:endParaRPr lang="en-US" sz="930" dirty="0"/>
          </a:p>
        </p:txBody>
      </p:sp>
      <p:sp>
        <p:nvSpPr>
          <p:cNvPr id="54" name="Shape 49"/>
          <p:cNvSpPr/>
          <p:nvPr/>
        </p:nvSpPr>
        <p:spPr>
          <a:xfrm>
            <a:off x="3131939" y="566320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5" name="Text 50"/>
          <p:cNvSpPr txBox="1"/>
          <p:nvPr/>
        </p:nvSpPr>
        <p:spPr>
          <a:xfrm>
            <a:off x="3198465" y="5705475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6" name="Text 51"/>
          <p:cNvSpPr txBox="1"/>
          <p:nvPr/>
        </p:nvSpPr>
        <p:spPr>
          <a:xfrm>
            <a:off x="3419773" y="5671542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Tampe e cozinhe em fogo baixo por 50 a 60 minutos (ou 20 minutos na panela de pressão), até a carne soltar do osso.</a:t>
            </a:r>
            <a:endParaRPr lang="en-US" sz="930" dirty="0"/>
          </a:p>
        </p:txBody>
      </p:sp>
      <p:sp>
        <p:nvSpPr>
          <p:cNvPr id="57" name="Shape 52"/>
          <p:cNvSpPr/>
          <p:nvPr/>
        </p:nvSpPr>
        <p:spPr>
          <a:xfrm>
            <a:off x="3131939" y="6122789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8" name="Text 53"/>
          <p:cNvSpPr txBox="1"/>
          <p:nvPr/>
        </p:nvSpPr>
        <p:spPr>
          <a:xfrm>
            <a:off x="3196828" y="6165056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9" name="Text 54"/>
          <p:cNvSpPr txBox="1"/>
          <p:nvPr/>
        </p:nvSpPr>
        <p:spPr>
          <a:xfrm>
            <a:off x="3419773" y="6131123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Retire os ossos e a pele (guarde os ossos para o caldo). Desfie a carne com dois garfos dentro do próprio molho.</a:t>
            </a:r>
            <a:endParaRPr lang="en-US" sz="930" dirty="0"/>
          </a:p>
        </p:txBody>
      </p:sp>
      <p:sp>
        <p:nvSpPr>
          <p:cNvPr id="60" name="Shape 55"/>
          <p:cNvSpPr/>
          <p:nvPr/>
        </p:nvSpPr>
        <p:spPr>
          <a:xfrm>
            <a:off x="3131939" y="658237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61" name="Text 56"/>
          <p:cNvSpPr txBox="1"/>
          <p:nvPr/>
        </p:nvSpPr>
        <p:spPr>
          <a:xfrm>
            <a:off x="3197572" y="6624637"/>
            <a:ext cx="1628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630" dirty="0"/>
          </a:p>
        </p:txBody>
      </p:sp>
      <p:sp>
        <p:nvSpPr>
          <p:cNvPr id="62" name="Text 57"/>
          <p:cNvSpPr txBox="1"/>
          <p:nvPr/>
        </p:nvSpPr>
        <p:spPr>
          <a:xfrm>
            <a:off x="3419773" y="6590705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Cozinhe destampado até o molho envolver o frango. Finalize com as ervas e acerte o sal.</a:t>
            </a:r>
            <a:endParaRPr lang="en-US" sz="930" dirty="0"/>
          </a:p>
        </p:txBody>
      </p:sp>
      <p:sp>
        <p:nvSpPr>
          <p:cNvPr id="63" name="Shape 58"/>
          <p:cNvSpPr/>
          <p:nvPr/>
        </p:nvSpPr>
        <p:spPr>
          <a:xfrm>
            <a:off x="647998" y="9054703"/>
            <a:ext cx="6263878" cy="845195"/>
          </a:xfrm>
          <a:prstGeom prst="roundRect">
            <a:avLst>
              <a:gd name="adj" fmla="val 13824"/>
            </a:avLst>
          </a:prstGeom>
          <a:solidFill>
            <a:srgbClr val="EEE6D8"/>
          </a:solidFill>
          <a:ln/>
        </p:spPr>
      </p:sp>
      <p:sp>
        <p:nvSpPr>
          <p:cNvPr id="64" name="Shape 59"/>
          <p:cNvSpPr/>
          <p:nvPr/>
        </p:nvSpPr>
        <p:spPr>
          <a:xfrm>
            <a:off x="827931" y="921662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6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98037"/>
            <a:ext cx="197048" cy="197048"/>
          </a:xfrm>
          <a:prstGeom prst="rect">
            <a:avLst/>
          </a:prstGeom>
        </p:spPr>
      </p:pic>
      <p:sp>
        <p:nvSpPr>
          <p:cNvPr id="66" name="Text 60"/>
          <p:cNvSpPr txBox="1"/>
          <p:nvPr/>
        </p:nvSpPr>
        <p:spPr>
          <a:xfrm>
            <a:off x="1331714" y="921662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67" name="Text 61"/>
          <p:cNvSpPr txBox="1"/>
          <p:nvPr/>
        </p:nvSpPr>
        <p:spPr>
          <a:xfrm>
            <a:off x="1331714" y="9366796"/>
            <a:ext cx="540022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Desfiar dentro do molho faz a carne absorver o líquido e continuar suculenta. Use em sanduíches, massas, tortas, panquecas ou sobre polenta mole.</a:t>
            </a:r>
            <a:endParaRPr lang="en-US" sz="1000" dirty="0"/>
          </a:p>
        </p:txBody>
      </p:sp>
      <p:sp>
        <p:nvSpPr>
          <p:cNvPr id="68" name="Shape 62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9" name="Text 63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70" name="Text 64"/>
          <p:cNvSpPr txBox="1"/>
          <p:nvPr/>
        </p:nvSpPr>
        <p:spPr>
          <a:xfrm>
            <a:off x="6793409" y="10236845"/>
            <a:ext cx="2327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</a:t>
            </a:r>
            <a:endParaRPr lang="en-US" sz="6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7131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3.3 · O ASSADO TECNOLÓGICO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Sobrecoxa marinada no iogurte com especiarias, assada até dourar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57388"/>
            <a:ext cx="266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maciez extrema, no forno ou na airfryer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96282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52377"/>
            <a:ext cx="1982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 MIN (MAIS 2 H DE MARINADA)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505968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3084314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715" y="2396282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62189" y="2352377"/>
            <a:ext cx="9397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A 6 PORÇÕES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3462189" y="2505968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Text 13"/>
          <p:cNvSpPr txBox="1"/>
          <p:nvPr/>
        </p:nvSpPr>
        <p:spPr>
          <a:xfrm>
            <a:off x="647998" y="3264991"/>
            <a:ext cx="7142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MARINADA</a:t>
            </a:r>
            <a:endParaRPr lang="en-US" sz="660" dirty="0"/>
          </a:p>
        </p:txBody>
      </p:sp>
      <p:sp>
        <p:nvSpPr>
          <p:cNvPr id="19" name="Shape 14"/>
          <p:cNvSpPr/>
          <p:nvPr/>
        </p:nvSpPr>
        <p:spPr>
          <a:xfrm>
            <a:off x="665998" y="349204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09998" y="3433167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170 g de iogurte natural integral (1 pote)</a:t>
            </a:r>
            <a:endParaRPr lang="en-US" sz="890" dirty="0"/>
          </a:p>
        </p:txBody>
      </p:sp>
      <p:sp>
        <p:nvSpPr>
          <p:cNvPr id="21" name="Shape 16"/>
          <p:cNvSpPr/>
          <p:nvPr/>
        </p:nvSpPr>
        <p:spPr>
          <a:xfrm>
            <a:off x="665998" y="387334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09923" y="3814465"/>
            <a:ext cx="15303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dentes de alho ralados</a:t>
            </a:r>
            <a:endParaRPr lang="en-US" sz="890" dirty="0"/>
          </a:p>
        </p:txBody>
      </p:sp>
      <p:sp>
        <p:nvSpPr>
          <p:cNvPr id="23" name="Shape 18"/>
          <p:cNvSpPr/>
          <p:nvPr/>
        </p:nvSpPr>
        <p:spPr>
          <a:xfrm>
            <a:off x="665998" y="409092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09923" y="4032052"/>
            <a:ext cx="20580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gengibre ralado</a:t>
            </a:r>
            <a:endParaRPr lang="en-US" sz="890" dirty="0"/>
          </a:p>
        </p:txBody>
      </p:sp>
      <p:sp>
        <p:nvSpPr>
          <p:cNvPr id="25" name="Shape 20"/>
          <p:cNvSpPr/>
          <p:nvPr/>
        </p:nvSpPr>
        <p:spPr>
          <a:xfrm>
            <a:off x="665998" y="430851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09923" y="4249638"/>
            <a:ext cx="18705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páprica doce</a:t>
            </a:r>
            <a:endParaRPr lang="en-US" sz="890" dirty="0"/>
          </a:p>
        </p:txBody>
      </p:sp>
      <p:sp>
        <p:nvSpPr>
          <p:cNvPr id="27" name="Shape 22"/>
          <p:cNvSpPr/>
          <p:nvPr/>
        </p:nvSpPr>
        <p:spPr>
          <a:xfrm>
            <a:off x="665998" y="452610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809923" y="4467225"/>
            <a:ext cx="20604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cominho em pó</a:t>
            </a:r>
            <a:endParaRPr lang="en-US" sz="890" dirty="0"/>
          </a:p>
        </p:txBody>
      </p:sp>
      <p:sp>
        <p:nvSpPr>
          <p:cNvPr id="29" name="Shape 24"/>
          <p:cNvSpPr/>
          <p:nvPr/>
        </p:nvSpPr>
        <p:spPr>
          <a:xfrm>
            <a:off x="665998" y="474368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809923" y="4684812"/>
            <a:ext cx="17053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½ colher (chá) de cúrcuma</a:t>
            </a:r>
            <a:endParaRPr lang="en-US" sz="890" dirty="0"/>
          </a:p>
        </p:txBody>
      </p:sp>
      <p:sp>
        <p:nvSpPr>
          <p:cNvPr id="31" name="Shape 26"/>
          <p:cNvSpPr/>
          <p:nvPr/>
        </p:nvSpPr>
        <p:spPr>
          <a:xfrm>
            <a:off x="665998" y="496127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809923" y="4902398"/>
            <a:ext cx="16068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Suco e raspas de ½ limão</a:t>
            </a:r>
            <a:endParaRPr lang="en-US" sz="890" dirty="0"/>
          </a:p>
        </p:txBody>
      </p:sp>
      <p:sp>
        <p:nvSpPr>
          <p:cNvPr id="33" name="Shape 28"/>
          <p:cNvSpPr/>
          <p:nvPr/>
        </p:nvSpPr>
        <p:spPr>
          <a:xfrm>
            <a:off x="665998" y="517886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809923" y="5119985"/>
            <a:ext cx="12208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sal</a:t>
            </a:r>
            <a:endParaRPr lang="en-US" sz="890" dirty="0"/>
          </a:p>
        </p:txBody>
      </p:sp>
      <p:sp>
        <p:nvSpPr>
          <p:cNvPr id="35" name="Shape 30"/>
          <p:cNvSpPr/>
          <p:nvPr/>
        </p:nvSpPr>
        <p:spPr>
          <a:xfrm>
            <a:off x="665998" y="539644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809923" y="5337572"/>
            <a:ext cx="14938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(sopa) de azeite</a:t>
            </a:r>
            <a:endParaRPr lang="en-US" sz="890" dirty="0"/>
          </a:p>
        </p:txBody>
      </p:sp>
      <p:sp>
        <p:nvSpPr>
          <p:cNvPr id="37" name="Text 32"/>
          <p:cNvSpPr txBox="1"/>
          <p:nvPr/>
        </p:nvSpPr>
        <p:spPr>
          <a:xfrm>
            <a:off x="647998" y="5599658"/>
            <a:ext cx="5753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FRANGO</a:t>
            </a:r>
            <a:endParaRPr lang="en-US" sz="660" dirty="0"/>
          </a:p>
        </p:txBody>
      </p:sp>
      <p:sp>
        <p:nvSpPr>
          <p:cNvPr id="38" name="Shape 33"/>
          <p:cNvSpPr/>
          <p:nvPr/>
        </p:nvSpPr>
        <p:spPr>
          <a:xfrm>
            <a:off x="665998" y="582670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809923" y="5767834"/>
            <a:ext cx="18600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sobrecoxas com osso e pele</a:t>
            </a:r>
            <a:endParaRPr lang="en-US" sz="890" dirty="0"/>
          </a:p>
        </p:txBody>
      </p:sp>
      <p:sp>
        <p:nvSpPr>
          <p:cNvPr id="40" name="Shape 35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42" name="Shape 37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44" name="Text 39"/>
          <p:cNvSpPr txBox="1"/>
          <p:nvPr/>
        </p:nvSpPr>
        <p:spPr>
          <a:xfrm>
            <a:off x="3419773" y="3284041"/>
            <a:ext cx="370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Misture todos os ingredientes da marinada numa tigela.</a:t>
            </a:r>
            <a:endParaRPr lang="en-US" sz="930" dirty="0"/>
          </a:p>
        </p:txBody>
      </p:sp>
      <p:sp>
        <p:nvSpPr>
          <p:cNvPr id="45" name="Shape 40"/>
          <p:cNvSpPr/>
          <p:nvPr/>
        </p:nvSpPr>
        <p:spPr>
          <a:xfrm>
            <a:off x="3131939" y="355982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3198614" y="3602087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7" name="Text 42"/>
          <p:cNvSpPr txBox="1"/>
          <p:nvPr/>
        </p:nvSpPr>
        <p:spPr>
          <a:xfrm>
            <a:off x="3419773" y="3568154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Faça 2 cortes rasos em cada sobrecoxa, do lado da pele, e envolva bem na marinada. Cubra e leve à geladeira por no mínimo 2 horas, idealmente de um dia para o outro.</a:t>
            </a:r>
            <a:endParaRPr lang="en-US" sz="930" dirty="0"/>
          </a:p>
        </p:txBody>
      </p:sp>
      <p:sp>
        <p:nvSpPr>
          <p:cNvPr id="48" name="Shape 43"/>
          <p:cNvSpPr/>
          <p:nvPr/>
        </p:nvSpPr>
        <p:spPr>
          <a:xfrm>
            <a:off x="3131939" y="420246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3198614" y="4244727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50" name="Text 45"/>
          <p:cNvSpPr txBox="1"/>
          <p:nvPr/>
        </p:nvSpPr>
        <p:spPr>
          <a:xfrm>
            <a:off x="3419773" y="4210794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Retire o excesso de marinada e disponha as sobrecoxas com a pele para cima, sobre uma grade apoiada na assadeira (ou sobre papel-manteiga), bem espaçadas.</a:t>
            </a:r>
            <a:endParaRPr lang="en-US" sz="930" dirty="0"/>
          </a:p>
        </p:txBody>
      </p:sp>
      <p:sp>
        <p:nvSpPr>
          <p:cNvPr id="51" name="Shape 46"/>
          <p:cNvSpPr/>
          <p:nvPr/>
        </p:nvSpPr>
        <p:spPr>
          <a:xfrm>
            <a:off x="3131939" y="484510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2" name="Text 47"/>
          <p:cNvSpPr txBox="1"/>
          <p:nvPr/>
        </p:nvSpPr>
        <p:spPr>
          <a:xfrm>
            <a:off x="3194745" y="4887367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53" name="Text 48"/>
          <p:cNvSpPr txBox="1"/>
          <p:nvPr/>
        </p:nvSpPr>
        <p:spPr>
          <a:xfrm>
            <a:off x="3419773" y="4853434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forno:</a:t>
            </a:r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asse a 220 °C por 35 a 40 minutos. Nos últimos 5 minutos, ligue o grill, se o seu forno tiver, para formar manchas tostadas.</a:t>
            </a:r>
            <a:endParaRPr lang="en-US" sz="930" dirty="0"/>
          </a:p>
        </p:txBody>
      </p:sp>
      <p:sp>
        <p:nvSpPr>
          <p:cNvPr id="54" name="Shape 49"/>
          <p:cNvSpPr/>
          <p:nvPr/>
        </p:nvSpPr>
        <p:spPr>
          <a:xfrm>
            <a:off x="3131939" y="5487739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5" name="Text 50"/>
          <p:cNvSpPr txBox="1"/>
          <p:nvPr/>
        </p:nvSpPr>
        <p:spPr>
          <a:xfrm>
            <a:off x="3198465" y="5530007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6" name="Text 51"/>
          <p:cNvSpPr txBox="1"/>
          <p:nvPr/>
        </p:nvSpPr>
        <p:spPr>
          <a:xfrm>
            <a:off x="3419773" y="5496074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airfryer:</a:t>
            </a:r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180 °C por 15 minutos, vire, e mais 8 a 10 minutos a 200 °C.</a:t>
            </a:r>
            <a:endParaRPr lang="en-US" sz="930" dirty="0"/>
          </a:p>
        </p:txBody>
      </p:sp>
      <p:sp>
        <p:nvSpPr>
          <p:cNvPr id="57" name="Shape 52"/>
          <p:cNvSpPr/>
          <p:nvPr/>
        </p:nvSpPr>
        <p:spPr>
          <a:xfrm>
            <a:off x="3131939" y="594732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8" name="Text 53"/>
          <p:cNvSpPr txBox="1"/>
          <p:nvPr/>
        </p:nvSpPr>
        <p:spPr>
          <a:xfrm>
            <a:off x="3196828" y="5989588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9" name="Text 54"/>
          <p:cNvSpPr txBox="1"/>
          <p:nvPr/>
        </p:nvSpPr>
        <p:spPr>
          <a:xfrm>
            <a:off x="3419773" y="5955655"/>
            <a:ext cx="2797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Deixe descansar 5 minutos antes de servir.</a:t>
            </a:r>
            <a:endParaRPr lang="en-US" sz="930" dirty="0"/>
          </a:p>
        </p:txBody>
      </p:sp>
      <p:sp>
        <p:nvSpPr>
          <p:cNvPr id="60" name="Shape 55"/>
          <p:cNvSpPr/>
          <p:nvPr/>
        </p:nvSpPr>
        <p:spPr>
          <a:xfrm>
            <a:off x="647998" y="8864352"/>
            <a:ext cx="6263878" cy="1035546"/>
          </a:xfrm>
          <a:prstGeom prst="roundRect">
            <a:avLst>
              <a:gd name="adj" fmla="val 9209"/>
            </a:avLst>
          </a:prstGeom>
          <a:solidFill>
            <a:srgbClr val="EEE6D8"/>
          </a:solidFill>
          <a:ln/>
        </p:spPr>
      </p:sp>
      <p:sp>
        <p:nvSpPr>
          <p:cNvPr id="61" name="Shape 56"/>
          <p:cNvSpPr/>
          <p:nvPr/>
        </p:nvSpPr>
        <p:spPr>
          <a:xfrm>
            <a:off x="827931" y="9026277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6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107686"/>
            <a:ext cx="197048" cy="197048"/>
          </a:xfrm>
          <a:prstGeom prst="rect">
            <a:avLst/>
          </a:prstGeom>
        </p:spPr>
      </p:pic>
      <p:sp>
        <p:nvSpPr>
          <p:cNvPr id="63" name="Text 57"/>
          <p:cNvSpPr txBox="1"/>
          <p:nvPr/>
        </p:nvSpPr>
        <p:spPr>
          <a:xfrm>
            <a:off x="1331714" y="9026277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64" name="Text 58"/>
          <p:cNvSpPr txBox="1"/>
          <p:nvPr/>
        </p:nvSpPr>
        <p:spPr>
          <a:xfrm>
            <a:off x="1331714" y="9176445"/>
            <a:ext cx="5400229" cy="561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ácido suave do iogurte amacia a carne sem deixá-la farinhenta (como acontece com marinadas muito ácidas), e os açúcares do leite ajudam a dourar. Sirva com arroz, salada de pepino e um molho de iogurte com hortelã.</a:t>
            </a:r>
            <a:endParaRPr lang="en-US" sz="1000" dirty="0"/>
          </a:p>
        </p:txBody>
      </p:sp>
      <p:sp>
        <p:nvSpPr>
          <p:cNvPr id="65" name="Shape 59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6" name="Text 60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7" name="Text 61"/>
          <p:cNvSpPr txBox="1"/>
          <p:nvPr/>
        </p:nvSpPr>
        <p:spPr>
          <a:xfrm>
            <a:off x="6793409" y="10236845"/>
            <a:ext cx="2327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63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592931"/>
            <a:ext cx="8050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PULO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68846"/>
            <a:ext cx="174588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 CHEF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35552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537395"/>
            <a:ext cx="288036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Pele borrachuda e frango seco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7998" y="1974503"/>
            <a:ext cx="2703909" cy="3168104"/>
          </a:xfrm>
          <a:prstGeom prst="roundRect">
            <a:avLst>
              <a:gd name="adj" fmla="val 135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163961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C255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245370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281982"/>
            <a:ext cx="615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ERRO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37456" y="2668786"/>
            <a:ext cx="2324993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Tirar o frango molhado da embalagem direto para a frigideira, mexer o tempo todo e cortar assim que sai do fogo. A pele cozinha no vapor e fica mole; a carne perde o suco na tábua.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3531840" y="1974503"/>
            <a:ext cx="3380036" cy="3168104"/>
          </a:xfrm>
          <a:prstGeom prst="roundRect">
            <a:avLst>
              <a:gd name="adj" fmla="val 984"/>
            </a:avLst>
          </a:prstGeom>
          <a:solidFill>
            <a:srgbClr val="EEE6D8"/>
          </a:solidFill>
          <a:ln/>
        </p:spPr>
      </p:sp>
      <p:sp>
        <p:nvSpPr>
          <p:cNvPr id="12" name="Shape 9"/>
          <p:cNvSpPr/>
          <p:nvPr/>
        </p:nvSpPr>
        <p:spPr>
          <a:xfrm>
            <a:off x="3711773" y="2154436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182" y="2235845"/>
            <a:ext cx="197048" cy="197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97548" y="2272457"/>
            <a:ext cx="8103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TÉCNICA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3711773" y="2640211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6" name="Text 12"/>
          <p:cNvSpPr txBox="1"/>
          <p:nvPr/>
        </p:nvSpPr>
        <p:spPr>
          <a:xfrm>
            <a:off x="3873774" y="2659261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Seque e salgue antes: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papel-toalha e, se der, sal com antecedência na geladeira, descoberto.</a:t>
            </a:r>
            <a:endParaRPr lang="en-US" sz="940" dirty="0"/>
          </a:p>
        </p:txBody>
      </p:sp>
      <p:sp>
        <p:nvSpPr>
          <p:cNvPr id="17" name="Text 13"/>
          <p:cNvSpPr txBox="1"/>
          <p:nvPr/>
        </p:nvSpPr>
        <p:spPr>
          <a:xfrm>
            <a:off x="3711773" y="3082082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8" name="Text 14"/>
          <p:cNvSpPr txBox="1"/>
          <p:nvPr/>
        </p:nvSpPr>
        <p:spPr>
          <a:xfrm>
            <a:off x="3873774" y="3101132"/>
            <a:ext cx="2858169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Pele para baixo e paciência: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fogo médio, peso por cima e nada de mexer até ela soltar sozinha da frigideira.</a:t>
            </a:r>
            <a:endParaRPr lang="en-US" sz="940" dirty="0"/>
          </a:p>
        </p:txBody>
      </p:sp>
      <p:sp>
        <p:nvSpPr>
          <p:cNvPr id="19" name="Text 15"/>
          <p:cNvSpPr txBox="1"/>
          <p:nvPr/>
        </p:nvSpPr>
        <p:spPr>
          <a:xfrm>
            <a:off x="3711773" y="3708946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0" name="Text 16"/>
          <p:cNvSpPr txBox="1"/>
          <p:nvPr/>
        </p:nvSpPr>
        <p:spPr>
          <a:xfrm>
            <a:off x="3873774" y="3727996"/>
            <a:ext cx="2858169" cy="716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Ponto pela temperatura: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sobrecoxa fica melhor entre 75 °C e 80 °C. Um termômetro culinário custa menos que uma pizza e acaba com o achismo.</a:t>
            </a:r>
            <a:endParaRPr lang="en-US" sz="940" dirty="0"/>
          </a:p>
        </p:txBody>
      </p:sp>
      <p:sp>
        <p:nvSpPr>
          <p:cNvPr id="21" name="Text 17"/>
          <p:cNvSpPr txBox="1"/>
          <p:nvPr/>
        </p:nvSpPr>
        <p:spPr>
          <a:xfrm>
            <a:off x="3711773" y="4520803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2" name="Text 18"/>
          <p:cNvSpPr txBox="1"/>
          <p:nvPr/>
        </p:nvSpPr>
        <p:spPr>
          <a:xfrm>
            <a:off x="3873774" y="4539853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Descanso: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5 minutos antes de cortar, para os sucos se redistribuírem.</a:t>
            </a:r>
            <a:endParaRPr lang="en-US" sz="940" dirty="0"/>
          </a:p>
        </p:txBody>
      </p:sp>
      <p:sp>
        <p:nvSpPr>
          <p:cNvPr id="23" name="Text 19"/>
          <p:cNvSpPr txBox="1"/>
          <p:nvPr/>
        </p:nvSpPr>
        <p:spPr>
          <a:xfrm>
            <a:off x="647998" y="5447556"/>
            <a:ext cx="95622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NÃO TEM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47998" y="5632996"/>
            <a:ext cx="84995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spc="63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ISSO?</a:t>
            </a:r>
            <a:endParaRPr lang="en-US" sz="2100" dirty="0"/>
          </a:p>
        </p:txBody>
      </p:sp>
      <p:sp>
        <p:nvSpPr>
          <p:cNvPr id="25" name="Shape 21"/>
          <p:cNvSpPr/>
          <p:nvPr/>
        </p:nvSpPr>
        <p:spPr>
          <a:xfrm>
            <a:off x="647998" y="6126361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26" name="Shape 22"/>
          <p:cNvSpPr/>
          <p:nvPr/>
        </p:nvSpPr>
        <p:spPr>
          <a:xfrm>
            <a:off x="647998" y="6353621"/>
            <a:ext cx="1655862" cy="291703"/>
          </a:xfrm>
          <a:prstGeom prst="roundRect">
            <a:avLst>
              <a:gd name="adj" fmla="val 77373"/>
            </a:avLst>
          </a:prstGeom>
          <a:solidFill>
            <a:srgbClr val="4E5B38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91914" y="6447086"/>
            <a:ext cx="996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NÃO TIVER…</a:t>
            </a:r>
            <a:endParaRPr lang="en-US" sz="680" dirty="0"/>
          </a:p>
        </p:txBody>
      </p:sp>
      <p:sp>
        <p:nvSpPr>
          <p:cNvPr id="28" name="Shape 24"/>
          <p:cNvSpPr/>
          <p:nvPr/>
        </p:nvSpPr>
        <p:spPr>
          <a:xfrm>
            <a:off x="2303859" y="6353621"/>
            <a:ext cx="4608016" cy="291703"/>
          </a:xfrm>
          <a:prstGeom prst="rect">
            <a:avLst/>
          </a:prstGeom>
          <a:solidFill>
            <a:srgbClr val="4E5B38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2447776" y="6447086"/>
            <a:ext cx="4199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USE…</a:t>
            </a:r>
            <a:endParaRPr lang="en-US" sz="680" dirty="0"/>
          </a:p>
        </p:txBody>
      </p:sp>
      <p:sp>
        <p:nvSpPr>
          <p:cNvPr id="30" name="Shape 26"/>
          <p:cNvSpPr/>
          <p:nvPr/>
        </p:nvSpPr>
        <p:spPr>
          <a:xfrm>
            <a:off x="647998" y="7187357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91914" y="6738789"/>
            <a:ext cx="7003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Sobrecoxa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2303859" y="7187357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2447859" y="6748314"/>
            <a:ext cx="4320017" cy="33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Coxa (aumente um pouco o tempo) ou peito (reduza bastante o tempo e retire do fogo a 65 °C: ele resseca fácil).</a:t>
            </a:r>
            <a:endParaRPr lang="en-US" sz="920" dirty="0"/>
          </a:p>
        </p:txBody>
      </p:sp>
      <p:sp>
        <p:nvSpPr>
          <p:cNvPr id="34" name="Shape 30"/>
          <p:cNvSpPr/>
          <p:nvPr/>
        </p:nvSpPr>
        <p:spPr>
          <a:xfrm>
            <a:off x="647998" y="7558980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91914" y="7285583"/>
            <a:ext cx="9764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Iogurte natural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2303859" y="7558980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2447776" y="7295108"/>
            <a:ext cx="46065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Coalhada seca, ou leite com suco de limão descansado por 10 minutos.</a:t>
            </a:r>
            <a:endParaRPr lang="en-US" sz="920" dirty="0"/>
          </a:p>
        </p:txBody>
      </p:sp>
      <p:sp>
        <p:nvSpPr>
          <p:cNvPr id="38" name="Shape 34"/>
          <p:cNvSpPr/>
          <p:nvPr/>
        </p:nvSpPr>
        <p:spPr>
          <a:xfrm>
            <a:off x="647998" y="7930604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91914" y="7657207"/>
            <a:ext cx="10161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Caldo de frango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2303859" y="7930604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2447776" y="7666732"/>
            <a:ext cx="31543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Água com as aparas e um ramo de cheiro-verde.</a:t>
            </a:r>
            <a:endParaRPr lang="en-US" sz="920" dirty="0"/>
          </a:p>
        </p:txBody>
      </p:sp>
      <p:sp>
        <p:nvSpPr>
          <p:cNvPr id="42" name="Shape 38"/>
          <p:cNvSpPr/>
          <p:nvPr/>
        </p:nvSpPr>
        <p:spPr>
          <a:xfrm>
            <a:off x="647998" y="8302228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791914" y="8028831"/>
            <a:ext cx="9224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Tomate fresco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2303859" y="8302228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2447776" y="8038356"/>
            <a:ext cx="22689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Tomate pelado em lata ou passata.</a:t>
            </a:r>
            <a:endParaRPr lang="en-US" sz="920" dirty="0"/>
          </a:p>
        </p:txBody>
      </p:sp>
      <p:sp>
        <p:nvSpPr>
          <p:cNvPr id="46" name="Shape 42"/>
          <p:cNvSpPr/>
          <p:nvPr/>
        </p:nvSpPr>
        <p:spPr>
          <a:xfrm>
            <a:off x="647998" y="8822531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91998" y="8400455"/>
            <a:ext cx="13678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Manteiga gelada no molho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2303859" y="8822531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2447776" y="8409980"/>
            <a:ext cx="37474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Azeite (o molho fica mais fino, mas igualmente saboroso).</a:t>
            </a:r>
            <a:endParaRPr lang="en-US" sz="920" dirty="0"/>
          </a:p>
        </p:txBody>
      </p:sp>
      <p:sp>
        <p:nvSpPr>
          <p:cNvPr id="50" name="Shape 46"/>
          <p:cNvSpPr/>
          <p:nvPr/>
        </p:nvSpPr>
        <p:spPr>
          <a:xfrm>
            <a:off x="647998" y="9194155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791914" y="8920758"/>
            <a:ext cx="6408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Cúrcuma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2303859" y="9194155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2447776" y="8930283"/>
            <a:ext cx="28566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pitada de açafrão-da-terra ou de curry.</a:t>
            </a:r>
            <a:endParaRPr lang="en-US" sz="920" dirty="0"/>
          </a:p>
        </p:txBody>
      </p:sp>
      <p:sp>
        <p:nvSpPr>
          <p:cNvPr id="54" name="Shape 50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6" name="Text 52"/>
          <p:cNvSpPr txBox="1"/>
          <p:nvPr/>
        </p:nvSpPr>
        <p:spPr>
          <a:xfrm>
            <a:off x="6786860" y="10236845"/>
            <a:ext cx="2393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</a:t>
            </a:r>
            <a:endParaRPr lang="en-US" sz="63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808881"/>
            <a:ext cx="11548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APROVEITA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984796"/>
            <a:ext cx="26369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ISSO TAMBÉM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57147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817787"/>
            <a:ext cx="42428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Cascas, talos, ramas e aparas: o que ia para o lixo vira sabor.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21855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407" y="2303264"/>
            <a:ext cx="197048" cy="197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69789" y="2221855"/>
            <a:ext cx="35296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Ossos e aparas: fundo caseiro ultra-aromático</a:t>
            </a:r>
            <a:endParaRPr lang="en-US" sz="1060" dirty="0"/>
          </a:p>
        </p:txBody>
      </p:sp>
      <p:sp>
        <p:nvSpPr>
          <p:cNvPr id="9" name="Text 6"/>
          <p:cNvSpPr txBox="1"/>
          <p:nvPr/>
        </p:nvSpPr>
        <p:spPr>
          <a:xfrm>
            <a:off x="1169789" y="2455515"/>
            <a:ext cx="3366195" cy="1346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Junte os ossos, peles e aparas de 6 a 8 sobrecoxas (pode ir guardando no freezer). Para um caldo mais escuro e intenso, asse os ossos antes a 200 °C por 30 minutos. Coloque numa panela com 1 cebola cortada ao meio com casca, 1 cenoura com casca, talos de salsinha, 1 folha de louro, 6 grãos de pimenta e 2 litros de água fria.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647998" y="4033837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07" y="4115246"/>
            <a:ext cx="197048" cy="197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69789" y="4033837"/>
            <a:ext cx="13380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ponto do caldo</a:t>
            </a:r>
            <a:endParaRPr lang="en-US" sz="1060" dirty="0"/>
          </a:p>
        </p:txBody>
      </p:sp>
      <p:sp>
        <p:nvSpPr>
          <p:cNvPr id="13" name="Text 9"/>
          <p:cNvSpPr txBox="1"/>
          <p:nvPr/>
        </p:nvSpPr>
        <p:spPr>
          <a:xfrm>
            <a:off x="1169789" y="4267498"/>
            <a:ext cx="3366195" cy="1543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 ao fogo baixo e nunca deixe ferver forte: a fervura turva o caldo. Retire a espuma que subir. Cozinhe por 2 a 3 horas, coe e leve à geladeira. A gordura endurece por cima: retire e guarde, ela é ótima para refogar. Congele o caldo em forminhas de gelo por até 3 meses e use um cubo para enriquecer arroz, feijão, molhos e sopas, como o caldo de mandioca do próximo capítulo. É o seu caldo caseiro, sem cubinhos industrializados.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4895999" y="0"/>
            <a:ext cx="2663875" cy="10691961"/>
          </a:xfrm>
          <a:prstGeom prst="rect">
            <a:avLst/>
          </a:prstGeom>
          <a:solidFill>
            <a:srgbClr val="EEE6D8"/>
          </a:solidFill>
          <a:ln/>
        </p:spPr>
      </p:sp>
      <p:sp>
        <p:nvSpPr>
          <p:cNvPr id="15" name="Shape 11"/>
          <p:cNvSpPr/>
          <p:nvPr/>
        </p:nvSpPr>
        <p:spPr>
          <a:xfrm>
            <a:off x="4392067" y="791914"/>
            <a:ext cx="2735907" cy="2735907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75002" y="1174849"/>
            <a:ext cx="1970038" cy="197003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701" y="1530548"/>
            <a:ext cx="1258491" cy="1258491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895999" y="8459986"/>
            <a:ext cx="2663875" cy="2231975"/>
          </a:xfrm>
          <a:prstGeom prst="rect">
            <a:avLst/>
          </a:prstGeom>
          <a:solidFill>
            <a:srgbClr val="4E5B3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04" y="9341941"/>
            <a:ext cx="467916" cy="46791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7998" y="10133856"/>
            <a:ext cx="3600004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22" name="Text 16"/>
          <p:cNvSpPr txBox="1"/>
          <p:nvPr/>
        </p:nvSpPr>
        <p:spPr>
          <a:xfrm>
            <a:off x="4129236" y="10236845"/>
            <a:ext cx="2330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</a:t>
            </a:r>
            <a:endParaRPr lang="en-US" sz="63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736848"/>
            <a:ext cx="12091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CAPÍTULO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912763"/>
            <a:ext cx="236029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spc="90" kern="0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MANDIOCA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7998" y="1541413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696789"/>
            <a:ext cx="12743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B645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aipim, macaxeira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7998" y="2095798"/>
            <a:ext cx="3527971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raiz do Brasil: rica em amido, acessível e um coringa técnico. Une sustentabilidade e brasilidade num ingrediente só.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823966" y="396032"/>
            <a:ext cx="3311872" cy="331187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87566" y="859631"/>
            <a:ext cx="2384673" cy="2384673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8125" y="1290191"/>
            <a:ext cx="1523405" cy="15234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7998" y="3779937"/>
            <a:ext cx="1086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INGREDIENTE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647998" y="4003179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Poucos ingredientes são tão brasileiros e tão subestimados. A mandioca costuma ficar presa a dois papéis: cozida na manteiga ou frita como acompanhamento.</a:t>
            </a:r>
            <a:endParaRPr lang="en-US" sz="990" dirty="0"/>
          </a:p>
        </p:txBody>
      </p:sp>
      <p:sp>
        <p:nvSpPr>
          <p:cNvPr id="12" name="Text 9"/>
          <p:cNvSpPr txBox="1"/>
          <p:nvPr/>
        </p:nvSpPr>
        <p:spPr>
          <a:xfrm>
            <a:off x="647998" y="4529882"/>
            <a:ext cx="6263878" cy="60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 é justamente o amido dela que a torna um coringa técnico. Ralada crua, ela se une sozinha e fica crocante na frigideira. Cozida e batida, vira um creme aveludado sem precisar de creme de leite. Misturada com queijo, vira biscoito.</a:t>
            </a:r>
            <a:endParaRPr lang="en-US" sz="990" dirty="0"/>
          </a:p>
        </p:txBody>
      </p:sp>
      <p:sp>
        <p:nvSpPr>
          <p:cNvPr id="13" name="Text 10"/>
          <p:cNvSpPr txBox="1"/>
          <p:nvPr/>
        </p:nvSpPr>
        <p:spPr>
          <a:xfrm>
            <a:off x="647998" y="5272832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aviso importante: a mandioca vendida no mercado e na feira é a mandioca mansa, de mesa. Mesmo assim, ela deve ser sempre bem cozida antes de comer. Nunca consuma mandioca crua.</a:t>
            </a:r>
            <a:endParaRPr lang="en-US" sz="990" dirty="0"/>
          </a:p>
        </p:txBody>
      </p:sp>
      <p:sp>
        <p:nvSpPr>
          <p:cNvPr id="14" name="Text 11"/>
          <p:cNvSpPr txBox="1"/>
          <p:nvPr/>
        </p:nvSpPr>
        <p:spPr>
          <a:xfrm>
            <a:off x="647998" y="5892701"/>
            <a:ext cx="16477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3 TRANSFORMAÇÕES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47998" y="6748909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7998" y="6287393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28514" y="6360914"/>
            <a:ext cx="2050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680" dirty="0"/>
          </a:p>
        </p:txBody>
      </p:sp>
      <p:sp>
        <p:nvSpPr>
          <p:cNvPr id="18" name="Text 15"/>
          <p:cNvSpPr txBox="1"/>
          <p:nvPr/>
        </p:nvSpPr>
        <p:spPr>
          <a:xfrm>
            <a:off x="1025872" y="6202561"/>
            <a:ext cx="14813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CROCÂNCIA PERFEITA</a:t>
            </a:r>
            <a:endParaRPr lang="en-US" sz="640" dirty="0"/>
          </a:p>
        </p:txBody>
      </p:sp>
      <p:sp>
        <p:nvSpPr>
          <p:cNvPr id="19" name="Text 16"/>
          <p:cNvSpPr txBox="1"/>
          <p:nvPr/>
        </p:nvSpPr>
        <p:spPr>
          <a:xfrm>
            <a:off x="1025872" y="6319391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Rösti de mandioca recheado na frigideira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(crosta dourada por fora, cremoso por dentro)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71666" y="6454062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1" name="Text 18"/>
          <p:cNvSpPr txBox="1"/>
          <p:nvPr/>
        </p:nvSpPr>
        <p:spPr>
          <a:xfrm>
            <a:off x="6662886" y="6346627"/>
            <a:ext cx="2489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647998" y="7410450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7998" y="6948934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19882" y="7022455"/>
            <a:ext cx="222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680" dirty="0"/>
          </a:p>
        </p:txBody>
      </p:sp>
      <p:sp>
        <p:nvSpPr>
          <p:cNvPr id="25" name="Text 22"/>
          <p:cNvSpPr txBox="1"/>
          <p:nvPr/>
        </p:nvSpPr>
        <p:spPr>
          <a:xfrm>
            <a:off x="1025872" y="6864102"/>
            <a:ext cx="16845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CULINÁRIA ACOLHEDORA</a:t>
            </a:r>
            <a:endParaRPr lang="en-US" sz="640" dirty="0"/>
          </a:p>
        </p:txBody>
      </p:sp>
      <p:sp>
        <p:nvSpPr>
          <p:cNvPr id="26" name="Text 23"/>
          <p:cNvSpPr txBox="1"/>
          <p:nvPr/>
        </p:nvSpPr>
        <p:spPr>
          <a:xfrm>
            <a:off x="1025872" y="6980932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Caldo aveludado de mandioca com gengibre e bacon (ou cogumelos)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(abraço em forma de prato)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71666" y="7115603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8" name="Text 25"/>
          <p:cNvSpPr txBox="1"/>
          <p:nvPr/>
        </p:nvSpPr>
        <p:spPr>
          <a:xfrm>
            <a:off x="6665565" y="7008168"/>
            <a:ext cx="2463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647998" y="8071991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7998" y="7610475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20328" y="7683996"/>
            <a:ext cx="2216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80" dirty="0"/>
          </a:p>
        </p:txBody>
      </p:sp>
      <p:sp>
        <p:nvSpPr>
          <p:cNvPr id="32" name="Text 29"/>
          <p:cNvSpPr txBox="1"/>
          <p:nvPr/>
        </p:nvSpPr>
        <p:spPr>
          <a:xfrm>
            <a:off x="1025872" y="7525643"/>
            <a:ext cx="8015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SURPRESA</a:t>
            </a:r>
            <a:endParaRPr lang="en-US" sz="640" dirty="0"/>
          </a:p>
        </p:txBody>
      </p:sp>
      <p:sp>
        <p:nvSpPr>
          <p:cNvPr id="33" name="Text 30"/>
          <p:cNvSpPr txBox="1"/>
          <p:nvPr/>
        </p:nvSpPr>
        <p:spPr>
          <a:xfrm>
            <a:off x="1025872" y="7642473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Biscoito de polvilho e mandioca de assadeira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(rápido para o lanche da tarde)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471666" y="7777144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35" name="Text 32"/>
          <p:cNvSpPr txBox="1"/>
          <p:nvPr/>
        </p:nvSpPr>
        <p:spPr>
          <a:xfrm>
            <a:off x="6660654" y="7669709"/>
            <a:ext cx="2512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38" name="Text 35"/>
          <p:cNvSpPr txBox="1"/>
          <p:nvPr/>
        </p:nvSpPr>
        <p:spPr>
          <a:xfrm>
            <a:off x="6789688" y="10236845"/>
            <a:ext cx="2364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</a:t>
            </a:r>
            <a:endParaRPr lang="en-US" sz="63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592931"/>
            <a:ext cx="101485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ANTES 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68846"/>
            <a:ext cx="148518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PANELA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35552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601837"/>
            <a:ext cx="449996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Escolher bem, guardar direito e cortar do jeito certo: metade do prato se resolve aqui.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13074"/>
            <a:ext cx="3041898" cy="2930128"/>
          </a:xfrm>
          <a:prstGeom prst="roundRect">
            <a:avLst>
              <a:gd name="adj" fmla="val 1150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40253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483941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520553"/>
            <a:ext cx="17408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HORA DE ESCOLHER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55456" y="295670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99456" y="2907357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 marrom, que se solta com facilidade, e ponta que estala ao quebrar.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855456" y="339857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99456" y="3349228"/>
            <a:ext cx="2500981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Polpa branca ou amarelada, uniforme, sem estrias escuras, azuladas ou pontos moles.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855456" y="402544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99456" y="3976092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Raízes médias costumam ser mais macias que as muito grossas.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55456" y="446731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99456" y="4417963"/>
            <a:ext cx="2500981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Mandioca boa cozinha rápido. Se demorar demais, o problema é a raiz, não você.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3869829" y="2213074"/>
            <a:ext cx="3042047" cy="2930128"/>
          </a:xfrm>
          <a:prstGeom prst="roundRect">
            <a:avLst>
              <a:gd name="adj" fmla="val 1150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059287" y="240253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696" y="2483941"/>
            <a:ext cx="197048" cy="19704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545062" y="2520553"/>
            <a:ext cx="12054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GUARDAR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4077287" y="295670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221287" y="2907357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 casca, fora da geladeira, ela estraga em 2 ou 3 dias.</a:t>
            </a:r>
            <a:endParaRPr lang="en-US" sz="940" dirty="0"/>
          </a:p>
        </p:txBody>
      </p:sp>
      <p:sp>
        <p:nvSpPr>
          <p:cNvPr id="24" name="Shape 20"/>
          <p:cNvSpPr/>
          <p:nvPr/>
        </p:nvSpPr>
        <p:spPr>
          <a:xfrm>
            <a:off x="4077287" y="339857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221287" y="3349228"/>
            <a:ext cx="2501130" cy="716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melhor caminho: descasque, lave, corte em pedaços e congele crua em sacos por até 3 meses. Ela cozinha ainda melhor depois de congelada.</a:t>
            </a:r>
            <a:endParaRPr lang="en-US" sz="940" dirty="0"/>
          </a:p>
        </p:txBody>
      </p:sp>
      <p:sp>
        <p:nvSpPr>
          <p:cNvPr id="26" name="Shape 22"/>
          <p:cNvSpPr/>
          <p:nvPr/>
        </p:nvSpPr>
        <p:spPr>
          <a:xfrm>
            <a:off x="4077287" y="421043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221287" y="4161086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Cozida: na geladeira por até 3 dias, coberta pela própria água do cozimento.</a:t>
            </a:r>
            <a:endParaRPr lang="en-US" sz="940" dirty="0"/>
          </a:p>
        </p:txBody>
      </p:sp>
      <p:sp>
        <p:nvSpPr>
          <p:cNvPr id="28" name="Shape 24"/>
          <p:cNvSpPr/>
          <p:nvPr/>
        </p:nvSpPr>
        <p:spPr>
          <a:xfrm>
            <a:off x="647998" y="5323136"/>
            <a:ext cx="6263878" cy="1748284"/>
          </a:xfrm>
          <a:prstGeom prst="roundRect">
            <a:avLst>
              <a:gd name="adj" fmla="val 323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37456" y="5512594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865" y="5594003"/>
            <a:ext cx="197048" cy="197048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323231" y="5630614"/>
            <a:ext cx="1793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PRÉ-PREPARO E CORTES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855456" y="606676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999456" y="6017419"/>
            <a:ext cx="572296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Corte em toras de 8 a 10 cm. Faça um talho no comprimento e solte a casca marrom junto com a entrecasca rosada, de uma vez.</a:t>
            </a:r>
            <a:endParaRPr lang="en-US" sz="940" dirty="0"/>
          </a:p>
        </p:txBody>
      </p:sp>
      <p:sp>
        <p:nvSpPr>
          <p:cNvPr id="34" name="Shape 29"/>
          <p:cNvSpPr/>
          <p:nvPr/>
        </p:nvSpPr>
        <p:spPr>
          <a:xfrm>
            <a:off x="855456" y="650863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999381" y="6459289"/>
            <a:ext cx="43498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Depois de cozida, abra ao meio e retire o fio central, que é fibroso.</a:t>
            </a:r>
            <a:endParaRPr lang="en-US" sz="940" dirty="0"/>
          </a:p>
        </p:txBody>
      </p:sp>
      <p:sp>
        <p:nvSpPr>
          <p:cNvPr id="36" name="Shape 31"/>
          <p:cNvSpPr/>
          <p:nvPr/>
        </p:nvSpPr>
        <p:spPr>
          <a:xfrm>
            <a:off x="855456" y="676551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999381" y="6716167"/>
            <a:ext cx="52174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Corte sempre em pedaços de tamanho parecido, para tudo cozinhar por igual.</a:t>
            </a:r>
            <a:endParaRPr lang="en-US" sz="940" dirty="0"/>
          </a:p>
        </p:txBody>
      </p:sp>
      <p:sp>
        <p:nvSpPr>
          <p:cNvPr id="38" name="Shape 33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40" name="Text 35"/>
          <p:cNvSpPr txBox="1"/>
          <p:nvPr/>
        </p:nvSpPr>
        <p:spPr>
          <a:xfrm>
            <a:off x="6791325" y="10236845"/>
            <a:ext cx="2348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</a:t>
            </a:r>
            <a:endParaRPr lang="en-US" sz="63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6219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4.1 · A CROCÂNCIA PERFEITA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788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Rösti de mandioca recheado na frigideira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597819"/>
            <a:ext cx="29408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crosta dourada por fora, cremoso por dentro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1973312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036713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1992809"/>
            <a:ext cx="4884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 MIN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146399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88009" y="1973312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409" y="2036713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65883" y="1992809"/>
            <a:ext cx="2034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RÖSTI GRANDE (2 A 4 PORÇÕES)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65883" y="2146399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Text 13"/>
          <p:cNvSpPr txBox="1"/>
          <p:nvPr/>
        </p:nvSpPr>
        <p:spPr>
          <a:xfrm>
            <a:off x="647998" y="3264991"/>
            <a:ext cx="4923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MASSA</a:t>
            </a:r>
            <a:endParaRPr lang="en-US" sz="660" dirty="0"/>
          </a:p>
        </p:txBody>
      </p:sp>
      <p:sp>
        <p:nvSpPr>
          <p:cNvPr id="19" name="Shape 14"/>
          <p:cNvSpPr/>
          <p:nvPr/>
        </p:nvSpPr>
        <p:spPr>
          <a:xfrm>
            <a:off x="665998" y="349204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09998" y="3433167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 g de mandioca crua descascada</a:t>
            </a:r>
            <a:endParaRPr lang="en-US" sz="890" dirty="0"/>
          </a:p>
        </p:txBody>
      </p:sp>
      <p:sp>
        <p:nvSpPr>
          <p:cNvPr id="21" name="Shape 16"/>
          <p:cNvSpPr/>
          <p:nvPr/>
        </p:nvSpPr>
        <p:spPr>
          <a:xfrm>
            <a:off x="665998" y="387334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09923" y="3814465"/>
            <a:ext cx="14575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 e pimenta-do-reino</a:t>
            </a:r>
            <a:endParaRPr lang="en-US" sz="890" dirty="0"/>
          </a:p>
        </p:txBody>
      </p:sp>
      <p:sp>
        <p:nvSpPr>
          <p:cNvPr id="23" name="Shape 18"/>
          <p:cNvSpPr/>
          <p:nvPr/>
        </p:nvSpPr>
        <p:spPr>
          <a:xfrm>
            <a:off x="665998" y="409092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09998" y="4032052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colheres (sopa) de manteiga (ou metade manteiga, metade óleo)</a:t>
            </a:r>
            <a:endParaRPr lang="en-US" sz="890" dirty="0"/>
          </a:p>
        </p:txBody>
      </p:sp>
      <p:sp>
        <p:nvSpPr>
          <p:cNvPr id="25" name="Text 20"/>
          <p:cNvSpPr txBox="1"/>
          <p:nvPr/>
        </p:nvSpPr>
        <p:spPr>
          <a:xfrm>
            <a:off x="647998" y="4457849"/>
            <a:ext cx="14955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RECHEIO (ESCOLHA UM)</a:t>
            </a:r>
            <a:endParaRPr lang="en-US" sz="660" dirty="0"/>
          </a:p>
        </p:txBody>
      </p:sp>
      <p:sp>
        <p:nvSpPr>
          <p:cNvPr id="26" name="Shape 21"/>
          <p:cNvSpPr/>
          <p:nvPr/>
        </p:nvSpPr>
        <p:spPr>
          <a:xfrm>
            <a:off x="665998" y="468490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98" y="4626025"/>
            <a:ext cx="1997942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 g de carne-seca dessalgada, cozida e desfiada, refogada com cebola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522990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98" y="5171033"/>
            <a:ext cx="1997942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 150 g de muçarela com 3 colheres (sopa) de requeijão cremoso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2" name="Shape 27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34" name="Text 29"/>
          <p:cNvSpPr txBox="1"/>
          <p:nvPr/>
        </p:nvSpPr>
        <p:spPr>
          <a:xfrm>
            <a:off x="3419773" y="3284041"/>
            <a:ext cx="31645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Rale a mandioca crua no lado grosso do ralador.</a:t>
            </a:r>
            <a:endParaRPr lang="en-US" sz="930" dirty="0"/>
          </a:p>
        </p:txBody>
      </p:sp>
      <p:sp>
        <p:nvSpPr>
          <p:cNvPr id="35" name="Shape 30"/>
          <p:cNvSpPr/>
          <p:nvPr/>
        </p:nvSpPr>
        <p:spPr>
          <a:xfrm>
            <a:off x="3131939" y="355982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3198614" y="3602087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37" name="Text 32"/>
          <p:cNvSpPr txBox="1"/>
          <p:nvPr/>
        </p:nvSpPr>
        <p:spPr>
          <a:xfrm>
            <a:off x="3419773" y="3568154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Coloque num pano de prato limpo e torça com força para retirar o máximo de líquido. Descarte o líquido. </a:t>
            </a:r>
            <a:pPr algn="l" indent="0" marL="0">
              <a:lnSpc>
                <a:spcPts val="1440"/>
              </a:lnSpc>
              <a:buNone/>
            </a:pPr>
            <a:r>
              <a:rPr lang="en-US" sz="93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Este é o passo que garante a crocância.</a:t>
            </a:r>
            <a:endParaRPr lang="en-US" sz="930" dirty="0"/>
          </a:p>
        </p:txBody>
      </p:sp>
      <p:sp>
        <p:nvSpPr>
          <p:cNvPr id="38" name="Shape 33"/>
          <p:cNvSpPr/>
          <p:nvPr/>
        </p:nvSpPr>
        <p:spPr>
          <a:xfrm>
            <a:off x="3131939" y="420246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3198614" y="4244727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0" name="Text 35"/>
          <p:cNvSpPr txBox="1"/>
          <p:nvPr/>
        </p:nvSpPr>
        <p:spPr>
          <a:xfrm>
            <a:off x="3419773" y="4210794"/>
            <a:ext cx="31305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Tempere a mandioca ralada com sal e pimenta.</a:t>
            </a:r>
            <a:endParaRPr lang="en-US" sz="930" dirty="0"/>
          </a:p>
        </p:txBody>
      </p:sp>
      <p:sp>
        <p:nvSpPr>
          <p:cNvPr id="41" name="Shape 36"/>
          <p:cNvSpPr/>
          <p:nvPr/>
        </p:nvSpPr>
        <p:spPr>
          <a:xfrm>
            <a:off x="3131939" y="4486573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3194745" y="4528840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3" name="Text 38"/>
          <p:cNvSpPr txBox="1"/>
          <p:nvPr/>
        </p:nvSpPr>
        <p:spPr>
          <a:xfrm>
            <a:off x="3419773" y="4494907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Aqueça metade da manteiga numa frigideira antiaderente de 20 a 22 cm, em fogo médio. Espalhe metade da mandioca, pressionando com uma espátula para formar uma base compacta.</a:t>
            </a:r>
            <a:endParaRPr lang="en-US" sz="930" dirty="0"/>
          </a:p>
        </p:txBody>
      </p:sp>
      <p:sp>
        <p:nvSpPr>
          <p:cNvPr id="44" name="Shape 39"/>
          <p:cNvSpPr/>
          <p:nvPr/>
        </p:nvSpPr>
        <p:spPr>
          <a:xfrm>
            <a:off x="3131939" y="531227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3198465" y="5354538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46" name="Text 41"/>
          <p:cNvSpPr txBox="1"/>
          <p:nvPr/>
        </p:nvSpPr>
        <p:spPr>
          <a:xfrm>
            <a:off x="3419773" y="5320605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Distribua o recheio, deixando 1 cm livre na borda. Cubra com o restante da mandioca, pressione e feche bem as bordas.</a:t>
            </a:r>
            <a:endParaRPr lang="en-US" sz="930" dirty="0"/>
          </a:p>
        </p:txBody>
      </p:sp>
      <p:sp>
        <p:nvSpPr>
          <p:cNvPr id="47" name="Shape 42"/>
          <p:cNvSpPr/>
          <p:nvPr/>
        </p:nvSpPr>
        <p:spPr>
          <a:xfrm>
            <a:off x="3131939" y="595491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3196828" y="5997178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49" name="Text 44"/>
          <p:cNvSpPr txBox="1"/>
          <p:nvPr/>
        </p:nvSpPr>
        <p:spPr>
          <a:xfrm>
            <a:off x="3419773" y="5963245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Tampe e cozinhe em fogo médio-baixo por 12 a 15 minutos, até a base ficar dourada e firme (dá para levantar a borda com a espátula para conferir).</a:t>
            </a:r>
            <a:endParaRPr lang="en-US" sz="930" dirty="0"/>
          </a:p>
        </p:txBody>
      </p:sp>
      <p:sp>
        <p:nvSpPr>
          <p:cNvPr id="50" name="Shape 45"/>
          <p:cNvSpPr/>
          <p:nvPr/>
        </p:nvSpPr>
        <p:spPr>
          <a:xfrm>
            <a:off x="3131939" y="659755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3197572" y="6639818"/>
            <a:ext cx="1628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630" dirty="0"/>
          </a:p>
        </p:txBody>
      </p:sp>
      <p:sp>
        <p:nvSpPr>
          <p:cNvPr id="52" name="Text 47"/>
          <p:cNvSpPr txBox="1"/>
          <p:nvPr/>
        </p:nvSpPr>
        <p:spPr>
          <a:xfrm>
            <a:off x="3419773" y="6605885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Deslize o rösti para um prato, cubra com outro prato, vire e devolva à frigideira com o restante da manteiga. Cozinhe destampado por mais 12 a 15 minutos, até dourar.</a:t>
            </a:r>
            <a:endParaRPr lang="en-US" sz="930" dirty="0"/>
          </a:p>
        </p:txBody>
      </p:sp>
      <p:sp>
        <p:nvSpPr>
          <p:cNvPr id="53" name="Shape 48"/>
          <p:cNvSpPr/>
          <p:nvPr/>
        </p:nvSpPr>
        <p:spPr>
          <a:xfrm>
            <a:off x="647998" y="9054703"/>
            <a:ext cx="6263878" cy="845195"/>
          </a:xfrm>
          <a:prstGeom prst="roundRect">
            <a:avLst>
              <a:gd name="adj" fmla="val 13824"/>
            </a:avLst>
          </a:prstGeom>
          <a:solidFill>
            <a:srgbClr val="EEE6D8"/>
          </a:solidFill>
          <a:ln/>
        </p:spPr>
      </p:sp>
      <p:sp>
        <p:nvSpPr>
          <p:cNvPr id="54" name="Shape 49"/>
          <p:cNvSpPr/>
          <p:nvPr/>
        </p:nvSpPr>
        <p:spPr>
          <a:xfrm>
            <a:off x="827931" y="921662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98037"/>
            <a:ext cx="197048" cy="197048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1331714" y="921662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57" name="Text 51"/>
          <p:cNvSpPr txBox="1"/>
          <p:nvPr/>
        </p:nvSpPr>
        <p:spPr>
          <a:xfrm>
            <a:off x="1331714" y="9366796"/>
            <a:ext cx="540022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Fogo alto doura por fora e deixa a mandioca crua por dentro. O segredo é fogo médio-baixo e tempo: por fora ela fica dourada, por dentro, cremosa.</a:t>
            </a:r>
            <a:endParaRPr lang="en-US" sz="1000" dirty="0"/>
          </a:p>
        </p:txBody>
      </p:sp>
      <p:sp>
        <p:nvSpPr>
          <p:cNvPr id="58" name="Shape 52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9" name="Text 53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0" name="Text 54"/>
          <p:cNvSpPr txBox="1"/>
          <p:nvPr/>
        </p:nvSpPr>
        <p:spPr>
          <a:xfrm>
            <a:off x="6787753" y="10236845"/>
            <a:ext cx="2384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63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8710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4.2 · A CULINÁRIA ACOLHEDORA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Caldo aveludado de mandioca com gengibre e bacon (ou cogumelos)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57388"/>
            <a:ext cx="17150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abraço em forma de prato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96282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52377"/>
            <a:ext cx="19822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 MIN (OU 25 MIN NA PRESSÃO)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505968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3083719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120" y="2396282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61593" y="2352377"/>
            <a:ext cx="9397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A 6 PORÇÕES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3461593" y="2505968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Shape 13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98" y="327451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800 g de mandioca descascada, em pedaços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371468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98" y="3655814"/>
            <a:ext cx="1997942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 g de bacon em cubinhos (ou 200 g de cogumelos fatiados, na versão vegetariana)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425969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23" y="4200823"/>
            <a:ext cx="9700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cebola picada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47728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23" y="4418409"/>
            <a:ext cx="15671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dentes de alho picados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469487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98" y="463599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(sopa) de gengibre fresco ralado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507616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98" y="5017294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1,2 litro de caldo de frango (capítulo 3) ou de legumes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545746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98" y="5398591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Sal, pimenta-do-reino e algumas gotas de limão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665998" y="583876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9998" y="5779889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Cebolinha picada e azeite para finalizar</a:t>
            </a:r>
            <a:endParaRPr lang="en-US" sz="890" dirty="0"/>
          </a:p>
        </p:txBody>
      </p:sp>
      <p:sp>
        <p:nvSpPr>
          <p:cNvPr id="34" name="Shape 29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6" name="Shape 31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38" name="Text 33"/>
          <p:cNvSpPr txBox="1"/>
          <p:nvPr/>
        </p:nvSpPr>
        <p:spPr>
          <a:xfrm>
            <a:off x="3419773" y="3284041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Numa panela, doure o bacon em fogo médio até ficar crocante. Retire com escumadeira e reserve, deixando a gordura na panela. (Na versão com cogumelos, doure-os em 1 colher de manteiga e reserve.)</a:t>
            </a:r>
            <a:endParaRPr lang="en-US" sz="930" dirty="0"/>
          </a:p>
        </p:txBody>
      </p:sp>
      <p:sp>
        <p:nvSpPr>
          <p:cNvPr id="39" name="Shape 34"/>
          <p:cNvSpPr/>
          <p:nvPr/>
        </p:nvSpPr>
        <p:spPr>
          <a:xfrm>
            <a:off x="3131939" y="4101405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3198614" y="4143673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1" name="Text 36"/>
          <p:cNvSpPr txBox="1"/>
          <p:nvPr/>
        </p:nvSpPr>
        <p:spPr>
          <a:xfrm>
            <a:off x="3419773" y="4109740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mesma panela, refogue a cebola até ficar transparente. Junte o alho e o gengibre e refogue por 1 minuto.</a:t>
            </a:r>
            <a:endParaRPr lang="en-US" sz="930" dirty="0"/>
          </a:p>
        </p:txBody>
      </p:sp>
      <p:sp>
        <p:nvSpPr>
          <p:cNvPr id="42" name="Shape 37"/>
          <p:cNvSpPr/>
          <p:nvPr/>
        </p:nvSpPr>
        <p:spPr>
          <a:xfrm>
            <a:off x="3131939" y="456098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3198614" y="4603254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4" name="Text 39"/>
          <p:cNvSpPr txBox="1"/>
          <p:nvPr/>
        </p:nvSpPr>
        <p:spPr>
          <a:xfrm>
            <a:off x="3419773" y="4569321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Acrescente a mandioca e o caldo. Cozinhe tampado até a mandioca começar a desmanchar: 25 a 30 minutos na panela comum ou 12 minutos na pressão.</a:t>
            </a:r>
            <a:endParaRPr lang="en-US" sz="930" dirty="0"/>
          </a:p>
        </p:txBody>
      </p:sp>
      <p:sp>
        <p:nvSpPr>
          <p:cNvPr id="45" name="Shape 40"/>
          <p:cNvSpPr/>
          <p:nvPr/>
        </p:nvSpPr>
        <p:spPr>
          <a:xfrm>
            <a:off x="3131939" y="520362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3194745" y="5245894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7" name="Text 42"/>
          <p:cNvSpPr txBox="1"/>
          <p:nvPr/>
        </p:nvSpPr>
        <p:spPr>
          <a:xfrm>
            <a:off x="3419773" y="5211961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Retire os fios centrais da mandioca. Bata no liquidificador, em levas e com a tampa entreaberta coberta por um pano (o vapor empurra a tampa). Bata só até ficar liso.</a:t>
            </a:r>
            <a:endParaRPr lang="en-US" sz="930" dirty="0"/>
          </a:p>
        </p:txBody>
      </p:sp>
      <p:sp>
        <p:nvSpPr>
          <p:cNvPr id="48" name="Shape 43"/>
          <p:cNvSpPr/>
          <p:nvPr/>
        </p:nvSpPr>
        <p:spPr>
          <a:xfrm>
            <a:off x="3131939" y="5846266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3198465" y="5888534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0" name="Text 45"/>
          <p:cNvSpPr txBox="1"/>
          <p:nvPr/>
        </p:nvSpPr>
        <p:spPr>
          <a:xfrm>
            <a:off x="3419773" y="585460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Volte à panela, ajuste a consistência com mais caldo, se precisar, e tempere com sal, pimenta e gotas de limão.</a:t>
            </a:r>
            <a:endParaRPr lang="en-US" sz="930" dirty="0"/>
          </a:p>
        </p:txBody>
      </p:sp>
      <p:sp>
        <p:nvSpPr>
          <p:cNvPr id="51" name="Shape 46"/>
          <p:cNvSpPr/>
          <p:nvPr/>
        </p:nvSpPr>
        <p:spPr>
          <a:xfrm>
            <a:off x="3131939" y="630584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2" name="Text 47"/>
          <p:cNvSpPr txBox="1"/>
          <p:nvPr/>
        </p:nvSpPr>
        <p:spPr>
          <a:xfrm>
            <a:off x="3196828" y="6348115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3" name="Text 48"/>
          <p:cNvSpPr txBox="1"/>
          <p:nvPr/>
        </p:nvSpPr>
        <p:spPr>
          <a:xfrm>
            <a:off x="3419773" y="6314182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Sirva com o bacon (ou os cogumelos) crocante por cima, cebolinha e um fio de azeite.</a:t>
            </a:r>
            <a:endParaRPr lang="en-US" sz="930" dirty="0"/>
          </a:p>
        </p:txBody>
      </p:sp>
      <p:sp>
        <p:nvSpPr>
          <p:cNvPr id="54" name="Shape 49"/>
          <p:cNvSpPr/>
          <p:nvPr/>
        </p:nvSpPr>
        <p:spPr>
          <a:xfrm>
            <a:off x="647998" y="9054703"/>
            <a:ext cx="6263878" cy="845195"/>
          </a:xfrm>
          <a:prstGeom prst="roundRect">
            <a:avLst>
              <a:gd name="adj" fmla="val 13824"/>
            </a:avLst>
          </a:prstGeom>
          <a:solidFill>
            <a:srgbClr val="EEE6D8"/>
          </a:solidFill>
          <a:ln/>
        </p:spPr>
      </p:sp>
      <p:sp>
        <p:nvSpPr>
          <p:cNvPr id="55" name="Shape 50"/>
          <p:cNvSpPr/>
          <p:nvPr/>
        </p:nvSpPr>
        <p:spPr>
          <a:xfrm>
            <a:off x="827931" y="921662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98037"/>
            <a:ext cx="197048" cy="197048"/>
          </a:xfrm>
          <a:prstGeom prst="rect">
            <a:avLst/>
          </a:prstGeom>
        </p:spPr>
      </p:pic>
      <p:sp>
        <p:nvSpPr>
          <p:cNvPr id="57" name="Text 51"/>
          <p:cNvSpPr txBox="1"/>
          <p:nvPr/>
        </p:nvSpPr>
        <p:spPr>
          <a:xfrm>
            <a:off x="1331714" y="921662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58" name="Text 52"/>
          <p:cNvSpPr txBox="1"/>
          <p:nvPr/>
        </p:nvSpPr>
        <p:spPr>
          <a:xfrm>
            <a:off x="1331714" y="9366796"/>
            <a:ext cx="540022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gengibre e as gotas de limão no final são o que tiram o caldo do “pesado” e levam ao “aconchegante”. A crocância por cima faz contraste com o creme.</a:t>
            </a:r>
            <a:endParaRPr lang="en-US" sz="1000" dirty="0"/>
          </a:p>
        </p:txBody>
      </p:sp>
      <p:sp>
        <p:nvSpPr>
          <p:cNvPr id="59" name="Shape 53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1" name="Text 55"/>
          <p:cNvSpPr txBox="1"/>
          <p:nvPr/>
        </p:nvSpPr>
        <p:spPr>
          <a:xfrm>
            <a:off x="6789688" y="10236845"/>
            <a:ext cx="2364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</a:t>
            </a:r>
            <a:endParaRPr lang="en-US" sz="63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18452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4.3 · A SURPRESA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788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Biscoito de polvilho e mandioca de assadeira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597819"/>
            <a:ext cx="19772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rápido para o lanche da tarde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1973312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036713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1992809"/>
            <a:ext cx="4878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 MIN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146399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87413" y="1973312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814" y="2036713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65288" y="1992809"/>
            <a:ext cx="14755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CERCA DE 30 BISCOITOS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65288" y="2146399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Shape 13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98" y="327451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 g de mandioca cozida, sem os fios, amassada ainda quente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371468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23" y="3655814"/>
            <a:ext cx="14628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120 g de polvilho azedo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393227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98" y="3873401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 g de queijo meia-cura ou parmesão ralado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31357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23" y="4254698"/>
            <a:ext cx="3842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ovo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453116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23" y="4472285"/>
            <a:ext cx="15523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colheres (sopa) de óleo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474874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23" y="4689872"/>
            <a:ext cx="15105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rasa de sal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496633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23" y="4907459"/>
            <a:ext cx="1044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Leite, se precisar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4" name="Shape 29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36" name="Text 31"/>
          <p:cNvSpPr txBox="1"/>
          <p:nvPr/>
        </p:nvSpPr>
        <p:spPr>
          <a:xfrm>
            <a:off x="3419773" y="328404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Preaqueça o forno a 200 °C e forre uma assadeira com papel-manteiga.</a:t>
            </a:r>
            <a:endParaRPr lang="en-US" sz="930" dirty="0"/>
          </a:p>
        </p:txBody>
      </p:sp>
      <p:sp>
        <p:nvSpPr>
          <p:cNvPr id="37" name="Shape 32"/>
          <p:cNvSpPr/>
          <p:nvPr/>
        </p:nvSpPr>
        <p:spPr>
          <a:xfrm>
            <a:off x="3131939" y="373528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3198614" y="377755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39" name="Text 34"/>
          <p:cNvSpPr txBox="1"/>
          <p:nvPr/>
        </p:nvSpPr>
        <p:spPr>
          <a:xfrm>
            <a:off x="3419773" y="3743623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Amasse a mandioca ainda quente até virar um purê liso. Junte o óleo e o sal e misture.</a:t>
            </a:r>
            <a:endParaRPr lang="en-US" sz="930" dirty="0"/>
          </a:p>
        </p:txBody>
      </p:sp>
      <p:sp>
        <p:nvSpPr>
          <p:cNvPr id="40" name="Shape 35"/>
          <p:cNvSpPr/>
          <p:nvPr/>
        </p:nvSpPr>
        <p:spPr>
          <a:xfrm>
            <a:off x="3131939" y="419487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3198614" y="4237137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2" name="Text 37"/>
          <p:cNvSpPr txBox="1"/>
          <p:nvPr/>
        </p:nvSpPr>
        <p:spPr>
          <a:xfrm>
            <a:off x="3419773" y="4203204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Acrescente o polvilho e misture bem (o calor da mandioca escalda o polvilho e deixa a massa elástica).</a:t>
            </a:r>
            <a:endParaRPr lang="en-US" sz="930" dirty="0"/>
          </a:p>
        </p:txBody>
      </p:sp>
      <p:sp>
        <p:nvSpPr>
          <p:cNvPr id="43" name="Shape 38"/>
          <p:cNvSpPr/>
          <p:nvPr/>
        </p:nvSpPr>
        <p:spPr>
          <a:xfrm>
            <a:off x="3131939" y="465445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3194745" y="4696718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5" name="Text 40"/>
          <p:cNvSpPr txBox="1"/>
          <p:nvPr/>
        </p:nvSpPr>
        <p:spPr>
          <a:xfrm>
            <a:off x="3419773" y="4662785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Junte o ovo e o queijo e amasse até formar uma massa macia que não grude nas mãos. Se ficar seca, pingue leite, uma colher por vez.</a:t>
            </a:r>
            <a:endParaRPr lang="en-US" sz="930" dirty="0"/>
          </a:p>
        </p:txBody>
      </p:sp>
      <p:sp>
        <p:nvSpPr>
          <p:cNvPr id="46" name="Shape 41"/>
          <p:cNvSpPr/>
          <p:nvPr/>
        </p:nvSpPr>
        <p:spPr>
          <a:xfrm>
            <a:off x="3131939" y="529709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3198465" y="5339358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48" name="Text 43"/>
          <p:cNvSpPr txBox="1"/>
          <p:nvPr/>
        </p:nvSpPr>
        <p:spPr>
          <a:xfrm>
            <a:off x="3419773" y="5305425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Modele palitos de 8 cm ou bolinhas e disponha na assadeira com espaço entre eles.</a:t>
            </a:r>
            <a:endParaRPr lang="en-US" sz="930" dirty="0"/>
          </a:p>
        </p:txBody>
      </p:sp>
      <p:sp>
        <p:nvSpPr>
          <p:cNvPr id="49" name="Shape 44"/>
          <p:cNvSpPr/>
          <p:nvPr/>
        </p:nvSpPr>
        <p:spPr>
          <a:xfrm>
            <a:off x="3131939" y="5756672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3196828" y="5798939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1" name="Text 46"/>
          <p:cNvSpPr txBox="1"/>
          <p:nvPr/>
        </p:nvSpPr>
        <p:spPr>
          <a:xfrm>
            <a:off x="3419773" y="5765006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 por 25 a 30 minutos, até dourarem. Não abra o forno nos primeiros 15 minutos.</a:t>
            </a:r>
            <a:endParaRPr lang="en-US" sz="930" dirty="0"/>
          </a:p>
        </p:txBody>
      </p:sp>
      <p:sp>
        <p:nvSpPr>
          <p:cNvPr id="52" name="Shape 47"/>
          <p:cNvSpPr/>
          <p:nvPr/>
        </p:nvSpPr>
        <p:spPr>
          <a:xfrm>
            <a:off x="647998" y="9054703"/>
            <a:ext cx="6263878" cy="845195"/>
          </a:xfrm>
          <a:prstGeom prst="roundRect">
            <a:avLst>
              <a:gd name="adj" fmla="val 13824"/>
            </a:avLst>
          </a:prstGeom>
          <a:solidFill>
            <a:srgbClr val="EEE6D8"/>
          </a:solidFill>
          <a:ln/>
        </p:spPr>
      </p:sp>
      <p:sp>
        <p:nvSpPr>
          <p:cNvPr id="53" name="Shape 48"/>
          <p:cNvSpPr/>
          <p:nvPr/>
        </p:nvSpPr>
        <p:spPr>
          <a:xfrm>
            <a:off x="827931" y="921662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98037"/>
            <a:ext cx="197048" cy="197048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1331714" y="921662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56" name="Text 50"/>
          <p:cNvSpPr txBox="1"/>
          <p:nvPr/>
        </p:nvSpPr>
        <p:spPr>
          <a:xfrm>
            <a:off x="1331714" y="9366796"/>
            <a:ext cx="540022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É um ótimo destino para a mandioca que sobrou do almoço. A massa crua pode ser congelada já modelada e assada direto do freezer (acrescente 5 a 10 minutos).</a:t>
            </a:r>
            <a:endParaRPr lang="en-US" sz="1000" dirty="0"/>
          </a:p>
        </p:txBody>
      </p:sp>
      <p:sp>
        <p:nvSpPr>
          <p:cNvPr id="57" name="Shape 51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9" name="Text 53"/>
          <p:cNvSpPr txBox="1"/>
          <p:nvPr/>
        </p:nvSpPr>
        <p:spPr>
          <a:xfrm>
            <a:off x="6786116" y="10236845"/>
            <a:ext cx="2400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63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592931"/>
            <a:ext cx="8050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PULO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68846"/>
            <a:ext cx="174588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 CHEF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35552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537395"/>
            <a:ext cx="515147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Mandioca que não cozinha (ou que desmancha o rösti)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7998" y="1974503"/>
            <a:ext cx="2703909" cy="3609975"/>
          </a:xfrm>
          <a:prstGeom prst="roundRect">
            <a:avLst>
              <a:gd name="adj" fmla="val 135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163961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C255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245370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281982"/>
            <a:ext cx="615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ERRO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37456" y="2668786"/>
            <a:ext cx="2324993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Comprar sem critério, cortar em pedaços de tamanhos diferentes e insistir no fogo por horas. E, no rösti, ralar e levar direto para a frigideira, com toda a água da raiz.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3531840" y="1974503"/>
            <a:ext cx="3380036" cy="3609975"/>
          </a:xfrm>
          <a:prstGeom prst="roundRect">
            <a:avLst>
              <a:gd name="adj" fmla="val 864"/>
            </a:avLst>
          </a:prstGeom>
          <a:solidFill>
            <a:srgbClr val="EEE6D8"/>
          </a:solidFill>
          <a:ln/>
        </p:spPr>
      </p:sp>
      <p:sp>
        <p:nvSpPr>
          <p:cNvPr id="12" name="Shape 9"/>
          <p:cNvSpPr/>
          <p:nvPr/>
        </p:nvSpPr>
        <p:spPr>
          <a:xfrm>
            <a:off x="3711773" y="2154436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182" y="2235845"/>
            <a:ext cx="197048" cy="197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97548" y="2272457"/>
            <a:ext cx="8103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TÉCNICA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3711773" y="2640211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6" name="Text 12"/>
          <p:cNvSpPr txBox="1"/>
          <p:nvPr/>
        </p:nvSpPr>
        <p:spPr>
          <a:xfrm>
            <a:off x="3873774" y="2659261"/>
            <a:ext cx="2858169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Escolha bem: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ponta que estala e polpa uniforme. Raiz velha ou fibrosa não amolece, não importa o tempo.</a:t>
            </a:r>
            <a:endParaRPr lang="en-US" sz="940" dirty="0"/>
          </a:p>
        </p:txBody>
      </p:sp>
      <p:sp>
        <p:nvSpPr>
          <p:cNvPr id="17" name="Text 13"/>
          <p:cNvSpPr txBox="1"/>
          <p:nvPr/>
        </p:nvSpPr>
        <p:spPr>
          <a:xfrm>
            <a:off x="3711773" y="3267075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8" name="Text 14"/>
          <p:cNvSpPr txBox="1"/>
          <p:nvPr/>
        </p:nvSpPr>
        <p:spPr>
          <a:xfrm>
            <a:off x="3873774" y="3286125"/>
            <a:ext cx="2858169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Congele crua: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os cristais de gelo rompem as fibras e ela cozinha mais rápido e fica mais macia.</a:t>
            </a:r>
            <a:endParaRPr lang="en-US" sz="940" dirty="0"/>
          </a:p>
        </p:txBody>
      </p:sp>
      <p:sp>
        <p:nvSpPr>
          <p:cNvPr id="19" name="Text 15"/>
          <p:cNvSpPr txBox="1"/>
          <p:nvPr/>
        </p:nvSpPr>
        <p:spPr>
          <a:xfrm>
            <a:off x="3711773" y="3893939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0" name="Text 16"/>
          <p:cNvSpPr txBox="1"/>
          <p:nvPr/>
        </p:nvSpPr>
        <p:spPr>
          <a:xfrm>
            <a:off x="3873774" y="3912989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Pedaços iguais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panela de pressão quando a pressa bater.</a:t>
            </a:r>
            <a:endParaRPr lang="en-US" sz="940" dirty="0"/>
          </a:p>
        </p:txBody>
      </p:sp>
      <p:sp>
        <p:nvSpPr>
          <p:cNvPr id="21" name="Text 17"/>
          <p:cNvSpPr txBox="1"/>
          <p:nvPr/>
        </p:nvSpPr>
        <p:spPr>
          <a:xfrm>
            <a:off x="3711773" y="4335810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2" name="Text 18"/>
          <p:cNvSpPr txBox="1"/>
          <p:nvPr/>
        </p:nvSpPr>
        <p:spPr>
          <a:xfrm>
            <a:off x="3873774" y="4354860"/>
            <a:ext cx="2858169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Esprema a mandioca ralada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pano: menos água, mais crocância e um rösti que não desmancha.</a:t>
            </a:r>
            <a:endParaRPr lang="en-US" sz="940" dirty="0"/>
          </a:p>
        </p:txBody>
      </p:sp>
      <p:sp>
        <p:nvSpPr>
          <p:cNvPr id="23" name="Text 19"/>
          <p:cNvSpPr txBox="1"/>
          <p:nvPr/>
        </p:nvSpPr>
        <p:spPr>
          <a:xfrm>
            <a:off x="3711773" y="4962674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4" name="Text 20"/>
          <p:cNvSpPr txBox="1"/>
          <p:nvPr/>
        </p:nvSpPr>
        <p:spPr>
          <a:xfrm>
            <a:off x="3873774" y="4981724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amoleceu?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Não jogue fora: ela ainda serve para o caldo batido.</a:t>
            </a:r>
            <a:endParaRPr lang="en-US" sz="940" dirty="0"/>
          </a:p>
        </p:txBody>
      </p:sp>
      <p:sp>
        <p:nvSpPr>
          <p:cNvPr id="25" name="Text 21"/>
          <p:cNvSpPr txBox="1"/>
          <p:nvPr/>
        </p:nvSpPr>
        <p:spPr>
          <a:xfrm>
            <a:off x="647998" y="5889427"/>
            <a:ext cx="95622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NÃO TEM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647998" y="6074866"/>
            <a:ext cx="84995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spc="63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ISSO?</a:t>
            </a:r>
            <a:endParaRPr lang="en-US" sz="2100" dirty="0"/>
          </a:p>
        </p:txBody>
      </p:sp>
      <p:sp>
        <p:nvSpPr>
          <p:cNvPr id="27" name="Shape 23"/>
          <p:cNvSpPr/>
          <p:nvPr/>
        </p:nvSpPr>
        <p:spPr>
          <a:xfrm>
            <a:off x="647998" y="6568232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28" name="Shape 24"/>
          <p:cNvSpPr/>
          <p:nvPr/>
        </p:nvSpPr>
        <p:spPr>
          <a:xfrm>
            <a:off x="647998" y="6795492"/>
            <a:ext cx="1655862" cy="291703"/>
          </a:xfrm>
          <a:prstGeom prst="roundRect">
            <a:avLst>
              <a:gd name="adj" fmla="val 77373"/>
            </a:avLst>
          </a:prstGeom>
          <a:solidFill>
            <a:srgbClr val="4E5B38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91914" y="6888956"/>
            <a:ext cx="996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NÃO TIVER…</a:t>
            </a:r>
            <a:endParaRPr lang="en-US" sz="680" dirty="0"/>
          </a:p>
        </p:txBody>
      </p:sp>
      <p:sp>
        <p:nvSpPr>
          <p:cNvPr id="30" name="Shape 26"/>
          <p:cNvSpPr/>
          <p:nvPr/>
        </p:nvSpPr>
        <p:spPr>
          <a:xfrm>
            <a:off x="2303859" y="6795492"/>
            <a:ext cx="4608016" cy="291703"/>
          </a:xfrm>
          <a:prstGeom prst="rect">
            <a:avLst/>
          </a:prstGeom>
          <a:solidFill>
            <a:srgbClr val="4E5B38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2447776" y="6888956"/>
            <a:ext cx="4199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USE…</a:t>
            </a:r>
            <a:endParaRPr lang="en-US" sz="680" dirty="0"/>
          </a:p>
        </p:txBody>
      </p:sp>
      <p:sp>
        <p:nvSpPr>
          <p:cNvPr id="32" name="Shape 28"/>
          <p:cNvSpPr/>
          <p:nvPr/>
        </p:nvSpPr>
        <p:spPr>
          <a:xfrm>
            <a:off x="647998" y="7629227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791914" y="7180659"/>
            <a:ext cx="10409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Mandioca fresca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2303859" y="7629227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2447859" y="7190184"/>
            <a:ext cx="4320017" cy="33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Mandioca congelada já descascada (funciona muito bem nas três receitas).</a:t>
            </a:r>
            <a:endParaRPr lang="en-US" sz="920" dirty="0"/>
          </a:p>
        </p:txBody>
      </p:sp>
      <p:sp>
        <p:nvSpPr>
          <p:cNvPr id="36" name="Shape 32"/>
          <p:cNvSpPr/>
          <p:nvPr/>
        </p:nvSpPr>
        <p:spPr>
          <a:xfrm>
            <a:off x="647998" y="8000851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791914" y="7727454"/>
            <a:ext cx="4637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Bacon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2303859" y="8000851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2447776" y="7736979"/>
            <a:ext cx="37608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Linguiça calabresa em cubinhos ou cogumelos dourados.</a:t>
            </a:r>
            <a:endParaRPr lang="en-US" sz="920" dirty="0"/>
          </a:p>
        </p:txBody>
      </p:sp>
      <p:sp>
        <p:nvSpPr>
          <p:cNvPr id="40" name="Shape 36"/>
          <p:cNvSpPr/>
          <p:nvPr/>
        </p:nvSpPr>
        <p:spPr>
          <a:xfrm>
            <a:off x="647998" y="8372475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791914" y="8099078"/>
            <a:ext cx="9344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Polvilho azedo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2303859" y="8372475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2447776" y="8108603"/>
            <a:ext cx="3786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Polvilho doce (o biscoito fica menos aerado e mais macio).</a:t>
            </a:r>
            <a:endParaRPr lang="en-US" sz="920" dirty="0"/>
          </a:p>
        </p:txBody>
      </p:sp>
      <p:sp>
        <p:nvSpPr>
          <p:cNvPr id="44" name="Shape 40"/>
          <p:cNvSpPr/>
          <p:nvPr/>
        </p:nvSpPr>
        <p:spPr>
          <a:xfrm>
            <a:off x="647998" y="8744099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791914" y="8470702"/>
            <a:ext cx="11184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Queijo meia-cura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2303859" y="8744099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2447776" y="8480227"/>
            <a:ext cx="19264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Parmesão ou queijo canastra.</a:t>
            </a:r>
            <a:endParaRPr lang="en-US" sz="920" dirty="0"/>
          </a:p>
        </p:txBody>
      </p:sp>
      <p:sp>
        <p:nvSpPr>
          <p:cNvPr id="48" name="Shape 44"/>
          <p:cNvSpPr/>
          <p:nvPr/>
        </p:nvSpPr>
        <p:spPr>
          <a:xfrm>
            <a:off x="647998" y="9115723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791914" y="8842325"/>
            <a:ext cx="10161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Gengibre fresco</a:t>
            </a:r>
            <a:endParaRPr lang="en-US" sz="1000" dirty="0"/>
          </a:p>
        </p:txBody>
      </p:sp>
      <p:sp>
        <p:nvSpPr>
          <p:cNvPr id="50" name="Shape 46"/>
          <p:cNvSpPr/>
          <p:nvPr/>
        </p:nvSpPr>
        <p:spPr>
          <a:xfrm>
            <a:off x="2303859" y="9115723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2447776" y="8851850"/>
            <a:ext cx="33489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Pimenta-do-reino moída na hora e raspas de limão.</a:t>
            </a:r>
            <a:endParaRPr lang="en-US" sz="920" dirty="0"/>
          </a:p>
        </p:txBody>
      </p:sp>
      <p:sp>
        <p:nvSpPr>
          <p:cNvPr id="52" name="Shape 48"/>
          <p:cNvSpPr/>
          <p:nvPr/>
        </p:nvSpPr>
        <p:spPr>
          <a:xfrm>
            <a:off x="647998" y="9487346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791914" y="9213949"/>
            <a:ext cx="7706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Carne-seca</a:t>
            </a:r>
            <a:endParaRPr lang="en-US" sz="1000" dirty="0"/>
          </a:p>
        </p:txBody>
      </p:sp>
      <p:sp>
        <p:nvSpPr>
          <p:cNvPr id="54" name="Shape 50"/>
          <p:cNvSpPr/>
          <p:nvPr/>
        </p:nvSpPr>
        <p:spPr>
          <a:xfrm>
            <a:off x="2303859" y="9487346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2447776" y="9223474"/>
            <a:ext cx="3226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Frango desfiado (capítulo 3) ou linguiça refogada.</a:t>
            </a:r>
            <a:endParaRPr lang="en-US" sz="920" dirty="0"/>
          </a:p>
        </p:txBody>
      </p:sp>
      <p:sp>
        <p:nvSpPr>
          <p:cNvPr id="56" name="Shape 52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8" name="Text 54"/>
          <p:cNvSpPr txBox="1"/>
          <p:nvPr/>
        </p:nvSpPr>
        <p:spPr>
          <a:xfrm>
            <a:off x="6809333" y="10236845"/>
            <a:ext cx="2168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</a:t>
            </a:r>
            <a:endParaRPr lang="en-US" sz="63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808881"/>
            <a:ext cx="11548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APROVEITA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984796"/>
            <a:ext cx="26369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ISSO TAMBÉM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57147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817787"/>
            <a:ext cx="42428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Cascas, talos, ramas e aparas: o que ia para o lixo vira sabor.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21855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407" y="2303264"/>
            <a:ext cx="197048" cy="197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69789" y="2221855"/>
            <a:ext cx="27071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Água do cozimento, rica em amido</a:t>
            </a:r>
            <a:endParaRPr lang="en-US" sz="1060" dirty="0"/>
          </a:p>
        </p:txBody>
      </p:sp>
      <p:sp>
        <p:nvSpPr>
          <p:cNvPr id="9" name="Text 6"/>
          <p:cNvSpPr txBox="1"/>
          <p:nvPr/>
        </p:nvSpPr>
        <p:spPr>
          <a:xfrm>
            <a:off x="1169789" y="2455515"/>
            <a:ext cx="3366195" cy="951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água em que a mandioca cozinhou fica rica em amido. Guarde (na geladeira por até 2 dias) e use para dar ponto e cremosidade a molhos, ensopados e ao próprio caldo, no lugar da água ou de parte do creme de leite.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647998" y="3639145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07" y="3720554"/>
            <a:ext cx="197048" cy="197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69789" y="3639145"/>
            <a:ext cx="34741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“Fariña” crocante de frigideira com as aparas</a:t>
            </a:r>
            <a:endParaRPr lang="en-US" sz="1060" dirty="0"/>
          </a:p>
        </p:txBody>
      </p:sp>
      <p:sp>
        <p:nvSpPr>
          <p:cNvPr id="13" name="Text 9"/>
          <p:cNvSpPr txBox="1"/>
          <p:nvPr/>
        </p:nvSpPr>
        <p:spPr>
          <a:xfrm>
            <a:off x="1169789" y="3872805"/>
            <a:ext cx="3366195" cy="1148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Pontas, pedaços quebrados e sobras de mandioca já cozida viram crocância. Rale fino e espalhe numa frigideira com 1 colher de manteiga. Toste em fogo médio, mexendo de vez em quando, até ficar dourada e soltinha. Tempere com sal e use como uma farofa fresca sobre o caldo, saladas, feijão ou ovos.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647998" y="525378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07" y="5335191"/>
            <a:ext cx="197048" cy="197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69789" y="5253782"/>
            <a:ext cx="9641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as cascas?</a:t>
            </a:r>
            <a:endParaRPr lang="en-US" sz="1060" dirty="0"/>
          </a:p>
        </p:txBody>
      </p:sp>
      <p:sp>
        <p:nvSpPr>
          <p:cNvPr id="17" name="Text 12"/>
          <p:cNvSpPr txBox="1"/>
          <p:nvPr/>
        </p:nvSpPr>
        <p:spPr>
          <a:xfrm>
            <a:off x="1169789" y="5487442"/>
            <a:ext cx="3366195" cy="359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cascas da mandioca não são comestíveis. Mande para a compostagem.</a:t>
            </a:r>
            <a:endParaRPr lang="en-US" sz="960" dirty="0"/>
          </a:p>
        </p:txBody>
      </p:sp>
      <p:sp>
        <p:nvSpPr>
          <p:cNvPr id="18" name="Shape 13"/>
          <p:cNvSpPr/>
          <p:nvPr/>
        </p:nvSpPr>
        <p:spPr>
          <a:xfrm>
            <a:off x="4895999" y="0"/>
            <a:ext cx="2663875" cy="10691961"/>
          </a:xfrm>
          <a:prstGeom prst="rect">
            <a:avLst/>
          </a:prstGeom>
          <a:solidFill>
            <a:srgbClr val="EEE6D8"/>
          </a:solidFill>
          <a:ln/>
        </p:spPr>
      </p:sp>
      <p:sp>
        <p:nvSpPr>
          <p:cNvPr id="19" name="Shape 14"/>
          <p:cNvSpPr/>
          <p:nvPr/>
        </p:nvSpPr>
        <p:spPr>
          <a:xfrm>
            <a:off x="4392067" y="791914"/>
            <a:ext cx="2735907" cy="2735907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75002" y="1174849"/>
            <a:ext cx="1970038" cy="197003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701" y="1530548"/>
            <a:ext cx="1258491" cy="1258491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895999" y="8459986"/>
            <a:ext cx="2663875" cy="2231975"/>
          </a:xfrm>
          <a:prstGeom prst="rect">
            <a:avLst/>
          </a:prstGeom>
          <a:solidFill>
            <a:srgbClr val="4E5B38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3904" y="9341941"/>
            <a:ext cx="467916" cy="467916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47998" y="10133856"/>
            <a:ext cx="3600004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26" name="Text 19"/>
          <p:cNvSpPr txBox="1"/>
          <p:nvPr/>
        </p:nvSpPr>
        <p:spPr>
          <a:xfrm>
            <a:off x="4129832" y="10236845"/>
            <a:ext cx="2324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</a:t>
            </a:r>
            <a:endParaRPr lang="en-US" sz="63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736848"/>
            <a:ext cx="119781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CAPÍTULO 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912763"/>
            <a:ext cx="209142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spc="90" kern="0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CENOURA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7998" y="1541413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696789"/>
            <a:ext cx="107263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B645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 raiz à rama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7998" y="2095798"/>
            <a:ext cx="3527971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Está em quase toda geladeira, mas costuma ficar presa à salada ralada ou ao bolo de sempre. Aqui ela vira protagonista.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823966" y="396032"/>
            <a:ext cx="3311872" cy="331187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87566" y="859631"/>
            <a:ext cx="2384673" cy="2384673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8125" y="1290191"/>
            <a:ext cx="1523405" cy="15234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7998" y="3779937"/>
            <a:ext cx="1086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INGREDIENTE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647998" y="4003179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cenoura está em quase todo refogado, quase toda salada e quase todo lanche da tarde. E quase sempre como coadjuvante.</a:t>
            </a:r>
            <a:endParaRPr lang="en-US" sz="990" dirty="0"/>
          </a:p>
        </p:txBody>
      </p:sp>
      <p:sp>
        <p:nvSpPr>
          <p:cNvPr id="12" name="Text 9"/>
          <p:cNvSpPr txBox="1"/>
          <p:nvPr/>
        </p:nvSpPr>
        <p:spPr>
          <a:xfrm>
            <a:off x="647998" y="4529882"/>
            <a:ext cx="6263878" cy="60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Ela tem açúcar natural de sobra e, quando encontra calor seco, carameliza e ganha um sabor profundo, quase de castanha. Ralada e bem refogada, vira a base de um hambúrguer. E, num bolo, ela é que garante a umidade.</a:t>
            </a:r>
            <a:endParaRPr lang="en-US" sz="990" dirty="0"/>
          </a:p>
        </p:txBody>
      </p:sp>
      <p:sp>
        <p:nvSpPr>
          <p:cNvPr id="13" name="Text 10"/>
          <p:cNvSpPr txBox="1"/>
          <p:nvPr/>
        </p:nvSpPr>
        <p:spPr>
          <a:xfrm>
            <a:off x="647998" y="5272832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Nada se perde: a casca é fina e comestível, e a rama, aquelas folhas que quase sempre vão para o lixo, é um tempero fresco e potente.</a:t>
            </a:r>
            <a:endParaRPr lang="en-US" sz="990" dirty="0"/>
          </a:p>
        </p:txBody>
      </p:sp>
      <p:sp>
        <p:nvSpPr>
          <p:cNvPr id="14" name="Text 11"/>
          <p:cNvSpPr txBox="1"/>
          <p:nvPr/>
        </p:nvSpPr>
        <p:spPr>
          <a:xfrm>
            <a:off x="647998" y="5892701"/>
            <a:ext cx="16477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3 TRANSFORMAÇÕES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47998" y="6748909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7998" y="6287393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28514" y="6360914"/>
            <a:ext cx="2050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680" dirty="0"/>
          </a:p>
        </p:txBody>
      </p:sp>
      <p:sp>
        <p:nvSpPr>
          <p:cNvPr id="18" name="Text 15"/>
          <p:cNvSpPr txBox="1"/>
          <p:nvPr/>
        </p:nvSpPr>
        <p:spPr>
          <a:xfrm>
            <a:off x="1025872" y="6202561"/>
            <a:ext cx="12161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ASSADO INTENSO</a:t>
            </a:r>
            <a:endParaRPr lang="en-US" sz="640" dirty="0"/>
          </a:p>
        </p:txBody>
      </p:sp>
      <p:sp>
        <p:nvSpPr>
          <p:cNvPr id="19" name="Text 16"/>
          <p:cNvSpPr txBox="1"/>
          <p:nvPr/>
        </p:nvSpPr>
        <p:spPr>
          <a:xfrm>
            <a:off x="1025872" y="6319391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Cenouras assadas inteiras, caramelizadas no mel ou melaço com azeite e tomilho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(doçura natural levada ao máximo)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71666" y="6454080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1" name="Text 18"/>
          <p:cNvSpPr txBox="1"/>
          <p:nvPr/>
        </p:nvSpPr>
        <p:spPr>
          <a:xfrm>
            <a:off x="6671370" y="6346627"/>
            <a:ext cx="2405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647998" y="7410450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7998" y="6948934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19882" y="7022455"/>
            <a:ext cx="222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680" dirty="0"/>
          </a:p>
        </p:txBody>
      </p:sp>
      <p:sp>
        <p:nvSpPr>
          <p:cNvPr id="25" name="Text 22"/>
          <p:cNvSpPr txBox="1"/>
          <p:nvPr/>
        </p:nvSpPr>
        <p:spPr>
          <a:xfrm>
            <a:off x="1025872" y="6864102"/>
            <a:ext cx="12443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PRATO PRINCIPAL</a:t>
            </a:r>
            <a:endParaRPr lang="en-US" sz="640" dirty="0"/>
          </a:p>
        </p:txBody>
      </p:sp>
      <p:sp>
        <p:nvSpPr>
          <p:cNvPr id="26" name="Text 23"/>
          <p:cNvSpPr txBox="1"/>
          <p:nvPr/>
        </p:nvSpPr>
        <p:spPr>
          <a:xfrm>
            <a:off x="1025872" y="6980932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Hambúrguer rústico ou bolinho de cenoura com aveia e especiarias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(saboroso e nutritivo)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71666" y="7115621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8" name="Text 25"/>
          <p:cNvSpPr txBox="1"/>
          <p:nvPr/>
        </p:nvSpPr>
        <p:spPr>
          <a:xfrm>
            <a:off x="6665565" y="7008168"/>
            <a:ext cx="2463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647998" y="8071991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7998" y="7610475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20328" y="7683996"/>
            <a:ext cx="2216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80" dirty="0"/>
          </a:p>
        </p:txBody>
      </p:sp>
      <p:sp>
        <p:nvSpPr>
          <p:cNvPr id="32" name="Text 29"/>
          <p:cNvSpPr txBox="1"/>
          <p:nvPr/>
        </p:nvSpPr>
        <p:spPr>
          <a:xfrm>
            <a:off x="1025872" y="7525643"/>
            <a:ext cx="17285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SOBREMESA DE RESPEITO</a:t>
            </a:r>
            <a:endParaRPr lang="en-US" sz="640" dirty="0"/>
          </a:p>
        </p:txBody>
      </p:sp>
      <p:sp>
        <p:nvSpPr>
          <p:cNvPr id="33" name="Text 30"/>
          <p:cNvSpPr txBox="1"/>
          <p:nvPr/>
        </p:nvSpPr>
        <p:spPr>
          <a:xfrm>
            <a:off x="1025872" y="7642473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Bolo de cenoura da vovó com técnica de chef e calda de chocolate espelhada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(massa fofíssima que não sola)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471666" y="7777162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35" name="Text 32"/>
          <p:cNvSpPr txBox="1"/>
          <p:nvPr/>
        </p:nvSpPr>
        <p:spPr>
          <a:xfrm>
            <a:off x="6668839" y="7669709"/>
            <a:ext cx="2430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38" name="Text 35"/>
          <p:cNvSpPr txBox="1"/>
          <p:nvPr/>
        </p:nvSpPr>
        <p:spPr>
          <a:xfrm>
            <a:off x="6793706" y="10236845"/>
            <a:ext cx="2324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</a:t>
            </a:r>
            <a:endParaRPr lang="en-US" sz="63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592931"/>
            <a:ext cx="101485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ANTES 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68846"/>
            <a:ext cx="148518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PANELA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35552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601837"/>
            <a:ext cx="449996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Escolher bem, guardar direito e cortar do jeito certo: metade do prato se resolve aqui.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13074"/>
            <a:ext cx="3041898" cy="2303264"/>
          </a:xfrm>
          <a:prstGeom prst="roundRect">
            <a:avLst>
              <a:gd name="adj" fmla="val 1862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40253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483941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520553"/>
            <a:ext cx="17408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HORA DE ESCOLHER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55456" y="295670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99456" y="2907357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Firme, lisa, de cor laranja intensa, sem rachaduras nem brotos.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855456" y="339857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99456" y="3349228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Evite cenouras moles ou com a parte de cima esverdeada.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855456" y="38404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99456" y="3791099"/>
            <a:ext cx="2500981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encontrar com rama, compre: rama verde e viçosa é sinal de cenoura fresca, e ainda vira pesto.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3869829" y="2213074"/>
            <a:ext cx="3042047" cy="2303264"/>
          </a:xfrm>
          <a:prstGeom prst="roundRect">
            <a:avLst>
              <a:gd name="adj" fmla="val 1862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59287" y="240253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696" y="2483941"/>
            <a:ext cx="197048" cy="19704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545062" y="2520553"/>
            <a:ext cx="12054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GUARDAR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077287" y="295670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221287" y="2907357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Separe a rama assim que chegar em casa: ela puxa a umidade da raiz.</a:t>
            </a:r>
            <a:endParaRPr lang="en-US" sz="940" dirty="0"/>
          </a:p>
        </p:txBody>
      </p:sp>
      <p:sp>
        <p:nvSpPr>
          <p:cNvPr id="22" name="Shape 18"/>
          <p:cNvSpPr/>
          <p:nvPr/>
        </p:nvSpPr>
        <p:spPr>
          <a:xfrm>
            <a:off x="4077287" y="339857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221287" y="3349228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Raiz: em pote fechado com papel-toalha, na geladeira, por 3 a 4 semanas.</a:t>
            </a:r>
            <a:endParaRPr lang="en-US" sz="940" dirty="0"/>
          </a:p>
        </p:txBody>
      </p:sp>
      <p:sp>
        <p:nvSpPr>
          <p:cNvPr id="24" name="Shape 20"/>
          <p:cNvSpPr/>
          <p:nvPr/>
        </p:nvSpPr>
        <p:spPr>
          <a:xfrm>
            <a:off x="4077287" y="38404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221287" y="3791099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Rama: lavada, bem seca e enrolada em papel-toalha, por 3 a 4 dias.</a:t>
            </a:r>
            <a:endParaRPr lang="en-US" sz="940" dirty="0"/>
          </a:p>
        </p:txBody>
      </p:sp>
      <p:sp>
        <p:nvSpPr>
          <p:cNvPr id="26" name="Shape 22"/>
          <p:cNvSpPr/>
          <p:nvPr/>
        </p:nvSpPr>
        <p:spPr>
          <a:xfrm>
            <a:off x="647998" y="4696271"/>
            <a:ext cx="6263878" cy="1748284"/>
          </a:xfrm>
          <a:prstGeom prst="roundRect">
            <a:avLst>
              <a:gd name="adj" fmla="val 323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37456" y="4885730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865" y="4967139"/>
            <a:ext cx="197048" cy="197048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323231" y="5003750"/>
            <a:ext cx="1793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PRÉ-PREPARO E CORTES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855456" y="543990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99381" y="5390555"/>
            <a:ext cx="57422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precisa descascar: escove bem sob água corrente. Se descascar, guarde as cascas.</a:t>
            </a:r>
            <a:endParaRPr lang="en-US" sz="940" dirty="0"/>
          </a:p>
        </p:txBody>
      </p:sp>
      <p:sp>
        <p:nvSpPr>
          <p:cNvPr id="32" name="Shape 27"/>
          <p:cNvSpPr/>
          <p:nvPr/>
        </p:nvSpPr>
        <p:spPr>
          <a:xfrm>
            <a:off x="855456" y="569678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999381" y="5647432"/>
            <a:ext cx="41598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Rodelas em diagonal têm mais superfície e caramelizam mais.</a:t>
            </a:r>
            <a:endParaRPr lang="en-US" sz="940" dirty="0"/>
          </a:p>
        </p:txBody>
      </p:sp>
      <p:sp>
        <p:nvSpPr>
          <p:cNvPr id="34" name="Shape 29"/>
          <p:cNvSpPr/>
          <p:nvPr/>
        </p:nvSpPr>
        <p:spPr>
          <a:xfrm>
            <a:off x="855456" y="595365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999456" y="5904309"/>
            <a:ext cx="572296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Palitos e meia-lua para assar; ralada fina para bolinhos; em fitas (com o descascador) para saladas cruas.</a:t>
            </a:r>
            <a:endParaRPr lang="en-US" sz="940" dirty="0"/>
          </a:p>
        </p:txBody>
      </p:sp>
      <p:sp>
        <p:nvSpPr>
          <p:cNvPr id="36" name="Shape 31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38" name="Text 33"/>
          <p:cNvSpPr txBox="1"/>
          <p:nvPr/>
        </p:nvSpPr>
        <p:spPr>
          <a:xfrm>
            <a:off x="6785670" y="10236845"/>
            <a:ext cx="2405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</a:t>
            </a:r>
            <a:endParaRPr lang="en-US" sz="63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31212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5.1 · O ASSADO INTENSO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Cenouras assadas inteiras, caramelizadas no mel ou melaço com azeite e tomilho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57388"/>
            <a:ext cx="22574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doçura natural levada ao máximo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96282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52377"/>
            <a:ext cx="4884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 MIN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505968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88009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409" y="2396282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65883" y="2352377"/>
            <a:ext cx="7361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PORÇÕES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65883" y="2505968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Shape 13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98" y="327451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cenouras médias (cerca de 600 g)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371468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23" y="3655814"/>
            <a:ext cx="16562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colheres (sopa) de azeite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393227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98" y="3873401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colheres (sopa) de mel (ou melaço)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31357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23" y="4254698"/>
            <a:ext cx="16490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ramos de tomilho fresco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453116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23" y="4472285"/>
            <a:ext cx="19085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 grosso e pimenta-do-reino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474874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98" y="4689872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(sopa) de vinagre de maçã ou suco de limão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513004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98" y="5071170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Opcional: iogurte temperado com sal e limão, e amendoim picado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4" name="Shape 29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36" name="Text 31"/>
          <p:cNvSpPr txBox="1"/>
          <p:nvPr/>
        </p:nvSpPr>
        <p:spPr>
          <a:xfrm>
            <a:off x="3419773" y="328404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Preaqueça o forno a 220 °C. Escove bem as cenouras. Se forem grossas, corte ao meio no sentido do comprimento.</a:t>
            </a:r>
            <a:endParaRPr lang="en-US" sz="930" dirty="0"/>
          </a:p>
        </p:txBody>
      </p:sp>
      <p:sp>
        <p:nvSpPr>
          <p:cNvPr id="37" name="Shape 32"/>
          <p:cNvSpPr/>
          <p:nvPr/>
        </p:nvSpPr>
        <p:spPr>
          <a:xfrm>
            <a:off x="3131939" y="373528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3198614" y="377755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39" name="Text 34"/>
          <p:cNvSpPr txBox="1"/>
          <p:nvPr/>
        </p:nvSpPr>
        <p:spPr>
          <a:xfrm>
            <a:off x="3419773" y="3743623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Numa assadeira grande, envolva as cenouras com o azeite, sal e pimenta. Deixe espaço entre elas: amontoadas, cozinham no vapor e não caramelizam.</a:t>
            </a:r>
            <a:endParaRPr lang="en-US" sz="930" dirty="0"/>
          </a:p>
        </p:txBody>
      </p:sp>
      <p:sp>
        <p:nvSpPr>
          <p:cNvPr id="40" name="Shape 35"/>
          <p:cNvSpPr/>
          <p:nvPr/>
        </p:nvSpPr>
        <p:spPr>
          <a:xfrm>
            <a:off x="3131939" y="437792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3198614" y="442019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2" name="Text 37"/>
          <p:cNvSpPr txBox="1"/>
          <p:nvPr/>
        </p:nvSpPr>
        <p:spPr>
          <a:xfrm>
            <a:off x="3419773" y="4386263"/>
            <a:ext cx="30550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 por 25 minutos, até começarem a dourar.</a:t>
            </a:r>
            <a:endParaRPr lang="en-US" sz="930" dirty="0"/>
          </a:p>
        </p:txBody>
      </p:sp>
      <p:sp>
        <p:nvSpPr>
          <p:cNvPr id="43" name="Shape 38"/>
          <p:cNvSpPr/>
          <p:nvPr/>
        </p:nvSpPr>
        <p:spPr>
          <a:xfrm>
            <a:off x="3131939" y="466204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3194745" y="4704308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5" name="Text 40"/>
          <p:cNvSpPr txBox="1"/>
          <p:nvPr/>
        </p:nvSpPr>
        <p:spPr>
          <a:xfrm>
            <a:off x="3419773" y="4670375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Regue com o mel, junte o tomilho, chacoalhe a assadeira e volte ao forno por mais 10 a 15 minutos, até as pontas tostarem e o mel virar uma camada brilhante.</a:t>
            </a:r>
            <a:endParaRPr lang="en-US" sz="930" dirty="0"/>
          </a:p>
        </p:txBody>
      </p:sp>
      <p:sp>
        <p:nvSpPr>
          <p:cNvPr id="46" name="Shape 41"/>
          <p:cNvSpPr/>
          <p:nvPr/>
        </p:nvSpPr>
        <p:spPr>
          <a:xfrm>
            <a:off x="3131939" y="530468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3198465" y="5346948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48" name="Text 43"/>
          <p:cNvSpPr txBox="1"/>
          <p:nvPr/>
        </p:nvSpPr>
        <p:spPr>
          <a:xfrm>
            <a:off x="3419773" y="5313015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Retire do forno e regue com o vinagre ou limão ainda quente.</a:t>
            </a:r>
            <a:endParaRPr lang="en-US" sz="930" dirty="0"/>
          </a:p>
        </p:txBody>
      </p:sp>
      <p:sp>
        <p:nvSpPr>
          <p:cNvPr id="49" name="Shape 44"/>
          <p:cNvSpPr/>
          <p:nvPr/>
        </p:nvSpPr>
        <p:spPr>
          <a:xfrm>
            <a:off x="3131939" y="5764262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3196828" y="5806529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1" name="Text 46"/>
          <p:cNvSpPr txBox="1"/>
          <p:nvPr/>
        </p:nvSpPr>
        <p:spPr>
          <a:xfrm>
            <a:off x="3419773" y="5772596"/>
            <a:ext cx="36217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Sirva sobre o iogurte, com amendoim picado por cima.</a:t>
            </a:r>
            <a:endParaRPr lang="en-US" sz="930" dirty="0"/>
          </a:p>
        </p:txBody>
      </p:sp>
      <p:sp>
        <p:nvSpPr>
          <p:cNvPr id="52" name="Shape 47"/>
          <p:cNvSpPr/>
          <p:nvPr/>
        </p:nvSpPr>
        <p:spPr>
          <a:xfrm>
            <a:off x="647998" y="9054703"/>
            <a:ext cx="6263878" cy="845195"/>
          </a:xfrm>
          <a:prstGeom prst="roundRect">
            <a:avLst>
              <a:gd name="adj" fmla="val 13824"/>
            </a:avLst>
          </a:prstGeom>
          <a:solidFill>
            <a:srgbClr val="EEE6D8"/>
          </a:solidFill>
          <a:ln/>
        </p:spPr>
      </p:sp>
      <p:sp>
        <p:nvSpPr>
          <p:cNvPr id="53" name="Shape 48"/>
          <p:cNvSpPr/>
          <p:nvPr/>
        </p:nvSpPr>
        <p:spPr>
          <a:xfrm>
            <a:off x="827931" y="921662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98037"/>
            <a:ext cx="197048" cy="197048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1331714" y="921662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56" name="Text 50"/>
          <p:cNvSpPr txBox="1"/>
          <p:nvPr/>
        </p:nvSpPr>
        <p:spPr>
          <a:xfrm>
            <a:off x="1331714" y="9366796"/>
            <a:ext cx="540022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mel entra só no final: se for desde o início, queima antes de a cenoura ficar macia. O toque ácido no final equilibra o doce e acende todos os sabores.</a:t>
            </a:r>
            <a:endParaRPr lang="en-US" sz="1000" dirty="0"/>
          </a:p>
        </p:txBody>
      </p:sp>
      <p:sp>
        <p:nvSpPr>
          <p:cNvPr id="57" name="Shape 51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9" name="Text 53"/>
          <p:cNvSpPr txBox="1"/>
          <p:nvPr/>
        </p:nvSpPr>
        <p:spPr>
          <a:xfrm>
            <a:off x="6794004" y="10236845"/>
            <a:ext cx="2321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</a:t>
            </a:r>
            <a:endParaRPr lang="en-US" sz="63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3674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5.2 · O PRATO PRINCIPAL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Hambúrguer rústico ou bolinho de cenoura com aveia e especiarias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57388"/>
            <a:ext cx="13234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saboroso e nutritivo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2350740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414141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32881"/>
            <a:ext cx="198209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 MIN (MAIS 20 MIN DE GELADEIRA)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561481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3295948" y="2350740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348" y="2414141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73822" y="2332881"/>
            <a:ext cx="10060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HAMBÚRGUERES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3673822" y="2561481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Shape 13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98" y="327451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cenouras médias raladas (cerca de 300 g)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371468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23" y="3655814"/>
            <a:ext cx="15611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cebola pequena picada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393227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23" y="3873401"/>
            <a:ext cx="15676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dentes de alho picados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14986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23" y="4090987"/>
            <a:ext cx="20604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cominho em pó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43674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98" y="4308574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½ colher (chá) de páprica defumada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474874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23" y="4689872"/>
            <a:ext cx="20417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xícara (90 g) de aveia em flocos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496633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23" y="4907459"/>
            <a:ext cx="3842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ovo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665998" y="518392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9923" y="5125045"/>
            <a:ext cx="19854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 g de queijo ralado (opcional)</a:t>
            </a:r>
            <a:endParaRPr lang="en-US" sz="890" dirty="0"/>
          </a:p>
        </p:txBody>
      </p:sp>
      <p:sp>
        <p:nvSpPr>
          <p:cNvPr id="34" name="Shape 29"/>
          <p:cNvSpPr/>
          <p:nvPr/>
        </p:nvSpPr>
        <p:spPr>
          <a:xfrm>
            <a:off x="665998" y="540150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09998" y="5342632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colheres (sopa) de cheiro-verde picado</a:t>
            </a:r>
            <a:endParaRPr lang="en-US" sz="890" dirty="0"/>
          </a:p>
        </p:txBody>
      </p:sp>
      <p:sp>
        <p:nvSpPr>
          <p:cNvPr id="36" name="Shape 31"/>
          <p:cNvSpPr/>
          <p:nvPr/>
        </p:nvSpPr>
        <p:spPr>
          <a:xfrm>
            <a:off x="665998" y="578280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809923" y="5723930"/>
            <a:ext cx="13016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Sal, pimenta e azeite</a:t>
            </a:r>
            <a:endParaRPr lang="en-US" sz="890" dirty="0"/>
          </a:p>
        </p:txBody>
      </p:sp>
      <p:sp>
        <p:nvSpPr>
          <p:cNvPr id="38" name="Shape 33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40" name="Shape 35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42" name="Text 37"/>
          <p:cNvSpPr txBox="1"/>
          <p:nvPr/>
        </p:nvSpPr>
        <p:spPr>
          <a:xfrm>
            <a:off x="3419773" y="3284041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Numa frigideira com um fio de azeite, refogue a cebola e o alho. Junte a cenoura ralada, o cominho e a páprica e refogue por cerca de 8 minutos, até a cenoura murchar e perder a água.</a:t>
            </a:r>
            <a:endParaRPr lang="en-US" sz="930" dirty="0"/>
          </a:p>
        </p:txBody>
      </p:sp>
      <p:sp>
        <p:nvSpPr>
          <p:cNvPr id="43" name="Shape 38"/>
          <p:cNvSpPr/>
          <p:nvPr/>
        </p:nvSpPr>
        <p:spPr>
          <a:xfrm>
            <a:off x="3131939" y="4101405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3198614" y="4143673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5" name="Text 40"/>
          <p:cNvSpPr txBox="1"/>
          <p:nvPr/>
        </p:nvSpPr>
        <p:spPr>
          <a:xfrm>
            <a:off x="3419773" y="4109740"/>
            <a:ext cx="27736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Transfira para uma tigela e deixe amornar.</a:t>
            </a:r>
            <a:endParaRPr lang="en-US" sz="930" dirty="0"/>
          </a:p>
        </p:txBody>
      </p:sp>
      <p:sp>
        <p:nvSpPr>
          <p:cNvPr id="46" name="Shape 41"/>
          <p:cNvSpPr/>
          <p:nvPr/>
        </p:nvSpPr>
        <p:spPr>
          <a:xfrm>
            <a:off x="3131939" y="438551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3198614" y="4427786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8" name="Text 43"/>
          <p:cNvSpPr txBox="1"/>
          <p:nvPr/>
        </p:nvSpPr>
        <p:spPr>
          <a:xfrm>
            <a:off x="3419773" y="4393853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Junte a aveia, o ovo, o queijo e o cheiro-verde. Tempere com sal e pimenta e misture bem.</a:t>
            </a:r>
            <a:endParaRPr lang="en-US" sz="930" dirty="0"/>
          </a:p>
        </p:txBody>
      </p:sp>
      <p:sp>
        <p:nvSpPr>
          <p:cNvPr id="49" name="Shape 44"/>
          <p:cNvSpPr/>
          <p:nvPr/>
        </p:nvSpPr>
        <p:spPr>
          <a:xfrm>
            <a:off x="3131939" y="484510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3194745" y="4887367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51" name="Text 46"/>
          <p:cNvSpPr txBox="1"/>
          <p:nvPr/>
        </p:nvSpPr>
        <p:spPr>
          <a:xfrm>
            <a:off x="3419773" y="4853434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Deixe a massa descansar por 15 minutos, para a aveia hidratar e dar liga.</a:t>
            </a:r>
            <a:endParaRPr lang="en-US" sz="930" dirty="0"/>
          </a:p>
        </p:txBody>
      </p:sp>
      <p:sp>
        <p:nvSpPr>
          <p:cNvPr id="52" name="Shape 47"/>
          <p:cNvSpPr/>
          <p:nvPr/>
        </p:nvSpPr>
        <p:spPr>
          <a:xfrm>
            <a:off x="3131939" y="530468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3198465" y="5346948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4" name="Text 49"/>
          <p:cNvSpPr txBox="1"/>
          <p:nvPr/>
        </p:nvSpPr>
        <p:spPr>
          <a:xfrm>
            <a:off x="3419773" y="5313015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Modele 6 hambúrgueres com as mãos úmidas e leve à geladeira por 20 minutos.</a:t>
            </a:r>
            <a:endParaRPr lang="en-US" sz="930" dirty="0"/>
          </a:p>
        </p:txBody>
      </p:sp>
      <p:sp>
        <p:nvSpPr>
          <p:cNvPr id="55" name="Shape 50"/>
          <p:cNvSpPr/>
          <p:nvPr/>
        </p:nvSpPr>
        <p:spPr>
          <a:xfrm>
            <a:off x="3131939" y="5764262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6" name="Text 51"/>
          <p:cNvSpPr txBox="1"/>
          <p:nvPr/>
        </p:nvSpPr>
        <p:spPr>
          <a:xfrm>
            <a:off x="3196828" y="5806529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7" name="Text 52"/>
          <p:cNvSpPr txBox="1"/>
          <p:nvPr/>
        </p:nvSpPr>
        <p:spPr>
          <a:xfrm>
            <a:off x="3419773" y="5772596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Doure numa frigideira com azeite, em fogo médio, por 4 minutos de cada lado, virando com cuidado. Ou asse a 200 °C por 20 minutos, virando na metade.</a:t>
            </a:r>
            <a:endParaRPr lang="en-US" sz="930" dirty="0"/>
          </a:p>
        </p:txBody>
      </p:sp>
      <p:sp>
        <p:nvSpPr>
          <p:cNvPr id="58" name="Shape 53"/>
          <p:cNvSpPr/>
          <p:nvPr/>
        </p:nvSpPr>
        <p:spPr>
          <a:xfrm>
            <a:off x="647998" y="9054703"/>
            <a:ext cx="6263878" cy="845195"/>
          </a:xfrm>
          <a:prstGeom prst="roundRect">
            <a:avLst>
              <a:gd name="adj" fmla="val 13824"/>
            </a:avLst>
          </a:prstGeom>
          <a:solidFill>
            <a:srgbClr val="EEE6D8"/>
          </a:solidFill>
          <a:ln/>
        </p:spPr>
      </p:sp>
      <p:sp>
        <p:nvSpPr>
          <p:cNvPr id="59" name="Shape 54"/>
          <p:cNvSpPr/>
          <p:nvPr/>
        </p:nvSpPr>
        <p:spPr>
          <a:xfrm>
            <a:off x="827931" y="921662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6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98037"/>
            <a:ext cx="197048" cy="197048"/>
          </a:xfrm>
          <a:prstGeom prst="rect">
            <a:avLst/>
          </a:prstGeom>
        </p:spPr>
      </p:pic>
      <p:sp>
        <p:nvSpPr>
          <p:cNvPr id="61" name="Text 55"/>
          <p:cNvSpPr txBox="1"/>
          <p:nvPr/>
        </p:nvSpPr>
        <p:spPr>
          <a:xfrm>
            <a:off x="1331714" y="921662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62" name="Text 56"/>
          <p:cNvSpPr txBox="1"/>
          <p:nvPr/>
        </p:nvSpPr>
        <p:spPr>
          <a:xfrm>
            <a:off x="1331714" y="9366796"/>
            <a:ext cx="540022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Refogar a cenoura antes é o passo que separa um hambúrguer firme e saboroso de um que desmancha na frigideira. Sirva no pão com o pesto de rama (página “Aproveita Isso Também”).</a:t>
            </a:r>
            <a:endParaRPr lang="en-US" sz="1000" dirty="0"/>
          </a:p>
        </p:txBody>
      </p:sp>
      <p:sp>
        <p:nvSpPr>
          <p:cNvPr id="63" name="Shape 57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4" name="Text 58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5" name="Text 59"/>
          <p:cNvSpPr txBox="1"/>
          <p:nvPr/>
        </p:nvSpPr>
        <p:spPr>
          <a:xfrm>
            <a:off x="6789688" y="10236845"/>
            <a:ext cx="2364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</a:t>
            </a:r>
            <a:endParaRPr lang="en-US" sz="63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9096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5.3 · A SOBREMESA DE RESPEITO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Bolo de cenoura da vovó com técnica de chef e calda de chocolate espelhada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57388"/>
            <a:ext cx="19107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massa fofíssima que não sola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96282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52377"/>
            <a:ext cx="347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1H10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505968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7535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759" y="2396282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53233" y="2352377"/>
            <a:ext cx="1668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ASSADEIRA DE 20 × 30 CM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53233" y="2505968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Text 13"/>
          <p:cNvSpPr txBox="1"/>
          <p:nvPr/>
        </p:nvSpPr>
        <p:spPr>
          <a:xfrm>
            <a:off x="647998" y="3264991"/>
            <a:ext cx="4923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MASSA</a:t>
            </a:r>
            <a:endParaRPr lang="en-US" sz="660" dirty="0"/>
          </a:p>
        </p:txBody>
      </p:sp>
      <p:sp>
        <p:nvSpPr>
          <p:cNvPr id="19" name="Shape 14"/>
          <p:cNvSpPr/>
          <p:nvPr/>
        </p:nvSpPr>
        <p:spPr>
          <a:xfrm>
            <a:off x="665998" y="349204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09998" y="3433167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cenouras médias (cerca de 300 g), em rodelas</a:t>
            </a:r>
            <a:endParaRPr lang="en-US" sz="890" dirty="0"/>
          </a:p>
        </p:txBody>
      </p:sp>
      <p:sp>
        <p:nvSpPr>
          <p:cNvPr id="21" name="Shape 16"/>
          <p:cNvSpPr/>
          <p:nvPr/>
        </p:nvSpPr>
        <p:spPr>
          <a:xfrm>
            <a:off x="665998" y="387334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09923" y="3814465"/>
            <a:ext cx="4732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ovos</a:t>
            </a:r>
            <a:endParaRPr lang="en-US" sz="890" dirty="0"/>
          </a:p>
        </p:txBody>
      </p:sp>
      <p:sp>
        <p:nvSpPr>
          <p:cNvPr id="23" name="Shape 18"/>
          <p:cNvSpPr/>
          <p:nvPr/>
        </p:nvSpPr>
        <p:spPr>
          <a:xfrm>
            <a:off x="665998" y="409092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09923" y="4032052"/>
            <a:ext cx="9495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240 ml de óleo</a:t>
            </a:r>
            <a:endParaRPr lang="en-US" sz="890" dirty="0"/>
          </a:p>
        </p:txBody>
      </p:sp>
      <p:sp>
        <p:nvSpPr>
          <p:cNvPr id="25" name="Shape 20"/>
          <p:cNvSpPr/>
          <p:nvPr/>
        </p:nvSpPr>
        <p:spPr>
          <a:xfrm>
            <a:off x="665998" y="430851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09923" y="4249638"/>
            <a:ext cx="10203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 g de açúcar</a:t>
            </a:r>
            <a:endParaRPr lang="en-US" sz="890" dirty="0"/>
          </a:p>
        </p:txBody>
      </p:sp>
      <p:sp>
        <p:nvSpPr>
          <p:cNvPr id="27" name="Shape 22"/>
          <p:cNvSpPr/>
          <p:nvPr/>
        </p:nvSpPr>
        <p:spPr>
          <a:xfrm>
            <a:off x="665998" y="452610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809998" y="4467225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 g de farinha de trigo, peneirada</a:t>
            </a:r>
            <a:endParaRPr lang="en-US" sz="890" dirty="0"/>
          </a:p>
        </p:txBody>
      </p:sp>
      <p:sp>
        <p:nvSpPr>
          <p:cNvPr id="29" name="Shape 24"/>
          <p:cNvSpPr/>
          <p:nvPr/>
        </p:nvSpPr>
        <p:spPr>
          <a:xfrm>
            <a:off x="665998" y="490739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809998" y="4848523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(sopa) de fermento químico em pó</a:t>
            </a:r>
            <a:endParaRPr lang="en-US" sz="890" dirty="0"/>
          </a:p>
        </p:txBody>
      </p:sp>
      <p:sp>
        <p:nvSpPr>
          <p:cNvPr id="31" name="Shape 26"/>
          <p:cNvSpPr/>
          <p:nvPr/>
        </p:nvSpPr>
        <p:spPr>
          <a:xfrm>
            <a:off x="665998" y="528869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809923" y="5229820"/>
            <a:ext cx="9004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pitada de sal</a:t>
            </a:r>
            <a:endParaRPr lang="en-US" sz="890" dirty="0"/>
          </a:p>
        </p:txBody>
      </p:sp>
      <p:sp>
        <p:nvSpPr>
          <p:cNvPr id="33" name="Text 28"/>
          <p:cNvSpPr txBox="1"/>
          <p:nvPr/>
        </p:nvSpPr>
        <p:spPr>
          <a:xfrm>
            <a:off x="647998" y="5491907"/>
            <a:ext cx="11919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CALDA ESPELHADA</a:t>
            </a:r>
            <a:endParaRPr lang="en-US" sz="660" dirty="0"/>
          </a:p>
        </p:txBody>
      </p:sp>
      <p:sp>
        <p:nvSpPr>
          <p:cNvPr id="34" name="Shape 29"/>
          <p:cNvSpPr/>
          <p:nvPr/>
        </p:nvSpPr>
        <p:spPr>
          <a:xfrm>
            <a:off x="665998" y="571895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09998" y="5660082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 g de chocolate meio amargo picado</a:t>
            </a:r>
            <a:endParaRPr lang="en-US" sz="890" dirty="0"/>
          </a:p>
        </p:txBody>
      </p:sp>
      <p:sp>
        <p:nvSpPr>
          <p:cNvPr id="36" name="Shape 31"/>
          <p:cNvSpPr/>
          <p:nvPr/>
        </p:nvSpPr>
        <p:spPr>
          <a:xfrm>
            <a:off x="665998" y="610025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809923" y="6041380"/>
            <a:ext cx="2214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caixinha (200 g) de creme de leite</a:t>
            </a:r>
            <a:endParaRPr lang="en-US" sz="890" dirty="0"/>
          </a:p>
        </p:txBody>
      </p:sp>
      <p:sp>
        <p:nvSpPr>
          <p:cNvPr id="38" name="Shape 33"/>
          <p:cNvSpPr/>
          <p:nvPr/>
        </p:nvSpPr>
        <p:spPr>
          <a:xfrm>
            <a:off x="665998" y="631784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809923" y="6258967"/>
            <a:ext cx="13656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(sopa) de mel</a:t>
            </a:r>
            <a:endParaRPr lang="en-US" sz="890" dirty="0"/>
          </a:p>
        </p:txBody>
      </p:sp>
      <p:sp>
        <p:nvSpPr>
          <p:cNvPr id="40" name="Shape 35"/>
          <p:cNvSpPr/>
          <p:nvPr/>
        </p:nvSpPr>
        <p:spPr>
          <a:xfrm>
            <a:off x="665998" y="653542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809923" y="6476554"/>
            <a:ext cx="1736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(sopa) de manteiga</a:t>
            </a:r>
            <a:endParaRPr lang="en-US" sz="890" dirty="0"/>
          </a:p>
        </p:txBody>
      </p:sp>
      <p:sp>
        <p:nvSpPr>
          <p:cNvPr id="42" name="Shape 37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44" name="Shape 39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46" name="Text 41"/>
          <p:cNvSpPr txBox="1"/>
          <p:nvPr/>
        </p:nvSpPr>
        <p:spPr>
          <a:xfrm>
            <a:off x="3419773" y="3284041"/>
            <a:ext cx="37996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Preaqueça o forno a 180 °C e unte e enfarinhe a assadeira.</a:t>
            </a:r>
            <a:endParaRPr lang="en-US" sz="930" dirty="0"/>
          </a:p>
        </p:txBody>
      </p:sp>
      <p:sp>
        <p:nvSpPr>
          <p:cNvPr id="47" name="Shape 42"/>
          <p:cNvSpPr/>
          <p:nvPr/>
        </p:nvSpPr>
        <p:spPr>
          <a:xfrm>
            <a:off x="3131939" y="355982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3198614" y="3602087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9" name="Text 44"/>
          <p:cNvSpPr txBox="1"/>
          <p:nvPr/>
        </p:nvSpPr>
        <p:spPr>
          <a:xfrm>
            <a:off x="3419773" y="3568154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liquidificador, bata a cenoura, os ovos, o óleo, o açúcar e o sal por 3 a 4 minutos, até ficar um creme bem liso e claro.</a:t>
            </a:r>
            <a:endParaRPr lang="en-US" sz="930" dirty="0"/>
          </a:p>
        </p:txBody>
      </p:sp>
      <p:sp>
        <p:nvSpPr>
          <p:cNvPr id="50" name="Shape 45"/>
          <p:cNvSpPr/>
          <p:nvPr/>
        </p:nvSpPr>
        <p:spPr>
          <a:xfrm>
            <a:off x="3131939" y="401940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3198614" y="4061668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52" name="Text 47"/>
          <p:cNvSpPr txBox="1"/>
          <p:nvPr/>
        </p:nvSpPr>
        <p:spPr>
          <a:xfrm>
            <a:off x="3419773" y="4027736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Despeje numa tigela. Junte a farinha peneirada em três partes, misturando com um fouet ou espátula </a:t>
            </a:r>
            <a:pPr algn="l" indent="0" marL="0">
              <a:lnSpc>
                <a:spcPts val="1440"/>
              </a:lnSpc>
              <a:buNone/>
            </a:pPr>
            <a:r>
              <a:rPr lang="en-US" sz="93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só até sumir</a:t>
            </a:r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Por último, incorpore o fermento delicadamente.</a:t>
            </a:r>
            <a:endParaRPr lang="en-US" sz="930" dirty="0"/>
          </a:p>
        </p:txBody>
      </p:sp>
      <p:sp>
        <p:nvSpPr>
          <p:cNvPr id="53" name="Shape 48"/>
          <p:cNvSpPr/>
          <p:nvPr/>
        </p:nvSpPr>
        <p:spPr>
          <a:xfrm>
            <a:off x="3131939" y="466204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4" name="Text 49"/>
          <p:cNvSpPr txBox="1"/>
          <p:nvPr/>
        </p:nvSpPr>
        <p:spPr>
          <a:xfrm>
            <a:off x="3194745" y="4704308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55" name="Text 50"/>
          <p:cNvSpPr txBox="1"/>
          <p:nvPr/>
        </p:nvSpPr>
        <p:spPr>
          <a:xfrm>
            <a:off x="3419773" y="4670375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 por 35 a 40 minutos, até o palito sair limpo. Não abra o forno nos primeiros 25 minutos.</a:t>
            </a:r>
            <a:endParaRPr lang="en-US" sz="930" dirty="0"/>
          </a:p>
        </p:txBody>
      </p:sp>
      <p:sp>
        <p:nvSpPr>
          <p:cNvPr id="56" name="Shape 51"/>
          <p:cNvSpPr/>
          <p:nvPr/>
        </p:nvSpPr>
        <p:spPr>
          <a:xfrm>
            <a:off x="3131939" y="5121622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7" name="Text 52"/>
          <p:cNvSpPr txBox="1"/>
          <p:nvPr/>
        </p:nvSpPr>
        <p:spPr>
          <a:xfrm>
            <a:off x="3198465" y="5163889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8" name="Text 53"/>
          <p:cNvSpPr txBox="1"/>
          <p:nvPr/>
        </p:nvSpPr>
        <p:spPr>
          <a:xfrm>
            <a:off x="3419773" y="5129957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Calda:</a:t>
            </a:r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aqueça o creme de leite até quase ferver e despeje sobre o chocolate picado. Espere 1 minuto e mexa do centro para fora até ficar liso. Junte o mel e a manteiga.</a:t>
            </a:r>
            <a:endParaRPr lang="en-US" sz="930" dirty="0"/>
          </a:p>
        </p:txBody>
      </p:sp>
      <p:sp>
        <p:nvSpPr>
          <p:cNvPr id="59" name="Shape 54"/>
          <p:cNvSpPr/>
          <p:nvPr/>
        </p:nvSpPr>
        <p:spPr>
          <a:xfrm>
            <a:off x="3131939" y="5764262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60" name="Text 55"/>
          <p:cNvSpPr txBox="1"/>
          <p:nvPr/>
        </p:nvSpPr>
        <p:spPr>
          <a:xfrm>
            <a:off x="3196828" y="5806529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61" name="Text 56"/>
          <p:cNvSpPr txBox="1"/>
          <p:nvPr/>
        </p:nvSpPr>
        <p:spPr>
          <a:xfrm>
            <a:off x="3419773" y="5772596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 o bolo morno, despeje a calda de uma vez no centro e deixe que ela escorra sozinha, espalhando o mínimo possível, para manter o brilho.</a:t>
            </a:r>
            <a:endParaRPr lang="en-US" sz="930" dirty="0"/>
          </a:p>
        </p:txBody>
      </p:sp>
      <p:sp>
        <p:nvSpPr>
          <p:cNvPr id="62" name="Shape 57"/>
          <p:cNvSpPr/>
          <p:nvPr/>
        </p:nvSpPr>
        <p:spPr>
          <a:xfrm>
            <a:off x="647998" y="8674001"/>
            <a:ext cx="6263878" cy="1225897"/>
          </a:xfrm>
          <a:prstGeom prst="roundRect">
            <a:avLst>
              <a:gd name="adj" fmla="val 6571"/>
            </a:avLst>
          </a:prstGeom>
          <a:solidFill>
            <a:srgbClr val="EEE6D8"/>
          </a:solidFill>
          <a:ln/>
        </p:spPr>
      </p:sp>
      <p:sp>
        <p:nvSpPr>
          <p:cNvPr id="63" name="Shape 58"/>
          <p:cNvSpPr/>
          <p:nvPr/>
        </p:nvSpPr>
        <p:spPr>
          <a:xfrm>
            <a:off x="827931" y="8835926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6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8917335"/>
            <a:ext cx="197048" cy="197048"/>
          </a:xfrm>
          <a:prstGeom prst="rect">
            <a:avLst/>
          </a:prstGeom>
        </p:spPr>
      </p:pic>
      <p:sp>
        <p:nvSpPr>
          <p:cNvPr id="65" name="Text 59"/>
          <p:cNvSpPr txBox="1"/>
          <p:nvPr/>
        </p:nvSpPr>
        <p:spPr>
          <a:xfrm>
            <a:off x="1331714" y="8835926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66" name="Text 60"/>
          <p:cNvSpPr txBox="1"/>
          <p:nvPr/>
        </p:nvSpPr>
        <p:spPr>
          <a:xfrm>
            <a:off x="1331714" y="8986093"/>
            <a:ext cx="5400229" cy="752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Bolo que sola tem três culpados: farinha batida demais, fermento misturado com força e forno aberto cedo. Por isso o liquidificador cuida só da emulsão (cenoura, ovos e óleo), a farinha entra à mão, o fermento vai por último e o forno fica fechado nos primeiros 25 minutos. O mel na calda é o que dá o efeito espelhado.</a:t>
            </a:r>
            <a:endParaRPr lang="en-US" sz="1000" dirty="0"/>
          </a:p>
        </p:txBody>
      </p:sp>
      <p:sp>
        <p:nvSpPr>
          <p:cNvPr id="67" name="Shape 61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8" name="Text 62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9" name="Text 63"/>
          <p:cNvSpPr txBox="1"/>
          <p:nvPr/>
        </p:nvSpPr>
        <p:spPr>
          <a:xfrm>
            <a:off x="6792069" y="10236845"/>
            <a:ext cx="2341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</a:t>
            </a:r>
            <a:endParaRPr lang="en-US" sz="63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592931"/>
            <a:ext cx="8050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PULO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68846"/>
            <a:ext cx="174588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 CHEF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35552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537395"/>
            <a:ext cx="335225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Cenoura cozida na água, sem graça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7998" y="1974503"/>
            <a:ext cx="2703909" cy="3168104"/>
          </a:xfrm>
          <a:prstGeom prst="roundRect">
            <a:avLst>
              <a:gd name="adj" fmla="val 135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163961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C255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245370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281982"/>
            <a:ext cx="615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ERRO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37456" y="2668786"/>
            <a:ext cx="2324993" cy="734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Cozinhar a cenoura em muita água e escorrer. O açúcar e o sabor dela vão embora pelo ralo da pia, junto com a água.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3531840" y="1974503"/>
            <a:ext cx="3380036" cy="3168104"/>
          </a:xfrm>
          <a:prstGeom prst="roundRect">
            <a:avLst>
              <a:gd name="adj" fmla="val 984"/>
            </a:avLst>
          </a:prstGeom>
          <a:solidFill>
            <a:srgbClr val="EEE6D8"/>
          </a:solidFill>
          <a:ln/>
        </p:spPr>
      </p:sp>
      <p:sp>
        <p:nvSpPr>
          <p:cNvPr id="12" name="Shape 9"/>
          <p:cNvSpPr/>
          <p:nvPr/>
        </p:nvSpPr>
        <p:spPr>
          <a:xfrm>
            <a:off x="3711773" y="2154436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182" y="2235845"/>
            <a:ext cx="197048" cy="197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97548" y="2272457"/>
            <a:ext cx="8103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TÉCNICA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3711773" y="2640211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6" name="Text 12"/>
          <p:cNvSpPr txBox="1"/>
          <p:nvPr/>
        </p:nvSpPr>
        <p:spPr>
          <a:xfrm>
            <a:off x="3873774" y="2659261"/>
            <a:ext cx="2858169" cy="716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Glaçagem, a técnica do chef: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cenoura em rodelas numa frigideira, água só até a metade da altura, 1 colher de manteiga, 1 pitada de açúcar e outra de sal.</a:t>
            </a:r>
            <a:endParaRPr lang="en-US" sz="940" dirty="0"/>
          </a:p>
        </p:txBody>
      </p:sp>
      <p:sp>
        <p:nvSpPr>
          <p:cNvPr id="17" name="Text 13"/>
          <p:cNvSpPr txBox="1"/>
          <p:nvPr/>
        </p:nvSpPr>
        <p:spPr>
          <a:xfrm>
            <a:off x="3711773" y="3452068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8" name="Text 14"/>
          <p:cNvSpPr txBox="1"/>
          <p:nvPr/>
        </p:nvSpPr>
        <p:spPr>
          <a:xfrm>
            <a:off x="3873774" y="3471118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Fogo médio e panela destampada: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cenoura cozinha enquanto a água evapora.</a:t>
            </a:r>
            <a:endParaRPr lang="en-US" sz="940" dirty="0"/>
          </a:p>
        </p:txBody>
      </p:sp>
      <p:sp>
        <p:nvSpPr>
          <p:cNvPr id="19" name="Text 15"/>
          <p:cNvSpPr txBox="1"/>
          <p:nvPr/>
        </p:nvSpPr>
        <p:spPr>
          <a:xfrm>
            <a:off x="3711773" y="3893939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0" name="Text 16"/>
          <p:cNvSpPr txBox="1"/>
          <p:nvPr/>
        </p:nvSpPr>
        <p:spPr>
          <a:xfrm>
            <a:off x="3873774" y="3912989"/>
            <a:ext cx="2858169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Quando a água secar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 manteiga e o açúcar viram uma película brilhante que envolve cada rodela. Mexa por 1 minuto e pronto.</a:t>
            </a:r>
            <a:endParaRPr lang="en-US" sz="940" dirty="0"/>
          </a:p>
        </p:txBody>
      </p:sp>
      <p:sp>
        <p:nvSpPr>
          <p:cNvPr id="21" name="Text 17"/>
          <p:cNvSpPr txBox="1"/>
          <p:nvPr/>
        </p:nvSpPr>
        <p:spPr>
          <a:xfrm>
            <a:off x="3711773" y="4520803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2" name="Text 18"/>
          <p:cNvSpPr txBox="1"/>
          <p:nvPr/>
        </p:nvSpPr>
        <p:spPr>
          <a:xfrm>
            <a:off x="3873774" y="4539853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cenoura macia, brilhante e com todo o sabor dentro dela, não na água.</a:t>
            </a:r>
            <a:endParaRPr lang="en-US" sz="940" dirty="0"/>
          </a:p>
        </p:txBody>
      </p:sp>
      <p:sp>
        <p:nvSpPr>
          <p:cNvPr id="23" name="Text 19"/>
          <p:cNvSpPr txBox="1"/>
          <p:nvPr/>
        </p:nvSpPr>
        <p:spPr>
          <a:xfrm>
            <a:off x="647998" y="5447556"/>
            <a:ext cx="95622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NÃO TEM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47998" y="5632996"/>
            <a:ext cx="84995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spc="63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ISSO?</a:t>
            </a:r>
            <a:endParaRPr lang="en-US" sz="2100" dirty="0"/>
          </a:p>
        </p:txBody>
      </p:sp>
      <p:sp>
        <p:nvSpPr>
          <p:cNvPr id="25" name="Shape 21"/>
          <p:cNvSpPr/>
          <p:nvPr/>
        </p:nvSpPr>
        <p:spPr>
          <a:xfrm>
            <a:off x="647998" y="6126361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26" name="Shape 22"/>
          <p:cNvSpPr/>
          <p:nvPr/>
        </p:nvSpPr>
        <p:spPr>
          <a:xfrm>
            <a:off x="647998" y="6353621"/>
            <a:ext cx="1655862" cy="291703"/>
          </a:xfrm>
          <a:prstGeom prst="roundRect">
            <a:avLst>
              <a:gd name="adj" fmla="val 77373"/>
            </a:avLst>
          </a:prstGeom>
          <a:solidFill>
            <a:srgbClr val="4E5B38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91914" y="6447086"/>
            <a:ext cx="996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NÃO TIVER…</a:t>
            </a:r>
            <a:endParaRPr lang="en-US" sz="680" dirty="0"/>
          </a:p>
        </p:txBody>
      </p:sp>
      <p:sp>
        <p:nvSpPr>
          <p:cNvPr id="28" name="Shape 24"/>
          <p:cNvSpPr/>
          <p:nvPr/>
        </p:nvSpPr>
        <p:spPr>
          <a:xfrm>
            <a:off x="2303859" y="6353621"/>
            <a:ext cx="4608016" cy="291703"/>
          </a:xfrm>
          <a:prstGeom prst="rect">
            <a:avLst/>
          </a:prstGeom>
          <a:solidFill>
            <a:srgbClr val="4E5B38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2447776" y="6447086"/>
            <a:ext cx="4199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USE…</a:t>
            </a:r>
            <a:endParaRPr lang="en-US" sz="680" dirty="0"/>
          </a:p>
        </p:txBody>
      </p:sp>
      <p:sp>
        <p:nvSpPr>
          <p:cNvPr id="30" name="Shape 26"/>
          <p:cNvSpPr/>
          <p:nvPr/>
        </p:nvSpPr>
        <p:spPr>
          <a:xfrm>
            <a:off x="647998" y="7012186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91914" y="6738789"/>
            <a:ext cx="3232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Mel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2303859" y="7012186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2447776" y="6748314"/>
            <a:ext cx="36501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Melaço, xarope de bordo ou 1 colher de açúcar mascavo.</a:t>
            </a:r>
            <a:endParaRPr lang="en-US" sz="920" dirty="0"/>
          </a:p>
        </p:txBody>
      </p:sp>
      <p:sp>
        <p:nvSpPr>
          <p:cNvPr id="34" name="Shape 30"/>
          <p:cNvSpPr/>
          <p:nvPr/>
        </p:nvSpPr>
        <p:spPr>
          <a:xfrm>
            <a:off x="647998" y="7383810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91914" y="7110412"/>
            <a:ext cx="9676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Tomilho fresco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2303859" y="7383810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2447776" y="7119938"/>
            <a:ext cx="38226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Alecrim, orégano fresco ou ½ colher (chá) de tomilho seco.</a:t>
            </a:r>
            <a:endParaRPr lang="en-US" sz="920" dirty="0"/>
          </a:p>
        </p:txBody>
      </p:sp>
      <p:sp>
        <p:nvSpPr>
          <p:cNvPr id="38" name="Shape 34"/>
          <p:cNvSpPr/>
          <p:nvPr/>
        </p:nvSpPr>
        <p:spPr>
          <a:xfrm>
            <a:off x="647998" y="7755434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91914" y="7482036"/>
            <a:ext cx="9937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Aveia em flocos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2303859" y="7755434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2447776" y="7491561"/>
            <a:ext cx="29827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Farinha de rosca ou farinha de mandioca fina.</a:t>
            </a:r>
            <a:endParaRPr lang="en-US" sz="920" dirty="0"/>
          </a:p>
        </p:txBody>
      </p:sp>
      <p:sp>
        <p:nvSpPr>
          <p:cNvPr id="42" name="Shape 38"/>
          <p:cNvSpPr/>
          <p:nvPr/>
        </p:nvSpPr>
        <p:spPr>
          <a:xfrm>
            <a:off x="647998" y="8127057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791914" y="7853660"/>
            <a:ext cx="15100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Chocolate meio amargo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2303859" y="8127057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2447776" y="7863185"/>
            <a:ext cx="35551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Chocolate ao leite com 1 colher (sopa) de cacau em pó.</a:t>
            </a:r>
            <a:endParaRPr lang="en-US" sz="920" dirty="0"/>
          </a:p>
        </p:txBody>
      </p:sp>
      <p:sp>
        <p:nvSpPr>
          <p:cNvPr id="46" name="Shape 42"/>
          <p:cNvSpPr/>
          <p:nvPr/>
        </p:nvSpPr>
        <p:spPr>
          <a:xfrm>
            <a:off x="647998" y="8498681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91914" y="8225284"/>
            <a:ext cx="9399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Creme de leite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2303859" y="8498681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2447776" y="8234809"/>
            <a:ext cx="23581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Leite integral (a calda fica mais fina).</a:t>
            </a:r>
            <a:endParaRPr lang="en-US" sz="920" dirty="0"/>
          </a:p>
        </p:txBody>
      </p:sp>
      <p:sp>
        <p:nvSpPr>
          <p:cNvPr id="50" name="Shape 46"/>
          <p:cNvSpPr/>
          <p:nvPr/>
        </p:nvSpPr>
        <p:spPr>
          <a:xfrm>
            <a:off x="647998" y="8870305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791914" y="8596908"/>
            <a:ext cx="13586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Amendoim (no pesto)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2303859" y="8870305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2447776" y="8606433"/>
            <a:ext cx="40170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Castanha-de-caju, castanha-do-pará ou sementes de girassol.</a:t>
            </a:r>
            <a:endParaRPr lang="en-US" sz="920" dirty="0"/>
          </a:p>
        </p:txBody>
      </p:sp>
      <p:sp>
        <p:nvSpPr>
          <p:cNvPr id="54" name="Shape 50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6" name="Text 52"/>
          <p:cNvSpPr txBox="1"/>
          <p:nvPr/>
        </p:nvSpPr>
        <p:spPr>
          <a:xfrm>
            <a:off x="6787753" y="10236845"/>
            <a:ext cx="2384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38</a:t>
            </a:r>
            <a:endParaRPr lang="en-US" sz="63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808881"/>
            <a:ext cx="11548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APROVEITA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984796"/>
            <a:ext cx="26369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ISSO TAMBÉM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57147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817787"/>
            <a:ext cx="42428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Cascas, talos, ramas e aparas: o que ia para o lixo vira sabor.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21855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407" y="2303264"/>
            <a:ext cx="197048" cy="197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69789" y="2221855"/>
            <a:ext cx="16842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Cascas: chips assados</a:t>
            </a:r>
            <a:endParaRPr lang="en-US" sz="1060" dirty="0"/>
          </a:p>
        </p:txBody>
      </p:sp>
      <p:sp>
        <p:nvSpPr>
          <p:cNvPr id="9" name="Text 6"/>
          <p:cNvSpPr txBox="1"/>
          <p:nvPr/>
        </p:nvSpPr>
        <p:spPr>
          <a:xfrm>
            <a:off x="1169789" y="2455515"/>
            <a:ext cx="3366195" cy="1148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descascar as cenouras, guarde as cascas. Seque bem, misture com um fio de azeite, sal e uma pitada de cominho e espalhe sem amontoar. Leve à airfryer a 170 °C por 6 a 8 minutos ou ao forno a 150 °C por 15 a 20 minutos, de olho: elas são finas e passam do ponto rápido.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647998" y="3836491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07" y="3917900"/>
            <a:ext cx="197048" cy="197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69789" y="3836491"/>
            <a:ext cx="336619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Ramas (folhas): pesto com amendoim ou castanha</a:t>
            </a:r>
            <a:endParaRPr lang="en-US" sz="1060" dirty="0"/>
          </a:p>
        </p:txBody>
      </p:sp>
      <p:sp>
        <p:nvSpPr>
          <p:cNvPr id="13" name="Text 9"/>
          <p:cNvSpPr txBox="1"/>
          <p:nvPr/>
        </p:nvSpPr>
        <p:spPr>
          <a:xfrm>
            <a:off x="1169789" y="4241602"/>
            <a:ext cx="3366195" cy="193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Separe as folhas e os talos finos de 1 maço de rama (cerca de 60 g). Mergulhe por 10 segundos em água fervente e depois em água com gelo: isso fixa a cor e suaviza o amargor. Esprema bem. Bata no processador ou pilão com 50 g de amendoim torrado sem sal, 1 dente de alho, 40 g de parmesão, suco de ½ limão e sal, acrescentando cerca de 120 ml de azeite aos poucos. Use em massas, no hambúrguer de cenoura, sobre as cenouras assadas ou no pão. Dura 5 dias na geladeira, coberto por uma camada de azeite.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4895999" y="0"/>
            <a:ext cx="2663875" cy="10691961"/>
          </a:xfrm>
          <a:prstGeom prst="rect">
            <a:avLst/>
          </a:prstGeom>
          <a:solidFill>
            <a:srgbClr val="EEE6D8"/>
          </a:solidFill>
          <a:ln/>
        </p:spPr>
      </p:sp>
      <p:sp>
        <p:nvSpPr>
          <p:cNvPr id="15" name="Shape 11"/>
          <p:cNvSpPr/>
          <p:nvPr/>
        </p:nvSpPr>
        <p:spPr>
          <a:xfrm>
            <a:off x="4392067" y="791914"/>
            <a:ext cx="2735907" cy="2735907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75002" y="1174849"/>
            <a:ext cx="1970038" cy="197003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701" y="1530548"/>
            <a:ext cx="1258491" cy="1258491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895999" y="8459986"/>
            <a:ext cx="2663875" cy="2231975"/>
          </a:xfrm>
          <a:prstGeom prst="rect">
            <a:avLst/>
          </a:prstGeom>
          <a:solidFill>
            <a:srgbClr val="4E5B3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04" y="9341941"/>
            <a:ext cx="467916" cy="46791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7998" y="10133856"/>
            <a:ext cx="3600004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22" name="Text 16"/>
          <p:cNvSpPr txBox="1"/>
          <p:nvPr/>
        </p:nvSpPr>
        <p:spPr>
          <a:xfrm>
            <a:off x="4125813" y="10236845"/>
            <a:ext cx="2364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</a:t>
            </a:r>
            <a:endParaRPr lang="en-US" sz="63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592931"/>
            <a:ext cx="210659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BÔNUS: OS 10 PULOS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68846"/>
            <a:ext cx="240696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 MAMEDE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35552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601837"/>
            <a:ext cx="449996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Dez decisões universais de cozinha, que valem para qualquer ingrediente e qualquer receita, deste guia ou da sua vida.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13074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7655" y="2321570"/>
            <a:ext cx="2347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87797" y="2213074"/>
            <a:ext cx="17195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Seque antes de dourar</a:t>
            </a:r>
            <a:endParaRPr lang="en-US" sz="1040" dirty="0"/>
          </a:p>
        </p:txBody>
      </p:sp>
      <p:sp>
        <p:nvSpPr>
          <p:cNvPr id="9" name="Text 7"/>
          <p:cNvSpPr txBox="1"/>
          <p:nvPr/>
        </p:nvSpPr>
        <p:spPr>
          <a:xfrm>
            <a:off x="1187797" y="2413248"/>
            <a:ext cx="2448074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Umidade é inimiga da crosta. Carne, frango, legumes: tudo passa pelo papel-toalha antes de ir para a frigideira. Enquanto houver água, a comida cozinha no vapor em vez de dourar.</a:t>
            </a:r>
            <a:endParaRPr lang="en-US" sz="890" dirty="0"/>
          </a:p>
        </p:txBody>
      </p:sp>
      <p:sp>
        <p:nvSpPr>
          <p:cNvPr id="10" name="Shape 8"/>
          <p:cNvSpPr/>
          <p:nvPr/>
        </p:nvSpPr>
        <p:spPr>
          <a:xfrm>
            <a:off x="3923854" y="2213074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32052" y="2321570"/>
            <a:ext cx="257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463653" y="2213074"/>
            <a:ext cx="22081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Frigideira quente de verdade</a:t>
            </a:r>
            <a:endParaRPr lang="en-US" sz="1040" dirty="0"/>
          </a:p>
        </p:txBody>
      </p:sp>
      <p:sp>
        <p:nvSpPr>
          <p:cNvPr id="13" name="Text 11"/>
          <p:cNvSpPr txBox="1"/>
          <p:nvPr/>
        </p:nvSpPr>
        <p:spPr>
          <a:xfrm>
            <a:off x="4463653" y="2413248"/>
            <a:ext cx="2448223" cy="677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Espere a frigideira aquecer antes de colocar a gordura e a gordura brilhar antes de colocar o alimento. Uma gota de água deve chiar e evaporar na hora.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647998" y="3485257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6642" y="3593753"/>
            <a:ext cx="2567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87797" y="3485257"/>
            <a:ext cx="13234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lote a panela</a:t>
            </a:r>
            <a:endParaRPr lang="en-US" sz="1040" dirty="0"/>
          </a:p>
        </p:txBody>
      </p:sp>
      <p:sp>
        <p:nvSpPr>
          <p:cNvPr id="17" name="Text 15"/>
          <p:cNvSpPr txBox="1"/>
          <p:nvPr/>
        </p:nvSpPr>
        <p:spPr>
          <a:xfrm>
            <a:off x="1187797" y="3685431"/>
            <a:ext cx="2448074" cy="677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Comida amontoada solta líquido e esfria a panela. Deixe espaço entre os pedaços e, se precisar, trabalhe em levas. É mais rápido do que parece.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3923854" y="3485257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26396" y="3593753"/>
            <a:ext cx="2689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463653" y="3485257"/>
            <a:ext cx="26584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mexa: deixe a crosta se formar</a:t>
            </a:r>
            <a:endParaRPr lang="en-US" sz="1040" dirty="0"/>
          </a:p>
        </p:txBody>
      </p:sp>
      <p:sp>
        <p:nvSpPr>
          <p:cNvPr id="21" name="Text 19"/>
          <p:cNvSpPr txBox="1"/>
          <p:nvPr/>
        </p:nvSpPr>
        <p:spPr>
          <a:xfrm>
            <a:off x="4463653" y="3685431"/>
            <a:ext cx="2448223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Selar não “fecha os sucos”, como se dizia. Selar cria sabor. E a crosta só se forma se você deixar o alimento quieto. Quando estiver pronto para virar, ele solta sozinho da frigideira.</a:t>
            </a:r>
            <a:endParaRPr lang="en-US" sz="890" dirty="0"/>
          </a:p>
        </p:txBody>
      </p:sp>
      <p:sp>
        <p:nvSpPr>
          <p:cNvPr id="22" name="Shape 20"/>
          <p:cNvSpPr/>
          <p:nvPr/>
        </p:nvSpPr>
        <p:spPr>
          <a:xfrm>
            <a:off x="647998" y="4757440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6047" y="4865936"/>
            <a:ext cx="2580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87797" y="4757440"/>
            <a:ext cx="244807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 com antecedência e em camadas</a:t>
            </a:r>
            <a:endParaRPr lang="en-US" sz="1040" dirty="0"/>
          </a:p>
        </p:txBody>
      </p:sp>
      <p:sp>
        <p:nvSpPr>
          <p:cNvPr id="25" name="Text 23"/>
          <p:cNvSpPr txBox="1"/>
          <p:nvPr/>
        </p:nvSpPr>
        <p:spPr>
          <a:xfrm>
            <a:off x="1187797" y="5110014"/>
            <a:ext cx="2448074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Salgar carnes com horas de antecedência tempera por dentro. Nas preparações, tempere um pouco em cada etapa, em vez de tudo no final. E sempre prove antes de acrescentar mais.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3923854" y="4757440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029373" y="4865936"/>
            <a:ext cx="2629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463653" y="4757440"/>
            <a:ext cx="11191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Acidez no final</a:t>
            </a:r>
            <a:endParaRPr lang="en-US" sz="1040" dirty="0"/>
          </a:p>
        </p:txBody>
      </p:sp>
      <p:sp>
        <p:nvSpPr>
          <p:cNvPr id="29" name="Text 27"/>
          <p:cNvSpPr txBox="1"/>
          <p:nvPr/>
        </p:nvSpPr>
        <p:spPr>
          <a:xfrm>
            <a:off x="4463653" y="4957614"/>
            <a:ext cx="2448223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Algumas gotas de limão ou vinagre no final acordam um prato “sem graça” muitas vezes melhor do que mais sal. Antes de salgar de novo, experimente acidez.</a:t>
            </a:r>
            <a:endParaRPr lang="en-US" sz="890" dirty="0"/>
          </a:p>
        </p:txBody>
      </p:sp>
      <p:sp>
        <p:nvSpPr>
          <p:cNvPr id="30" name="Shape 28"/>
          <p:cNvSpPr/>
          <p:nvPr/>
        </p:nvSpPr>
        <p:spPr>
          <a:xfrm>
            <a:off x="647998" y="6182023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5005" y="6290518"/>
            <a:ext cx="2601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87797" y="6182023"/>
            <a:ext cx="15595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Respeite o descanso</a:t>
            </a:r>
            <a:endParaRPr lang="en-US" sz="1040" dirty="0"/>
          </a:p>
        </p:txBody>
      </p:sp>
      <p:sp>
        <p:nvSpPr>
          <p:cNvPr id="33" name="Text 31"/>
          <p:cNvSpPr txBox="1"/>
          <p:nvPr/>
        </p:nvSpPr>
        <p:spPr>
          <a:xfrm>
            <a:off x="1187797" y="6382196"/>
            <a:ext cx="2448074" cy="677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Carnes descansam antes de cortar; massas descansam antes de modelar; bolos descansam antes de desenformar. Esperar 5 minutos também é técnica.</a:t>
            </a:r>
            <a:endParaRPr lang="en-US" sz="890" dirty="0"/>
          </a:p>
        </p:txBody>
      </p:sp>
      <p:sp>
        <p:nvSpPr>
          <p:cNvPr id="34" name="Shape 32"/>
          <p:cNvSpPr/>
          <p:nvPr/>
        </p:nvSpPr>
        <p:spPr>
          <a:xfrm>
            <a:off x="3923854" y="6182023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028033" y="6290518"/>
            <a:ext cx="2658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4463653" y="6182023"/>
            <a:ext cx="19335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fundo da panela é ouro</a:t>
            </a:r>
            <a:endParaRPr lang="en-US" sz="1040" dirty="0"/>
          </a:p>
        </p:txBody>
      </p:sp>
      <p:sp>
        <p:nvSpPr>
          <p:cNvPr id="37" name="Text 35"/>
          <p:cNvSpPr txBox="1"/>
          <p:nvPr/>
        </p:nvSpPr>
        <p:spPr>
          <a:xfrm>
            <a:off x="4463653" y="6382196"/>
            <a:ext cx="2448223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Aquele grudado escuro no fundo da frigideira é sabor concentrado. Solte com um pouco de água, caldo ou vinho (deglaçar) e você terá um molho em 2 minutos.</a:t>
            </a:r>
            <a:endParaRPr lang="en-US" sz="890" dirty="0"/>
          </a:p>
        </p:txBody>
      </p:sp>
      <p:sp>
        <p:nvSpPr>
          <p:cNvPr id="38" name="Shape 36"/>
          <p:cNvSpPr/>
          <p:nvPr/>
        </p:nvSpPr>
        <p:spPr>
          <a:xfrm>
            <a:off x="647998" y="7454205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3517" y="7562701"/>
            <a:ext cx="2629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87797" y="7454205"/>
            <a:ext cx="16308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Contraste de texturas</a:t>
            </a:r>
            <a:endParaRPr lang="en-US" sz="1040" dirty="0"/>
          </a:p>
        </p:txBody>
      </p:sp>
      <p:sp>
        <p:nvSpPr>
          <p:cNvPr id="41" name="Text 39"/>
          <p:cNvSpPr txBox="1"/>
          <p:nvPr/>
        </p:nvSpPr>
        <p:spPr>
          <a:xfrm>
            <a:off x="1187797" y="7654379"/>
            <a:ext cx="2448074" cy="677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 prato memorável tem algo cremoso e algo crocante. Sementes tostadas, farofa, chips de casca e pele crocante existem para isso.</a:t>
            </a:r>
            <a:endParaRPr lang="en-US" sz="890" dirty="0"/>
          </a:p>
        </p:txBody>
      </p:sp>
      <p:sp>
        <p:nvSpPr>
          <p:cNvPr id="42" name="Shape 40"/>
          <p:cNvSpPr/>
          <p:nvPr/>
        </p:nvSpPr>
        <p:spPr>
          <a:xfrm>
            <a:off x="3923854" y="7454205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043511" y="7562701"/>
            <a:ext cx="2348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4463653" y="7454205"/>
            <a:ext cx="22897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Organize antes de ligar o fogo</a:t>
            </a:r>
            <a:endParaRPr lang="en-US" sz="1040" dirty="0"/>
          </a:p>
        </p:txBody>
      </p:sp>
      <p:sp>
        <p:nvSpPr>
          <p:cNvPr id="45" name="Text 43"/>
          <p:cNvSpPr txBox="1"/>
          <p:nvPr/>
        </p:nvSpPr>
        <p:spPr>
          <a:xfrm>
            <a:off x="4463653" y="7654379"/>
            <a:ext cx="2448223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Leia a receita inteira, separe, corte e meça tudo antes de começar (é o que os chefs chamam de mise en place). Cozinhar fica mais calmo, e o fogo nunca espera por você.</a:t>
            </a:r>
            <a:endParaRPr lang="en-US" sz="890" dirty="0"/>
          </a:p>
        </p:txBody>
      </p:sp>
      <p:sp>
        <p:nvSpPr>
          <p:cNvPr id="46" name="Shape 44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48" name="Text 46"/>
          <p:cNvSpPr txBox="1"/>
          <p:nvPr/>
        </p:nvSpPr>
        <p:spPr>
          <a:xfrm>
            <a:off x="6778377" y="10236845"/>
            <a:ext cx="247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</a:t>
            </a:r>
            <a:endParaRPr lang="en-US" sz="63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789831"/>
            <a:ext cx="129566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spc="13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MUITO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1150441"/>
            <a:ext cx="2886527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108" kern="0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OBRIGADO!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7998" y="1926431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2146250"/>
            <a:ext cx="3887986" cy="60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você chegou até aqui, já percebeu: não foram 15 receitas novas. Foram 5 ingredientes que você já conhecia, olhados de outro jeito.</a:t>
            </a:r>
            <a:endParaRPr lang="en-US" sz="990" dirty="0"/>
          </a:p>
        </p:txBody>
      </p:sp>
      <p:sp>
        <p:nvSpPr>
          <p:cNvPr id="6" name="Text 4"/>
          <p:cNvSpPr txBox="1"/>
          <p:nvPr/>
        </p:nvSpPr>
        <p:spPr>
          <a:xfrm>
            <a:off x="647998" y="2889200"/>
            <a:ext cx="3887986" cy="8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Agora o convite é levar esse olhar para o resto da sua cozinha. Antes de cozinhar qualquer coisa, pergunte: como escolher, como guardar, como cortar? Que técnica muda o resultado? E o que dá para aproveitar da casca, do talo, do osso?</a:t>
            </a:r>
            <a:endParaRPr lang="en-US" sz="990" dirty="0"/>
          </a:p>
        </p:txBody>
      </p:sp>
      <p:sp>
        <p:nvSpPr>
          <p:cNvPr id="7" name="Text 5"/>
          <p:cNvSpPr txBox="1"/>
          <p:nvPr/>
        </p:nvSpPr>
        <p:spPr>
          <a:xfrm>
            <a:off x="647998" y="3848398"/>
            <a:ext cx="3887986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Cozinhe com afeto, com técnica e sem desperdício. Esse é o Jeito Mamede.</a:t>
            </a:r>
            <a:endParaRPr lang="en-US" sz="990" dirty="0"/>
          </a:p>
        </p:txBody>
      </p:sp>
      <p:sp>
        <p:nvSpPr>
          <p:cNvPr id="8" name="Text 6"/>
          <p:cNvSpPr txBox="1"/>
          <p:nvPr/>
        </p:nvSpPr>
        <p:spPr>
          <a:xfrm>
            <a:off x="647998" y="4466183"/>
            <a:ext cx="3887986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4E5B38"/>
                </a:solidFill>
                <a:latin typeface="Allura" pitchFamily="34" charset="0"/>
                <a:ea typeface="Allura" pitchFamily="34" charset="-122"/>
                <a:cs typeface="Allura" pitchFamily="34" charset="-120"/>
              </a:rPr>
              <a:t>Bom apetite,</a:t>
            </a:r>
            <a:pPr algn="l" indent="0" marL="0">
              <a:lnSpc>
                <a:spcPts val="3150"/>
              </a:lnSpc>
              <a:buNone/>
            </a:pPr>
            <a:endParaRPr lang="en-US" sz="3000" dirty="0"/>
          </a:p>
          <a:p>
            <a:pPr algn="l"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4E5B38"/>
                </a:solidFill>
                <a:latin typeface="Allura" pitchFamily="34" charset="0"/>
                <a:ea typeface="Allura" pitchFamily="34" charset="-122"/>
                <a:cs typeface="Allura" pitchFamily="34" charset="-120"/>
              </a:rPr>
              <a:t>Chef Allan Mamede</a:t>
            </a:r>
            <a:endParaRPr lang="en-US" sz="3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998" y="5448300"/>
            <a:ext cx="251966" cy="25196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895999" y="0"/>
            <a:ext cx="2663875" cy="10691961"/>
          </a:xfrm>
          <a:prstGeom prst="rect">
            <a:avLst/>
          </a:prstGeom>
          <a:solidFill>
            <a:srgbClr val="EEE6D8"/>
          </a:solidFill>
          <a:ln/>
        </p:spPr>
      </p:sp>
      <p:sp>
        <p:nvSpPr>
          <p:cNvPr id="11" name="Shape 8"/>
          <p:cNvSpPr/>
          <p:nvPr/>
        </p:nvSpPr>
        <p:spPr>
          <a:xfrm>
            <a:off x="4392067" y="791914"/>
            <a:ext cx="2735907" cy="2735907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75002" y="1174849"/>
            <a:ext cx="1970038" cy="197003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701" y="1530548"/>
            <a:ext cx="1258491" cy="1258491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87913" y="4031903"/>
            <a:ext cx="1799927" cy="1799927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939879" y="4283869"/>
            <a:ext cx="1295995" cy="1295995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837" y="4517827"/>
            <a:ext cx="827931" cy="827931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895999" y="8459986"/>
            <a:ext cx="2663875" cy="2231975"/>
          </a:xfrm>
          <a:prstGeom prst="rect">
            <a:avLst/>
          </a:prstGeom>
          <a:solidFill>
            <a:srgbClr val="4E5B38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04" y="9341941"/>
            <a:ext cx="467916" cy="46791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47998" y="10133856"/>
            <a:ext cx="3600004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21" name="Text 15"/>
          <p:cNvSpPr txBox="1"/>
          <p:nvPr/>
        </p:nvSpPr>
        <p:spPr>
          <a:xfrm>
            <a:off x="4139803" y="10236845"/>
            <a:ext cx="2224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41</a:t>
            </a:r>
            <a:endParaRPr lang="en-US" sz="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Cozinha Mamede</dc:title>
  <dc:subject>PptxGenJS Presentation</dc:subject>
  <dc:creator>Chef Allan Mamede</dc:creator>
  <cp:lastModifiedBy>Chef Allan Mamede</cp:lastModifiedBy>
  <cp:revision>1</cp:revision>
  <dcterms:created xsi:type="dcterms:W3CDTF">2026-10-13T15:48:29Z</dcterms:created>
  <dcterms:modified xsi:type="dcterms:W3CDTF">2026-10-13T15:48:29Z</dcterms:modified>
</cp:coreProperties>
</file>