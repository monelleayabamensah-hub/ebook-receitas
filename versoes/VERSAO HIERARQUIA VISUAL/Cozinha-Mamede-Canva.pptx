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7560000" cy="10692000"/>
  <p:notesSz cx="10692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INA">
    <p:bg>
      <p:bgPr>
        <a:solidFill>
          <a:srgbClr val="F6EBC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11981" y="4151561"/>
            <a:ext cx="132963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EBOOK DE RECEITAS</a:t>
            </a:r>
            <a:endParaRPr lang="en-US" sz="960" dirty="0"/>
          </a:p>
        </p:txBody>
      </p:sp>
      <p:sp>
        <p:nvSpPr>
          <p:cNvPr id="3" name="Text 1"/>
          <p:cNvSpPr txBox="1"/>
          <p:nvPr/>
        </p:nvSpPr>
        <p:spPr>
          <a:xfrm>
            <a:off x="611981" y="4375311"/>
            <a:ext cx="6335911" cy="1749685"/>
          </a:xfrm>
          <a:prstGeom prst="rect">
            <a:avLst/>
          </a:prstGeom>
          <a:noFill/>
          <a:ln/>
        </p:spPr>
        <p:txBody>
          <a:bodyPr wrap="square" lIns="0" tIns="0" rIns="0" bIns="0" rtlCol="0" anchor="t"/>
          <a:lstStyle/>
          <a:p>
            <a:pPr algn="l" indent="0" marL="0">
              <a:lnSpc>
                <a:spcPts val="5450"/>
              </a:lnSpc>
              <a:buNone/>
            </a:pPr>
            <a:r>
              <a:rPr lang="en-US" sz="6050" dirty="0">
                <a:solidFill>
                  <a:srgbClr val="D52518"/>
                </a:solidFill>
                <a:latin typeface="Barlow Condensed ExtraBold" pitchFamily="34" charset="0"/>
                <a:ea typeface="Barlow Condensed ExtraBold" pitchFamily="34" charset="-122"/>
                <a:cs typeface="Barlow Condensed ExtraBold" pitchFamily="34" charset="-120"/>
              </a:rPr>
              <a:t>COZINHA</a:t>
            </a:r>
            <a:pPr algn="l" indent="0" marL="0">
              <a:lnSpc>
                <a:spcPts val="5450"/>
              </a:lnSpc>
              <a:buNone/>
            </a:pPr>
            <a:endParaRPr lang="en-US" sz="6050" dirty="0"/>
          </a:p>
          <a:p>
            <a:pPr algn="l" indent="0" marL="0">
              <a:lnSpc>
                <a:spcPts val="5450"/>
              </a:lnSpc>
              <a:buNone/>
            </a:pPr>
            <a:r>
              <a:rPr lang="en-US" sz="6050" dirty="0">
                <a:solidFill>
                  <a:srgbClr val="D52518"/>
                </a:solidFill>
                <a:latin typeface="Barlow Condensed ExtraBold" pitchFamily="34" charset="0"/>
                <a:ea typeface="Barlow Condensed ExtraBold" pitchFamily="34" charset="-122"/>
                <a:cs typeface="Barlow Condensed ExtraBold" pitchFamily="34" charset="-120"/>
              </a:rPr>
              <a:t>MAMEDE</a:t>
            </a:r>
            <a:endParaRPr lang="en-US" sz="6050" dirty="0"/>
          </a:p>
        </p:txBody>
      </p:sp>
      <p:sp>
        <p:nvSpPr>
          <p:cNvPr id="4" name="Text 2"/>
          <p:cNvSpPr txBox="1"/>
          <p:nvPr/>
        </p:nvSpPr>
        <p:spPr>
          <a:xfrm>
            <a:off x="611981" y="6067399"/>
            <a:ext cx="2514421"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por CHEF ALLAN MAMEDE</a:t>
            </a:r>
            <a:endParaRPr lang="en-US" sz="13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11981" y="557164"/>
            <a:ext cx="2796421"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CINCO INGREDIENTES</a:t>
            </a:r>
            <a:endParaRPr lang="en-US" sz="2420" dirty="0"/>
          </a:p>
        </p:txBody>
      </p:sp>
      <p:sp>
        <p:nvSpPr>
          <p:cNvPr id="3" name="Text 1"/>
          <p:cNvSpPr txBox="1"/>
          <p:nvPr/>
        </p:nvSpPr>
        <p:spPr>
          <a:xfrm>
            <a:off x="611981" y="1148358"/>
            <a:ext cx="5847159"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ABÓBORA CABOTIÁ · CENOURA · MANDIOCA · SOBRECOXA DE FRANGO · BANANA-DA-TERRA</a:t>
            </a:r>
            <a:endParaRPr lang="en-US" sz="960" dirty="0"/>
          </a:p>
        </p:txBody>
      </p:sp>
      <p:sp>
        <p:nvSpPr>
          <p:cNvPr id="4" name="Text 2"/>
          <p:cNvSpPr txBox="1"/>
          <p:nvPr/>
        </p:nvSpPr>
        <p:spPr>
          <a:xfrm>
            <a:off x="611981" y="1666678"/>
            <a:ext cx="3498652"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QUINZE TRANSFORMAÇÕES</a:t>
            </a:r>
            <a:endParaRPr lang="en-US" sz="2420" dirty="0"/>
          </a:p>
        </p:txBody>
      </p:sp>
      <p:sp>
        <p:nvSpPr>
          <p:cNvPr id="5" name="Text 3"/>
          <p:cNvSpPr txBox="1"/>
          <p:nvPr/>
        </p:nvSpPr>
        <p:spPr>
          <a:xfrm>
            <a:off x="611981" y="2264536"/>
            <a:ext cx="415016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UM NOVO JEITO DE OLHAR PARA A SUA COZINHA.</a:t>
            </a:r>
            <a:endParaRPr lang="en-US" sz="1650" dirty="0"/>
          </a:p>
        </p:txBody>
      </p:sp>
      <p:sp>
        <p:nvSpPr>
          <p:cNvPr id="6" name="Text 4"/>
          <p:cNvSpPr txBox="1"/>
          <p:nvPr/>
        </p:nvSpPr>
        <p:spPr>
          <a:xfrm>
            <a:off x="611981" y="2661642"/>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Técnica de chef, sabor afetivo e aproveitamento integral, da casca à semente, com o que você já compra toda semana.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11981" y="557164"/>
            <a:ext cx="4007287"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QUEM É CHEF ALLAN MAMEDE?</a:t>
            </a:r>
            <a:endParaRPr lang="en-US" sz="2420" dirty="0"/>
          </a:p>
        </p:txBody>
      </p:sp>
      <p:sp>
        <p:nvSpPr>
          <p:cNvPr id="3" name="Text 1"/>
          <p:cNvSpPr txBox="1"/>
          <p:nvPr/>
        </p:nvSpPr>
        <p:spPr>
          <a:xfrm>
            <a:off x="611981" y="1186458"/>
            <a:ext cx="6335911" cy="10096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100" dirty="0"/>
          </a:p>
        </p:txBody>
      </p:sp>
      <p:sp>
        <p:nvSpPr>
          <p:cNvPr id="4" name="Text 2"/>
          <p:cNvSpPr txBox="1"/>
          <p:nvPr/>
        </p:nvSpPr>
        <p:spPr>
          <a:xfrm>
            <a:off x="611981" y="2348508"/>
            <a:ext cx="6335911" cy="10096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100" dirty="0"/>
          </a:p>
        </p:txBody>
      </p:sp>
      <p:sp>
        <p:nvSpPr>
          <p:cNvPr id="5" name="Text 3"/>
          <p:cNvSpPr txBox="1"/>
          <p:nvPr/>
        </p:nvSpPr>
        <p:spPr>
          <a:xfrm>
            <a:off x="611981" y="3510558"/>
            <a:ext cx="6335911" cy="10096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11981" y="4964263"/>
            <a:ext cx="117782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SUMÁRIO</a:t>
            </a:r>
            <a:endParaRPr lang="en-US" sz="2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11981" y="557164"/>
            <a:ext cx="117782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SUMÁRIO</a:t>
            </a:r>
            <a:endParaRPr lang="en-US" sz="2420" dirty="0"/>
          </a:p>
        </p:txBody>
      </p:sp>
      <p:sp>
        <p:nvSpPr>
          <p:cNvPr id="3" name="Text 1"/>
          <p:cNvSpPr txBox="1"/>
          <p:nvPr/>
        </p:nvSpPr>
        <p:spPr>
          <a:xfrm>
            <a:off x="611981" y="1157883"/>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4" name="Text 2"/>
          <p:cNvSpPr txBox="1"/>
          <p:nvPr/>
        </p:nvSpPr>
        <p:spPr>
          <a:xfrm>
            <a:off x="973931" y="1200426"/>
            <a:ext cx="873770"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Introdução</a:t>
            </a:r>
            <a:endParaRPr lang="en-US" sz="1100" dirty="0"/>
          </a:p>
        </p:txBody>
      </p:sp>
      <p:sp>
        <p:nvSpPr>
          <p:cNvPr id="5" name="Text 3"/>
          <p:cNvSpPr txBox="1"/>
          <p:nvPr/>
        </p:nvSpPr>
        <p:spPr>
          <a:xfrm>
            <a:off x="6825555" y="1186458"/>
            <a:ext cx="274737"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03</a:t>
            </a:r>
            <a:endParaRPr lang="en-US" sz="1100" dirty="0"/>
          </a:p>
        </p:txBody>
      </p:sp>
      <p:sp>
        <p:nvSpPr>
          <p:cNvPr id="6" name="Text 4"/>
          <p:cNvSpPr txBox="1"/>
          <p:nvPr/>
        </p:nvSpPr>
        <p:spPr>
          <a:xfrm>
            <a:off x="611981" y="1481733"/>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7" name="Text 5"/>
          <p:cNvSpPr txBox="1"/>
          <p:nvPr/>
        </p:nvSpPr>
        <p:spPr>
          <a:xfrm>
            <a:off x="973931" y="1524276"/>
            <a:ext cx="2215634"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O jeito Mamede de cozinhar</a:t>
            </a:r>
            <a:endParaRPr lang="en-US" sz="1100" dirty="0"/>
          </a:p>
        </p:txBody>
      </p:sp>
      <p:sp>
        <p:nvSpPr>
          <p:cNvPr id="8" name="Text 6"/>
          <p:cNvSpPr txBox="1"/>
          <p:nvPr/>
        </p:nvSpPr>
        <p:spPr>
          <a:xfrm>
            <a:off x="6820942" y="1510308"/>
            <a:ext cx="279350"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04</a:t>
            </a:r>
            <a:endParaRPr lang="en-US" sz="1100" dirty="0"/>
          </a:p>
        </p:txBody>
      </p:sp>
      <p:sp>
        <p:nvSpPr>
          <p:cNvPr id="9" name="Text 7"/>
          <p:cNvSpPr txBox="1"/>
          <p:nvPr/>
        </p:nvSpPr>
        <p:spPr>
          <a:xfrm>
            <a:off x="611981" y="1805583"/>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0" name="Text 8"/>
          <p:cNvSpPr txBox="1"/>
          <p:nvPr/>
        </p:nvSpPr>
        <p:spPr>
          <a:xfrm>
            <a:off x="973931" y="1848126"/>
            <a:ext cx="1349633"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Abóbora Cabotiá</a:t>
            </a:r>
            <a:endParaRPr lang="en-US" sz="1100" dirty="0"/>
          </a:p>
        </p:txBody>
      </p:sp>
      <p:sp>
        <p:nvSpPr>
          <p:cNvPr id="11" name="Text 9"/>
          <p:cNvSpPr txBox="1"/>
          <p:nvPr/>
        </p:nvSpPr>
        <p:spPr>
          <a:xfrm>
            <a:off x="6825258" y="1834158"/>
            <a:ext cx="275034"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05</a:t>
            </a:r>
            <a:endParaRPr lang="en-US" sz="1100" dirty="0"/>
          </a:p>
        </p:txBody>
      </p:sp>
      <p:sp>
        <p:nvSpPr>
          <p:cNvPr id="12" name="Text 10"/>
          <p:cNvSpPr txBox="1"/>
          <p:nvPr/>
        </p:nvSpPr>
        <p:spPr>
          <a:xfrm>
            <a:off x="1069181" y="2049064"/>
            <a:ext cx="4194096"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Nhoque de abóbora tostado na manteiga de garrafa e sálvia</a:t>
            </a:r>
            <a:endParaRPr lang="en-US" sz="1030" dirty="0"/>
          </a:p>
        </p:txBody>
      </p:sp>
      <p:sp>
        <p:nvSpPr>
          <p:cNvPr id="13" name="Text 11"/>
          <p:cNvSpPr txBox="1"/>
          <p:nvPr/>
        </p:nvSpPr>
        <p:spPr>
          <a:xfrm>
            <a:off x="6837611" y="2034183"/>
            <a:ext cx="262682"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07</a:t>
            </a:r>
            <a:endParaRPr lang="en-US" sz="1030" dirty="0"/>
          </a:p>
        </p:txBody>
      </p:sp>
      <p:sp>
        <p:nvSpPr>
          <p:cNvPr id="14" name="Text 12"/>
          <p:cNvSpPr txBox="1"/>
          <p:nvPr/>
        </p:nvSpPr>
        <p:spPr>
          <a:xfrm>
            <a:off x="1069181" y="2245517"/>
            <a:ext cx="5958423"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Hambúrguer ou bolinho cremoso assado de abóbora com especiarias e queijo coalho</a:t>
            </a:r>
            <a:endParaRPr lang="en-US" sz="1030" dirty="0"/>
          </a:p>
        </p:txBody>
      </p:sp>
      <p:sp>
        <p:nvSpPr>
          <p:cNvPr id="15" name="Text 13"/>
          <p:cNvSpPr txBox="1"/>
          <p:nvPr/>
        </p:nvSpPr>
        <p:spPr>
          <a:xfrm>
            <a:off x="6833443" y="2230636"/>
            <a:ext cx="266849"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09</a:t>
            </a:r>
            <a:endParaRPr lang="en-US" sz="1030" dirty="0"/>
          </a:p>
        </p:txBody>
      </p:sp>
      <p:sp>
        <p:nvSpPr>
          <p:cNvPr id="16" name="Text 14"/>
          <p:cNvSpPr txBox="1"/>
          <p:nvPr/>
        </p:nvSpPr>
        <p:spPr>
          <a:xfrm>
            <a:off x="1069181" y="2441970"/>
            <a:ext cx="5495151"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Crepúsculo: doce de abóbora cremoso de colher com coco e raspas de laranja</a:t>
            </a:r>
            <a:endParaRPr lang="en-US" sz="1030" dirty="0"/>
          </a:p>
        </p:txBody>
      </p:sp>
      <p:sp>
        <p:nvSpPr>
          <p:cNvPr id="17" name="Text 15"/>
          <p:cNvSpPr txBox="1"/>
          <p:nvPr/>
        </p:nvSpPr>
        <p:spPr>
          <a:xfrm>
            <a:off x="6877794" y="2427089"/>
            <a:ext cx="222498"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11</a:t>
            </a:r>
            <a:endParaRPr lang="en-US" sz="1030" dirty="0"/>
          </a:p>
        </p:txBody>
      </p:sp>
      <p:sp>
        <p:nvSpPr>
          <p:cNvPr id="18" name="Text 16"/>
          <p:cNvSpPr txBox="1"/>
          <p:nvPr/>
        </p:nvSpPr>
        <p:spPr>
          <a:xfrm>
            <a:off x="611981" y="2718792"/>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9" name="Text 17"/>
          <p:cNvSpPr txBox="1"/>
          <p:nvPr/>
        </p:nvSpPr>
        <p:spPr>
          <a:xfrm>
            <a:off x="973931" y="2761335"/>
            <a:ext cx="1318915"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Banana-da-Terra</a:t>
            </a:r>
            <a:endParaRPr lang="en-US" sz="1100" dirty="0"/>
          </a:p>
        </p:txBody>
      </p:sp>
      <p:sp>
        <p:nvSpPr>
          <p:cNvPr id="20" name="Text 18"/>
          <p:cNvSpPr txBox="1"/>
          <p:nvPr/>
        </p:nvSpPr>
        <p:spPr>
          <a:xfrm>
            <a:off x="6849814" y="2747367"/>
            <a:ext cx="250478"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15</a:t>
            </a:r>
            <a:endParaRPr lang="en-US" sz="1100" dirty="0"/>
          </a:p>
        </p:txBody>
      </p:sp>
      <p:sp>
        <p:nvSpPr>
          <p:cNvPr id="21" name="Text 19"/>
          <p:cNvSpPr txBox="1"/>
          <p:nvPr/>
        </p:nvSpPr>
        <p:spPr>
          <a:xfrm>
            <a:off x="1069181" y="2962273"/>
            <a:ext cx="4805065"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Moqueca expressa de frigideira com banana, leite de coco e pimenta</a:t>
            </a:r>
            <a:endParaRPr lang="en-US" sz="1030" dirty="0"/>
          </a:p>
        </p:txBody>
      </p:sp>
      <p:sp>
        <p:nvSpPr>
          <p:cNvPr id="22" name="Text 20"/>
          <p:cNvSpPr txBox="1"/>
          <p:nvPr/>
        </p:nvSpPr>
        <p:spPr>
          <a:xfrm>
            <a:off x="6860530" y="2947392"/>
            <a:ext cx="239762"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17</a:t>
            </a:r>
            <a:endParaRPr lang="en-US" sz="1030" dirty="0"/>
          </a:p>
        </p:txBody>
      </p:sp>
      <p:sp>
        <p:nvSpPr>
          <p:cNvPr id="23" name="Text 21"/>
          <p:cNvSpPr txBox="1"/>
          <p:nvPr/>
        </p:nvSpPr>
        <p:spPr>
          <a:xfrm>
            <a:off x="1069181" y="3158726"/>
            <a:ext cx="3870662"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Purê aveludado de banana grelhada com noz-moscada</a:t>
            </a:r>
            <a:endParaRPr lang="en-US" sz="1030" dirty="0"/>
          </a:p>
        </p:txBody>
      </p:sp>
      <p:sp>
        <p:nvSpPr>
          <p:cNvPr id="24" name="Text 22"/>
          <p:cNvSpPr txBox="1"/>
          <p:nvPr/>
        </p:nvSpPr>
        <p:spPr>
          <a:xfrm>
            <a:off x="6856512" y="3143845"/>
            <a:ext cx="243780"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19</a:t>
            </a:r>
            <a:endParaRPr lang="en-US" sz="1030" dirty="0"/>
          </a:p>
        </p:txBody>
      </p:sp>
      <p:sp>
        <p:nvSpPr>
          <p:cNvPr id="25" name="Text 23"/>
          <p:cNvSpPr txBox="1"/>
          <p:nvPr/>
        </p:nvSpPr>
        <p:spPr>
          <a:xfrm>
            <a:off x="1069181" y="3355179"/>
            <a:ext cx="5844480"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Bananas flambadas no rum ou na cachaça com crosta de açúcar mascavo e canela</a:t>
            </a:r>
            <a:endParaRPr lang="en-US" sz="1030" dirty="0"/>
          </a:p>
        </p:txBody>
      </p:sp>
      <p:sp>
        <p:nvSpPr>
          <p:cNvPr id="26" name="Text 24"/>
          <p:cNvSpPr txBox="1"/>
          <p:nvPr/>
        </p:nvSpPr>
        <p:spPr>
          <a:xfrm>
            <a:off x="6859042" y="3340298"/>
            <a:ext cx="241250"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21</a:t>
            </a:r>
            <a:endParaRPr lang="en-US" sz="1030" dirty="0"/>
          </a:p>
        </p:txBody>
      </p:sp>
      <p:sp>
        <p:nvSpPr>
          <p:cNvPr id="27" name="Text 25"/>
          <p:cNvSpPr txBox="1"/>
          <p:nvPr/>
        </p:nvSpPr>
        <p:spPr>
          <a:xfrm>
            <a:off x="611981" y="3632002"/>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28" name="Text 26"/>
          <p:cNvSpPr txBox="1"/>
          <p:nvPr/>
        </p:nvSpPr>
        <p:spPr>
          <a:xfrm>
            <a:off x="973931" y="3674544"/>
            <a:ext cx="1712893"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Sobrecoxa de Frango</a:t>
            </a:r>
            <a:endParaRPr lang="en-US" sz="1100" dirty="0"/>
          </a:p>
        </p:txBody>
      </p:sp>
      <p:sp>
        <p:nvSpPr>
          <p:cNvPr id="29" name="Text 27"/>
          <p:cNvSpPr txBox="1"/>
          <p:nvPr/>
        </p:nvSpPr>
        <p:spPr>
          <a:xfrm>
            <a:off x="6828681" y="3660577"/>
            <a:ext cx="271611"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25</a:t>
            </a:r>
            <a:endParaRPr lang="en-US" sz="1100" dirty="0"/>
          </a:p>
        </p:txBody>
      </p:sp>
      <p:sp>
        <p:nvSpPr>
          <p:cNvPr id="30" name="Text 28"/>
          <p:cNvSpPr txBox="1"/>
          <p:nvPr/>
        </p:nvSpPr>
        <p:spPr>
          <a:xfrm>
            <a:off x="1069181" y="3875483"/>
            <a:ext cx="5495151"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Sobrecoxa desossada com pele ultracrocante ao molho rústico de limão e alho</a:t>
            </a:r>
            <a:endParaRPr lang="en-US" sz="1030" dirty="0"/>
          </a:p>
        </p:txBody>
      </p:sp>
      <p:sp>
        <p:nvSpPr>
          <p:cNvPr id="31" name="Text 29"/>
          <p:cNvSpPr txBox="1"/>
          <p:nvPr/>
        </p:nvSpPr>
        <p:spPr>
          <a:xfrm>
            <a:off x="6840885" y="3860602"/>
            <a:ext cx="259407"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27</a:t>
            </a:r>
            <a:endParaRPr lang="en-US" sz="1030" dirty="0"/>
          </a:p>
        </p:txBody>
      </p:sp>
      <p:sp>
        <p:nvSpPr>
          <p:cNvPr id="32" name="Text 30"/>
          <p:cNvSpPr txBox="1"/>
          <p:nvPr/>
        </p:nvSpPr>
        <p:spPr>
          <a:xfrm>
            <a:off x="1069181" y="4071936"/>
            <a:ext cx="4394478"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Frango desfiado suculento ao molho de tomate caseiro e ervas</a:t>
            </a:r>
            <a:endParaRPr lang="en-US" sz="1030" dirty="0"/>
          </a:p>
        </p:txBody>
      </p:sp>
      <p:sp>
        <p:nvSpPr>
          <p:cNvPr id="33" name="Text 31"/>
          <p:cNvSpPr txBox="1"/>
          <p:nvPr/>
        </p:nvSpPr>
        <p:spPr>
          <a:xfrm>
            <a:off x="6836718" y="4057055"/>
            <a:ext cx="263575"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29</a:t>
            </a:r>
            <a:endParaRPr lang="en-US" sz="1030" dirty="0"/>
          </a:p>
        </p:txBody>
      </p:sp>
      <p:sp>
        <p:nvSpPr>
          <p:cNvPr id="34" name="Text 32"/>
          <p:cNvSpPr txBox="1"/>
          <p:nvPr/>
        </p:nvSpPr>
        <p:spPr>
          <a:xfrm>
            <a:off x="1069181" y="4268389"/>
            <a:ext cx="4726484"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Sobrecoxa marinada no iogurte com especiarias, assada até dourar</a:t>
            </a:r>
            <a:endParaRPr lang="en-US" sz="1030" dirty="0"/>
          </a:p>
        </p:txBody>
      </p:sp>
      <p:sp>
        <p:nvSpPr>
          <p:cNvPr id="35" name="Text 33"/>
          <p:cNvSpPr txBox="1"/>
          <p:nvPr/>
        </p:nvSpPr>
        <p:spPr>
          <a:xfrm>
            <a:off x="6859339" y="4253508"/>
            <a:ext cx="240953"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31</a:t>
            </a:r>
            <a:endParaRPr lang="en-US" sz="1030" dirty="0"/>
          </a:p>
        </p:txBody>
      </p:sp>
      <p:sp>
        <p:nvSpPr>
          <p:cNvPr id="36" name="Text 34"/>
          <p:cNvSpPr txBox="1"/>
          <p:nvPr/>
        </p:nvSpPr>
        <p:spPr>
          <a:xfrm>
            <a:off x="611981" y="454521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37" name="Text 35"/>
          <p:cNvSpPr txBox="1"/>
          <p:nvPr/>
        </p:nvSpPr>
        <p:spPr>
          <a:xfrm>
            <a:off x="973931" y="4587754"/>
            <a:ext cx="796230"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Mandioca</a:t>
            </a:r>
            <a:endParaRPr lang="en-US" sz="1100" dirty="0"/>
          </a:p>
        </p:txBody>
      </p:sp>
      <p:sp>
        <p:nvSpPr>
          <p:cNvPr id="38" name="Text 36"/>
          <p:cNvSpPr txBox="1"/>
          <p:nvPr/>
        </p:nvSpPr>
        <p:spPr>
          <a:xfrm>
            <a:off x="6828532" y="4573786"/>
            <a:ext cx="271760"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35</a:t>
            </a:r>
            <a:endParaRPr lang="en-US" sz="1100" dirty="0"/>
          </a:p>
        </p:txBody>
      </p:sp>
      <p:sp>
        <p:nvSpPr>
          <p:cNvPr id="39" name="Text 37"/>
          <p:cNvSpPr txBox="1"/>
          <p:nvPr/>
        </p:nvSpPr>
        <p:spPr>
          <a:xfrm>
            <a:off x="1069181" y="4788692"/>
            <a:ext cx="2865537"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Rösti de mandioca recheado na frigideira</a:t>
            </a:r>
            <a:endParaRPr lang="en-US" sz="1030" dirty="0"/>
          </a:p>
        </p:txBody>
      </p:sp>
      <p:sp>
        <p:nvSpPr>
          <p:cNvPr id="40" name="Text 38"/>
          <p:cNvSpPr txBox="1"/>
          <p:nvPr/>
        </p:nvSpPr>
        <p:spPr>
          <a:xfrm>
            <a:off x="6840736" y="4773811"/>
            <a:ext cx="259556"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37</a:t>
            </a:r>
            <a:endParaRPr lang="en-US" sz="1030" dirty="0"/>
          </a:p>
        </p:txBody>
      </p:sp>
      <p:sp>
        <p:nvSpPr>
          <p:cNvPr id="41" name="Text 39"/>
          <p:cNvSpPr txBox="1"/>
          <p:nvPr/>
        </p:nvSpPr>
        <p:spPr>
          <a:xfrm>
            <a:off x="1069181" y="4985145"/>
            <a:ext cx="4848999"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Caldo aveludado de mandioca com gengibre e bacon (ou cogumelos)</a:t>
            </a:r>
            <a:endParaRPr lang="en-US" sz="1030" dirty="0"/>
          </a:p>
        </p:txBody>
      </p:sp>
      <p:sp>
        <p:nvSpPr>
          <p:cNvPr id="42" name="Text 40"/>
          <p:cNvSpPr txBox="1"/>
          <p:nvPr/>
        </p:nvSpPr>
        <p:spPr>
          <a:xfrm>
            <a:off x="6836569" y="4970264"/>
            <a:ext cx="263723"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39</a:t>
            </a:r>
            <a:endParaRPr lang="en-US" sz="1030" dirty="0"/>
          </a:p>
        </p:txBody>
      </p:sp>
      <p:sp>
        <p:nvSpPr>
          <p:cNvPr id="43" name="Text 41"/>
          <p:cNvSpPr txBox="1"/>
          <p:nvPr/>
        </p:nvSpPr>
        <p:spPr>
          <a:xfrm>
            <a:off x="1069181" y="5181598"/>
            <a:ext cx="3145215"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Biscoito de polvilho e mandioca de assadeira</a:t>
            </a:r>
            <a:endParaRPr lang="en-US" sz="1030" dirty="0"/>
          </a:p>
        </p:txBody>
      </p:sp>
      <p:sp>
        <p:nvSpPr>
          <p:cNvPr id="44" name="Text 42"/>
          <p:cNvSpPr txBox="1"/>
          <p:nvPr/>
        </p:nvSpPr>
        <p:spPr>
          <a:xfrm>
            <a:off x="6858446" y="5166717"/>
            <a:ext cx="241846"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41</a:t>
            </a:r>
            <a:endParaRPr lang="en-US" sz="1030" dirty="0"/>
          </a:p>
        </p:txBody>
      </p:sp>
      <p:sp>
        <p:nvSpPr>
          <p:cNvPr id="45" name="Text 43"/>
          <p:cNvSpPr txBox="1"/>
          <p:nvPr/>
        </p:nvSpPr>
        <p:spPr>
          <a:xfrm>
            <a:off x="611981" y="5458420"/>
            <a:ext cx="220712"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7</a:t>
            </a:r>
            <a:endParaRPr lang="en-US" sz="1320" dirty="0"/>
          </a:p>
        </p:txBody>
      </p:sp>
      <p:sp>
        <p:nvSpPr>
          <p:cNvPr id="46" name="Text 44"/>
          <p:cNvSpPr txBox="1"/>
          <p:nvPr/>
        </p:nvSpPr>
        <p:spPr>
          <a:xfrm>
            <a:off x="973931" y="5500963"/>
            <a:ext cx="718691"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Cenoura</a:t>
            </a:r>
            <a:endParaRPr lang="en-US" sz="1100" dirty="0"/>
          </a:p>
        </p:txBody>
      </p:sp>
      <p:sp>
        <p:nvSpPr>
          <p:cNvPr id="47" name="Text 45"/>
          <p:cNvSpPr txBox="1"/>
          <p:nvPr/>
        </p:nvSpPr>
        <p:spPr>
          <a:xfrm>
            <a:off x="6823918" y="5486995"/>
            <a:ext cx="276374"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45</a:t>
            </a:r>
            <a:endParaRPr lang="en-US" sz="1100" dirty="0"/>
          </a:p>
        </p:txBody>
      </p:sp>
      <p:sp>
        <p:nvSpPr>
          <p:cNvPr id="48" name="Text 46"/>
          <p:cNvSpPr txBox="1"/>
          <p:nvPr/>
        </p:nvSpPr>
        <p:spPr>
          <a:xfrm>
            <a:off x="1069181" y="5701901"/>
            <a:ext cx="5730538"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Cenouras assadas inteiras, caramelizadas no mel ou melaço com azeite e tomilho</a:t>
            </a:r>
            <a:endParaRPr lang="en-US" sz="1030" dirty="0"/>
          </a:p>
        </p:txBody>
      </p:sp>
      <p:sp>
        <p:nvSpPr>
          <p:cNvPr id="49" name="Text 47"/>
          <p:cNvSpPr txBox="1"/>
          <p:nvPr/>
        </p:nvSpPr>
        <p:spPr>
          <a:xfrm>
            <a:off x="6843117" y="5687020"/>
            <a:ext cx="257175"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47</a:t>
            </a:r>
            <a:endParaRPr lang="en-US" sz="1030" dirty="0"/>
          </a:p>
        </p:txBody>
      </p:sp>
      <p:sp>
        <p:nvSpPr>
          <p:cNvPr id="50" name="Text 48"/>
          <p:cNvSpPr txBox="1"/>
          <p:nvPr/>
        </p:nvSpPr>
        <p:spPr>
          <a:xfrm>
            <a:off x="1069181" y="5898354"/>
            <a:ext cx="4708981"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Hambúrguer rústico ou bolinho de cenoura com aveia e especiarias</a:t>
            </a:r>
            <a:endParaRPr lang="en-US" sz="1030" dirty="0"/>
          </a:p>
        </p:txBody>
      </p:sp>
      <p:sp>
        <p:nvSpPr>
          <p:cNvPr id="51" name="Text 49"/>
          <p:cNvSpPr txBox="1"/>
          <p:nvPr/>
        </p:nvSpPr>
        <p:spPr>
          <a:xfrm>
            <a:off x="6832253" y="5883473"/>
            <a:ext cx="268039"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49</a:t>
            </a:r>
            <a:endParaRPr lang="en-US" sz="1030" dirty="0"/>
          </a:p>
        </p:txBody>
      </p:sp>
      <p:sp>
        <p:nvSpPr>
          <p:cNvPr id="52" name="Text 50"/>
          <p:cNvSpPr txBox="1"/>
          <p:nvPr/>
        </p:nvSpPr>
        <p:spPr>
          <a:xfrm>
            <a:off x="1069181" y="6094808"/>
            <a:ext cx="5434608" cy="170263"/>
          </a:xfrm>
          <a:prstGeom prst="rect">
            <a:avLst/>
          </a:prstGeom>
          <a:noFill/>
          <a:ln/>
        </p:spPr>
        <p:txBody>
          <a:bodyPr wrap="square" lIns="0" tIns="0" rIns="0" bIns="0" rtlCol="0" anchor="ctr"/>
          <a:lstStyle/>
          <a:p>
            <a:pPr algn="l" indent="0" marL="0">
              <a:buNone/>
            </a:pPr>
            <a:r>
              <a:rPr lang="en-US" sz="1030" dirty="0">
                <a:solidFill>
                  <a:srgbClr val="18542A"/>
                </a:solidFill>
                <a:latin typeface="Arimo" pitchFamily="34" charset="0"/>
                <a:ea typeface="Arimo" pitchFamily="34" charset="-122"/>
                <a:cs typeface="Arimo" pitchFamily="34" charset="-120"/>
              </a:rPr>
              <a:t>Bolo de cenoura da vovó com técnica de chef e calda de chocolate espelhada</a:t>
            </a:r>
            <a:endParaRPr lang="en-US" sz="1030" dirty="0"/>
          </a:p>
        </p:txBody>
      </p:sp>
      <p:sp>
        <p:nvSpPr>
          <p:cNvPr id="53" name="Text 51"/>
          <p:cNvSpPr txBox="1"/>
          <p:nvPr/>
        </p:nvSpPr>
        <p:spPr>
          <a:xfrm>
            <a:off x="6857554" y="6079927"/>
            <a:ext cx="242739" cy="180975"/>
          </a:xfrm>
          <a:prstGeom prst="rect">
            <a:avLst/>
          </a:prstGeom>
          <a:noFill/>
          <a:ln/>
        </p:spPr>
        <p:txBody>
          <a:bodyPr wrap="square" lIns="0" tIns="0" rIns="0" bIns="0" rtlCol="0" anchor="ctr"/>
          <a:lstStyle/>
          <a:p>
            <a:pPr algn="l" indent="0" marL="0">
              <a:buNone/>
            </a:pPr>
            <a:r>
              <a:rPr lang="en-US" sz="1030" dirty="0">
                <a:solidFill>
                  <a:srgbClr val="D52518"/>
                </a:solidFill>
                <a:latin typeface="Barlow Condensed SemiBold" pitchFamily="34" charset="0"/>
                <a:ea typeface="Barlow Condensed SemiBold" pitchFamily="34" charset="-122"/>
                <a:cs typeface="Barlow Condensed SemiBold" pitchFamily="34" charset="-120"/>
              </a:rPr>
              <a:t>51</a:t>
            </a:r>
            <a:endParaRPr lang="en-US" sz="1030" dirty="0"/>
          </a:p>
        </p:txBody>
      </p:sp>
      <p:sp>
        <p:nvSpPr>
          <p:cNvPr id="54" name="Text 52"/>
          <p:cNvSpPr txBox="1"/>
          <p:nvPr/>
        </p:nvSpPr>
        <p:spPr>
          <a:xfrm>
            <a:off x="611981" y="6371630"/>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8</a:t>
            </a:r>
            <a:endParaRPr lang="en-US" sz="1320" dirty="0"/>
          </a:p>
        </p:txBody>
      </p:sp>
      <p:sp>
        <p:nvSpPr>
          <p:cNvPr id="55" name="Text 53"/>
          <p:cNvSpPr txBox="1"/>
          <p:nvPr/>
        </p:nvSpPr>
        <p:spPr>
          <a:xfrm>
            <a:off x="973931" y="6414173"/>
            <a:ext cx="2513171"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Bônus: os 10 pulos do Mamede</a:t>
            </a:r>
            <a:endParaRPr lang="en-US" sz="1100" dirty="0"/>
          </a:p>
        </p:txBody>
      </p:sp>
      <p:sp>
        <p:nvSpPr>
          <p:cNvPr id="56" name="Text 54"/>
          <p:cNvSpPr txBox="1"/>
          <p:nvPr/>
        </p:nvSpPr>
        <p:spPr>
          <a:xfrm>
            <a:off x="6828383" y="6400205"/>
            <a:ext cx="271909"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55</a:t>
            </a:r>
            <a:endParaRPr lang="en-US" sz="1100" dirty="0"/>
          </a:p>
        </p:txBody>
      </p:sp>
      <p:sp>
        <p:nvSpPr>
          <p:cNvPr id="57" name="Text 55"/>
          <p:cNvSpPr txBox="1"/>
          <p:nvPr/>
        </p:nvSpPr>
        <p:spPr>
          <a:xfrm>
            <a:off x="611981" y="6695480"/>
            <a:ext cx="225326"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9</a:t>
            </a:r>
            <a:endParaRPr lang="en-US" sz="1320" dirty="0"/>
          </a:p>
        </p:txBody>
      </p:sp>
      <p:sp>
        <p:nvSpPr>
          <p:cNvPr id="58" name="Text 56"/>
          <p:cNvSpPr txBox="1"/>
          <p:nvPr/>
        </p:nvSpPr>
        <p:spPr>
          <a:xfrm>
            <a:off x="973931" y="6738023"/>
            <a:ext cx="1889700" cy="181614"/>
          </a:xfrm>
          <a:prstGeom prst="rect">
            <a:avLst/>
          </a:prstGeom>
          <a:noFill/>
          <a:ln/>
        </p:spPr>
        <p:txBody>
          <a:bodyPr wrap="square" lIns="0" tIns="0" rIns="0" bIns="0" rtlCol="0" anchor="ctr"/>
          <a:lstStyle/>
          <a:p>
            <a:pPr algn="l" indent="0" marL="0">
              <a:buNone/>
            </a:pPr>
            <a:r>
              <a:rPr lang="en-US" sz="1100" b="1" dirty="0">
                <a:solidFill>
                  <a:srgbClr val="18542A"/>
                </a:solidFill>
                <a:latin typeface="Arimo" pitchFamily="34" charset="0"/>
                <a:ea typeface="Arimo" pitchFamily="34" charset="-122"/>
                <a:cs typeface="Arimo" pitchFamily="34" charset="-120"/>
              </a:rPr>
              <a:t>Para seguir cozinhando</a:t>
            </a:r>
            <a:endParaRPr lang="en-US" sz="1100" dirty="0"/>
          </a:p>
        </p:txBody>
      </p:sp>
      <p:sp>
        <p:nvSpPr>
          <p:cNvPr id="59" name="Text 57"/>
          <p:cNvSpPr txBox="1"/>
          <p:nvPr/>
        </p:nvSpPr>
        <p:spPr>
          <a:xfrm>
            <a:off x="6833295" y="6724055"/>
            <a:ext cx="266998" cy="190500"/>
          </a:xfrm>
          <a:prstGeom prst="rect">
            <a:avLst/>
          </a:prstGeom>
          <a:noFill/>
          <a:ln/>
        </p:spPr>
        <p:txBody>
          <a:bodyPr wrap="square" lIns="0" tIns="0" rIns="0" bIns="0" rtlCol="0" anchor="ctr"/>
          <a:lstStyle/>
          <a:p>
            <a:pPr algn="l" indent="0" marL="0">
              <a:buNone/>
            </a:pPr>
            <a:r>
              <a:rPr lang="en-US" sz="1100" dirty="0">
                <a:solidFill>
                  <a:srgbClr val="D52518"/>
                </a:solidFill>
                <a:latin typeface="Barlow Condensed SemiBold" pitchFamily="34" charset="0"/>
                <a:ea typeface="Barlow Condensed SemiBold" pitchFamily="34" charset="-122"/>
                <a:cs typeface="Barlow Condensed SemiBold" pitchFamily="34" charset="-120"/>
              </a:rPr>
              <a:t>57</a:t>
            </a:r>
            <a:endParaRPr lang="en-US" sz="1100" dirty="0"/>
          </a:p>
        </p:txBody>
      </p:sp>
      <p:sp>
        <p:nvSpPr>
          <p:cNvPr id="60" name="Text 58"/>
          <p:cNvSpPr txBox="1"/>
          <p:nvPr/>
        </p:nvSpPr>
        <p:spPr>
          <a:xfrm>
            <a:off x="5891957"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61" name="Text 59"/>
          <p:cNvSpPr txBox="1"/>
          <p:nvPr/>
        </p:nvSpPr>
        <p:spPr>
          <a:xfrm>
            <a:off x="6825109" y="10253663"/>
            <a:ext cx="275183"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02</a:t>
            </a:r>
            <a:endParaRPr lang="en-US" sz="8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11981" y="566440"/>
            <a:ext cx="844302"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INTRODUÇÃO</a:t>
            </a:r>
            <a:endParaRPr lang="en-US" sz="960" dirty="0"/>
          </a:p>
        </p:txBody>
      </p:sp>
      <p:sp>
        <p:nvSpPr>
          <p:cNvPr id="3" name="Text 1"/>
          <p:cNvSpPr txBox="1"/>
          <p:nvPr/>
        </p:nvSpPr>
        <p:spPr>
          <a:xfrm>
            <a:off x="611981" y="779960"/>
            <a:ext cx="547175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UM NOVO JEITO DE OLHAR A SUA COZINHA</a:t>
            </a:r>
            <a:endParaRPr lang="en-US" sz="2420" dirty="0"/>
          </a:p>
        </p:txBody>
      </p:sp>
      <p:sp>
        <p:nvSpPr>
          <p:cNvPr id="4" name="Text 2"/>
          <p:cNvSpPr txBox="1"/>
          <p:nvPr/>
        </p:nvSpPr>
        <p:spPr>
          <a:xfrm>
            <a:off x="611981" y="1409254"/>
            <a:ext cx="6335911" cy="16383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Pare de fazer sempre a mesma comida do mesmo jeito. Você não precisa encher o carrinho com ingredientes caros ou exóticos para sair da rotina: o segredo está em aprender a enxergar novas possibilidades com aquilo que já compra toda semana. Este é um guia prático para transformar 5 ingredientes cotidianos em 15 preparações completamente diferentes, unindo técnica profissional, sabor afetivo e aproveitamento integral. Aqui você não vai encontrar receitas soltas. Cada capítulo é dedicado a um ingrediente e mostra o caminho inteiro: como escolher no mercado, como guardar, como cortar, como cozinhar de três jeitos que você talvez nunca tenha imaginado e, no fim, o que fazer com a casca, a rama, o osso e a sobra.</a:t>
            </a:r>
            <a:endParaRPr lang="en-US" sz="1100" dirty="0"/>
          </a:p>
        </p:txBody>
      </p:sp>
      <p:sp>
        <p:nvSpPr>
          <p:cNvPr id="5" name="Text 3"/>
          <p:cNvSpPr txBox="1"/>
          <p:nvPr/>
        </p:nvSpPr>
        <p:spPr>
          <a:xfrm>
            <a:off x="611981" y="31999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 Day Without Sun Text" pitchFamily="34" charset="0"/>
                <a:ea typeface="A Day Without Sun Text" pitchFamily="34" charset="-122"/>
                <a:cs typeface="A Day Without Sun Text" pitchFamily="34" charset="-120"/>
              </a:rPr>
              <a:t>Leia com calma, cozinhe com tempo e, principalmente, prove tudo pelo caminho. É assim que a gente aprende a cozinhar de verdade.</a:t>
            </a:r>
            <a:endParaRPr lang="en-US" sz="1100" dirty="0"/>
          </a:p>
        </p:txBody>
      </p:sp>
      <p:sp>
        <p:nvSpPr>
          <p:cNvPr id="6" name="Shape 4"/>
          <p:cNvSpPr/>
          <p:nvPr/>
        </p:nvSpPr>
        <p:spPr>
          <a:xfrm>
            <a:off x="611981" y="3857179"/>
            <a:ext cx="0" cy="251371"/>
          </a:xfrm>
          <a:prstGeom prst="line">
            <a:avLst/>
          </a:prstGeom>
          <a:noFill/>
          <a:ln w="38100">
            <a:solidFill>
              <a:srgbClr val="FFC926"/>
            </a:solidFill>
            <a:prstDash val="solid"/>
          </a:ln>
        </p:spPr>
      </p:sp>
      <p:sp>
        <p:nvSpPr>
          <p:cNvPr id="7" name="Text 5"/>
          <p:cNvSpPr txBox="1"/>
          <p:nvPr/>
        </p:nvSpPr>
        <p:spPr>
          <a:xfrm>
            <a:off x="783431" y="3854318"/>
            <a:ext cx="5222438" cy="272421"/>
          </a:xfrm>
          <a:prstGeom prst="rect">
            <a:avLst/>
          </a:prstGeom>
          <a:noFill/>
          <a:ln/>
        </p:spPr>
        <p:txBody>
          <a:bodyPr wrap="square" lIns="0" tIns="0" rIns="0" bIns="0" rtlCol="0" anchor="ctr"/>
          <a:lstStyle/>
          <a:p>
            <a:pPr algn="l" indent="0" marL="0">
              <a:buNone/>
            </a:pPr>
            <a:r>
              <a:rPr lang="en-US" sz="1650" b="1" dirty="0">
                <a:solidFill>
                  <a:srgbClr val="18542A"/>
                </a:solidFill>
                <a:latin typeface="Barlow Condensed" pitchFamily="34" charset="0"/>
                <a:ea typeface="Barlow Condensed" pitchFamily="34" charset="-122"/>
                <a:cs typeface="Barlow Condensed" pitchFamily="34" charset="-120"/>
              </a:rPr>
              <a:t>PARE DE FAZER SEMPRE A MESMA COMIDA DO MESMO JEITO.</a:t>
            </a:r>
            <a:endParaRPr lang="en-US" sz="1650" dirty="0"/>
          </a:p>
        </p:txBody>
      </p:sp>
      <p:sp>
        <p:nvSpPr>
          <p:cNvPr id="8" name="Text 6"/>
          <p:cNvSpPr txBox="1"/>
          <p:nvPr/>
        </p:nvSpPr>
        <p:spPr>
          <a:xfrm>
            <a:off x="611981" y="4218656"/>
            <a:ext cx="2167950"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CHEF ALLAN MAMEDE</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11981" y="566440"/>
            <a:ext cx="70172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MÉTODO</a:t>
            </a:r>
            <a:endParaRPr lang="en-US" sz="960" dirty="0"/>
          </a:p>
        </p:txBody>
      </p:sp>
      <p:sp>
        <p:nvSpPr>
          <p:cNvPr id="3" name="Text 1"/>
          <p:cNvSpPr txBox="1"/>
          <p:nvPr/>
        </p:nvSpPr>
        <p:spPr>
          <a:xfrm>
            <a:off x="611981" y="779960"/>
            <a:ext cx="4005143"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JEITO MAMEDE DE COZINHAR</a:t>
            </a:r>
            <a:endParaRPr lang="en-US" sz="2420" dirty="0"/>
          </a:p>
        </p:txBody>
      </p:sp>
      <p:sp>
        <p:nvSpPr>
          <p:cNvPr id="4" name="Text 2"/>
          <p:cNvSpPr txBox="1"/>
          <p:nvPr/>
        </p:nvSpPr>
        <p:spPr>
          <a:xfrm>
            <a:off x="611981" y="1404171"/>
            <a:ext cx="492633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O método que guia todo o material se apoia em três fundamentos.</a:t>
            </a:r>
            <a:endParaRPr lang="en-US" sz="1100" dirty="0"/>
          </a:p>
        </p:txBody>
      </p:sp>
      <p:sp>
        <p:nvSpPr>
          <p:cNvPr id="5" name="Text 3"/>
          <p:cNvSpPr txBox="1"/>
          <p:nvPr/>
        </p:nvSpPr>
        <p:spPr>
          <a:xfrm>
            <a:off x="611981" y="1682618"/>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6" name="Text 4"/>
          <p:cNvSpPr txBox="1"/>
          <p:nvPr/>
        </p:nvSpPr>
        <p:spPr>
          <a:xfrm>
            <a:off x="1031081" y="1695004"/>
            <a:ext cx="52134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AFETO</a:t>
            </a:r>
            <a:endParaRPr lang="en-US" sz="1320" dirty="0"/>
          </a:p>
        </p:txBody>
      </p:sp>
      <p:sp>
        <p:nvSpPr>
          <p:cNvPr id="7" name="Text 5"/>
          <p:cNvSpPr txBox="1"/>
          <p:nvPr/>
        </p:nvSpPr>
        <p:spPr>
          <a:xfrm>
            <a:off x="1031081" y="2010370"/>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Comida acolhedora, generosa e com memória de casa, sem afetações desnecessárias nem gastronomia distante da realidade.</a:t>
            </a:r>
            <a:endParaRPr lang="en-US" sz="1100" dirty="0"/>
          </a:p>
        </p:txBody>
      </p:sp>
      <p:sp>
        <p:nvSpPr>
          <p:cNvPr id="8" name="Text 6"/>
          <p:cNvSpPr txBox="1"/>
          <p:nvPr/>
        </p:nvSpPr>
        <p:spPr>
          <a:xfrm>
            <a:off x="611981" y="2531385"/>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9" name="Text 7"/>
          <p:cNvSpPr txBox="1"/>
          <p:nvPr/>
        </p:nvSpPr>
        <p:spPr>
          <a:xfrm>
            <a:off x="1031081" y="2543770"/>
            <a:ext cx="65186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TÉCNICA</a:t>
            </a:r>
            <a:endParaRPr lang="en-US" sz="1320" dirty="0"/>
          </a:p>
        </p:txBody>
      </p:sp>
      <p:sp>
        <p:nvSpPr>
          <p:cNvPr id="10" name="Text 8"/>
          <p:cNvSpPr txBox="1"/>
          <p:nvPr/>
        </p:nvSpPr>
        <p:spPr>
          <a:xfrm>
            <a:off x="1031081" y="2859137"/>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Decisões simples de chef (ponto de frigideira, cortes, descanso da carne, acidez e texturas) que mudam radicalmente o resultado final.</a:t>
            </a:r>
            <a:endParaRPr lang="en-US" sz="1100" dirty="0"/>
          </a:p>
        </p:txBody>
      </p:sp>
      <p:sp>
        <p:nvSpPr>
          <p:cNvPr id="11" name="Text 9"/>
          <p:cNvSpPr txBox="1"/>
          <p:nvPr/>
        </p:nvSpPr>
        <p:spPr>
          <a:xfrm>
            <a:off x="611981" y="3380152"/>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2" name="Text 10"/>
          <p:cNvSpPr txBox="1"/>
          <p:nvPr/>
        </p:nvSpPr>
        <p:spPr>
          <a:xfrm>
            <a:off x="1031081" y="3392537"/>
            <a:ext cx="124765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APROVEITAMENTO</a:t>
            </a:r>
            <a:endParaRPr lang="en-US" sz="1320" dirty="0"/>
          </a:p>
        </p:txBody>
      </p:sp>
      <p:sp>
        <p:nvSpPr>
          <p:cNvPr id="13" name="Text 11"/>
          <p:cNvSpPr txBox="1"/>
          <p:nvPr/>
        </p:nvSpPr>
        <p:spPr>
          <a:xfrm>
            <a:off x="1031081" y="3707904"/>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Um olhar inteligente para cascas, talos, ramas e ossos, transformando o que iria para o lixo em sabor e textura.</a:t>
            </a:r>
            <a:endParaRPr lang="en-US" sz="1100" dirty="0"/>
          </a:p>
        </p:txBody>
      </p:sp>
      <p:sp>
        <p:nvSpPr>
          <p:cNvPr id="14" name="Shape 12"/>
          <p:cNvSpPr/>
          <p:nvPr/>
        </p:nvSpPr>
        <p:spPr>
          <a:xfrm>
            <a:off x="611981" y="4479429"/>
            <a:ext cx="0" cy="251371"/>
          </a:xfrm>
          <a:prstGeom prst="line">
            <a:avLst/>
          </a:prstGeom>
          <a:noFill/>
          <a:ln w="38100">
            <a:solidFill>
              <a:srgbClr val="FFC926"/>
            </a:solidFill>
            <a:prstDash val="solid"/>
          </a:ln>
        </p:spPr>
      </p:sp>
      <p:sp>
        <p:nvSpPr>
          <p:cNvPr id="15" name="Text 13"/>
          <p:cNvSpPr txBox="1"/>
          <p:nvPr/>
        </p:nvSpPr>
        <p:spPr>
          <a:xfrm>
            <a:off x="783431" y="4476568"/>
            <a:ext cx="6146125" cy="272421"/>
          </a:xfrm>
          <a:prstGeom prst="rect">
            <a:avLst/>
          </a:prstGeom>
          <a:noFill/>
          <a:ln/>
        </p:spPr>
        <p:txBody>
          <a:bodyPr wrap="square" lIns="0" tIns="0" rIns="0" bIns="0" rtlCol="0" anchor="ctr"/>
          <a:lstStyle/>
          <a:p>
            <a:pPr algn="l" indent="0" marL="0">
              <a:buNone/>
            </a:pPr>
            <a:r>
              <a:rPr lang="en-US" sz="1650" b="1" dirty="0">
                <a:solidFill>
                  <a:srgbClr val="18542A"/>
                </a:solidFill>
                <a:latin typeface="Barlow Condensed" pitchFamily="34" charset="0"/>
                <a:ea typeface="Barlow Condensed" pitchFamily="34" charset="-122"/>
                <a:cs typeface="Barlow Condensed" pitchFamily="34" charset="-120"/>
              </a:rPr>
              <a:t>AFETO, TÉCNICA E APROVEITAMENTO. NESSA ORDEM, EM TODO PRATO.</a:t>
            </a:r>
            <a:endParaRPr lang="en-US" sz="1650" dirty="0"/>
          </a:p>
        </p:txBody>
      </p:sp>
      <p:sp>
        <p:nvSpPr>
          <p:cNvPr id="16" name="Text 14"/>
          <p:cNvSpPr txBox="1"/>
          <p:nvPr/>
        </p:nvSpPr>
        <p:spPr>
          <a:xfrm>
            <a:off x="611981" y="4994639"/>
            <a:ext cx="194256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COMO USAR ESTE GUIA</a:t>
            </a:r>
            <a:endParaRPr lang="en-US" sz="1650" dirty="0"/>
          </a:p>
        </p:txBody>
      </p:sp>
      <p:sp>
        <p:nvSpPr>
          <p:cNvPr id="17" name="Text 15"/>
          <p:cNvSpPr txBox="1"/>
          <p:nvPr/>
        </p:nvSpPr>
        <p:spPr>
          <a:xfrm>
            <a:off x="611981" y="5386663"/>
            <a:ext cx="604397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Cada um dos 5 capítulos é dedicado a um ingrediente e segue a mesma jornada:</a:t>
            </a:r>
            <a:endParaRPr lang="en-US" sz="1100" dirty="0"/>
          </a:p>
        </p:txBody>
      </p:sp>
      <p:sp>
        <p:nvSpPr>
          <p:cNvPr id="18" name="Shape 16"/>
          <p:cNvSpPr/>
          <p:nvPr/>
        </p:nvSpPr>
        <p:spPr>
          <a:xfrm>
            <a:off x="611981" y="5687020"/>
            <a:ext cx="2280791" cy="298996"/>
          </a:xfrm>
          <a:prstGeom prst="rect">
            <a:avLst/>
          </a:prstGeom>
          <a:solidFill>
            <a:srgbClr val="18542A"/>
          </a:solidFill>
          <a:ln/>
        </p:spPr>
      </p:sp>
      <p:sp>
        <p:nvSpPr>
          <p:cNvPr id="19" name="Text 17"/>
          <p:cNvSpPr txBox="1"/>
          <p:nvPr/>
        </p:nvSpPr>
        <p:spPr>
          <a:xfrm>
            <a:off x="707231" y="5753695"/>
            <a:ext cx="491877"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ETAPA</a:t>
            </a:r>
            <a:endParaRPr lang="en-US" sz="960" dirty="0"/>
          </a:p>
        </p:txBody>
      </p:sp>
      <p:sp>
        <p:nvSpPr>
          <p:cNvPr id="20" name="Shape 18"/>
          <p:cNvSpPr/>
          <p:nvPr/>
        </p:nvSpPr>
        <p:spPr>
          <a:xfrm>
            <a:off x="2892772" y="5687020"/>
            <a:ext cx="4055120" cy="298996"/>
          </a:xfrm>
          <a:prstGeom prst="rect">
            <a:avLst/>
          </a:prstGeom>
          <a:solidFill>
            <a:srgbClr val="18542A"/>
          </a:solidFill>
          <a:ln/>
        </p:spPr>
      </p:sp>
      <p:sp>
        <p:nvSpPr>
          <p:cNvPr id="21" name="Text 19"/>
          <p:cNvSpPr txBox="1"/>
          <p:nvPr/>
        </p:nvSpPr>
        <p:spPr>
          <a:xfrm>
            <a:off x="2988022" y="5753695"/>
            <a:ext cx="1506438"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O QUE VOCÊ ENCONTRA</a:t>
            </a:r>
            <a:endParaRPr lang="en-US" sz="960" dirty="0"/>
          </a:p>
        </p:txBody>
      </p:sp>
      <p:sp>
        <p:nvSpPr>
          <p:cNvPr id="22" name="Shape 20"/>
          <p:cNvSpPr/>
          <p:nvPr/>
        </p:nvSpPr>
        <p:spPr>
          <a:xfrm>
            <a:off x="611981" y="6543229"/>
            <a:ext cx="2280791" cy="0"/>
          </a:xfrm>
          <a:prstGeom prst="line">
            <a:avLst/>
          </a:prstGeom>
          <a:noFill/>
          <a:ln w="9525">
            <a:solidFill>
              <a:srgbClr val="EADCB8"/>
            </a:solidFill>
            <a:prstDash val="solid"/>
          </a:ln>
        </p:spPr>
      </p:sp>
      <p:sp>
        <p:nvSpPr>
          <p:cNvPr id="23" name="Text 21"/>
          <p:cNvSpPr txBox="1"/>
          <p:nvPr/>
        </p:nvSpPr>
        <p:spPr>
          <a:xfrm>
            <a:off x="707231" y="6062216"/>
            <a:ext cx="852636"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O Ingrediente</a:t>
            </a:r>
            <a:endParaRPr lang="en-US" sz="1170" dirty="0"/>
          </a:p>
        </p:txBody>
      </p:sp>
      <p:sp>
        <p:nvSpPr>
          <p:cNvPr id="24" name="Shape 22"/>
          <p:cNvSpPr/>
          <p:nvPr/>
        </p:nvSpPr>
        <p:spPr>
          <a:xfrm>
            <a:off x="2892772" y="6543229"/>
            <a:ext cx="4055120" cy="0"/>
          </a:xfrm>
          <a:prstGeom prst="line">
            <a:avLst/>
          </a:prstGeom>
          <a:noFill/>
          <a:ln w="9525">
            <a:solidFill>
              <a:srgbClr val="EADCB8"/>
            </a:solidFill>
            <a:prstDash val="solid"/>
          </a:ln>
        </p:spPr>
      </p:sp>
      <p:sp>
        <p:nvSpPr>
          <p:cNvPr id="25" name="Text 23"/>
          <p:cNvSpPr txBox="1"/>
          <p:nvPr/>
        </p:nvSpPr>
        <p:spPr>
          <a:xfrm>
            <a:off x="2988022" y="6081266"/>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olhar do chef para expandir as possibilidades de uso daquele insumo.</a:t>
            </a:r>
            <a:endParaRPr lang="en-US" sz="1100" dirty="0"/>
          </a:p>
        </p:txBody>
      </p:sp>
      <p:sp>
        <p:nvSpPr>
          <p:cNvPr id="26" name="Shape 24"/>
          <p:cNvSpPr/>
          <p:nvPr/>
        </p:nvSpPr>
        <p:spPr>
          <a:xfrm>
            <a:off x="611981" y="6895654"/>
            <a:ext cx="2280791" cy="0"/>
          </a:xfrm>
          <a:prstGeom prst="line">
            <a:avLst/>
          </a:prstGeom>
          <a:noFill/>
          <a:ln w="9525">
            <a:solidFill>
              <a:srgbClr val="EADCB8"/>
            </a:solidFill>
            <a:prstDash val="solid"/>
          </a:ln>
        </p:spPr>
      </p:sp>
      <p:sp>
        <p:nvSpPr>
          <p:cNvPr id="27" name="Text 25"/>
          <p:cNvSpPr txBox="1"/>
          <p:nvPr/>
        </p:nvSpPr>
        <p:spPr>
          <a:xfrm>
            <a:off x="707231" y="6624191"/>
            <a:ext cx="1007805"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Antes da Panela</a:t>
            </a:r>
            <a:endParaRPr lang="en-US" sz="1170" dirty="0"/>
          </a:p>
        </p:txBody>
      </p:sp>
      <p:sp>
        <p:nvSpPr>
          <p:cNvPr id="28" name="Shape 26"/>
          <p:cNvSpPr/>
          <p:nvPr/>
        </p:nvSpPr>
        <p:spPr>
          <a:xfrm>
            <a:off x="2892772" y="6895654"/>
            <a:ext cx="4055120" cy="0"/>
          </a:xfrm>
          <a:prstGeom prst="line">
            <a:avLst/>
          </a:prstGeom>
          <a:noFill/>
          <a:ln w="9525">
            <a:solidFill>
              <a:srgbClr val="EADCB8"/>
            </a:solidFill>
            <a:prstDash val="solid"/>
          </a:ln>
        </p:spPr>
      </p:sp>
      <p:sp>
        <p:nvSpPr>
          <p:cNvPr id="29" name="Text 27"/>
          <p:cNvSpPr txBox="1"/>
          <p:nvPr/>
        </p:nvSpPr>
        <p:spPr>
          <a:xfrm>
            <a:off x="2988022" y="6638159"/>
            <a:ext cx="451574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Como escolher no mercado, como armazenar e como cortar.</a:t>
            </a:r>
            <a:endParaRPr lang="en-US" sz="1100" dirty="0"/>
          </a:p>
        </p:txBody>
      </p:sp>
      <p:sp>
        <p:nvSpPr>
          <p:cNvPr id="30" name="Shape 28"/>
          <p:cNvSpPr/>
          <p:nvPr/>
        </p:nvSpPr>
        <p:spPr>
          <a:xfrm>
            <a:off x="611981" y="7457629"/>
            <a:ext cx="2280791" cy="0"/>
          </a:xfrm>
          <a:prstGeom prst="line">
            <a:avLst/>
          </a:prstGeom>
          <a:noFill/>
          <a:ln w="9525">
            <a:solidFill>
              <a:srgbClr val="EADCB8"/>
            </a:solidFill>
            <a:prstDash val="solid"/>
          </a:ln>
        </p:spPr>
      </p:sp>
      <p:sp>
        <p:nvSpPr>
          <p:cNvPr id="31" name="Text 29"/>
          <p:cNvSpPr txBox="1"/>
          <p:nvPr/>
        </p:nvSpPr>
        <p:spPr>
          <a:xfrm>
            <a:off x="707231" y="6976616"/>
            <a:ext cx="1147286"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3 Transformações</a:t>
            </a:r>
            <a:endParaRPr lang="en-US" sz="1170" dirty="0"/>
          </a:p>
        </p:txBody>
      </p:sp>
      <p:sp>
        <p:nvSpPr>
          <p:cNvPr id="32" name="Shape 30"/>
          <p:cNvSpPr/>
          <p:nvPr/>
        </p:nvSpPr>
        <p:spPr>
          <a:xfrm>
            <a:off x="2892772" y="7457629"/>
            <a:ext cx="4055120" cy="0"/>
          </a:xfrm>
          <a:prstGeom prst="line">
            <a:avLst/>
          </a:prstGeom>
          <a:noFill/>
          <a:ln w="9525">
            <a:solidFill>
              <a:srgbClr val="EADCB8"/>
            </a:solidFill>
            <a:prstDash val="solid"/>
          </a:ln>
        </p:spPr>
      </p:sp>
      <p:sp>
        <p:nvSpPr>
          <p:cNvPr id="33" name="Text 31"/>
          <p:cNvSpPr txBox="1"/>
          <p:nvPr/>
        </p:nvSpPr>
        <p:spPr>
          <a:xfrm>
            <a:off x="2988022" y="6995666"/>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Três caminhos culinários completamente distintos para aquela sensação de “nunca pensei nisso”.</a:t>
            </a:r>
            <a:endParaRPr lang="en-US" sz="1100" dirty="0"/>
          </a:p>
        </p:txBody>
      </p:sp>
      <p:sp>
        <p:nvSpPr>
          <p:cNvPr id="34" name="Shape 32"/>
          <p:cNvSpPr/>
          <p:nvPr/>
        </p:nvSpPr>
        <p:spPr>
          <a:xfrm>
            <a:off x="611981" y="8019604"/>
            <a:ext cx="2280791" cy="0"/>
          </a:xfrm>
          <a:prstGeom prst="line">
            <a:avLst/>
          </a:prstGeom>
          <a:noFill/>
          <a:ln w="9525">
            <a:solidFill>
              <a:srgbClr val="EADCB8"/>
            </a:solidFill>
            <a:prstDash val="solid"/>
          </a:ln>
        </p:spPr>
      </p:sp>
      <p:sp>
        <p:nvSpPr>
          <p:cNvPr id="35" name="Text 33"/>
          <p:cNvSpPr txBox="1"/>
          <p:nvPr/>
        </p:nvSpPr>
        <p:spPr>
          <a:xfrm>
            <a:off x="707231" y="7538591"/>
            <a:ext cx="905024"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O Pulo do Chef</a:t>
            </a:r>
            <a:endParaRPr lang="en-US" sz="1170" dirty="0"/>
          </a:p>
        </p:txBody>
      </p:sp>
      <p:sp>
        <p:nvSpPr>
          <p:cNvPr id="36" name="Shape 34"/>
          <p:cNvSpPr/>
          <p:nvPr/>
        </p:nvSpPr>
        <p:spPr>
          <a:xfrm>
            <a:off x="2892772" y="8019604"/>
            <a:ext cx="4055120" cy="0"/>
          </a:xfrm>
          <a:prstGeom prst="line">
            <a:avLst/>
          </a:prstGeom>
          <a:noFill/>
          <a:ln w="9525">
            <a:solidFill>
              <a:srgbClr val="EADCB8"/>
            </a:solidFill>
            <a:prstDash val="solid"/>
          </a:ln>
        </p:spPr>
      </p:sp>
      <p:sp>
        <p:nvSpPr>
          <p:cNvPr id="37" name="Text 35"/>
          <p:cNvSpPr txBox="1"/>
          <p:nvPr/>
        </p:nvSpPr>
        <p:spPr>
          <a:xfrm>
            <a:off x="2988022" y="755764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Um erro frequente, desmistificado, com a técnica exata para corrigi-lo.</a:t>
            </a:r>
            <a:endParaRPr lang="en-US" sz="1100" dirty="0"/>
          </a:p>
        </p:txBody>
      </p:sp>
      <p:sp>
        <p:nvSpPr>
          <p:cNvPr id="38" name="Shape 36"/>
          <p:cNvSpPr/>
          <p:nvPr/>
        </p:nvSpPr>
        <p:spPr>
          <a:xfrm>
            <a:off x="611981" y="8372029"/>
            <a:ext cx="2280791" cy="0"/>
          </a:xfrm>
          <a:prstGeom prst="line">
            <a:avLst/>
          </a:prstGeom>
          <a:noFill/>
          <a:ln w="9525">
            <a:solidFill>
              <a:srgbClr val="EADCB8"/>
            </a:solidFill>
            <a:prstDash val="solid"/>
          </a:ln>
        </p:spPr>
      </p:sp>
      <p:sp>
        <p:nvSpPr>
          <p:cNvPr id="39" name="Text 37"/>
          <p:cNvSpPr txBox="1"/>
          <p:nvPr/>
        </p:nvSpPr>
        <p:spPr>
          <a:xfrm>
            <a:off x="707231" y="8100566"/>
            <a:ext cx="909489"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Não Tem Isso?</a:t>
            </a:r>
            <a:endParaRPr lang="en-US" sz="1170" dirty="0"/>
          </a:p>
        </p:txBody>
      </p:sp>
      <p:sp>
        <p:nvSpPr>
          <p:cNvPr id="40" name="Shape 38"/>
          <p:cNvSpPr/>
          <p:nvPr/>
        </p:nvSpPr>
        <p:spPr>
          <a:xfrm>
            <a:off x="2892772" y="8372029"/>
            <a:ext cx="4055120" cy="0"/>
          </a:xfrm>
          <a:prstGeom prst="line">
            <a:avLst/>
          </a:prstGeom>
          <a:noFill/>
          <a:ln w="9525">
            <a:solidFill>
              <a:srgbClr val="EADCB8"/>
            </a:solidFill>
            <a:prstDash val="solid"/>
          </a:ln>
        </p:spPr>
      </p:sp>
      <p:sp>
        <p:nvSpPr>
          <p:cNvPr id="41" name="Text 39"/>
          <p:cNvSpPr txBox="1"/>
          <p:nvPr/>
        </p:nvSpPr>
        <p:spPr>
          <a:xfrm>
            <a:off x="2988022" y="8114534"/>
            <a:ext cx="422749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Substituições inteligentes para você cozinhar sem travar.</a:t>
            </a:r>
            <a:endParaRPr lang="en-US" sz="1100" dirty="0"/>
          </a:p>
        </p:txBody>
      </p:sp>
      <p:sp>
        <p:nvSpPr>
          <p:cNvPr id="42" name="Shape 40"/>
          <p:cNvSpPr/>
          <p:nvPr/>
        </p:nvSpPr>
        <p:spPr>
          <a:xfrm>
            <a:off x="611981" y="8934004"/>
            <a:ext cx="2280791" cy="0"/>
          </a:xfrm>
          <a:prstGeom prst="line">
            <a:avLst/>
          </a:prstGeom>
          <a:noFill/>
          <a:ln w="9525">
            <a:solidFill>
              <a:srgbClr val="EADCB8"/>
            </a:solidFill>
            <a:prstDash val="solid"/>
          </a:ln>
        </p:spPr>
      </p:sp>
      <p:sp>
        <p:nvSpPr>
          <p:cNvPr id="43" name="Text 41"/>
          <p:cNvSpPr txBox="1"/>
          <p:nvPr/>
        </p:nvSpPr>
        <p:spPr>
          <a:xfrm>
            <a:off x="707231" y="8452991"/>
            <a:ext cx="1470184"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Aproveita Isso Também</a:t>
            </a:r>
            <a:endParaRPr lang="en-US" sz="1170" dirty="0"/>
          </a:p>
        </p:txBody>
      </p:sp>
      <p:sp>
        <p:nvSpPr>
          <p:cNvPr id="44" name="Shape 42"/>
          <p:cNvSpPr/>
          <p:nvPr/>
        </p:nvSpPr>
        <p:spPr>
          <a:xfrm>
            <a:off x="2892772" y="8934004"/>
            <a:ext cx="4055120" cy="0"/>
          </a:xfrm>
          <a:prstGeom prst="line">
            <a:avLst/>
          </a:prstGeom>
          <a:noFill/>
          <a:ln w="9525">
            <a:solidFill>
              <a:srgbClr val="EADCB8"/>
            </a:solidFill>
            <a:prstDash val="solid"/>
          </a:ln>
        </p:spPr>
      </p:sp>
      <p:sp>
        <p:nvSpPr>
          <p:cNvPr id="45" name="Text 43"/>
          <p:cNvSpPr txBox="1"/>
          <p:nvPr/>
        </p:nvSpPr>
        <p:spPr>
          <a:xfrm>
            <a:off x="2988022" y="847204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Cascas, talos, ramas e aparas transformados em preparações saborosas.</a:t>
            </a:r>
            <a:endParaRPr lang="en-US" sz="1100" dirty="0"/>
          </a:p>
        </p:txBody>
      </p:sp>
      <p:sp>
        <p:nvSpPr>
          <p:cNvPr id="46" name="Text 44"/>
          <p:cNvSpPr txBox="1"/>
          <p:nvPr/>
        </p:nvSpPr>
        <p:spPr>
          <a:xfrm>
            <a:off x="611981" y="9081641"/>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MEDIDAS: 1 xícara = 240 ml · 1 colher (sopa) = 15 ml · 1 colher (chá) = 5 ml · forno sempre preaquecido.</a:t>
            </a:r>
            <a:endParaRPr lang="en-US" sz="1100" dirty="0"/>
          </a:p>
        </p:txBody>
      </p:sp>
      <p:sp>
        <p:nvSpPr>
          <p:cNvPr id="47" name="Text 45"/>
          <p:cNvSpPr txBox="1"/>
          <p:nvPr/>
        </p:nvSpPr>
        <p:spPr>
          <a:xfrm>
            <a:off x="58871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8" name="Text 46"/>
          <p:cNvSpPr txBox="1"/>
          <p:nvPr/>
        </p:nvSpPr>
        <p:spPr>
          <a:xfrm>
            <a:off x="6820346" y="10253663"/>
            <a:ext cx="2799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04</a:t>
            </a:r>
            <a:endParaRPr lang="en-US" sz="8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11981" y="4679305"/>
            <a:ext cx="77747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1</a:t>
            </a:r>
            <a:endParaRPr lang="en-US" sz="960" dirty="0"/>
          </a:p>
        </p:txBody>
      </p:sp>
      <p:sp>
        <p:nvSpPr>
          <p:cNvPr id="3" name="Text 1"/>
          <p:cNvSpPr txBox="1"/>
          <p:nvPr/>
        </p:nvSpPr>
        <p:spPr>
          <a:xfrm>
            <a:off x="611981" y="4892825"/>
            <a:ext cx="249227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ABÓBORA CABOTIÁ</a:t>
            </a:r>
            <a:endParaRPr lang="en-US" sz="2420" dirty="0"/>
          </a:p>
        </p:txBody>
      </p:sp>
      <p:sp>
        <p:nvSpPr>
          <p:cNvPr id="4" name="Text 2"/>
          <p:cNvSpPr txBox="1"/>
          <p:nvPr/>
        </p:nvSpPr>
        <p:spPr>
          <a:xfrm>
            <a:off x="611981" y="5376383"/>
            <a:ext cx="20691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OU ABÓBORA JAPONESA</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11981" y="575965"/>
            <a:ext cx="0" cy="502741"/>
          </a:xfrm>
          <a:prstGeom prst="line">
            <a:avLst/>
          </a:prstGeom>
          <a:noFill/>
          <a:ln w="38100">
            <a:solidFill>
              <a:srgbClr val="FFC926"/>
            </a:solidFill>
            <a:prstDash val="solid"/>
          </a:ln>
        </p:spPr>
      </p:sp>
      <p:sp>
        <p:nvSpPr>
          <p:cNvPr id="3" name="Text 1"/>
          <p:cNvSpPr txBox="1"/>
          <p:nvPr/>
        </p:nvSpPr>
        <p:spPr>
          <a:xfrm>
            <a:off x="745331" y="575965"/>
            <a:ext cx="6202561" cy="518071"/>
          </a:xfrm>
          <a:prstGeom prst="rect">
            <a:avLst/>
          </a:prstGeom>
          <a:noFill/>
          <a:ln/>
        </p:spPr>
        <p:txBody>
          <a:bodyPr wrap="square" lIns="0" tIns="0" rIns="0" bIns="0" rtlCol="0" anchor="t"/>
          <a:lstStyle/>
          <a:p>
            <a:pPr algn="l" indent="0" marL="0">
              <a:lnSpc>
                <a:spcPts val="1980"/>
              </a:lnSpc>
              <a:buNone/>
            </a:pPr>
            <a:r>
              <a:rPr lang="en-US" sz="1650" b="1" dirty="0">
                <a:solidFill>
                  <a:srgbClr val="18542A"/>
                </a:solidFill>
                <a:latin typeface="Barlow Condensed" pitchFamily="34" charset="0"/>
                <a:ea typeface="Barlow Condensed" pitchFamily="34" charset="-122"/>
                <a:cs typeface="Barlow Condensed" pitchFamily="34" charset="-120"/>
              </a:rPr>
              <a:t>VERSÁTIL, BARATA E SÍMBOLO DE COMIDA AFETIVA. E 100% APROVEITÁVEL, DA CASCA À SEMENTE: EXATAMENTE O QUE PEDE O CONSUMO CONSCIENTE.</a:t>
            </a:r>
            <a:endParaRPr lang="en-US" sz="1650" dirty="0"/>
          </a:p>
        </p:txBody>
      </p:sp>
      <p:sp>
        <p:nvSpPr>
          <p:cNvPr id="4" name="Text 2"/>
          <p:cNvSpPr txBox="1"/>
          <p:nvPr/>
        </p:nvSpPr>
        <p:spPr>
          <a:xfrm>
            <a:off x="611981" y="1342546"/>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5" name="Text 3"/>
          <p:cNvSpPr txBox="1"/>
          <p:nvPr/>
        </p:nvSpPr>
        <p:spPr>
          <a:xfrm>
            <a:off x="611981" y="1689166"/>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6" name="Text 4"/>
          <p:cNvSpPr txBox="1"/>
          <p:nvPr/>
        </p:nvSpPr>
        <p:spPr>
          <a:xfrm>
            <a:off x="1031081" y="1701552"/>
            <a:ext cx="143196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CLÁSSICO AFETIVO</a:t>
            </a:r>
            <a:endParaRPr lang="en-US" sz="1320" dirty="0"/>
          </a:p>
        </p:txBody>
      </p:sp>
      <p:sp>
        <p:nvSpPr>
          <p:cNvPr id="7" name="Text 5"/>
          <p:cNvSpPr txBox="1"/>
          <p:nvPr/>
        </p:nvSpPr>
        <p:spPr>
          <a:xfrm>
            <a:off x="1031081" y="2011837"/>
            <a:ext cx="44705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Nhoque de abóbora tostado na manteiga de garrafa e sálvia</a:t>
            </a:r>
            <a:endParaRPr lang="en-US" sz="1100" dirty="0"/>
          </a:p>
        </p:txBody>
      </p:sp>
      <p:sp>
        <p:nvSpPr>
          <p:cNvPr id="8" name="Text 6"/>
          <p:cNvSpPr txBox="1"/>
          <p:nvPr/>
        </p:nvSpPr>
        <p:spPr>
          <a:xfrm>
            <a:off x="611981" y="2328383"/>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9" name="Text 7"/>
          <p:cNvSpPr txBox="1"/>
          <p:nvPr/>
        </p:nvSpPr>
        <p:spPr>
          <a:xfrm>
            <a:off x="1031081" y="2340769"/>
            <a:ext cx="87853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INUSITADO</a:t>
            </a:r>
            <a:endParaRPr lang="en-US" sz="1320" dirty="0"/>
          </a:p>
        </p:txBody>
      </p:sp>
      <p:sp>
        <p:nvSpPr>
          <p:cNvPr id="10" name="Text 8"/>
          <p:cNvSpPr txBox="1"/>
          <p:nvPr/>
        </p:nvSpPr>
        <p:spPr>
          <a:xfrm>
            <a:off x="1031081" y="2651053"/>
            <a:ext cx="63511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Hambúrguer ou bolinho cremoso assado de abóbora com especiarias e queijo coalho</a:t>
            </a:r>
            <a:endParaRPr lang="en-US" sz="1100" dirty="0"/>
          </a:p>
        </p:txBody>
      </p:sp>
      <p:sp>
        <p:nvSpPr>
          <p:cNvPr id="11" name="Text 9"/>
          <p:cNvSpPr txBox="1"/>
          <p:nvPr/>
        </p:nvSpPr>
        <p:spPr>
          <a:xfrm>
            <a:off x="611981" y="2967600"/>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2" name="Text 10"/>
          <p:cNvSpPr txBox="1"/>
          <p:nvPr/>
        </p:nvSpPr>
        <p:spPr>
          <a:xfrm>
            <a:off x="1031081" y="2979986"/>
            <a:ext cx="91231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LADO DOCE</a:t>
            </a:r>
            <a:endParaRPr lang="en-US" sz="1320" dirty="0"/>
          </a:p>
        </p:txBody>
      </p:sp>
      <p:sp>
        <p:nvSpPr>
          <p:cNvPr id="13" name="Text 11"/>
          <p:cNvSpPr txBox="1"/>
          <p:nvPr/>
        </p:nvSpPr>
        <p:spPr>
          <a:xfrm>
            <a:off x="1031081" y="3290270"/>
            <a:ext cx="58573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Crepúsculo: doce de abóbora cremoso de colher com coco e raspas de laranja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11981" y="575965"/>
            <a:ext cx="0" cy="502741"/>
          </a:xfrm>
          <a:prstGeom prst="line">
            <a:avLst/>
          </a:prstGeom>
          <a:noFill/>
          <a:ln w="38100">
            <a:solidFill>
              <a:srgbClr val="FFC926"/>
            </a:solidFill>
            <a:prstDash val="solid"/>
          </a:ln>
        </p:spPr>
      </p:sp>
      <p:sp>
        <p:nvSpPr>
          <p:cNvPr id="3" name="Text 1"/>
          <p:cNvSpPr txBox="1"/>
          <p:nvPr/>
        </p:nvSpPr>
        <p:spPr>
          <a:xfrm>
            <a:off x="745331" y="575965"/>
            <a:ext cx="6202561" cy="518071"/>
          </a:xfrm>
          <a:prstGeom prst="rect">
            <a:avLst/>
          </a:prstGeom>
          <a:noFill/>
          <a:ln/>
        </p:spPr>
        <p:txBody>
          <a:bodyPr wrap="square" lIns="0" tIns="0" rIns="0" bIns="0" rtlCol="0" anchor="t"/>
          <a:lstStyle/>
          <a:p>
            <a:pPr algn="l" indent="0" marL="0">
              <a:lnSpc>
                <a:spcPts val="1980"/>
              </a:lnSpc>
              <a:buNone/>
            </a:pPr>
            <a:r>
              <a:rPr lang="en-US" sz="1650" b="1" dirty="0">
                <a:solidFill>
                  <a:srgbClr val="18542A"/>
                </a:solidFill>
                <a:latin typeface="Barlow Condensed" pitchFamily="34" charset="0"/>
                <a:ea typeface="Barlow Condensed" pitchFamily="34" charset="-122"/>
                <a:cs typeface="Barlow Condensed" pitchFamily="34" charset="-120"/>
              </a:rPr>
              <a:t>VERSÁTIL, BARATA E SÍMBOLO DE COMIDA AFETIVA. E 100% APROVEITÁVEL, DA CASCA À SEMENTE: EXATAMENTE O QUE PEDE O CONSUMO CONSCIENTE.</a:t>
            </a:r>
            <a:endParaRPr lang="en-US" sz="1650" dirty="0"/>
          </a:p>
        </p:txBody>
      </p:sp>
      <p:sp>
        <p:nvSpPr>
          <p:cNvPr id="4" name="Text 2"/>
          <p:cNvSpPr txBox="1"/>
          <p:nvPr/>
        </p:nvSpPr>
        <p:spPr>
          <a:xfrm>
            <a:off x="611981" y="1342546"/>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5" name="Text 3"/>
          <p:cNvSpPr txBox="1"/>
          <p:nvPr/>
        </p:nvSpPr>
        <p:spPr>
          <a:xfrm>
            <a:off x="611981" y="1689166"/>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6" name="Text 4"/>
          <p:cNvSpPr txBox="1"/>
          <p:nvPr/>
        </p:nvSpPr>
        <p:spPr>
          <a:xfrm>
            <a:off x="1031081" y="1701552"/>
            <a:ext cx="143196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CLÁSSICO AFETIVO</a:t>
            </a:r>
            <a:endParaRPr lang="en-US" sz="1320" dirty="0"/>
          </a:p>
        </p:txBody>
      </p:sp>
      <p:sp>
        <p:nvSpPr>
          <p:cNvPr id="7" name="Text 5"/>
          <p:cNvSpPr txBox="1"/>
          <p:nvPr/>
        </p:nvSpPr>
        <p:spPr>
          <a:xfrm>
            <a:off x="1031081" y="2011837"/>
            <a:ext cx="44705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Nhoque de abóbora tostado na manteiga de garrafa e sálvia</a:t>
            </a:r>
            <a:endParaRPr lang="en-US" sz="1100" dirty="0"/>
          </a:p>
        </p:txBody>
      </p:sp>
      <p:sp>
        <p:nvSpPr>
          <p:cNvPr id="8" name="Text 6"/>
          <p:cNvSpPr txBox="1"/>
          <p:nvPr/>
        </p:nvSpPr>
        <p:spPr>
          <a:xfrm>
            <a:off x="611981" y="2328383"/>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9" name="Text 7"/>
          <p:cNvSpPr txBox="1"/>
          <p:nvPr/>
        </p:nvSpPr>
        <p:spPr>
          <a:xfrm>
            <a:off x="1031081" y="2340769"/>
            <a:ext cx="87853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INUSITADO</a:t>
            </a:r>
            <a:endParaRPr lang="en-US" sz="1320" dirty="0"/>
          </a:p>
        </p:txBody>
      </p:sp>
      <p:sp>
        <p:nvSpPr>
          <p:cNvPr id="10" name="Text 8"/>
          <p:cNvSpPr txBox="1"/>
          <p:nvPr/>
        </p:nvSpPr>
        <p:spPr>
          <a:xfrm>
            <a:off x="1031081" y="2651053"/>
            <a:ext cx="63511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Hambúrguer ou bolinho cremoso assado de abóbora com especiarias e queijo coalho</a:t>
            </a:r>
            <a:endParaRPr lang="en-US" sz="1100" dirty="0"/>
          </a:p>
        </p:txBody>
      </p:sp>
      <p:sp>
        <p:nvSpPr>
          <p:cNvPr id="11" name="Text 9"/>
          <p:cNvSpPr txBox="1"/>
          <p:nvPr/>
        </p:nvSpPr>
        <p:spPr>
          <a:xfrm>
            <a:off x="611981" y="2967600"/>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2" name="Text 10"/>
          <p:cNvSpPr txBox="1"/>
          <p:nvPr/>
        </p:nvSpPr>
        <p:spPr>
          <a:xfrm>
            <a:off x="1031081" y="2979986"/>
            <a:ext cx="91231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LADO DOCE</a:t>
            </a:r>
            <a:endParaRPr lang="en-US" sz="1320" dirty="0"/>
          </a:p>
        </p:txBody>
      </p:sp>
      <p:sp>
        <p:nvSpPr>
          <p:cNvPr id="13" name="Text 11"/>
          <p:cNvSpPr txBox="1"/>
          <p:nvPr/>
        </p:nvSpPr>
        <p:spPr>
          <a:xfrm>
            <a:off x="1031081" y="3290270"/>
            <a:ext cx="58573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 Day Without Sun Text" pitchFamily="34" charset="0"/>
                <a:ea typeface="A Day Without Sun Text" pitchFamily="34" charset="-122"/>
                <a:cs typeface="A Day Without Sun Text" pitchFamily="34" charset="-120"/>
              </a:rPr>
              <a:t>Crepúsculo: doce de abóbora cremoso de colher com coco e raspas de laranja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11981" y="566440"/>
            <a:ext cx="158109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01 · ABÓBORA</a:t>
            </a:r>
            <a:endParaRPr lang="en-US" sz="960" dirty="0"/>
          </a:p>
        </p:txBody>
      </p:sp>
      <p:sp>
        <p:nvSpPr>
          <p:cNvPr id="3" name="Text 1"/>
          <p:cNvSpPr txBox="1"/>
          <p:nvPr/>
        </p:nvSpPr>
        <p:spPr>
          <a:xfrm>
            <a:off x="611981" y="779960"/>
            <a:ext cx="200346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INGREDIENTE</a:t>
            </a:r>
            <a:endParaRPr lang="en-US" sz="2420" dirty="0"/>
          </a:p>
        </p:txBody>
      </p:sp>
      <p:sp>
        <p:nvSpPr>
          <p:cNvPr id="4" name="Text 2"/>
          <p:cNvSpPr txBox="1"/>
          <p:nvPr/>
        </p:nvSpPr>
        <p:spPr>
          <a:xfrm>
            <a:off x="611981" y="14092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cabotiá é a abóbora mais generosa da feira. Tem polpa densa, pouca água e doçura natural, e é justamente isso que permite levá-la do nhoque ao doce de colher sem perder identidade.</a:t>
            </a:r>
            <a:endParaRPr lang="en-US" sz="1100" dirty="0"/>
          </a:p>
        </p:txBody>
      </p:sp>
      <p:sp>
        <p:nvSpPr>
          <p:cNvPr id="5" name="Text 3"/>
          <p:cNvSpPr txBox="1"/>
          <p:nvPr/>
        </p:nvSpPr>
        <p:spPr>
          <a:xfrm>
            <a:off x="611981" y="194265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erro mais comum é tratá-la sempre do mesmo jeito: cozida na água, no refogado, como acompanhamento. Quando você assa a cabotiá, a água evapora, os açúcares caramelizam e o sabor se concentra. É outra abóbora.</a:t>
            </a:r>
            <a:endParaRPr lang="en-US" sz="1100" dirty="0"/>
          </a:p>
        </p:txBody>
      </p:sp>
      <p:sp>
        <p:nvSpPr>
          <p:cNvPr id="6" name="Text 4"/>
          <p:cNvSpPr txBox="1"/>
          <p:nvPr/>
        </p:nvSpPr>
        <p:spPr>
          <a:xfrm>
            <a:off x="611981" y="268560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 tem mais: a casca é comestível e as sementes viram petisco. Da cabotiá, quase nada vai para o lixo.</a:t>
            </a:r>
            <a:endParaRPr lang="en-US" sz="1100" dirty="0"/>
          </a:p>
        </p:txBody>
      </p:sp>
      <p:sp>
        <p:nvSpPr>
          <p:cNvPr id="7" name="Text 5"/>
          <p:cNvSpPr txBox="1"/>
          <p:nvPr/>
        </p:nvSpPr>
        <p:spPr>
          <a:xfrm>
            <a:off x="611981" y="3339968"/>
            <a:ext cx="158752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ANTES DA PANELA</a:t>
            </a:r>
            <a:endParaRPr lang="en-US" sz="1650" dirty="0"/>
          </a:p>
        </p:txBody>
      </p:sp>
      <p:sp>
        <p:nvSpPr>
          <p:cNvPr id="8" name="Text 6"/>
          <p:cNvSpPr txBox="1"/>
          <p:nvPr/>
        </p:nvSpPr>
        <p:spPr>
          <a:xfrm>
            <a:off x="611981" y="3698974"/>
            <a:ext cx="159109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NA HORA DE ESCOLHER</a:t>
            </a:r>
            <a:endParaRPr lang="en-US" sz="1320" dirty="0"/>
          </a:p>
        </p:txBody>
      </p:sp>
      <p:sp>
        <p:nvSpPr>
          <p:cNvPr id="9" name="Shape 7"/>
          <p:cNvSpPr/>
          <p:nvPr/>
        </p:nvSpPr>
        <p:spPr>
          <a:xfrm>
            <a:off x="631031" y="4072382"/>
            <a:ext cx="66675" cy="66675"/>
          </a:xfrm>
          <a:prstGeom prst="ellipse">
            <a:avLst/>
          </a:prstGeom>
          <a:solidFill>
            <a:srgbClr val="F96015"/>
          </a:solidFill>
          <a:ln/>
        </p:spPr>
      </p:sp>
      <p:sp>
        <p:nvSpPr>
          <p:cNvPr id="10" name="Text 8"/>
          <p:cNvSpPr txBox="1"/>
          <p:nvPr/>
        </p:nvSpPr>
        <p:spPr>
          <a:xfrm>
            <a:off x="783431" y="4009259"/>
            <a:ext cx="719929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Pegue na mão: ela deve parecer pesada para o tamanho. Isso indica polpa densa e pouca água.</a:t>
            </a:r>
            <a:endParaRPr lang="en-US" sz="1100" dirty="0"/>
          </a:p>
        </p:txBody>
      </p:sp>
      <p:sp>
        <p:nvSpPr>
          <p:cNvPr id="11" name="Shape 9"/>
          <p:cNvSpPr/>
          <p:nvPr/>
        </p:nvSpPr>
        <p:spPr>
          <a:xfrm>
            <a:off x="631031" y="4339082"/>
            <a:ext cx="66675" cy="66675"/>
          </a:xfrm>
          <a:prstGeom prst="ellipse">
            <a:avLst/>
          </a:prstGeom>
          <a:solidFill>
            <a:srgbClr val="F96015"/>
          </a:solidFill>
          <a:ln/>
        </p:spPr>
      </p:sp>
      <p:sp>
        <p:nvSpPr>
          <p:cNvPr id="12" name="Text 10"/>
          <p:cNvSpPr txBox="1"/>
          <p:nvPr/>
        </p:nvSpPr>
        <p:spPr>
          <a:xfrm>
            <a:off x="783431" y="4275959"/>
            <a:ext cx="48322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Casca firme, sem partes moles, rachaduras ou manchas úmidas.</a:t>
            </a:r>
            <a:endParaRPr lang="en-US" sz="1100" dirty="0"/>
          </a:p>
        </p:txBody>
      </p:sp>
      <p:sp>
        <p:nvSpPr>
          <p:cNvPr id="13" name="Shape 11"/>
          <p:cNvSpPr/>
          <p:nvPr/>
        </p:nvSpPr>
        <p:spPr>
          <a:xfrm>
            <a:off x="631031" y="4605782"/>
            <a:ext cx="66675" cy="66675"/>
          </a:xfrm>
          <a:prstGeom prst="ellipse">
            <a:avLst/>
          </a:prstGeom>
          <a:solidFill>
            <a:srgbClr val="F96015"/>
          </a:solidFill>
          <a:ln/>
        </p:spPr>
      </p:sp>
      <p:sp>
        <p:nvSpPr>
          <p:cNvPr id="14" name="Text 12"/>
          <p:cNvSpPr txBox="1"/>
          <p:nvPr/>
        </p:nvSpPr>
        <p:spPr>
          <a:xfrm>
            <a:off x="783431" y="4542659"/>
            <a:ext cx="610879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Cabinho seco e bem preso. Se estiver verde e úmido, ela foi colhida cedo demais.</a:t>
            </a:r>
            <a:endParaRPr lang="en-US" sz="1100" dirty="0"/>
          </a:p>
        </p:txBody>
      </p:sp>
      <p:sp>
        <p:nvSpPr>
          <p:cNvPr id="15" name="Shape 13"/>
          <p:cNvSpPr/>
          <p:nvPr/>
        </p:nvSpPr>
        <p:spPr>
          <a:xfrm>
            <a:off x="631031" y="4872482"/>
            <a:ext cx="66675" cy="66675"/>
          </a:xfrm>
          <a:prstGeom prst="ellipse">
            <a:avLst/>
          </a:prstGeom>
          <a:solidFill>
            <a:srgbClr val="F96015"/>
          </a:solidFill>
          <a:ln/>
        </p:spPr>
      </p:sp>
      <p:sp>
        <p:nvSpPr>
          <p:cNvPr id="16" name="Text 14"/>
          <p:cNvSpPr txBox="1"/>
          <p:nvPr/>
        </p:nvSpPr>
        <p:spPr>
          <a:xfrm>
            <a:off x="783431" y="4809359"/>
            <a:ext cx="60807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Comprando em pedaço: procure polpa laranja intensa e sementes bem formadas.</a:t>
            </a:r>
            <a:endParaRPr lang="en-US" sz="1100" dirty="0"/>
          </a:p>
        </p:txBody>
      </p:sp>
      <p:sp>
        <p:nvSpPr>
          <p:cNvPr id="17" name="Text 15"/>
          <p:cNvSpPr txBox="1"/>
          <p:nvPr/>
        </p:nvSpPr>
        <p:spPr>
          <a:xfrm>
            <a:off x="611981" y="5176391"/>
            <a:ext cx="107477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COMO GUARDAR</a:t>
            </a:r>
            <a:endParaRPr lang="en-US" sz="1320" dirty="0"/>
          </a:p>
        </p:txBody>
      </p:sp>
      <p:sp>
        <p:nvSpPr>
          <p:cNvPr id="18" name="Shape 16"/>
          <p:cNvSpPr/>
          <p:nvPr/>
        </p:nvSpPr>
        <p:spPr>
          <a:xfrm>
            <a:off x="631031" y="5549799"/>
            <a:ext cx="66675" cy="66675"/>
          </a:xfrm>
          <a:prstGeom prst="ellipse">
            <a:avLst/>
          </a:prstGeom>
          <a:solidFill>
            <a:srgbClr val="F96015"/>
          </a:solidFill>
          <a:ln/>
        </p:spPr>
      </p:sp>
      <p:sp>
        <p:nvSpPr>
          <p:cNvPr id="19" name="Text 17"/>
          <p:cNvSpPr txBox="1"/>
          <p:nvPr/>
        </p:nvSpPr>
        <p:spPr>
          <a:xfrm>
            <a:off x="783431" y="5486676"/>
            <a:ext cx="584787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Inteira: em local fresco, seco e arejado, fora da geladeira, por até 1 a 2 meses.</a:t>
            </a:r>
            <a:endParaRPr lang="en-US" sz="1100" dirty="0"/>
          </a:p>
        </p:txBody>
      </p:sp>
      <p:sp>
        <p:nvSpPr>
          <p:cNvPr id="20" name="Shape 18"/>
          <p:cNvSpPr/>
          <p:nvPr/>
        </p:nvSpPr>
        <p:spPr>
          <a:xfrm>
            <a:off x="631031" y="5816499"/>
            <a:ext cx="66675" cy="66675"/>
          </a:xfrm>
          <a:prstGeom prst="ellipse">
            <a:avLst/>
          </a:prstGeom>
          <a:solidFill>
            <a:srgbClr val="F96015"/>
          </a:solidFill>
          <a:ln/>
        </p:spPr>
      </p:sp>
      <p:sp>
        <p:nvSpPr>
          <p:cNvPr id="21" name="Text 19"/>
          <p:cNvSpPr txBox="1"/>
          <p:nvPr/>
        </p:nvSpPr>
        <p:spPr>
          <a:xfrm>
            <a:off x="783431" y="5753376"/>
            <a:ext cx="62018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Cortada: retire as sementes, envolva em filme e guarde na geladeira por até 5 dias.</a:t>
            </a:r>
            <a:endParaRPr lang="en-US" sz="1100" dirty="0"/>
          </a:p>
        </p:txBody>
      </p:sp>
      <p:sp>
        <p:nvSpPr>
          <p:cNvPr id="22" name="Shape 20"/>
          <p:cNvSpPr/>
          <p:nvPr/>
        </p:nvSpPr>
        <p:spPr>
          <a:xfrm>
            <a:off x="631031" y="6083199"/>
            <a:ext cx="66675" cy="66675"/>
          </a:xfrm>
          <a:prstGeom prst="ellipse">
            <a:avLst/>
          </a:prstGeom>
          <a:solidFill>
            <a:srgbClr val="F96015"/>
          </a:solidFill>
          <a:ln/>
        </p:spPr>
      </p:sp>
      <p:sp>
        <p:nvSpPr>
          <p:cNvPr id="23" name="Text 21"/>
          <p:cNvSpPr txBox="1"/>
          <p:nvPr/>
        </p:nvSpPr>
        <p:spPr>
          <a:xfrm>
            <a:off x="783431" y="6020076"/>
            <a:ext cx="438590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Assada ou cozida: em porções no freezer por até 3 meses.</a:t>
            </a:r>
            <a:endParaRPr lang="en-US" sz="1100" dirty="0"/>
          </a:p>
        </p:txBody>
      </p:sp>
      <p:sp>
        <p:nvSpPr>
          <p:cNvPr id="24" name="Text 22"/>
          <p:cNvSpPr txBox="1"/>
          <p:nvPr/>
        </p:nvSpPr>
        <p:spPr>
          <a:xfrm>
            <a:off x="611981" y="6387108"/>
            <a:ext cx="16857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PRÉ-PREPARO E CORTES</a:t>
            </a:r>
            <a:endParaRPr lang="en-US" sz="1320" dirty="0"/>
          </a:p>
        </p:txBody>
      </p:sp>
      <p:sp>
        <p:nvSpPr>
          <p:cNvPr id="25" name="Shape 23"/>
          <p:cNvSpPr/>
          <p:nvPr/>
        </p:nvSpPr>
        <p:spPr>
          <a:xfrm>
            <a:off x="631031" y="6760516"/>
            <a:ext cx="66675" cy="66675"/>
          </a:xfrm>
          <a:prstGeom prst="ellipse">
            <a:avLst/>
          </a:prstGeom>
          <a:solidFill>
            <a:srgbClr val="F96015"/>
          </a:solidFill>
          <a:ln/>
        </p:spPr>
      </p:sp>
      <p:sp>
        <p:nvSpPr>
          <p:cNvPr id="26" name="Text 24"/>
          <p:cNvSpPr txBox="1"/>
          <p:nvPr/>
        </p:nvSpPr>
        <p:spPr>
          <a:xfrm>
            <a:off x="783431" y="6697393"/>
            <a:ext cx="563391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Estabilize primeiro: corte uma fatia fina da base para ela não rolar na tábua.</a:t>
            </a:r>
            <a:endParaRPr lang="en-US" sz="1100" dirty="0"/>
          </a:p>
        </p:txBody>
      </p:sp>
      <p:sp>
        <p:nvSpPr>
          <p:cNvPr id="27" name="Shape 25"/>
          <p:cNvSpPr/>
          <p:nvPr/>
        </p:nvSpPr>
        <p:spPr>
          <a:xfrm>
            <a:off x="631031" y="7027216"/>
            <a:ext cx="66675" cy="66675"/>
          </a:xfrm>
          <a:prstGeom prst="ellipse">
            <a:avLst/>
          </a:prstGeom>
          <a:solidFill>
            <a:srgbClr val="F96015"/>
          </a:solidFill>
          <a:ln/>
        </p:spPr>
      </p:sp>
      <p:sp>
        <p:nvSpPr>
          <p:cNvPr id="28" name="Text 26"/>
          <p:cNvSpPr txBox="1"/>
          <p:nvPr/>
        </p:nvSpPr>
        <p:spPr>
          <a:xfrm>
            <a:off x="783431" y="696917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Use a faca mais pesada que você tiver e corte ao meio, de cima para baixo. Retire as sementes com uma colher.</a:t>
            </a:r>
            <a:endParaRPr lang="en-US" sz="1100" dirty="0"/>
          </a:p>
        </p:txBody>
      </p:sp>
      <p:sp>
        <p:nvSpPr>
          <p:cNvPr id="29" name="Shape 27"/>
          <p:cNvSpPr/>
          <p:nvPr/>
        </p:nvSpPr>
        <p:spPr>
          <a:xfrm>
            <a:off x="631031" y="7503466"/>
            <a:ext cx="66675" cy="66675"/>
          </a:xfrm>
          <a:prstGeom prst="ellipse">
            <a:avLst/>
          </a:prstGeom>
          <a:solidFill>
            <a:srgbClr val="F96015"/>
          </a:solidFill>
          <a:ln/>
        </p:spPr>
      </p:sp>
      <p:sp>
        <p:nvSpPr>
          <p:cNvPr id="30" name="Text 28"/>
          <p:cNvSpPr txBox="1"/>
          <p:nvPr/>
        </p:nvSpPr>
        <p:spPr>
          <a:xfrm>
            <a:off x="783431" y="744542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Gomos com casca para assar; cubos de 2 cm para refogar e cozinhar; ralada para bolinhos e massas.</a:t>
            </a:r>
            <a:endParaRPr lang="en-US" sz="1100" dirty="0"/>
          </a:p>
        </p:txBody>
      </p:sp>
      <p:sp>
        <p:nvSpPr>
          <p:cNvPr id="31" name="Shape 29"/>
          <p:cNvSpPr/>
          <p:nvPr/>
        </p:nvSpPr>
        <p:spPr>
          <a:xfrm>
            <a:off x="631031" y="7979716"/>
            <a:ext cx="66675" cy="66675"/>
          </a:xfrm>
          <a:prstGeom prst="ellipse">
            <a:avLst/>
          </a:prstGeom>
          <a:solidFill>
            <a:srgbClr val="F96015"/>
          </a:solidFill>
          <a:ln/>
        </p:spPr>
      </p:sp>
      <p:sp>
        <p:nvSpPr>
          <p:cNvPr id="32" name="Text 30"/>
          <p:cNvSpPr txBox="1"/>
          <p:nvPr/>
        </p:nvSpPr>
        <p:spPr>
          <a:xfrm>
            <a:off x="783431" y="7916593"/>
            <a:ext cx="716125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Para descascar, apoie o gomo deitado na tábua e corte a casca com a faca, de cima para baixo.</a:t>
            </a:r>
            <a:endParaRPr lang="en-US" sz="1100" dirty="0"/>
          </a:p>
        </p:txBody>
      </p:sp>
      <p:sp>
        <p:nvSpPr>
          <p:cNvPr id="33" name="Text 31"/>
          <p:cNvSpPr txBox="1"/>
          <p:nvPr/>
        </p:nvSpPr>
        <p:spPr>
          <a:xfrm>
            <a:off x="589180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4" name="Text 32"/>
          <p:cNvSpPr txBox="1"/>
          <p:nvPr/>
        </p:nvSpPr>
        <p:spPr>
          <a:xfrm>
            <a:off x="6824960" y="10253663"/>
            <a:ext cx="275332"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06</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11981" y="4347270"/>
            <a:ext cx="132963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EBOOK DE RECEITAS</a:t>
            </a:r>
            <a:endParaRPr lang="en-US" sz="960" dirty="0"/>
          </a:p>
        </p:txBody>
      </p:sp>
      <p:sp>
        <p:nvSpPr>
          <p:cNvPr id="3" name="Text 1"/>
          <p:cNvSpPr txBox="1"/>
          <p:nvPr/>
        </p:nvSpPr>
        <p:spPr>
          <a:xfrm>
            <a:off x="611981" y="4571020"/>
            <a:ext cx="6335911" cy="1749685"/>
          </a:xfrm>
          <a:prstGeom prst="rect">
            <a:avLst/>
          </a:prstGeom>
          <a:noFill/>
          <a:ln/>
        </p:spPr>
        <p:txBody>
          <a:bodyPr wrap="square" lIns="0" tIns="0" rIns="0" bIns="0" rtlCol="0" anchor="t"/>
          <a:lstStyle/>
          <a:p>
            <a:pPr algn="l" indent="0" marL="0">
              <a:lnSpc>
                <a:spcPts val="5450"/>
              </a:lnSpc>
              <a:buNone/>
            </a:pPr>
            <a:r>
              <a:rPr lang="en-US" sz="6050" dirty="0">
                <a:solidFill>
                  <a:srgbClr val="D52518"/>
                </a:solidFill>
                <a:latin typeface="Barlow Condensed ExtraBold" pitchFamily="34" charset="0"/>
                <a:ea typeface="Barlow Condensed ExtraBold" pitchFamily="34" charset="-122"/>
                <a:cs typeface="Barlow Condensed ExtraBold" pitchFamily="34" charset="-120"/>
              </a:rPr>
              <a:t>COZINHA</a:t>
            </a:r>
            <a:pPr algn="l" indent="0" marL="0">
              <a:lnSpc>
                <a:spcPts val="5450"/>
              </a:lnSpc>
              <a:buNone/>
            </a:pPr>
            <a:endParaRPr lang="en-US" sz="6050" dirty="0"/>
          </a:p>
          <a:p>
            <a:pPr algn="l" indent="0" marL="0">
              <a:lnSpc>
                <a:spcPts val="5450"/>
              </a:lnSpc>
              <a:buNone/>
            </a:pPr>
            <a:r>
              <a:rPr lang="en-US" sz="6050" dirty="0">
                <a:solidFill>
                  <a:srgbClr val="D52518"/>
                </a:solidFill>
                <a:latin typeface="Barlow Condensed ExtraBold" pitchFamily="34" charset="0"/>
                <a:ea typeface="Barlow Condensed ExtraBold" pitchFamily="34" charset="-122"/>
                <a:cs typeface="Barlow Condensed ExtraBold" pitchFamily="34" charset="-120"/>
              </a:rPr>
              <a:t>MAMEDE</a:t>
            </a:r>
            <a:endParaRPr lang="en-US" sz="6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11981" y="566440"/>
            <a:ext cx="26499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01</a:t>
            </a:r>
            <a:endParaRPr lang="en-US" sz="960" dirty="0"/>
          </a:p>
        </p:txBody>
      </p:sp>
      <p:sp>
        <p:nvSpPr>
          <p:cNvPr id="3" name="Text 1"/>
          <p:cNvSpPr txBox="1"/>
          <p:nvPr/>
        </p:nvSpPr>
        <p:spPr>
          <a:xfrm>
            <a:off x="611981" y="779960"/>
            <a:ext cx="2801600"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NHOQUE DE ABÓBORA</a:t>
            </a:r>
            <a:endParaRPr lang="en-US" sz="2420" dirty="0"/>
          </a:p>
        </p:txBody>
      </p:sp>
      <p:sp>
        <p:nvSpPr>
          <p:cNvPr id="4" name="Text 2"/>
          <p:cNvSpPr txBox="1"/>
          <p:nvPr/>
        </p:nvSpPr>
        <p:spPr>
          <a:xfrm>
            <a:off x="611981" y="1404171"/>
            <a:ext cx="44705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Nhoque de abóbora tostado na manteiga de garrafa e sálvia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47030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800 g de abóbora cabotiá com casca (cerca de 600 g de polpa)</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6180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gema</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217938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parmesão ralado fino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462825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180 a 220 g de farinha de trigo (mais um pouco para polvilhar)</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56103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noz-moscada ralada na hora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307306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colheres (sopa) de manteiga de garrafa</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8904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 folhas de sálvia fresca</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8123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Pimenta-do-reino e parmesão a gosto</a:t>
            </a:r>
            <a:endParaRPr lang="en-US" sz="1100" dirty="0"/>
          </a:p>
        </p:txBody>
      </p:sp>
      <p:sp>
        <p:nvSpPr>
          <p:cNvPr id="22" name="Text 20"/>
          <p:cNvSpPr txBox="1"/>
          <p:nvPr/>
        </p:nvSpPr>
        <p:spPr>
          <a:xfrm>
            <a:off x="611981" y="44091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11981" y="566440"/>
            <a:ext cx="2043291"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01 · ABÓBORA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NHOQUE DE ABÓBORA TOSTADO NA MANTEIGA DE GARRAFA E SÁLVIA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CLÁSSICO AFETIVO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(conforto refinado)</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35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7655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Text 12"/>
          <p:cNvSpPr txBox="1"/>
          <p:nvPr/>
        </p:nvSpPr>
        <p:spPr>
          <a:xfrm>
            <a:off x="611981" y="3078063"/>
            <a:ext cx="53712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MASSA</a:t>
            </a:r>
            <a:endParaRPr lang="en-US" sz="1320" dirty="0"/>
          </a:p>
        </p:txBody>
      </p:sp>
      <p:sp>
        <p:nvSpPr>
          <p:cNvPr id="15" name="Shape 13"/>
          <p:cNvSpPr/>
          <p:nvPr/>
        </p:nvSpPr>
        <p:spPr>
          <a:xfrm>
            <a:off x="631031" y="3451471"/>
            <a:ext cx="66675" cy="66675"/>
          </a:xfrm>
          <a:prstGeom prst="ellipse">
            <a:avLst/>
          </a:prstGeom>
          <a:solidFill>
            <a:srgbClr val="F96015"/>
          </a:solidFill>
          <a:ln/>
        </p:spPr>
      </p:sp>
      <p:sp>
        <p:nvSpPr>
          <p:cNvPr id="16" name="Text 14"/>
          <p:cNvSpPr txBox="1"/>
          <p:nvPr/>
        </p:nvSpPr>
        <p:spPr>
          <a:xfrm>
            <a:off x="783431" y="3393430"/>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800 g de abóbora cabotiá com casca (cerca de 600 g de polpa)</a:t>
            </a:r>
            <a:endParaRPr lang="en-US" sz="1100" dirty="0"/>
          </a:p>
        </p:txBody>
      </p:sp>
      <p:sp>
        <p:nvSpPr>
          <p:cNvPr id="17" name="Shape 15"/>
          <p:cNvSpPr/>
          <p:nvPr/>
        </p:nvSpPr>
        <p:spPr>
          <a:xfrm>
            <a:off x="631031" y="3889621"/>
            <a:ext cx="66675" cy="66675"/>
          </a:xfrm>
          <a:prstGeom prst="ellipse">
            <a:avLst/>
          </a:prstGeom>
          <a:solidFill>
            <a:srgbClr val="F96015"/>
          </a:solidFill>
          <a:ln/>
        </p:spPr>
      </p:sp>
      <p:sp>
        <p:nvSpPr>
          <p:cNvPr id="18" name="Text 16"/>
          <p:cNvSpPr txBox="1"/>
          <p:nvPr/>
        </p:nvSpPr>
        <p:spPr>
          <a:xfrm>
            <a:off x="783431" y="3826498"/>
            <a:ext cx="6180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gema</a:t>
            </a:r>
            <a:endParaRPr lang="en-US" sz="1100" dirty="0"/>
          </a:p>
        </p:txBody>
      </p:sp>
      <p:sp>
        <p:nvSpPr>
          <p:cNvPr id="19" name="Shape 17"/>
          <p:cNvSpPr/>
          <p:nvPr/>
        </p:nvSpPr>
        <p:spPr>
          <a:xfrm>
            <a:off x="631031" y="4118221"/>
            <a:ext cx="66675" cy="66675"/>
          </a:xfrm>
          <a:prstGeom prst="ellipse">
            <a:avLst/>
          </a:prstGeom>
          <a:solidFill>
            <a:srgbClr val="F96015"/>
          </a:solidFill>
          <a:ln/>
        </p:spPr>
      </p:sp>
      <p:sp>
        <p:nvSpPr>
          <p:cNvPr id="20" name="Text 18"/>
          <p:cNvSpPr txBox="1"/>
          <p:nvPr/>
        </p:nvSpPr>
        <p:spPr>
          <a:xfrm>
            <a:off x="783431" y="4055098"/>
            <a:ext cx="217938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parmesão ralado fino</a:t>
            </a:r>
            <a:endParaRPr lang="en-US" sz="1100" dirty="0"/>
          </a:p>
        </p:txBody>
      </p:sp>
      <p:sp>
        <p:nvSpPr>
          <p:cNvPr id="21" name="Shape 19"/>
          <p:cNvSpPr/>
          <p:nvPr/>
        </p:nvSpPr>
        <p:spPr>
          <a:xfrm>
            <a:off x="631031" y="4346821"/>
            <a:ext cx="66675" cy="66675"/>
          </a:xfrm>
          <a:prstGeom prst="ellipse">
            <a:avLst/>
          </a:prstGeom>
          <a:solidFill>
            <a:srgbClr val="F96015"/>
          </a:solidFill>
          <a:ln/>
        </p:spPr>
      </p:sp>
      <p:sp>
        <p:nvSpPr>
          <p:cNvPr id="22" name="Text 20"/>
          <p:cNvSpPr txBox="1"/>
          <p:nvPr/>
        </p:nvSpPr>
        <p:spPr>
          <a:xfrm>
            <a:off x="783431" y="4288780"/>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180 a 220 g de farinha de trigo (mais um pouco para polvilhar)</a:t>
            </a:r>
            <a:endParaRPr lang="en-US" sz="1100" dirty="0"/>
          </a:p>
        </p:txBody>
      </p:sp>
      <p:sp>
        <p:nvSpPr>
          <p:cNvPr id="23" name="Shape 21"/>
          <p:cNvSpPr/>
          <p:nvPr/>
        </p:nvSpPr>
        <p:spPr>
          <a:xfrm>
            <a:off x="631031" y="4784971"/>
            <a:ext cx="66675" cy="66675"/>
          </a:xfrm>
          <a:prstGeom prst="ellipse">
            <a:avLst/>
          </a:prstGeom>
          <a:solidFill>
            <a:srgbClr val="F96015"/>
          </a:solidFill>
          <a:ln/>
        </p:spPr>
      </p:sp>
      <p:sp>
        <p:nvSpPr>
          <p:cNvPr id="24" name="Text 22"/>
          <p:cNvSpPr txBox="1"/>
          <p:nvPr/>
        </p:nvSpPr>
        <p:spPr>
          <a:xfrm>
            <a:off x="783431" y="4721848"/>
            <a:ext cx="256103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noz-moscada ralada na hora</a:t>
            </a:r>
            <a:endParaRPr lang="en-US" sz="1100" dirty="0"/>
          </a:p>
        </p:txBody>
      </p:sp>
      <p:sp>
        <p:nvSpPr>
          <p:cNvPr id="25" name="Text 23"/>
          <p:cNvSpPr txBox="1"/>
          <p:nvPr/>
        </p:nvSpPr>
        <p:spPr>
          <a:xfrm>
            <a:off x="3894237" y="3078063"/>
            <a:ext cx="1120319"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PARA FINALIZAR</a:t>
            </a:r>
            <a:endParaRPr lang="en-US" sz="1320" dirty="0"/>
          </a:p>
        </p:txBody>
      </p:sp>
      <p:sp>
        <p:nvSpPr>
          <p:cNvPr id="26" name="Shape 24"/>
          <p:cNvSpPr/>
          <p:nvPr/>
        </p:nvSpPr>
        <p:spPr>
          <a:xfrm>
            <a:off x="3913287" y="3451471"/>
            <a:ext cx="66675" cy="66675"/>
          </a:xfrm>
          <a:prstGeom prst="ellipse">
            <a:avLst/>
          </a:prstGeom>
          <a:solidFill>
            <a:srgbClr val="F96015"/>
          </a:solidFill>
          <a:ln/>
        </p:spPr>
      </p:sp>
      <p:sp>
        <p:nvSpPr>
          <p:cNvPr id="27" name="Text 25"/>
          <p:cNvSpPr txBox="1"/>
          <p:nvPr/>
        </p:nvSpPr>
        <p:spPr>
          <a:xfrm>
            <a:off x="4065687" y="3388348"/>
            <a:ext cx="307306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colheres (sopa) de manteiga de garrafa</a:t>
            </a:r>
            <a:endParaRPr lang="en-US" sz="1100" dirty="0"/>
          </a:p>
        </p:txBody>
      </p:sp>
      <p:sp>
        <p:nvSpPr>
          <p:cNvPr id="28" name="Shape 26"/>
          <p:cNvSpPr/>
          <p:nvPr/>
        </p:nvSpPr>
        <p:spPr>
          <a:xfrm>
            <a:off x="3913287" y="3680071"/>
            <a:ext cx="66675" cy="66675"/>
          </a:xfrm>
          <a:prstGeom prst="ellipse">
            <a:avLst/>
          </a:prstGeom>
          <a:solidFill>
            <a:srgbClr val="F96015"/>
          </a:solidFill>
          <a:ln/>
        </p:spPr>
      </p:sp>
      <p:sp>
        <p:nvSpPr>
          <p:cNvPr id="29" name="Text 27"/>
          <p:cNvSpPr txBox="1"/>
          <p:nvPr/>
        </p:nvSpPr>
        <p:spPr>
          <a:xfrm>
            <a:off x="4065687" y="3616948"/>
            <a:ext cx="18904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 folhas de sálvia fresca</a:t>
            </a:r>
            <a:endParaRPr lang="en-US" sz="1100" dirty="0"/>
          </a:p>
        </p:txBody>
      </p:sp>
      <p:sp>
        <p:nvSpPr>
          <p:cNvPr id="30" name="Shape 28"/>
          <p:cNvSpPr/>
          <p:nvPr/>
        </p:nvSpPr>
        <p:spPr>
          <a:xfrm>
            <a:off x="3913287" y="3908671"/>
            <a:ext cx="66675" cy="66675"/>
          </a:xfrm>
          <a:prstGeom prst="ellipse">
            <a:avLst/>
          </a:prstGeom>
          <a:solidFill>
            <a:srgbClr val="F96015"/>
          </a:solidFill>
          <a:ln/>
        </p:spPr>
      </p:sp>
      <p:sp>
        <p:nvSpPr>
          <p:cNvPr id="31" name="Text 29"/>
          <p:cNvSpPr txBox="1"/>
          <p:nvPr/>
        </p:nvSpPr>
        <p:spPr>
          <a:xfrm>
            <a:off x="4065687" y="3845548"/>
            <a:ext cx="28123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Pimenta-do-reino e parmesão a gosto</a:t>
            </a:r>
            <a:endParaRPr lang="en-US" sz="1100" dirty="0"/>
          </a:p>
        </p:txBody>
      </p:sp>
      <p:sp>
        <p:nvSpPr>
          <p:cNvPr id="32" name="Text 30"/>
          <p:cNvSpPr txBox="1"/>
          <p:nvPr/>
        </p:nvSpPr>
        <p:spPr>
          <a:xfrm>
            <a:off x="611981" y="5171744"/>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3" name="Text 31"/>
          <p:cNvSpPr txBox="1"/>
          <p:nvPr/>
        </p:nvSpPr>
        <p:spPr>
          <a:xfrm>
            <a:off x="611981" y="5540276"/>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4" name="Text 32"/>
          <p:cNvSpPr txBox="1"/>
          <p:nvPr/>
        </p:nvSpPr>
        <p:spPr>
          <a:xfrm>
            <a:off x="897731" y="556885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Corte a abóbora em gomos, sem tirar a casca, e asse a 200 °C por 35 a 40 minutos, até ficar bem macia. Assar, e não cozinhar na água, é o que garante um nhoque leve.</a:t>
            </a:r>
            <a:endParaRPr lang="en-US" sz="1100" dirty="0"/>
          </a:p>
        </p:txBody>
      </p:sp>
      <p:sp>
        <p:nvSpPr>
          <p:cNvPr id="35" name="Text 33"/>
          <p:cNvSpPr txBox="1"/>
          <p:nvPr/>
        </p:nvSpPr>
        <p:spPr>
          <a:xfrm>
            <a:off x="611981" y="5987951"/>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6" name="Text 34"/>
          <p:cNvSpPr txBox="1"/>
          <p:nvPr/>
        </p:nvSpPr>
        <p:spPr>
          <a:xfrm>
            <a:off x="897731" y="601652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Raspe a polpa da casca e passe pelo espremedor (ou amasse muito bem com um garfo). Espalhe o purê numa travessa e deixe esfriar descoberto, para o vapor ir embora.</a:t>
            </a:r>
            <a:endParaRPr lang="en-US" sz="1100" dirty="0"/>
          </a:p>
        </p:txBody>
      </p:sp>
      <p:sp>
        <p:nvSpPr>
          <p:cNvPr id="37" name="Text 35"/>
          <p:cNvSpPr txBox="1"/>
          <p:nvPr/>
        </p:nvSpPr>
        <p:spPr>
          <a:xfrm>
            <a:off x="611981" y="6435626"/>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8" name="Text 36"/>
          <p:cNvSpPr txBox="1"/>
          <p:nvPr/>
        </p:nvSpPr>
        <p:spPr>
          <a:xfrm>
            <a:off x="897731" y="6464201"/>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Junte a gema, o parmesão, sal e noz-moscada. Acrescente a farinha aos poucos, misturando com as mãos só até a massa ficar macia e soltar dos dedos. Ela pode continuar levemente úmida.</a:t>
            </a:r>
            <a:endParaRPr lang="en-US" sz="1100" dirty="0"/>
          </a:p>
        </p:txBody>
      </p:sp>
      <p:sp>
        <p:nvSpPr>
          <p:cNvPr id="39" name="Text 37"/>
          <p:cNvSpPr txBox="1"/>
          <p:nvPr/>
        </p:nvSpPr>
        <p:spPr>
          <a:xfrm>
            <a:off x="611981" y="7092851"/>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0" name="Text 38"/>
          <p:cNvSpPr txBox="1"/>
          <p:nvPr/>
        </p:nvSpPr>
        <p:spPr>
          <a:xfrm>
            <a:off x="897731" y="712142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Faça um teste: modele uma bolinha e cozinhe em água fervente. Se desmanchar, acrescente mais 1 ou 2 colheres de farinha.</a:t>
            </a:r>
            <a:endParaRPr lang="en-US" sz="1100" dirty="0"/>
          </a:p>
        </p:txBody>
      </p:sp>
      <p:sp>
        <p:nvSpPr>
          <p:cNvPr id="41" name="Text 39"/>
          <p:cNvSpPr txBox="1"/>
          <p:nvPr/>
        </p:nvSpPr>
        <p:spPr>
          <a:xfrm>
            <a:off x="611981" y="7540526"/>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2" name="Text 40"/>
          <p:cNvSpPr txBox="1"/>
          <p:nvPr/>
        </p:nvSpPr>
        <p:spPr>
          <a:xfrm>
            <a:off x="897731" y="756910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Divida a massa, faça rolinhos de 2 cm de espessura sobre a bancada enfarinhada e corte em pedaços de 2 cm.</a:t>
            </a:r>
            <a:endParaRPr lang="en-US" sz="1100" dirty="0"/>
          </a:p>
        </p:txBody>
      </p:sp>
      <p:sp>
        <p:nvSpPr>
          <p:cNvPr id="43" name="Text 41"/>
          <p:cNvSpPr txBox="1"/>
          <p:nvPr/>
        </p:nvSpPr>
        <p:spPr>
          <a:xfrm>
            <a:off x="611981" y="798820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4" name="Text 42"/>
          <p:cNvSpPr txBox="1"/>
          <p:nvPr/>
        </p:nvSpPr>
        <p:spPr>
          <a:xfrm>
            <a:off x="897731" y="80167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Cozinhe em água fervente com sal, em levas. Quando os nhoques subirem, conte 30 segundos e retire com escumadeira.</a:t>
            </a:r>
            <a:endParaRPr lang="en-US" sz="1100" dirty="0"/>
          </a:p>
        </p:txBody>
      </p:sp>
      <p:sp>
        <p:nvSpPr>
          <p:cNvPr id="45" name="Text 43"/>
          <p:cNvSpPr txBox="1"/>
          <p:nvPr/>
        </p:nvSpPr>
        <p:spPr>
          <a:xfrm>
            <a:off x="611981" y="8435876"/>
            <a:ext cx="220712"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7</a:t>
            </a:r>
            <a:endParaRPr lang="en-US" sz="1320" dirty="0"/>
          </a:p>
        </p:txBody>
      </p:sp>
      <p:sp>
        <p:nvSpPr>
          <p:cNvPr id="46" name="Text 44"/>
          <p:cNvSpPr txBox="1"/>
          <p:nvPr/>
        </p:nvSpPr>
        <p:spPr>
          <a:xfrm>
            <a:off x="897731" y="8464451"/>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frigideira grande, aqueça a manteiga de garrafa e frite as folhas de sálvia até ficarem crocantes. Junte os nhoques escorridos e deixe dourar 2 minutos sem mexer. Vire, finalize com pimenta e parmesão e sirva na hora.</a:t>
            </a:r>
            <a:endParaRPr lang="en-US" sz="1100" dirty="0"/>
          </a:p>
        </p:txBody>
      </p:sp>
      <p:sp>
        <p:nvSpPr>
          <p:cNvPr id="47" name="Shape 45"/>
          <p:cNvSpPr/>
          <p:nvPr/>
        </p:nvSpPr>
        <p:spPr>
          <a:xfrm>
            <a:off x="611981" y="9178826"/>
            <a:ext cx="6335911" cy="982117"/>
          </a:xfrm>
          <a:prstGeom prst="roundRect">
            <a:avLst>
              <a:gd name="adj" fmla="val 9030"/>
            </a:avLst>
          </a:prstGeom>
          <a:solidFill>
            <a:srgbClr val="FFC926"/>
          </a:solidFill>
          <a:ln/>
        </p:spPr>
      </p:sp>
      <p:sp>
        <p:nvSpPr>
          <p:cNvPr id="48" name="Text 46"/>
          <p:cNvSpPr txBox="1"/>
          <p:nvPr/>
        </p:nvSpPr>
        <p:spPr>
          <a:xfrm>
            <a:off x="764381" y="9283601"/>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9" name="Text 47"/>
          <p:cNvSpPr txBox="1"/>
          <p:nvPr/>
        </p:nvSpPr>
        <p:spPr>
          <a:xfrm>
            <a:off x="764381" y="9598968"/>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Os nhoques podem ser congelados crus, espalhados numa assadeira enfarinhada. Depois de firmes, passe para um saco. Cozinhe direto do congelador, sem descongelar.</a:t>
            </a:r>
            <a:endParaRPr lang="en-US" sz="1100" dirty="0"/>
          </a:p>
        </p:txBody>
      </p:sp>
      <p:sp>
        <p:nvSpPr>
          <p:cNvPr id="50" name="Text 48"/>
          <p:cNvSpPr txBox="1"/>
          <p:nvPr/>
        </p:nvSpPr>
        <p:spPr>
          <a:xfrm>
            <a:off x="589180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1" name="Text 49"/>
          <p:cNvSpPr txBox="1"/>
          <p:nvPr/>
        </p:nvSpPr>
        <p:spPr>
          <a:xfrm>
            <a:off x="6824960" y="10253663"/>
            <a:ext cx="275332"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08</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11981" y="566440"/>
            <a:ext cx="26714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02</a:t>
            </a:r>
            <a:endParaRPr lang="en-US" sz="960" dirty="0"/>
          </a:p>
        </p:txBody>
      </p:sp>
      <p:sp>
        <p:nvSpPr>
          <p:cNvPr id="3" name="Text 1"/>
          <p:cNvSpPr txBox="1"/>
          <p:nvPr/>
        </p:nvSpPr>
        <p:spPr>
          <a:xfrm>
            <a:off x="611981" y="779960"/>
            <a:ext cx="289107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BOLINHO DE ABÓBORA</a:t>
            </a:r>
            <a:endParaRPr lang="en-US" sz="2420" dirty="0"/>
          </a:p>
        </p:txBody>
      </p:sp>
      <p:sp>
        <p:nvSpPr>
          <p:cNvPr id="4" name="Text 2"/>
          <p:cNvSpPr txBox="1"/>
          <p:nvPr/>
        </p:nvSpPr>
        <p:spPr>
          <a:xfrm>
            <a:off x="611981" y="1404171"/>
            <a:ext cx="63511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Hambúrguer ou bolinho cremoso assado de abóbora com especiarias e queijo coalho</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552301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500 g de abóbora cabotiá assada e amassada (veja o passo 1 do nhoque)</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26823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queijo coalho em cubinhos</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496329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colheres (sopa) de farinha de rosca (ou de aveia em flocos finos)</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09544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cebola picada bem miúda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69539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dente de alho picado</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6447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páprica defumada</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30450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cheiro-verde picado</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22349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pimenta-do-reino e azeite</a:t>
            </a:r>
            <a:endParaRPr lang="en-US" sz="1100" dirty="0"/>
          </a:p>
        </p:txBody>
      </p:sp>
      <p:sp>
        <p:nvSpPr>
          <p:cNvPr id="26" name="Text 24"/>
          <p:cNvSpPr txBox="1"/>
          <p:nvPr/>
        </p:nvSpPr>
        <p:spPr>
          <a:xfrm>
            <a:off x="611981" y="49425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11981" y="566440"/>
            <a:ext cx="2064722"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02 · ABÓBORA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HAMBÚRGUER OU BOLINHO CREMOSO ASSADO DE ABÓBORA COM ESPECIARIAS E QUEIJO COALHO</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INUSITADO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(o lado salgado que ninguém espera)</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216527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 min + 30 min de geladeira</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23563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 bolinhos ou 6 hambúrgueres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61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500 g de abóbora cabotiá assada e amassada (veja o passo 1 do nhoque)</a:t>
            </a:r>
            <a:endParaRPr lang="en-US" sz="1100" dirty="0"/>
          </a:p>
        </p:txBody>
      </p:sp>
      <p:sp>
        <p:nvSpPr>
          <p:cNvPr id="16" name="Shape 14"/>
          <p:cNvSpPr/>
          <p:nvPr/>
        </p:nvSpPr>
        <p:spPr>
          <a:xfrm>
            <a:off x="631031" y="3612354"/>
            <a:ext cx="66675" cy="66675"/>
          </a:xfrm>
          <a:prstGeom prst="ellipse">
            <a:avLst/>
          </a:prstGeom>
          <a:solidFill>
            <a:srgbClr val="F96015"/>
          </a:solidFill>
          <a:ln/>
        </p:spPr>
      </p:sp>
      <p:sp>
        <p:nvSpPr>
          <p:cNvPr id="17" name="Text 15"/>
          <p:cNvSpPr txBox="1"/>
          <p:nvPr/>
        </p:nvSpPr>
        <p:spPr>
          <a:xfrm>
            <a:off x="783431" y="3549231"/>
            <a:ext cx="26823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queijo coalho em cubinhos</a:t>
            </a:r>
            <a:endParaRPr lang="en-US" sz="1100" dirty="0"/>
          </a:p>
        </p:txBody>
      </p:sp>
      <p:sp>
        <p:nvSpPr>
          <p:cNvPr id="18" name="Shape 16"/>
          <p:cNvSpPr/>
          <p:nvPr/>
        </p:nvSpPr>
        <p:spPr>
          <a:xfrm>
            <a:off x="631031" y="3840954"/>
            <a:ext cx="66675" cy="66675"/>
          </a:xfrm>
          <a:prstGeom prst="ellipse">
            <a:avLst/>
          </a:prstGeom>
          <a:solidFill>
            <a:srgbClr val="F96015"/>
          </a:solidFill>
          <a:ln/>
        </p:spPr>
      </p:sp>
      <p:sp>
        <p:nvSpPr>
          <p:cNvPr id="19" name="Text 17"/>
          <p:cNvSpPr txBox="1"/>
          <p:nvPr/>
        </p:nvSpPr>
        <p:spPr>
          <a:xfrm>
            <a:off x="783431" y="3777831"/>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20" name="Shape 18"/>
          <p:cNvSpPr/>
          <p:nvPr/>
        </p:nvSpPr>
        <p:spPr>
          <a:xfrm>
            <a:off x="631031" y="4069554"/>
            <a:ext cx="66675" cy="66675"/>
          </a:xfrm>
          <a:prstGeom prst="ellipse">
            <a:avLst/>
          </a:prstGeom>
          <a:solidFill>
            <a:srgbClr val="F96015"/>
          </a:solidFill>
          <a:ln/>
        </p:spPr>
      </p:sp>
      <p:sp>
        <p:nvSpPr>
          <p:cNvPr id="21" name="Text 19"/>
          <p:cNvSpPr txBox="1"/>
          <p:nvPr/>
        </p:nvSpPr>
        <p:spPr>
          <a:xfrm>
            <a:off x="783431" y="401151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6 colheres (sopa) de farinha de rosca (ou de aveia em flocos finos)</a:t>
            </a:r>
            <a:endParaRPr lang="en-US" sz="1100" dirty="0"/>
          </a:p>
        </p:txBody>
      </p:sp>
      <p:sp>
        <p:nvSpPr>
          <p:cNvPr id="22" name="Shape 20"/>
          <p:cNvSpPr/>
          <p:nvPr/>
        </p:nvSpPr>
        <p:spPr>
          <a:xfrm>
            <a:off x="631031" y="4507704"/>
            <a:ext cx="66675" cy="66675"/>
          </a:xfrm>
          <a:prstGeom prst="ellipse">
            <a:avLst/>
          </a:prstGeom>
          <a:solidFill>
            <a:srgbClr val="F96015"/>
          </a:solidFill>
          <a:ln/>
        </p:spPr>
      </p:sp>
      <p:sp>
        <p:nvSpPr>
          <p:cNvPr id="23" name="Text 21"/>
          <p:cNvSpPr txBox="1"/>
          <p:nvPr/>
        </p:nvSpPr>
        <p:spPr>
          <a:xfrm>
            <a:off x="783431" y="4444581"/>
            <a:ext cx="209544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cebola picada bem miúda</a:t>
            </a:r>
            <a:endParaRPr lang="en-US" sz="1100" dirty="0"/>
          </a:p>
        </p:txBody>
      </p:sp>
      <p:sp>
        <p:nvSpPr>
          <p:cNvPr id="24" name="Shape 22"/>
          <p:cNvSpPr/>
          <p:nvPr/>
        </p:nvSpPr>
        <p:spPr>
          <a:xfrm>
            <a:off x="631031" y="4736304"/>
            <a:ext cx="66675" cy="66675"/>
          </a:xfrm>
          <a:prstGeom prst="ellipse">
            <a:avLst/>
          </a:prstGeom>
          <a:solidFill>
            <a:srgbClr val="F96015"/>
          </a:solidFill>
          <a:ln/>
        </p:spPr>
      </p:sp>
      <p:sp>
        <p:nvSpPr>
          <p:cNvPr id="25" name="Text 23"/>
          <p:cNvSpPr txBox="1"/>
          <p:nvPr/>
        </p:nvSpPr>
        <p:spPr>
          <a:xfrm>
            <a:off x="783431" y="4673181"/>
            <a:ext cx="169539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dente de alho picado</a:t>
            </a:r>
            <a:endParaRPr lang="en-US" sz="1100" dirty="0"/>
          </a:p>
        </p:txBody>
      </p:sp>
      <p:sp>
        <p:nvSpPr>
          <p:cNvPr id="26" name="Shape 24"/>
          <p:cNvSpPr/>
          <p:nvPr/>
        </p:nvSpPr>
        <p:spPr>
          <a:xfrm>
            <a:off x="631031" y="4964904"/>
            <a:ext cx="66675" cy="66675"/>
          </a:xfrm>
          <a:prstGeom prst="ellipse">
            <a:avLst/>
          </a:prstGeom>
          <a:solidFill>
            <a:srgbClr val="F96015"/>
          </a:solidFill>
          <a:ln/>
        </p:spPr>
      </p:sp>
      <p:sp>
        <p:nvSpPr>
          <p:cNvPr id="27" name="Text 25"/>
          <p:cNvSpPr txBox="1"/>
          <p:nvPr/>
        </p:nvSpPr>
        <p:spPr>
          <a:xfrm>
            <a:off x="783431" y="4901781"/>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28" name="Shape 26"/>
          <p:cNvSpPr/>
          <p:nvPr/>
        </p:nvSpPr>
        <p:spPr>
          <a:xfrm>
            <a:off x="631031" y="5193504"/>
            <a:ext cx="66675" cy="66675"/>
          </a:xfrm>
          <a:prstGeom prst="ellipse">
            <a:avLst/>
          </a:prstGeom>
          <a:solidFill>
            <a:srgbClr val="F96015"/>
          </a:solidFill>
          <a:ln/>
        </p:spPr>
      </p:sp>
      <p:sp>
        <p:nvSpPr>
          <p:cNvPr id="29" name="Text 27"/>
          <p:cNvSpPr txBox="1"/>
          <p:nvPr/>
        </p:nvSpPr>
        <p:spPr>
          <a:xfrm>
            <a:off x="783431" y="5130381"/>
            <a:ext cx="26447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páprica defumada</a:t>
            </a:r>
            <a:endParaRPr lang="en-US" sz="1100" dirty="0"/>
          </a:p>
        </p:txBody>
      </p:sp>
      <p:sp>
        <p:nvSpPr>
          <p:cNvPr id="30" name="Shape 28"/>
          <p:cNvSpPr/>
          <p:nvPr/>
        </p:nvSpPr>
        <p:spPr>
          <a:xfrm>
            <a:off x="631031" y="5422104"/>
            <a:ext cx="66675" cy="66675"/>
          </a:xfrm>
          <a:prstGeom prst="ellipse">
            <a:avLst/>
          </a:prstGeom>
          <a:solidFill>
            <a:srgbClr val="F96015"/>
          </a:solidFill>
          <a:ln/>
        </p:spPr>
      </p:sp>
      <p:sp>
        <p:nvSpPr>
          <p:cNvPr id="31" name="Text 29"/>
          <p:cNvSpPr txBox="1"/>
          <p:nvPr/>
        </p:nvSpPr>
        <p:spPr>
          <a:xfrm>
            <a:off x="783431" y="5358981"/>
            <a:ext cx="30450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cheiro-verde picado</a:t>
            </a:r>
            <a:endParaRPr lang="en-US" sz="1100" dirty="0"/>
          </a:p>
        </p:txBody>
      </p:sp>
      <p:sp>
        <p:nvSpPr>
          <p:cNvPr id="32" name="Shape 30"/>
          <p:cNvSpPr/>
          <p:nvPr/>
        </p:nvSpPr>
        <p:spPr>
          <a:xfrm>
            <a:off x="631031" y="5650704"/>
            <a:ext cx="66675" cy="66675"/>
          </a:xfrm>
          <a:prstGeom prst="ellipse">
            <a:avLst/>
          </a:prstGeom>
          <a:solidFill>
            <a:srgbClr val="F96015"/>
          </a:solidFill>
          <a:ln/>
        </p:spPr>
      </p:sp>
      <p:sp>
        <p:nvSpPr>
          <p:cNvPr id="33" name="Text 31"/>
          <p:cNvSpPr txBox="1"/>
          <p:nvPr/>
        </p:nvSpPr>
        <p:spPr>
          <a:xfrm>
            <a:off x="783431" y="5587581"/>
            <a:ext cx="22349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pimenta-do-reino e azeite</a:t>
            </a:r>
            <a:endParaRPr lang="en-US" sz="1100" dirty="0"/>
          </a:p>
        </p:txBody>
      </p:sp>
      <p:sp>
        <p:nvSpPr>
          <p:cNvPr id="34" name="Text 32"/>
          <p:cNvSpPr txBox="1"/>
          <p:nvPr/>
        </p:nvSpPr>
        <p:spPr>
          <a:xfrm>
            <a:off x="611981" y="60374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5" name="Text 33"/>
          <p:cNvSpPr txBox="1"/>
          <p:nvPr/>
        </p:nvSpPr>
        <p:spPr>
          <a:xfrm>
            <a:off x="611981" y="64060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6" name="Text 34"/>
          <p:cNvSpPr txBox="1"/>
          <p:nvPr/>
        </p:nvSpPr>
        <p:spPr>
          <a:xfrm>
            <a:off x="897731" y="64345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Refogue a cebola e o alho num fio de azeite até ficarem macios. Junte o cominho e a páprica e mexa por 30 segundos, só para despertar o aroma das especiarias.</a:t>
            </a:r>
            <a:endParaRPr lang="en-US" sz="1100" dirty="0"/>
          </a:p>
        </p:txBody>
      </p:sp>
      <p:sp>
        <p:nvSpPr>
          <p:cNvPr id="37" name="Text 35"/>
          <p:cNvSpPr txBox="1"/>
          <p:nvPr/>
        </p:nvSpPr>
        <p:spPr>
          <a:xfrm>
            <a:off x="611981" y="68536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8" name="Text 36"/>
          <p:cNvSpPr txBox="1"/>
          <p:nvPr/>
        </p:nvSpPr>
        <p:spPr>
          <a:xfrm>
            <a:off x="897731" y="68822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tigela, misture o purê de abóbora, o refogado, o ovo, a farinha de rosca e o cheiro-verde. Tempere com sal e pimenta. Por último, incorpore o queijo coalho.</a:t>
            </a:r>
            <a:endParaRPr lang="en-US" sz="1100" dirty="0"/>
          </a:p>
        </p:txBody>
      </p:sp>
      <p:sp>
        <p:nvSpPr>
          <p:cNvPr id="39" name="Text 37"/>
          <p:cNvSpPr txBox="1"/>
          <p:nvPr/>
        </p:nvSpPr>
        <p:spPr>
          <a:xfrm>
            <a:off x="611981" y="730135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0" name="Text 38"/>
          <p:cNvSpPr txBox="1"/>
          <p:nvPr/>
        </p:nvSpPr>
        <p:spPr>
          <a:xfrm>
            <a:off x="897731" y="7324852"/>
            <a:ext cx="669494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Cubra e leve à geladeira por 30 minutos. A massa firma e fica muito mais fácil de modelar.</a:t>
            </a:r>
            <a:endParaRPr lang="en-US" sz="1100" dirty="0"/>
          </a:p>
        </p:txBody>
      </p:sp>
      <p:sp>
        <p:nvSpPr>
          <p:cNvPr id="41" name="Text 39"/>
          <p:cNvSpPr txBox="1"/>
          <p:nvPr/>
        </p:nvSpPr>
        <p:spPr>
          <a:xfrm>
            <a:off x="611981" y="753948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2" name="Text 40"/>
          <p:cNvSpPr txBox="1"/>
          <p:nvPr/>
        </p:nvSpPr>
        <p:spPr>
          <a:xfrm>
            <a:off x="897731" y="75680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Com as mãos untadas, modele bolinhos ou discos de hambúrguer. Disponha numa assadeira com papel-manteiga e pincele azeite por cima.</a:t>
            </a:r>
            <a:endParaRPr lang="en-US" sz="1100" dirty="0"/>
          </a:p>
        </p:txBody>
      </p:sp>
      <p:sp>
        <p:nvSpPr>
          <p:cNvPr id="43" name="Text 41"/>
          <p:cNvSpPr txBox="1"/>
          <p:nvPr/>
        </p:nvSpPr>
        <p:spPr>
          <a:xfrm>
            <a:off x="611981" y="798715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4" name="Text 42"/>
          <p:cNvSpPr txBox="1"/>
          <p:nvPr/>
        </p:nvSpPr>
        <p:spPr>
          <a:xfrm>
            <a:off x="897731" y="801573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Asse a 200 °C por 25 a 30 minutos, virando na metade do tempo, até dourar. Para hambúrgueres, também dá para dourar numa frigideira bem quente, 4 minutos de cada lado.</a:t>
            </a:r>
            <a:endParaRPr lang="en-US" sz="1100" dirty="0"/>
          </a:p>
        </p:txBody>
      </p:sp>
      <p:sp>
        <p:nvSpPr>
          <p:cNvPr id="45" name="Shape 43"/>
          <p:cNvSpPr/>
          <p:nvPr/>
        </p:nvSpPr>
        <p:spPr>
          <a:xfrm>
            <a:off x="611981" y="8520559"/>
            <a:ext cx="6335911" cy="982117"/>
          </a:xfrm>
          <a:prstGeom prst="roundRect">
            <a:avLst>
              <a:gd name="adj" fmla="val 9030"/>
            </a:avLst>
          </a:prstGeom>
          <a:solidFill>
            <a:srgbClr val="FFC926"/>
          </a:solidFill>
          <a:ln/>
        </p:spPr>
      </p:sp>
      <p:sp>
        <p:nvSpPr>
          <p:cNvPr id="46" name="Text 44"/>
          <p:cNvSpPr txBox="1"/>
          <p:nvPr/>
        </p:nvSpPr>
        <p:spPr>
          <a:xfrm>
            <a:off x="764381" y="8625334"/>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7" name="Text 45"/>
          <p:cNvSpPr txBox="1"/>
          <p:nvPr/>
        </p:nvSpPr>
        <p:spPr>
          <a:xfrm>
            <a:off x="764381" y="8940701"/>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queijo coalho derrete só em parte e cria um coração cremoso, com pontos tostados por fora. Sirva com um molho de iogurte, limão e hortelã.</a:t>
            </a:r>
            <a:endParaRPr lang="en-US" sz="1100" dirty="0"/>
          </a:p>
        </p:txBody>
      </p:sp>
      <p:sp>
        <p:nvSpPr>
          <p:cNvPr id="48" name="Text 46"/>
          <p:cNvSpPr txBox="1"/>
          <p:nvPr/>
        </p:nvSpPr>
        <p:spPr>
          <a:xfrm>
            <a:off x="5908179"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9" name="Text 47"/>
          <p:cNvSpPr txBox="1"/>
          <p:nvPr/>
        </p:nvSpPr>
        <p:spPr>
          <a:xfrm>
            <a:off x="6841331" y="10253663"/>
            <a:ext cx="258961"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10</a:t>
            </a:r>
            <a:endParaRPr lang="en-US" sz="8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11981" y="566440"/>
            <a:ext cx="26722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03</a:t>
            </a:r>
            <a:endParaRPr lang="en-US" sz="960" dirty="0"/>
          </a:p>
        </p:txBody>
      </p:sp>
      <p:sp>
        <p:nvSpPr>
          <p:cNvPr id="3" name="Text 1"/>
          <p:cNvSpPr txBox="1"/>
          <p:nvPr/>
        </p:nvSpPr>
        <p:spPr>
          <a:xfrm>
            <a:off x="611981" y="779960"/>
            <a:ext cx="1718608"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CREPÚSCULO</a:t>
            </a:r>
            <a:endParaRPr lang="en-US" sz="2420" dirty="0"/>
          </a:p>
        </p:txBody>
      </p:sp>
      <p:sp>
        <p:nvSpPr>
          <p:cNvPr id="4" name="Text 2"/>
          <p:cNvSpPr txBox="1"/>
          <p:nvPr/>
        </p:nvSpPr>
        <p:spPr>
          <a:xfrm>
            <a:off x="611981" y="1404171"/>
            <a:ext cx="58573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Crepúsculo: doce de abóbora cremoso de colher com coco e raspas de laranja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2598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kg de polpa de abóbora cabotiá em cubos</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2015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açúcar</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29462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xícara de água</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7228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200 ml de leite de coco</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147161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coco ralado</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267283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pau de canela e 3 cravos-da-índia</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49018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Raspas de 1 laranja</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22" name="Text 20"/>
          <p:cNvSpPr txBox="1"/>
          <p:nvPr/>
        </p:nvSpPr>
        <p:spPr>
          <a:xfrm>
            <a:off x="611981" y="44091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11981" y="566440"/>
            <a:ext cx="206561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03 · ABÓBORA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CREPÚSCULO: DOCE DE ABÓBORA CREMOSO DE COLHER COM COCO E RASPAS DE LARANJA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LADO DOCE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(uma sobremesa de memória afetiva)</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30777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1h</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00584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cerca de 1 kg</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32598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kg de polpa de abóbora cabotiá em cubos</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39681"/>
            <a:ext cx="12015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açúcar</a:t>
            </a:r>
            <a:endParaRPr lang="en-US" sz="1100" dirty="0"/>
          </a:p>
        </p:txBody>
      </p:sp>
      <p:sp>
        <p:nvSpPr>
          <p:cNvPr id="18" name="Shape 16"/>
          <p:cNvSpPr/>
          <p:nvPr/>
        </p:nvSpPr>
        <p:spPr>
          <a:xfrm>
            <a:off x="631031" y="3631404"/>
            <a:ext cx="66675" cy="66675"/>
          </a:xfrm>
          <a:prstGeom prst="ellipse">
            <a:avLst/>
          </a:prstGeom>
          <a:solidFill>
            <a:srgbClr val="F96015"/>
          </a:solidFill>
          <a:ln/>
        </p:spPr>
      </p:sp>
      <p:sp>
        <p:nvSpPr>
          <p:cNvPr id="19" name="Text 17"/>
          <p:cNvSpPr txBox="1"/>
          <p:nvPr/>
        </p:nvSpPr>
        <p:spPr>
          <a:xfrm>
            <a:off x="783431" y="3568281"/>
            <a:ext cx="129462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xícara de água</a:t>
            </a:r>
            <a:endParaRPr lang="en-US" sz="1100" dirty="0"/>
          </a:p>
        </p:txBody>
      </p:sp>
      <p:sp>
        <p:nvSpPr>
          <p:cNvPr id="20" name="Shape 18"/>
          <p:cNvSpPr/>
          <p:nvPr/>
        </p:nvSpPr>
        <p:spPr>
          <a:xfrm>
            <a:off x="631031" y="3860004"/>
            <a:ext cx="66675" cy="66675"/>
          </a:xfrm>
          <a:prstGeom prst="ellipse">
            <a:avLst/>
          </a:prstGeom>
          <a:solidFill>
            <a:srgbClr val="F96015"/>
          </a:solidFill>
          <a:ln/>
        </p:spPr>
      </p:sp>
      <p:sp>
        <p:nvSpPr>
          <p:cNvPr id="21" name="Text 19"/>
          <p:cNvSpPr txBox="1"/>
          <p:nvPr/>
        </p:nvSpPr>
        <p:spPr>
          <a:xfrm>
            <a:off x="783431" y="3796881"/>
            <a:ext cx="17228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200 ml de leite de coco</a:t>
            </a:r>
            <a:endParaRPr lang="en-US" sz="1100" dirty="0"/>
          </a:p>
        </p:txBody>
      </p:sp>
      <p:sp>
        <p:nvSpPr>
          <p:cNvPr id="22" name="Shape 20"/>
          <p:cNvSpPr/>
          <p:nvPr/>
        </p:nvSpPr>
        <p:spPr>
          <a:xfrm>
            <a:off x="631031" y="4088604"/>
            <a:ext cx="66675" cy="66675"/>
          </a:xfrm>
          <a:prstGeom prst="ellipse">
            <a:avLst/>
          </a:prstGeom>
          <a:solidFill>
            <a:srgbClr val="F96015"/>
          </a:solidFill>
          <a:ln/>
        </p:spPr>
      </p:sp>
      <p:sp>
        <p:nvSpPr>
          <p:cNvPr id="23" name="Text 21"/>
          <p:cNvSpPr txBox="1"/>
          <p:nvPr/>
        </p:nvSpPr>
        <p:spPr>
          <a:xfrm>
            <a:off x="783431" y="4025481"/>
            <a:ext cx="147161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coco ralado</a:t>
            </a:r>
            <a:endParaRPr lang="en-US" sz="1100" dirty="0"/>
          </a:p>
        </p:txBody>
      </p:sp>
      <p:sp>
        <p:nvSpPr>
          <p:cNvPr id="24" name="Shape 22"/>
          <p:cNvSpPr/>
          <p:nvPr/>
        </p:nvSpPr>
        <p:spPr>
          <a:xfrm>
            <a:off x="631031" y="4317204"/>
            <a:ext cx="66675" cy="66675"/>
          </a:xfrm>
          <a:prstGeom prst="ellipse">
            <a:avLst/>
          </a:prstGeom>
          <a:solidFill>
            <a:srgbClr val="F96015"/>
          </a:solidFill>
          <a:ln/>
        </p:spPr>
      </p:sp>
      <p:sp>
        <p:nvSpPr>
          <p:cNvPr id="25" name="Text 23"/>
          <p:cNvSpPr txBox="1"/>
          <p:nvPr/>
        </p:nvSpPr>
        <p:spPr>
          <a:xfrm>
            <a:off x="783431" y="4254081"/>
            <a:ext cx="267283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pau de canela e 3 cravos-da-índia</a:t>
            </a:r>
            <a:endParaRPr lang="en-US" sz="1100" dirty="0"/>
          </a:p>
        </p:txBody>
      </p:sp>
      <p:sp>
        <p:nvSpPr>
          <p:cNvPr id="26" name="Shape 24"/>
          <p:cNvSpPr/>
          <p:nvPr/>
        </p:nvSpPr>
        <p:spPr>
          <a:xfrm>
            <a:off x="631031" y="4545804"/>
            <a:ext cx="66675" cy="66675"/>
          </a:xfrm>
          <a:prstGeom prst="ellipse">
            <a:avLst/>
          </a:prstGeom>
          <a:solidFill>
            <a:srgbClr val="F96015"/>
          </a:solidFill>
          <a:ln/>
        </p:spPr>
      </p:sp>
      <p:sp>
        <p:nvSpPr>
          <p:cNvPr id="27" name="Text 25"/>
          <p:cNvSpPr txBox="1"/>
          <p:nvPr/>
        </p:nvSpPr>
        <p:spPr>
          <a:xfrm>
            <a:off x="783431" y="4482681"/>
            <a:ext cx="149018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Raspas de 1 laranja</a:t>
            </a:r>
            <a:endParaRPr lang="en-US" sz="1100" dirty="0"/>
          </a:p>
        </p:txBody>
      </p:sp>
      <p:sp>
        <p:nvSpPr>
          <p:cNvPr id="28" name="Shape 26"/>
          <p:cNvSpPr/>
          <p:nvPr/>
        </p:nvSpPr>
        <p:spPr>
          <a:xfrm>
            <a:off x="631031" y="4774404"/>
            <a:ext cx="66675" cy="66675"/>
          </a:xfrm>
          <a:prstGeom prst="ellipse">
            <a:avLst/>
          </a:prstGeom>
          <a:solidFill>
            <a:srgbClr val="F96015"/>
          </a:solidFill>
          <a:ln/>
        </p:spPr>
      </p:sp>
      <p:sp>
        <p:nvSpPr>
          <p:cNvPr id="29" name="Text 27"/>
          <p:cNvSpPr txBox="1"/>
          <p:nvPr/>
        </p:nvSpPr>
        <p:spPr>
          <a:xfrm>
            <a:off x="783431" y="4711281"/>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30" name="Text 28"/>
          <p:cNvSpPr txBox="1"/>
          <p:nvPr/>
        </p:nvSpPr>
        <p:spPr>
          <a:xfrm>
            <a:off x="611981" y="51611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1" name="Text 29"/>
          <p:cNvSpPr txBox="1"/>
          <p:nvPr/>
        </p:nvSpPr>
        <p:spPr>
          <a:xfrm>
            <a:off x="611981" y="55297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2" name="Text 30"/>
          <p:cNvSpPr txBox="1"/>
          <p:nvPr/>
        </p:nvSpPr>
        <p:spPr>
          <a:xfrm>
            <a:off x="897731" y="55582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panela de fundo grosso, cozinhe a abóbora com a água, tampada, em fogo médio, até ficar bem macia (cerca de 15 minutos).</a:t>
            </a:r>
            <a:endParaRPr lang="en-US" sz="1100" dirty="0"/>
          </a:p>
        </p:txBody>
      </p:sp>
      <p:sp>
        <p:nvSpPr>
          <p:cNvPr id="33" name="Text 31"/>
          <p:cNvSpPr txBox="1"/>
          <p:nvPr/>
        </p:nvSpPr>
        <p:spPr>
          <a:xfrm>
            <a:off x="611981" y="59773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4" name="Text 32"/>
          <p:cNvSpPr txBox="1"/>
          <p:nvPr/>
        </p:nvSpPr>
        <p:spPr>
          <a:xfrm>
            <a:off x="897731" y="6000877"/>
            <a:ext cx="56155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Amasse a abóbora na própria panela. Junte o açúcar, a canela e os cravos.</a:t>
            </a:r>
            <a:endParaRPr lang="en-US" sz="1100" dirty="0"/>
          </a:p>
        </p:txBody>
      </p:sp>
      <p:sp>
        <p:nvSpPr>
          <p:cNvPr id="35" name="Text 33"/>
          <p:cNvSpPr txBox="1"/>
          <p:nvPr/>
        </p:nvSpPr>
        <p:spPr>
          <a:xfrm>
            <a:off x="611981" y="621550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6" name="Text 34"/>
          <p:cNvSpPr txBox="1"/>
          <p:nvPr/>
        </p:nvSpPr>
        <p:spPr>
          <a:xfrm>
            <a:off x="897731" y="62440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Cozinhe em fogo baixo, mexendo com frequência, até o doce começar a desgrudar do fundo da panela, por 30 a 40 minutos. Cuidado: ele espirra. Use uma colher de cabo longo.</a:t>
            </a:r>
            <a:endParaRPr lang="en-US" sz="1100" dirty="0"/>
          </a:p>
        </p:txBody>
      </p:sp>
      <p:sp>
        <p:nvSpPr>
          <p:cNvPr id="37" name="Text 35"/>
          <p:cNvSpPr txBox="1"/>
          <p:nvPr/>
        </p:nvSpPr>
        <p:spPr>
          <a:xfrm>
            <a:off x="611981" y="666318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8" name="Text 36"/>
          <p:cNvSpPr txBox="1"/>
          <p:nvPr/>
        </p:nvSpPr>
        <p:spPr>
          <a:xfrm>
            <a:off x="897731" y="6686677"/>
            <a:ext cx="63043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Acrescente o leite de coco e o coco ralado e cozinhe por mais 10 minutos, mexendo.</a:t>
            </a:r>
            <a:endParaRPr lang="en-US" sz="1100" dirty="0"/>
          </a:p>
        </p:txBody>
      </p:sp>
      <p:sp>
        <p:nvSpPr>
          <p:cNvPr id="39" name="Text 37"/>
          <p:cNvSpPr txBox="1"/>
          <p:nvPr/>
        </p:nvSpPr>
        <p:spPr>
          <a:xfrm>
            <a:off x="611981" y="690130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0" name="Text 38"/>
          <p:cNvSpPr txBox="1"/>
          <p:nvPr/>
        </p:nvSpPr>
        <p:spPr>
          <a:xfrm>
            <a:off x="897731" y="69298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Desligue o fogo, retire a canela e os cravos e só então junte as raspas de laranja e a pitada de sal.</a:t>
            </a:r>
            <a:endParaRPr lang="en-US" sz="1100" dirty="0"/>
          </a:p>
        </p:txBody>
      </p:sp>
      <p:sp>
        <p:nvSpPr>
          <p:cNvPr id="41" name="Text 39"/>
          <p:cNvSpPr txBox="1"/>
          <p:nvPr/>
        </p:nvSpPr>
        <p:spPr>
          <a:xfrm>
            <a:off x="611981" y="734898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2" name="Text 40"/>
          <p:cNvSpPr txBox="1"/>
          <p:nvPr/>
        </p:nvSpPr>
        <p:spPr>
          <a:xfrm>
            <a:off x="897731" y="73775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Ponto certo: ao passar a colher no fundo, o doce abre um caminho que demora a se fechar. Lembre que ele engrossa bastante ao esfriar.</a:t>
            </a:r>
            <a:endParaRPr lang="en-US" sz="1100" dirty="0"/>
          </a:p>
        </p:txBody>
      </p:sp>
      <p:sp>
        <p:nvSpPr>
          <p:cNvPr id="43" name="Shape 41"/>
          <p:cNvSpPr/>
          <p:nvPr/>
        </p:nvSpPr>
        <p:spPr>
          <a:xfrm>
            <a:off x="611981" y="7882384"/>
            <a:ext cx="6335911" cy="1191667"/>
          </a:xfrm>
          <a:prstGeom prst="roundRect">
            <a:avLst>
              <a:gd name="adj" fmla="val 6133"/>
            </a:avLst>
          </a:prstGeom>
          <a:solidFill>
            <a:srgbClr val="FFC926"/>
          </a:solidFill>
          <a:ln/>
        </p:spPr>
      </p:sp>
      <p:sp>
        <p:nvSpPr>
          <p:cNvPr id="44" name="Text 42"/>
          <p:cNvSpPr txBox="1"/>
          <p:nvPr/>
        </p:nvSpPr>
        <p:spPr>
          <a:xfrm>
            <a:off x="764381" y="798715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5" name="Text 43"/>
          <p:cNvSpPr txBox="1"/>
          <p:nvPr/>
        </p:nvSpPr>
        <p:spPr>
          <a:xfrm>
            <a:off x="764381" y="8302526"/>
            <a:ext cx="60311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Raspas de cítricos vão sempre no final, com o fogo desligado: o calor prolongado evapora os óleos aromáticos da casca. A pitada de sal não salga, ela faz o doce parecer mais doce e menos enjoativo.</a:t>
            </a:r>
            <a:endParaRPr lang="en-US" sz="1100" dirty="0"/>
          </a:p>
        </p:txBody>
      </p:sp>
      <p:sp>
        <p:nvSpPr>
          <p:cNvPr id="46" name="Text 44"/>
          <p:cNvSpPr txBox="1"/>
          <p:nvPr/>
        </p:nvSpPr>
        <p:spPr>
          <a:xfrm>
            <a:off x="5909221"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7" name="Text 45"/>
          <p:cNvSpPr txBox="1"/>
          <p:nvPr/>
        </p:nvSpPr>
        <p:spPr>
          <a:xfrm>
            <a:off x="6842373" y="10253663"/>
            <a:ext cx="257919"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12</a:t>
            </a:r>
            <a:endParaRPr lang="en-US" sz="8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11981" y="566440"/>
            <a:ext cx="183773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PULO DO CHEF · ABÓBORA</a:t>
            </a:r>
            <a:endParaRPr lang="en-US" sz="960" dirty="0"/>
          </a:p>
        </p:txBody>
      </p:sp>
      <p:sp>
        <p:nvSpPr>
          <p:cNvPr id="3" name="Text 1"/>
          <p:cNvSpPr txBox="1"/>
          <p:nvPr/>
        </p:nvSpPr>
        <p:spPr>
          <a:xfrm>
            <a:off x="611981" y="779960"/>
            <a:ext cx="544782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NHOQUE DE ABÓBORA QUE VIRA CHICLETE</a:t>
            </a:r>
            <a:endParaRPr lang="en-US" sz="2420" dirty="0"/>
          </a:p>
        </p:txBody>
      </p:sp>
      <p:sp>
        <p:nvSpPr>
          <p:cNvPr id="4" name="Text 2"/>
          <p:cNvSpPr txBox="1"/>
          <p:nvPr/>
        </p:nvSpPr>
        <p:spPr>
          <a:xfrm>
            <a:off x="611981" y="1377818"/>
            <a:ext cx="67448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ERRO</a:t>
            </a:r>
            <a:endParaRPr lang="en-US" sz="1650" dirty="0"/>
          </a:p>
        </p:txBody>
      </p:sp>
      <p:sp>
        <p:nvSpPr>
          <p:cNvPr id="5" name="Text 3"/>
          <p:cNvSpPr txBox="1"/>
          <p:nvPr/>
        </p:nvSpPr>
        <p:spPr>
          <a:xfrm>
            <a:off x="611981" y="177492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Cozinhar a abóbora na água. Ela absorve líquido, a massa fica mole e a única saída parece ser jogar mais e mais farinha. O resultado é um nhoque pesado, borrachudo e com gosto de farinha, em vez de gosto de abóbora.</a:t>
            </a:r>
            <a:endParaRPr lang="en-US" sz="1100" dirty="0"/>
          </a:p>
        </p:txBody>
      </p:sp>
      <p:sp>
        <p:nvSpPr>
          <p:cNvPr id="6" name="Text 4"/>
          <p:cNvSpPr txBox="1"/>
          <p:nvPr/>
        </p:nvSpPr>
        <p:spPr>
          <a:xfrm>
            <a:off x="611981" y="2638839"/>
            <a:ext cx="91440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 TÉCNICA</a:t>
            </a:r>
            <a:endParaRPr lang="en-US" sz="1650" dirty="0"/>
          </a:p>
        </p:txBody>
      </p:sp>
      <p:sp>
        <p:nvSpPr>
          <p:cNvPr id="7" name="Text 5"/>
          <p:cNvSpPr txBox="1"/>
          <p:nvPr/>
        </p:nvSpPr>
        <p:spPr>
          <a:xfrm>
            <a:off x="611981" y="3007370"/>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8" name="Text 6"/>
          <p:cNvSpPr txBox="1"/>
          <p:nvPr/>
        </p:nvSpPr>
        <p:spPr>
          <a:xfrm>
            <a:off x="897731" y="3030863"/>
            <a:ext cx="55039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Asse a abóbora em vez de cozinhar: a água evapora e o sabor concentra.</a:t>
            </a:r>
            <a:endParaRPr lang="en-US" sz="1100" dirty="0"/>
          </a:p>
        </p:txBody>
      </p:sp>
      <p:sp>
        <p:nvSpPr>
          <p:cNvPr id="9" name="Text 7"/>
          <p:cNvSpPr txBox="1"/>
          <p:nvPr/>
        </p:nvSpPr>
        <p:spPr>
          <a:xfrm>
            <a:off x="611981" y="3245495"/>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10" name="Text 8"/>
          <p:cNvSpPr txBox="1"/>
          <p:nvPr/>
        </p:nvSpPr>
        <p:spPr>
          <a:xfrm>
            <a:off x="897731" y="3268988"/>
            <a:ext cx="696551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Deixe o vapor sair: espalhe o purê numa travessa e espere amornar antes de juntar a farinha.</a:t>
            </a:r>
            <a:endParaRPr lang="en-US" sz="1100" dirty="0"/>
          </a:p>
        </p:txBody>
      </p:sp>
      <p:sp>
        <p:nvSpPr>
          <p:cNvPr id="11" name="Text 9"/>
          <p:cNvSpPr txBox="1"/>
          <p:nvPr/>
        </p:nvSpPr>
        <p:spPr>
          <a:xfrm>
            <a:off x="611981" y="3483620"/>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2" name="Text 10"/>
          <p:cNvSpPr txBox="1"/>
          <p:nvPr/>
        </p:nvSpPr>
        <p:spPr>
          <a:xfrm>
            <a:off x="897731" y="3512195"/>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Farinha aos poucos: pare assim que a massa deixar de grudar. Massa de nhoque é úmida mesmo.</a:t>
            </a:r>
            <a:endParaRPr lang="en-US" sz="1100" dirty="0"/>
          </a:p>
        </p:txBody>
      </p:sp>
      <p:sp>
        <p:nvSpPr>
          <p:cNvPr id="13" name="Text 11"/>
          <p:cNvSpPr txBox="1"/>
          <p:nvPr/>
        </p:nvSpPr>
        <p:spPr>
          <a:xfrm>
            <a:off x="611981" y="3931295"/>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4" name="Text 12"/>
          <p:cNvSpPr txBox="1"/>
          <p:nvPr/>
        </p:nvSpPr>
        <p:spPr>
          <a:xfrm>
            <a:off x="897731" y="3954788"/>
            <a:ext cx="702998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Não sove: misture só o necessário. Quanto mais você trabalha a massa, mais elástica ela fica.</a:t>
            </a:r>
            <a:endParaRPr lang="en-US" sz="1100" dirty="0"/>
          </a:p>
        </p:txBody>
      </p:sp>
      <p:sp>
        <p:nvSpPr>
          <p:cNvPr id="15" name="Text 13"/>
          <p:cNvSpPr txBox="1"/>
          <p:nvPr/>
        </p:nvSpPr>
        <p:spPr>
          <a:xfrm>
            <a:off x="611981" y="4404684"/>
            <a:ext cx="13105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NÃO TEM ISSO?</a:t>
            </a:r>
            <a:endParaRPr lang="en-US" sz="1650" dirty="0"/>
          </a:p>
        </p:txBody>
      </p:sp>
      <p:sp>
        <p:nvSpPr>
          <p:cNvPr id="16" name="Shape 14"/>
          <p:cNvSpPr/>
          <p:nvPr/>
        </p:nvSpPr>
        <p:spPr>
          <a:xfrm>
            <a:off x="611981" y="4773216"/>
            <a:ext cx="2280791" cy="298996"/>
          </a:xfrm>
          <a:prstGeom prst="rect">
            <a:avLst/>
          </a:prstGeom>
          <a:solidFill>
            <a:srgbClr val="18542A"/>
          </a:solidFill>
          <a:ln/>
        </p:spPr>
      </p:sp>
      <p:sp>
        <p:nvSpPr>
          <p:cNvPr id="17" name="Text 15"/>
          <p:cNvSpPr txBox="1"/>
          <p:nvPr/>
        </p:nvSpPr>
        <p:spPr>
          <a:xfrm>
            <a:off x="707231" y="4839891"/>
            <a:ext cx="10208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SE NÃO TIVER…</a:t>
            </a:r>
            <a:endParaRPr lang="en-US" sz="960" dirty="0"/>
          </a:p>
        </p:txBody>
      </p:sp>
      <p:sp>
        <p:nvSpPr>
          <p:cNvPr id="18" name="Shape 16"/>
          <p:cNvSpPr/>
          <p:nvPr/>
        </p:nvSpPr>
        <p:spPr>
          <a:xfrm>
            <a:off x="2892772" y="4773216"/>
            <a:ext cx="4055120" cy="298996"/>
          </a:xfrm>
          <a:prstGeom prst="rect">
            <a:avLst/>
          </a:prstGeom>
          <a:solidFill>
            <a:srgbClr val="18542A"/>
          </a:solidFill>
          <a:ln/>
        </p:spPr>
      </p:sp>
      <p:sp>
        <p:nvSpPr>
          <p:cNvPr id="19" name="Text 17"/>
          <p:cNvSpPr txBox="1"/>
          <p:nvPr/>
        </p:nvSpPr>
        <p:spPr>
          <a:xfrm>
            <a:off x="2988022" y="4839891"/>
            <a:ext cx="4582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USE…</a:t>
            </a:r>
            <a:endParaRPr lang="en-US" sz="960" dirty="0"/>
          </a:p>
        </p:txBody>
      </p:sp>
      <p:sp>
        <p:nvSpPr>
          <p:cNvPr id="20" name="Shape 18"/>
          <p:cNvSpPr/>
          <p:nvPr/>
        </p:nvSpPr>
        <p:spPr>
          <a:xfrm>
            <a:off x="611981" y="5629424"/>
            <a:ext cx="2280791" cy="0"/>
          </a:xfrm>
          <a:prstGeom prst="line">
            <a:avLst/>
          </a:prstGeom>
          <a:noFill/>
          <a:ln w="9525">
            <a:solidFill>
              <a:srgbClr val="EADCB8"/>
            </a:solidFill>
            <a:prstDash val="solid"/>
          </a:ln>
        </p:spPr>
      </p:sp>
      <p:sp>
        <p:nvSpPr>
          <p:cNvPr id="21" name="Text 19"/>
          <p:cNvSpPr txBox="1"/>
          <p:nvPr/>
        </p:nvSpPr>
        <p:spPr>
          <a:xfrm>
            <a:off x="707231" y="5148411"/>
            <a:ext cx="1031379"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Abóbora cabotiá</a:t>
            </a:r>
            <a:endParaRPr lang="en-US" sz="1170" dirty="0"/>
          </a:p>
        </p:txBody>
      </p:sp>
      <p:sp>
        <p:nvSpPr>
          <p:cNvPr id="22" name="Shape 20"/>
          <p:cNvSpPr/>
          <p:nvPr/>
        </p:nvSpPr>
        <p:spPr>
          <a:xfrm>
            <a:off x="2892772" y="5629424"/>
            <a:ext cx="4055120" cy="0"/>
          </a:xfrm>
          <a:prstGeom prst="line">
            <a:avLst/>
          </a:prstGeom>
          <a:noFill/>
          <a:ln w="9525">
            <a:solidFill>
              <a:srgbClr val="EADCB8"/>
            </a:solidFill>
            <a:prstDash val="solid"/>
          </a:ln>
        </p:spPr>
      </p:sp>
      <p:sp>
        <p:nvSpPr>
          <p:cNvPr id="23" name="Text 21"/>
          <p:cNvSpPr txBox="1"/>
          <p:nvPr/>
        </p:nvSpPr>
        <p:spPr>
          <a:xfrm>
            <a:off x="2988022" y="516746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Abóbora-paulista ou moranga (têm mais água: asse por mais tempo e escorra o purê numa peneira) ou batata-doce.</a:t>
            </a:r>
            <a:endParaRPr lang="en-US" sz="1100" dirty="0"/>
          </a:p>
        </p:txBody>
      </p:sp>
      <p:sp>
        <p:nvSpPr>
          <p:cNvPr id="24" name="Shape 22"/>
          <p:cNvSpPr/>
          <p:nvPr/>
        </p:nvSpPr>
        <p:spPr>
          <a:xfrm>
            <a:off x="611981" y="6191399"/>
            <a:ext cx="2280791" cy="0"/>
          </a:xfrm>
          <a:prstGeom prst="line">
            <a:avLst/>
          </a:prstGeom>
          <a:noFill/>
          <a:ln w="9525">
            <a:solidFill>
              <a:srgbClr val="EADCB8"/>
            </a:solidFill>
            <a:prstDash val="solid"/>
          </a:ln>
        </p:spPr>
      </p:sp>
      <p:sp>
        <p:nvSpPr>
          <p:cNvPr id="25" name="Text 23"/>
          <p:cNvSpPr txBox="1"/>
          <p:nvPr/>
        </p:nvSpPr>
        <p:spPr>
          <a:xfrm>
            <a:off x="707231" y="5710386"/>
            <a:ext cx="1265694"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Manteiga de garrafa</a:t>
            </a:r>
            <a:endParaRPr lang="en-US" sz="1170" dirty="0"/>
          </a:p>
        </p:txBody>
      </p:sp>
      <p:sp>
        <p:nvSpPr>
          <p:cNvPr id="26" name="Shape 24"/>
          <p:cNvSpPr/>
          <p:nvPr/>
        </p:nvSpPr>
        <p:spPr>
          <a:xfrm>
            <a:off x="2892772" y="6191399"/>
            <a:ext cx="4055120" cy="0"/>
          </a:xfrm>
          <a:prstGeom prst="line">
            <a:avLst/>
          </a:prstGeom>
          <a:noFill/>
          <a:ln w="9525">
            <a:solidFill>
              <a:srgbClr val="EADCB8"/>
            </a:solidFill>
            <a:prstDash val="solid"/>
          </a:ln>
        </p:spPr>
      </p:sp>
      <p:sp>
        <p:nvSpPr>
          <p:cNvPr id="27" name="Text 25"/>
          <p:cNvSpPr txBox="1"/>
          <p:nvPr/>
        </p:nvSpPr>
        <p:spPr>
          <a:xfrm>
            <a:off x="2988022" y="5729436"/>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Ghee ou manteiga comum com um fio de azeite (que evita que ela queime).</a:t>
            </a:r>
            <a:endParaRPr lang="en-US" sz="1100" dirty="0"/>
          </a:p>
        </p:txBody>
      </p:sp>
      <p:sp>
        <p:nvSpPr>
          <p:cNvPr id="28" name="Shape 26"/>
          <p:cNvSpPr/>
          <p:nvPr/>
        </p:nvSpPr>
        <p:spPr>
          <a:xfrm>
            <a:off x="611981" y="6543824"/>
            <a:ext cx="2280791" cy="0"/>
          </a:xfrm>
          <a:prstGeom prst="line">
            <a:avLst/>
          </a:prstGeom>
          <a:noFill/>
          <a:ln w="9525">
            <a:solidFill>
              <a:srgbClr val="EADCB8"/>
            </a:solidFill>
            <a:prstDash val="solid"/>
          </a:ln>
        </p:spPr>
      </p:sp>
      <p:sp>
        <p:nvSpPr>
          <p:cNvPr id="29" name="Text 27"/>
          <p:cNvSpPr txBox="1"/>
          <p:nvPr/>
        </p:nvSpPr>
        <p:spPr>
          <a:xfrm>
            <a:off x="707231" y="6272361"/>
            <a:ext cx="836116"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Sálvia fresca</a:t>
            </a:r>
            <a:endParaRPr lang="en-US" sz="1170" dirty="0"/>
          </a:p>
        </p:txBody>
      </p:sp>
      <p:sp>
        <p:nvSpPr>
          <p:cNvPr id="30" name="Shape 28"/>
          <p:cNvSpPr/>
          <p:nvPr/>
        </p:nvSpPr>
        <p:spPr>
          <a:xfrm>
            <a:off x="2892772" y="6543824"/>
            <a:ext cx="4055120" cy="0"/>
          </a:xfrm>
          <a:prstGeom prst="line">
            <a:avLst/>
          </a:prstGeom>
          <a:noFill/>
          <a:ln w="9525">
            <a:solidFill>
              <a:srgbClr val="EADCB8"/>
            </a:solidFill>
            <a:prstDash val="solid"/>
          </a:ln>
        </p:spPr>
      </p:sp>
      <p:sp>
        <p:nvSpPr>
          <p:cNvPr id="31" name="Text 29"/>
          <p:cNvSpPr txBox="1"/>
          <p:nvPr/>
        </p:nvSpPr>
        <p:spPr>
          <a:xfrm>
            <a:off x="2988022" y="6286329"/>
            <a:ext cx="20109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Alecrim ou tomilho frescos.</a:t>
            </a:r>
            <a:endParaRPr lang="en-US" sz="1100" dirty="0"/>
          </a:p>
        </p:txBody>
      </p:sp>
      <p:sp>
        <p:nvSpPr>
          <p:cNvPr id="32" name="Shape 30"/>
          <p:cNvSpPr/>
          <p:nvPr/>
        </p:nvSpPr>
        <p:spPr>
          <a:xfrm>
            <a:off x="611981" y="6896249"/>
            <a:ext cx="2280791" cy="0"/>
          </a:xfrm>
          <a:prstGeom prst="line">
            <a:avLst/>
          </a:prstGeom>
          <a:noFill/>
          <a:ln w="9525">
            <a:solidFill>
              <a:srgbClr val="EADCB8"/>
            </a:solidFill>
            <a:prstDash val="solid"/>
          </a:ln>
        </p:spPr>
      </p:sp>
      <p:sp>
        <p:nvSpPr>
          <p:cNvPr id="33" name="Text 31"/>
          <p:cNvSpPr txBox="1"/>
          <p:nvPr/>
        </p:nvSpPr>
        <p:spPr>
          <a:xfrm>
            <a:off x="707231" y="6624786"/>
            <a:ext cx="854125"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Queijo coalho</a:t>
            </a:r>
            <a:endParaRPr lang="en-US" sz="1170" dirty="0"/>
          </a:p>
        </p:txBody>
      </p:sp>
      <p:sp>
        <p:nvSpPr>
          <p:cNvPr id="34" name="Shape 32"/>
          <p:cNvSpPr/>
          <p:nvPr/>
        </p:nvSpPr>
        <p:spPr>
          <a:xfrm>
            <a:off x="2892772" y="6896249"/>
            <a:ext cx="4055120" cy="0"/>
          </a:xfrm>
          <a:prstGeom prst="line">
            <a:avLst/>
          </a:prstGeom>
          <a:noFill/>
          <a:ln w="9525">
            <a:solidFill>
              <a:srgbClr val="EADCB8"/>
            </a:solidFill>
            <a:prstDash val="solid"/>
          </a:ln>
        </p:spPr>
      </p:sp>
      <p:sp>
        <p:nvSpPr>
          <p:cNvPr id="35" name="Text 33"/>
          <p:cNvSpPr txBox="1"/>
          <p:nvPr/>
        </p:nvSpPr>
        <p:spPr>
          <a:xfrm>
            <a:off x="2988022" y="6638754"/>
            <a:ext cx="306341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Queijo meia-cura ou muçarela em cubos.</a:t>
            </a:r>
            <a:endParaRPr lang="en-US" sz="1100" dirty="0"/>
          </a:p>
        </p:txBody>
      </p:sp>
      <p:sp>
        <p:nvSpPr>
          <p:cNvPr id="36" name="Shape 34"/>
          <p:cNvSpPr/>
          <p:nvPr/>
        </p:nvSpPr>
        <p:spPr>
          <a:xfrm>
            <a:off x="611981" y="7248674"/>
            <a:ext cx="2280791" cy="0"/>
          </a:xfrm>
          <a:prstGeom prst="line">
            <a:avLst/>
          </a:prstGeom>
          <a:noFill/>
          <a:ln w="9525">
            <a:solidFill>
              <a:srgbClr val="EADCB8"/>
            </a:solidFill>
            <a:prstDash val="solid"/>
          </a:ln>
        </p:spPr>
      </p:sp>
      <p:sp>
        <p:nvSpPr>
          <p:cNvPr id="37" name="Text 35"/>
          <p:cNvSpPr txBox="1"/>
          <p:nvPr/>
        </p:nvSpPr>
        <p:spPr>
          <a:xfrm>
            <a:off x="707231" y="6977211"/>
            <a:ext cx="85501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Leite de coco</a:t>
            </a:r>
            <a:endParaRPr lang="en-US" sz="1170" dirty="0"/>
          </a:p>
        </p:txBody>
      </p:sp>
      <p:sp>
        <p:nvSpPr>
          <p:cNvPr id="38" name="Shape 36"/>
          <p:cNvSpPr/>
          <p:nvPr/>
        </p:nvSpPr>
        <p:spPr>
          <a:xfrm>
            <a:off x="2892772" y="7248674"/>
            <a:ext cx="4055120" cy="0"/>
          </a:xfrm>
          <a:prstGeom prst="line">
            <a:avLst/>
          </a:prstGeom>
          <a:noFill/>
          <a:ln w="9525">
            <a:solidFill>
              <a:srgbClr val="EADCB8"/>
            </a:solidFill>
            <a:prstDash val="solid"/>
          </a:ln>
        </p:spPr>
      </p:sp>
      <p:sp>
        <p:nvSpPr>
          <p:cNvPr id="39" name="Text 37"/>
          <p:cNvSpPr txBox="1"/>
          <p:nvPr/>
        </p:nvSpPr>
        <p:spPr>
          <a:xfrm>
            <a:off x="2988022" y="6991179"/>
            <a:ext cx="452538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200 ml de leite com 2 colheres (sopa) a mais de coco ralado.</a:t>
            </a:r>
            <a:endParaRPr lang="en-US" sz="1100" dirty="0"/>
          </a:p>
        </p:txBody>
      </p:sp>
      <p:sp>
        <p:nvSpPr>
          <p:cNvPr id="40" name="Shape 38"/>
          <p:cNvSpPr/>
          <p:nvPr/>
        </p:nvSpPr>
        <p:spPr>
          <a:xfrm>
            <a:off x="611981" y="7601099"/>
            <a:ext cx="2280791" cy="0"/>
          </a:xfrm>
          <a:prstGeom prst="line">
            <a:avLst/>
          </a:prstGeom>
          <a:noFill/>
          <a:ln w="9525">
            <a:solidFill>
              <a:srgbClr val="EADCB8"/>
            </a:solidFill>
            <a:prstDash val="solid"/>
          </a:ln>
        </p:spPr>
      </p:sp>
      <p:sp>
        <p:nvSpPr>
          <p:cNvPr id="41" name="Text 39"/>
          <p:cNvSpPr txBox="1"/>
          <p:nvPr/>
        </p:nvSpPr>
        <p:spPr>
          <a:xfrm>
            <a:off x="707231" y="7329636"/>
            <a:ext cx="549473"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Laranja</a:t>
            </a:r>
            <a:endParaRPr lang="en-US" sz="1170" dirty="0"/>
          </a:p>
        </p:txBody>
      </p:sp>
      <p:sp>
        <p:nvSpPr>
          <p:cNvPr id="42" name="Shape 40"/>
          <p:cNvSpPr/>
          <p:nvPr/>
        </p:nvSpPr>
        <p:spPr>
          <a:xfrm>
            <a:off x="2892772" y="7601099"/>
            <a:ext cx="4055120" cy="0"/>
          </a:xfrm>
          <a:prstGeom prst="line">
            <a:avLst/>
          </a:prstGeom>
          <a:noFill/>
          <a:ln w="9525">
            <a:solidFill>
              <a:srgbClr val="EADCB8"/>
            </a:solidFill>
            <a:prstDash val="solid"/>
          </a:ln>
        </p:spPr>
      </p:sp>
      <p:sp>
        <p:nvSpPr>
          <p:cNvPr id="43" name="Text 41"/>
          <p:cNvSpPr txBox="1"/>
          <p:nvPr/>
        </p:nvSpPr>
        <p:spPr>
          <a:xfrm>
            <a:off x="2988022" y="7343604"/>
            <a:ext cx="455414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Tangerina, ou metade da quantidade de raspas de limão-taiti.</a:t>
            </a:r>
            <a:endParaRPr lang="en-US" sz="1100" dirty="0"/>
          </a:p>
        </p:txBody>
      </p:sp>
      <p:sp>
        <p:nvSpPr>
          <p:cNvPr id="44" name="Text 42"/>
          <p:cNvSpPr txBox="1"/>
          <p:nvPr/>
        </p:nvSpPr>
        <p:spPr>
          <a:xfrm>
            <a:off x="5909965"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43117" y="10253663"/>
            <a:ext cx="257175"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13</a:t>
            </a:r>
            <a:endParaRPr lang="en-US" sz="8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11981" y="566440"/>
            <a:ext cx="2385477"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APROVEITA ISSO TAMBÉM · ABÓBORA</a:t>
            </a:r>
            <a:endParaRPr lang="en-US" sz="960" dirty="0"/>
          </a:p>
        </p:txBody>
      </p:sp>
      <p:sp>
        <p:nvSpPr>
          <p:cNvPr id="3" name="Text 1"/>
          <p:cNvSpPr txBox="1"/>
          <p:nvPr/>
        </p:nvSpPr>
        <p:spPr>
          <a:xfrm>
            <a:off x="611981" y="779960"/>
            <a:ext cx="294965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NADA VAI PARA O LIXO</a:t>
            </a:r>
            <a:endParaRPr lang="en-US" sz="2420" dirty="0"/>
          </a:p>
        </p:txBody>
      </p:sp>
      <p:sp>
        <p:nvSpPr>
          <p:cNvPr id="4" name="Text 2"/>
          <p:cNvSpPr txBox="1"/>
          <p:nvPr/>
        </p:nvSpPr>
        <p:spPr>
          <a:xfrm>
            <a:off x="611981" y="1377818"/>
            <a:ext cx="348400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CASCA: CHIPS CROCANTES TEMPERADOS</a:t>
            </a:r>
            <a:endParaRPr lang="en-US" sz="1650" dirty="0"/>
          </a:p>
        </p:txBody>
      </p:sp>
      <p:sp>
        <p:nvSpPr>
          <p:cNvPr id="5" name="Text 3"/>
          <p:cNvSpPr txBox="1"/>
          <p:nvPr/>
        </p:nvSpPr>
        <p:spPr>
          <a:xfrm>
            <a:off x="611981" y="1774924"/>
            <a:ext cx="6335911" cy="8001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Quando a receita pedir abóbora descascada, tire a casca em tiras finas com um descascador de legumes. Misture com um fio de azeite, sal e páprica e espalhe sem amontoar. Leve à airfryer a 180 °C por 8 a 12 minutos, chacoalhando na metade, ou ao forno a 160 °C por 20 a 25 minutos. Elas ficam crocantes ao esfriar.</a:t>
            </a:r>
            <a:endParaRPr lang="en-US" sz="1100" dirty="0"/>
          </a:p>
        </p:txBody>
      </p:sp>
      <p:sp>
        <p:nvSpPr>
          <p:cNvPr id="6" name="Text 4"/>
          <p:cNvSpPr txBox="1"/>
          <p:nvPr/>
        </p:nvSpPr>
        <p:spPr>
          <a:xfrm>
            <a:off x="611981" y="2848389"/>
            <a:ext cx="4336256"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SEMENTES: SNACK CROCANTE COM PÁPRICA E SAL</a:t>
            </a:r>
            <a:endParaRPr lang="en-US" sz="1650" dirty="0"/>
          </a:p>
        </p:txBody>
      </p:sp>
      <p:sp>
        <p:nvSpPr>
          <p:cNvPr id="7" name="Text 5"/>
          <p:cNvSpPr txBox="1"/>
          <p:nvPr/>
        </p:nvSpPr>
        <p:spPr>
          <a:xfrm>
            <a:off x="611981" y="3245495"/>
            <a:ext cx="6335911" cy="8001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Lave as sementes numa peneira, separando as fibras, e seque muito bem com um pano. Tempere com um fio de azeite, sal e páprica defumada e asse a 160 °C por 20 a 25 minutos, mexendo de vez em quando, até dourarem e estalarem. Use como petisco ou para dar crocância a saladas, sopas e ao próprio nhoque.</a:t>
            </a:r>
            <a:endParaRPr lang="en-US" sz="1100" dirty="0"/>
          </a:p>
        </p:txBody>
      </p:sp>
      <p:sp>
        <p:nvSpPr>
          <p:cNvPr id="8" name="Text 6"/>
          <p:cNvSpPr txBox="1"/>
          <p:nvPr/>
        </p:nvSpPr>
        <p:spPr>
          <a:xfrm>
            <a:off x="5904905"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9" name="Text 7"/>
          <p:cNvSpPr txBox="1"/>
          <p:nvPr/>
        </p:nvSpPr>
        <p:spPr>
          <a:xfrm>
            <a:off x="6838057" y="10253663"/>
            <a:ext cx="262235"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14</a:t>
            </a:r>
            <a:endParaRPr lang="en-US" sz="8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11981" y="566440"/>
            <a:ext cx="86677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02</a:t>
            </a:r>
            <a:endParaRPr lang="en-US" sz="960" dirty="0"/>
          </a:p>
        </p:txBody>
      </p:sp>
      <p:sp>
        <p:nvSpPr>
          <p:cNvPr id="3" name="Text 1"/>
          <p:cNvSpPr txBox="1"/>
          <p:nvPr/>
        </p:nvSpPr>
        <p:spPr>
          <a:xfrm>
            <a:off x="611981" y="779960"/>
            <a:ext cx="260282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BANANA-DA-TERRA</a:t>
            </a:r>
            <a:endParaRPr lang="en-US" sz="2420" dirty="0"/>
          </a:p>
        </p:txBody>
      </p:sp>
      <p:sp>
        <p:nvSpPr>
          <p:cNvPr id="4" name="Text 2"/>
          <p:cNvSpPr txBox="1"/>
          <p:nvPr/>
        </p:nvSpPr>
        <p:spPr>
          <a:xfrm>
            <a:off x="611981" y="1263518"/>
            <a:ext cx="2199918"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OU BANANA-PRATA FIRME</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ingrediente nacional por excelência. Transita entre o salgado e o doce e leva sofisticação ao prato sem pesar no bolso.</a:t>
            </a:r>
            <a:endParaRPr lang="en-US" sz="1100" dirty="0"/>
          </a:p>
        </p:txBody>
      </p:sp>
      <p:sp>
        <p:nvSpPr>
          <p:cNvPr id="6" name="Text 4"/>
          <p:cNvSpPr txBox="1"/>
          <p:nvPr/>
        </p:nvSpPr>
        <p:spPr>
          <a:xfrm>
            <a:off x="611981" y="2429289"/>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7" name="Text 5"/>
          <p:cNvSpPr txBox="1"/>
          <p:nvPr/>
        </p:nvSpPr>
        <p:spPr>
          <a:xfrm>
            <a:off x="611981" y="2775909"/>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8" name="Text 6"/>
          <p:cNvSpPr txBox="1"/>
          <p:nvPr/>
        </p:nvSpPr>
        <p:spPr>
          <a:xfrm>
            <a:off x="1031081" y="2797820"/>
            <a:ext cx="188577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RÁPIDA DE FRIGIDEIRA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17</a:t>
            </a:r>
            <a:endParaRPr lang="en-US" sz="1320" dirty="0"/>
          </a:p>
        </p:txBody>
      </p:sp>
      <p:sp>
        <p:nvSpPr>
          <p:cNvPr id="9" name="Text 7"/>
          <p:cNvSpPr txBox="1"/>
          <p:nvPr/>
        </p:nvSpPr>
        <p:spPr>
          <a:xfrm>
            <a:off x="1031081" y="3108105"/>
            <a:ext cx="512189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Moqueca expressa de frigideira com banana, leite de coco e pimenta</a:t>
            </a:r>
            <a:endParaRPr lang="en-US" sz="1100" dirty="0"/>
          </a:p>
        </p:txBody>
      </p:sp>
      <p:sp>
        <p:nvSpPr>
          <p:cNvPr id="10" name="Text 8"/>
          <p:cNvSpPr txBox="1"/>
          <p:nvPr/>
        </p:nvSpPr>
        <p:spPr>
          <a:xfrm>
            <a:off x="611981" y="3424651"/>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11" name="Text 9"/>
          <p:cNvSpPr txBox="1"/>
          <p:nvPr/>
        </p:nvSpPr>
        <p:spPr>
          <a:xfrm>
            <a:off x="1031081" y="3446562"/>
            <a:ext cx="223635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TEXTURA SURPREENDENTE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19</a:t>
            </a:r>
            <a:endParaRPr lang="en-US" sz="1320" dirty="0"/>
          </a:p>
        </p:txBody>
      </p:sp>
      <p:sp>
        <p:nvSpPr>
          <p:cNvPr id="12" name="Text 10"/>
          <p:cNvSpPr txBox="1"/>
          <p:nvPr/>
        </p:nvSpPr>
        <p:spPr>
          <a:xfrm>
            <a:off x="1031081" y="3756846"/>
            <a:ext cx="41256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Purê aveludado de banana grelhada com noz-moscada</a:t>
            </a:r>
            <a:endParaRPr lang="en-US" sz="1100" dirty="0"/>
          </a:p>
        </p:txBody>
      </p:sp>
      <p:sp>
        <p:nvSpPr>
          <p:cNvPr id="13" name="Text 11"/>
          <p:cNvSpPr txBox="1"/>
          <p:nvPr/>
        </p:nvSpPr>
        <p:spPr>
          <a:xfrm>
            <a:off x="611981" y="4073393"/>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4" name="Text 12"/>
          <p:cNvSpPr txBox="1"/>
          <p:nvPr/>
        </p:nvSpPr>
        <p:spPr>
          <a:xfrm>
            <a:off x="1031081" y="4095304"/>
            <a:ext cx="179772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SOBREMESA DE CHEF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21</a:t>
            </a:r>
            <a:endParaRPr lang="en-US" sz="1320" dirty="0"/>
          </a:p>
        </p:txBody>
      </p:sp>
      <p:sp>
        <p:nvSpPr>
          <p:cNvPr id="15" name="Text 13"/>
          <p:cNvSpPr txBox="1"/>
          <p:nvPr/>
        </p:nvSpPr>
        <p:spPr>
          <a:xfrm>
            <a:off x="1031081" y="4405588"/>
            <a:ext cx="622970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Bananas flambadas no rum ou na cachaça com crosta de açúcar mascavo e canela</a:t>
            </a:r>
            <a:endParaRPr lang="en-US" sz="1100" dirty="0"/>
          </a:p>
        </p:txBody>
      </p:sp>
      <p:sp>
        <p:nvSpPr>
          <p:cNvPr id="16" name="Text 14"/>
          <p:cNvSpPr txBox="1"/>
          <p:nvPr/>
        </p:nvSpPr>
        <p:spPr>
          <a:xfrm>
            <a:off x="590951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17" name="Text 15"/>
          <p:cNvSpPr txBox="1"/>
          <p:nvPr/>
        </p:nvSpPr>
        <p:spPr>
          <a:xfrm>
            <a:off x="6842671" y="10253663"/>
            <a:ext cx="257621"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15</a:t>
            </a:r>
            <a:endParaRPr lang="en-US" sz="8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11981" y="566440"/>
            <a:ext cx="151715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02 · BANANA</a:t>
            </a:r>
            <a:endParaRPr lang="en-US" sz="960" dirty="0"/>
          </a:p>
        </p:txBody>
      </p:sp>
      <p:sp>
        <p:nvSpPr>
          <p:cNvPr id="3" name="Text 1"/>
          <p:cNvSpPr txBox="1"/>
          <p:nvPr/>
        </p:nvSpPr>
        <p:spPr>
          <a:xfrm>
            <a:off x="611981" y="779960"/>
            <a:ext cx="200346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INGREDIENTE</a:t>
            </a:r>
            <a:endParaRPr lang="en-US" sz="2420" dirty="0"/>
          </a:p>
        </p:txBody>
      </p:sp>
      <p:sp>
        <p:nvSpPr>
          <p:cNvPr id="4" name="Text 2"/>
          <p:cNvSpPr txBox="1"/>
          <p:nvPr/>
        </p:nvSpPr>
        <p:spPr>
          <a:xfrm>
            <a:off x="611981" y="14092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banana-da-terra é uma banana de cozinhar. Crua, ela é dura e pouco agradável; no fogo, vira outra coisa: macia, caramelizada, cheia de sabor.</a:t>
            </a:r>
            <a:endParaRPr lang="en-US" sz="1100" dirty="0"/>
          </a:p>
        </p:txBody>
      </p:sp>
      <p:sp>
        <p:nvSpPr>
          <p:cNvPr id="5" name="Text 3"/>
          <p:cNvSpPr txBox="1"/>
          <p:nvPr/>
        </p:nvSpPr>
        <p:spPr>
          <a:xfrm>
            <a:off x="611981" y="194265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segredo está no estágio de maturação. Verde, ela é rica em amido e se comporta quase como uma batata. Amarela com pintinhas pretas, fica no ponto mais versátil: doce, mas firme. Com a casca quase toda preta, está doce e macia, perfeita para purês e sobremesas.</a:t>
            </a:r>
            <a:endParaRPr lang="en-US" sz="1100" dirty="0"/>
          </a:p>
        </p:txBody>
      </p:sp>
      <p:sp>
        <p:nvSpPr>
          <p:cNvPr id="6" name="Text 4"/>
          <p:cNvSpPr txBox="1"/>
          <p:nvPr/>
        </p:nvSpPr>
        <p:spPr>
          <a:xfrm>
            <a:off x="611981" y="268560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Aprender a ler a casca é aprender a escolher o que fazer com ela. E, no fim, a própria casca ainda vira recheio.</a:t>
            </a:r>
            <a:endParaRPr lang="en-US" sz="1100" dirty="0"/>
          </a:p>
        </p:txBody>
      </p:sp>
      <p:sp>
        <p:nvSpPr>
          <p:cNvPr id="7" name="Text 5"/>
          <p:cNvSpPr txBox="1"/>
          <p:nvPr/>
        </p:nvSpPr>
        <p:spPr>
          <a:xfrm>
            <a:off x="611981" y="3339968"/>
            <a:ext cx="158752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ANTES DA PANELA</a:t>
            </a:r>
            <a:endParaRPr lang="en-US" sz="1650" dirty="0"/>
          </a:p>
        </p:txBody>
      </p:sp>
      <p:sp>
        <p:nvSpPr>
          <p:cNvPr id="8" name="Text 6"/>
          <p:cNvSpPr txBox="1"/>
          <p:nvPr/>
        </p:nvSpPr>
        <p:spPr>
          <a:xfrm>
            <a:off x="611981" y="3698974"/>
            <a:ext cx="159109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NA HORA DE ESCOLHER</a:t>
            </a:r>
            <a:endParaRPr lang="en-US" sz="1320" dirty="0"/>
          </a:p>
        </p:txBody>
      </p:sp>
      <p:sp>
        <p:nvSpPr>
          <p:cNvPr id="9" name="Shape 7"/>
          <p:cNvSpPr/>
          <p:nvPr/>
        </p:nvSpPr>
        <p:spPr>
          <a:xfrm>
            <a:off x="631031" y="4072382"/>
            <a:ext cx="66675" cy="66675"/>
          </a:xfrm>
          <a:prstGeom prst="ellipse">
            <a:avLst/>
          </a:prstGeom>
          <a:solidFill>
            <a:srgbClr val="F96015"/>
          </a:solidFill>
          <a:ln/>
        </p:spPr>
      </p:sp>
      <p:sp>
        <p:nvSpPr>
          <p:cNvPr id="10" name="Text 8"/>
          <p:cNvSpPr txBox="1"/>
          <p:nvPr/>
        </p:nvSpPr>
        <p:spPr>
          <a:xfrm>
            <a:off x="783431" y="4014341"/>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Escolha pelo uso: amarela com pintas para as receitas deste capítulo; mais verde se for fritar em chips; bem madura para doces.</a:t>
            </a:r>
            <a:endParaRPr lang="en-US" sz="1100" dirty="0"/>
          </a:p>
        </p:txBody>
      </p:sp>
      <p:sp>
        <p:nvSpPr>
          <p:cNvPr id="11" name="Shape 9"/>
          <p:cNvSpPr/>
          <p:nvPr/>
        </p:nvSpPr>
        <p:spPr>
          <a:xfrm>
            <a:off x="631031" y="4548632"/>
            <a:ext cx="66675" cy="66675"/>
          </a:xfrm>
          <a:prstGeom prst="ellipse">
            <a:avLst/>
          </a:prstGeom>
          <a:solidFill>
            <a:srgbClr val="F96015"/>
          </a:solidFill>
          <a:ln/>
        </p:spPr>
      </p:sp>
      <p:sp>
        <p:nvSpPr>
          <p:cNvPr id="12" name="Text 10"/>
          <p:cNvSpPr txBox="1"/>
          <p:nvPr/>
        </p:nvSpPr>
        <p:spPr>
          <a:xfrm>
            <a:off x="783431" y="4485509"/>
            <a:ext cx="422785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 fruta deve estar firme ao toque, sem partes afundadas.</a:t>
            </a:r>
            <a:endParaRPr lang="en-US" sz="1100" dirty="0"/>
          </a:p>
        </p:txBody>
      </p:sp>
      <p:sp>
        <p:nvSpPr>
          <p:cNvPr id="13" name="Shape 11"/>
          <p:cNvSpPr/>
          <p:nvPr/>
        </p:nvSpPr>
        <p:spPr>
          <a:xfrm>
            <a:off x="631031" y="4815332"/>
            <a:ext cx="66675" cy="66675"/>
          </a:xfrm>
          <a:prstGeom prst="ellipse">
            <a:avLst/>
          </a:prstGeom>
          <a:solidFill>
            <a:srgbClr val="F96015"/>
          </a:solidFill>
          <a:ln/>
        </p:spPr>
      </p:sp>
      <p:sp>
        <p:nvSpPr>
          <p:cNvPr id="14" name="Text 12"/>
          <p:cNvSpPr txBox="1"/>
          <p:nvPr/>
        </p:nvSpPr>
        <p:spPr>
          <a:xfrm>
            <a:off x="783431" y="4752209"/>
            <a:ext cx="502866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Evite pontas com bolor ou casca rachada, por onde a fruta resseca.</a:t>
            </a:r>
            <a:endParaRPr lang="en-US" sz="1100" dirty="0"/>
          </a:p>
        </p:txBody>
      </p:sp>
      <p:sp>
        <p:nvSpPr>
          <p:cNvPr id="15" name="Text 13"/>
          <p:cNvSpPr txBox="1"/>
          <p:nvPr/>
        </p:nvSpPr>
        <p:spPr>
          <a:xfrm>
            <a:off x="611981" y="5119241"/>
            <a:ext cx="107477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COMO GUARDAR</a:t>
            </a:r>
            <a:endParaRPr lang="en-US" sz="1320" dirty="0"/>
          </a:p>
        </p:txBody>
      </p:sp>
      <p:sp>
        <p:nvSpPr>
          <p:cNvPr id="16" name="Shape 14"/>
          <p:cNvSpPr/>
          <p:nvPr/>
        </p:nvSpPr>
        <p:spPr>
          <a:xfrm>
            <a:off x="631031" y="5492649"/>
            <a:ext cx="66675" cy="66675"/>
          </a:xfrm>
          <a:prstGeom prst="ellipse">
            <a:avLst/>
          </a:prstGeom>
          <a:solidFill>
            <a:srgbClr val="F96015"/>
          </a:solidFill>
          <a:ln/>
        </p:spPr>
      </p:sp>
      <p:sp>
        <p:nvSpPr>
          <p:cNvPr id="17" name="Text 15"/>
          <p:cNvSpPr txBox="1"/>
          <p:nvPr/>
        </p:nvSpPr>
        <p:spPr>
          <a:xfrm>
            <a:off x="783431" y="5429526"/>
            <a:ext cx="516868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Fora da geladeira, de preferência penduradas, longe de outras frutas.</a:t>
            </a:r>
            <a:endParaRPr lang="en-US" sz="1100" dirty="0"/>
          </a:p>
        </p:txBody>
      </p:sp>
      <p:sp>
        <p:nvSpPr>
          <p:cNvPr id="18" name="Shape 16"/>
          <p:cNvSpPr/>
          <p:nvPr/>
        </p:nvSpPr>
        <p:spPr>
          <a:xfrm>
            <a:off x="631031" y="5759349"/>
            <a:ext cx="66675" cy="66675"/>
          </a:xfrm>
          <a:prstGeom prst="ellipse">
            <a:avLst/>
          </a:prstGeom>
          <a:solidFill>
            <a:srgbClr val="F96015"/>
          </a:solidFill>
          <a:ln/>
        </p:spPr>
      </p:sp>
      <p:sp>
        <p:nvSpPr>
          <p:cNvPr id="19" name="Text 17"/>
          <p:cNvSpPr txBox="1"/>
          <p:nvPr/>
        </p:nvSpPr>
        <p:spPr>
          <a:xfrm>
            <a:off x="783431" y="5696226"/>
            <a:ext cx="497294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Para amadurecer mais rápido, guarde num saco de papel fechado.</a:t>
            </a:r>
            <a:endParaRPr lang="en-US" sz="1100" dirty="0"/>
          </a:p>
        </p:txBody>
      </p:sp>
      <p:sp>
        <p:nvSpPr>
          <p:cNvPr id="20" name="Shape 18"/>
          <p:cNvSpPr/>
          <p:nvPr/>
        </p:nvSpPr>
        <p:spPr>
          <a:xfrm>
            <a:off x="631031" y="6026049"/>
            <a:ext cx="66675" cy="66675"/>
          </a:xfrm>
          <a:prstGeom prst="ellipse">
            <a:avLst/>
          </a:prstGeom>
          <a:solidFill>
            <a:srgbClr val="F96015"/>
          </a:solidFill>
          <a:ln/>
        </p:spPr>
      </p:sp>
      <p:sp>
        <p:nvSpPr>
          <p:cNvPr id="21" name="Text 19"/>
          <p:cNvSpPr txBox="1"/>
          <p:nvPr/>
        </p:nvSpPr>
        <p:spPr>
          <a:xfrm>
            <a:off x="783431" y="5962926"/>
            <a:ext cx="67788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Para frear o amadurecimento, leve à geladeira: a casca escurece, mas a polpa se mantém.</a:t>
            </a:r>
            <a:endParaRPr lang="en-US" sz="1100" dirty="0"/>
          </a:p>
        </p:txBody>
      </p:sp>
      <p:sp>
        <p:nvSpPr>
          <p:cNvPr id="22" name="Shape 20"/>
          <p:cNvSpPr/>
          <p:nvPr/>
        </p:nvSpPr>
        <p:spPr>
          <a:xfrm>
            <a:off x="631031" y="6292749"/>
            <a:ext cx="66675" cy="66675"/>
          </a:xfrm>
          <a:prstGeom prst="ellipse">
            <a:avLst/>
          </a:prstGeom>
          <a:solidFill>
            <a:srgbClr val="F96015"/>
          </a:solidFill>
          <a:ln/>
        </p:spPr>
      </p:sp>
      <p:sp>
        <p:nvSpPr>
          <p:cNvPr id="23" name="Text 21"/>
          <p:cNvSpPr txBox="1"/>
          <p:nvPr/>
        </p:nvSpPr>
        <p:spPr>
          <a:xfrm>
            <a:off x="783431" y="6229626"/>
            <a:ext cx="607147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Maduras demais? Descasque, corte e congele em saco fechado por até 3 meses.</a:t>
            </a:r>
            <a:endParaRPr lang="en-US" sz="1100" dirty="0"/>
          </a:p>
        </p:txBody>
      </p:sp>
      <p:sp>
        <p:nvSpPr>
          <p:cNvPr id="24" name="Text 22"/>
          <p:cNvSpPr txBox="1"/>
          <p:nvPr/>
        </p:nvSpPr>
        <p:spPr>
          <a:xfrm>
            <a:off x="611981" y="6596658"/>
            <a:ext cx="16857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PRÉ-PREPARO E CORTES</a:t>
            </a:r>
            <a:endParaRPr lang="en-US" sz="1320" dirty="0"/>
          </a:p>
        </p:txBody>
      </p:sp>
      <p:sp>
        <p:nvSpPr>
          <p:cNvPr id="25" name="Shape 23"/>
          <p:cNvSpPr/>
          <p:nvPr/>
        </p:nvSpPr>
        <p:spPr>
          <a:xfrm>
            <a:off x="631031" y="6970066"/>
            <a:ext cx="66675" cy="66675"/>
          </a:xfrm>
          <a:prstGeom prst="ellipse">
            <a:avLst/>
          </a:prstGeom>
          <a:solidFill>
            <a:srgbClr val="F96015"/>
          </a:solidFill>
          <a:ln/>
        </p:spPr>
      </p:sp>
      <p:sp>
        <p:nvSpPr>
          <p:cNvPr id="26" name="Text 24"/>
          <p:cNvSpPr txBox="1"/>
          <p:nvPr/>
        </p:nvSpPr>
        <p:spPr>
          <a:xfrm>
            <a:off x="783431" y="691202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Para descascar a banana-da-terra: corte as duas pontas, faça um talho raso ao longo da casca e solte-a com o polegar.</a:t>
            </a:r>
            <a:endParaRPr lang="en-US" sz="1100" dirty="0"/>
          </a:p>
        </p:txBody>
      </p:sp>
      <p:sp>
        <p:nvSpPr>
          <p:cNvPr id="27" name="Shape 25"/>
          <p:cNvSpPr/>
          <p:nvPr/>
        </p:nvSpPr>
        <p:spPr>
          <a:xfrm>
            <a:off x="631031" y="7446316"/>
            <a:ext cx="66675" cy="66675"/>
          </a:xfrm>
          <a:prstGeom prst="ellipse">
            <a:avLst/>
          </a:prstGeom>
          <a:solidFill>
            <a:srgbClr val="F96015"/>
          </a:solidFill>
          <a:ln/>
        </p:spPr>
      </p:sp>
      <p:sp>
        <p:nvSpPr>
          <p:cNvPr id="28" name="Text 26"/>
          <p:cNvSpPr txBox="1"/>
          <p:nvPr/>
        </p:nvSpPr>
        <p:spPr>
          <a:xfrm>
            <a:off x="783431" y="7383193"/>
            <a:ext cx="47209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Rodelas grossas em diagonal (2 cm) para frigideira e moqueca.</a:t>
            </a:r>
            <a:endParaRPr lang="en-US" sz="1100" dirty="0"/>
          </a:p>
        </p:txBody>
      </p:sp>
      <p:sp>
        <p:nvSpPr>
          <p:cNvPr id="29" name="Shape 27"/>
          <p:cNvSpPr/>
          <p:nvPr/>
        </p:nvSpPr>
        <p:spPr>
          <a:xfrm>
            <a:off x="631031" y="7713016"/>
            <a:ext cx="66675" cy="66675"/>
          </a:xfrm>
          <a:prstGeom prst="ellipse">
            <a:avLst/>
          </a:prstGeom>
          <a:solidFill>
            <a:srgbClr val="F96015"/>
          </a:solidFill>
          <a:ln/>
        </p:spPr>
      </p:sp>
      <p:sp>
        <p:nvSpPr>
          <p:cNvPr id="30" name="Text 28"/>
          <p:cNvSpPr txBox="1"/>
          <p:nvPr/>
        </p:nvSpPr>
        <p:spPr>
          <a:xfrm>
            <a:off x="783431" y="7649893"/>
            <a:ext cx="361295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Lâminas no comprimento para grelhar e flambar.</a:t>
            </a:r>
            <a:endParaRPr lang="en-US" sz="1100" dirty="0"/>
          </a:p>
        </p:txBody>
      </p:sp>
      <p:sp>
        <p:nvSpPr>
          <p:cNvPr id="31" name="Text 29"/>
          <p:cNvSpPr txBox="1"/>
          <p:nvPr/>
        </p:nvSpPr>
        <p:spPr>
          <a:xfrm>
            <a:off x="590951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2" name="Text 30"/>
          <p:cNvSpPr txBox="1"/>
          <p:nvPr/>
        </p:nvSpPr>
        <p:spPr>
          <a:xfrm>
            <a:off x="6842671" y="10253663"/>
            <a:ext cx="257621"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16</a:t>
            </a:r>
            <a:endParaRPr lang="en-US" sz="8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11981" y="566440"/>
            <a:ext cx="26499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01</a:t>
            </a:r>
            <a:endParaRPr lang="en-US" sz="960" dirty="0"/>
          </a:p>
        </p:txBody>
      </p:sp>
      <p:sp>
        <p:nvSpPr>
          <p:cNvPr id="3" name="Text 1"/>
          <p:cNvSpPr txBox="1"/>
          <p:nvPr/>
        </p:nvSpPr>
        <p:spPr>
          <a:xfrm>
            <a:off x="611981" y="779960"/>
            <a:ext cx="2850892"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MOQUECA DE BANANA</a:t>
            </a:r>
            <a:endParaRPr lang="en-US" sz="2420" dirty="0"/>
          </a:p>
        </p:txBody>
      </p:sp>
      <p:sp>
        <p:nvSpPr>
          <p:cNvPr id="4" name="Text 2"/>
          <p:cNvSpPr txBox="1"/>
          <p:nvPr/>
        </p:nvSpPr>
        <p:spPr>
          <a:xfrm>
            <a:off x="611981" y="1404171"/>
            <a:ext cx="512189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Moqueca expressa de frigideira com banana, leite de coco e pimenta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50934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bananas-da-terra maduras e firmes, em rodelas diagonais de 2 cm</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27660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azeite de dendê</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5087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em rodelas</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220670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pimentão vermelho em tiras</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16109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tomates em rodelas</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dentes de alho picados</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7228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200 ml de leite de coco</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532620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pimenta dedo-de-moça (ou pimenta-de-cheiro) picada, sem sementes</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124783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de ½ limão</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291465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Coentro (ou cheiro-verde) e sal a gosto</a:t>
            </a:r>
            <a:endParaRPr lang="en-US" sz="1100" dirty="0"/>
          </a:p>
        </p:txBody>
      </p:sp>
      <p:sp>
        <p:nvSpPr>
          <p:cNvPr id="26" name="Text 24"/>
          <p:cNvSpPr txBox="1"/>
          <p:nvPr/>
        </p:nvSpPr>
        <p:spPr>
          <a:xfrm>
            <a:off x="611981" y="49425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11981" y="566440"/>
            <a:ext cx="1957923"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01 · BANANA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MOQUECA EXPRESSA DE FRIGIDEIRA COM BANANA, LEITE DE COCO E PIMENTA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RÁPIDA DE FRIGIDEIRA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(sem peixe, mas cheia de sabor)</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7655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61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3 bananas-da-terra maduras e firmes, em rodelas diagonais de 2 cm</a:t>
            </a:r>
            <a:endParaRPr lang="en-US" sz="1100" dirty="0"/>
          </a:p>
        </p:txBody>
      </p:sp>
      <p:sp>
        <p:nvSpPr>
          <p:cNvPr id="16" name="Shape 14"/>
          <p:cNvSpPr/>
          <p:nvPr/>
        </p:nvSpPr>
        <p:spPr>
          <a:xfrm>
            <a:off x="631031" y="3612354"/>
            <a:ext cx="66675" cy="66675"/>
          </a:xfrm>
          <a:prstGeom prst="ellipse">
            <a:avLst/>
          </a:prstGeom>
          <a:solidFill>
            <a:srgbClr val="F96015"/>
          </a:solidFill>
          <a:ln/>
        </p:spPr>
      </p:sp>
      <p:sp>
        <p:nvSpPr>
          <p:cNvPr id="17" name="Text 15"/>
          <p:cNvSpPr txBox="1"/>
          <p:nvPr/>
        </p:nvSpPr>
        <p:spPr>
          <a:xfrm>
            <a:off x="783431" y="3549231"/>
            <a:ext cx="27660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azeite de dendê</a:t>
            </a:r>
            <a:endParaRPr lang="en-US" sz="1100" dirty="0"/>
          </a:p>
        </p:txBody>
      </p:sp>
      <p:sp>
        <p:nvSpPr>
          <p:cNvPr id="18" name="Shape 16"/>
          <p:cNvSpPr/>
          <p:nvPr/>
        </p:nvSpPr>
        <p:spPr>
          <a:xfrm>
            <a:off x="631031" y="3840954"/>
            <a:ext cx="66675" cy="66675"/>
          </a:xfrm>
          <a:prstGeom prst="ellipse">
            <a:avLst/>
          </a:prstGeom>
          <a:solidFill>
            <a:srgbClr val="F96015"/>
          </a:solidFill>
          <a:ln/>
        </p:spPr>
      </p:sp>
      <p:sp>
        <p:nvSpPr>
          <p:cNvPr id="19" name="Text 17"/>
          <p:cNvSpPr txBox="1"/>
          <p:nvPr/>
        </p:nvSpPr>
        <p:spPr>
          <a:xfrm>
            <a:off x="783431" y="3777831"/>
            <a:ext cx="15087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em rodelas</a:t>
            </a:r>
            <a:endParaRPr lang="en-US" sz="1100" dirty="0"/>
          </a:p>
        </p:txBody>
      </p:sp>
      <p:sp>
        <p:nvSpPr>
          <p:cNvPr id="20" name="Shape 18"/>
          <p:cNvSpPr/>
          <p:nvPr/>
        </p:nvSpPr>
        <p:spPr>
          <a:xfrm>
            <a:off x="631031" y="4069554"/>
            <a:ext cx="66675" cy="66675"/>
          </a:xfrm>
          <a:prstGeom prst="ellipse">
            <a:avLst/>
          </a:prstGeom>
          <a:solidFill>
            <a:srgbClr val="F96015"/>
          </a:solidFill>
          <a:ln/>
        </p:spPr>
      </p:sp>
      <p:sp>
        <p:nvSpPr>
          <p:cNvPr id="21" name="Text 19"/>
          <p:cNvSpPr txBox="1"/>
          <p:nvPr/>
        </p:nvSpPr>
        <p:spPr>
          <a:xfrm>
            <a:off x="783431" y="4006431"/>
            <a:ext cx="220670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pimentão vermelho em tiras</a:t>
            </a:r>
            <a:endParaRPr lang="en-US" sz="1100" dirty="0"/>
          </a:p>
        </p:txBody>
      </p:sp>
      <p:sp>
        <p:nvSpPr>
          <p:cNvPr id="22" name="Shape 20"/>
          <p:cNvSpPr/>
          <p:nvPr/>
        </p:nvSpPr>
        <p:spPr>
          <a:xfrm>
            <a:off x="631031" y="4298154"/>
            <a:ext cx="66675" cy="66675"/>
          </a:xfrm>
          <a:prstGeom prst="ellipse">
            <a:avLst/>
          </a:prstGeom>
          <a:solidFill>
            <a:srgbClr val="F96015"/>
          </a:solidFill>
          <a:ln/>
        </p:spPr>
      </p:sp>
      <p:sp>
        <p:nvSpPr>
          <p:cNvPr id="23" name="Text 21"/>
          <p:cNvSpPr txBox="1"/>
          <p:nvPr/>
        </p:nvSpPr>
        <p:spPr>
          <a:xfrm>
            <a:off x="783431" y="4235031"/>
            <a:ext cx="16109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tomates em rodelas</a:t>
            </a:r>
            <a:endParaRPr lang="en-US" sz="1100" dirty="0"/>
          </a:p>
        </p:txBody>
      </p:sp>
      <p:sp>
        <p:nvSpPr>
          <p:cNvPr id="24" name="Shape 22"/>
          <p:cNvSpPr/>
          <p:nvPr/>
        </p:nvSpPr>
        <p:spPr>
          <a:xfrm>
            <a:off x="631031" y="4526754"/>
            <a:ext cx="66675" cy="66675"/>
          </a:xfrm>
          <a:prstGeom prst="ellipse">
            <a:avLst/>
          </a:prstGeom>
          <a:solidFill>
            <a:srgbClr val="F96015"/>
          </a:solidFill>
          <a:ln/>
        </p:spPr>
      </p:sp>
      <p:sp>
        <p:nvSpPr>
          <p:cNvPr id="25" name="Text 23"/>
          <p:cNvSpPr txBox="1"/>
          <p:nvPr/>
        </p:nvSpPr>
        <p:spPr>
          <a:xfrm>
            <a:off x="783431" y="4463631"/>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dentes de alho picados</a:t>
            </a:r>
            <a:endParaRPr lang="en-US" sz="1100" dirty="0"/>
          </a:p>
        </p:txBody>
      </p:sp>
      <p:sp>
        <p:nvSpPr>
          <p:cNvPr id="26" name="Shape 24"/>
          <p:cNvSpPr/>
          <p:nvPr/>
        </p:nvSpPr>
        <p:spPr>
          <a:xfrm>
            <a:off x="631031" y="4755354"/>
            <a:ext cx="66675" cy="66675"/>
          </a:xfrm>
          <a:prstGeom prst="ellipse">
            <a:avLst/>
          </a:prstGeom>
          <a:solidFill>
            <a:srgbClr val="F96015"/>
          </a:solidFill>
          <a:ln/>
        </p:spPr>
      </p:sp>
      <p:sp>
        <p:nvSpPr>
          <p:cNvPr id="27" name="Text 25"/>
          <p:cNvSpPr txBox="1"/>
          <p:nvPr/>
        </p:nvSpPr>
        <p:spPr>
          <a:xfrm>
            <a:off x="783431" y="4692231"/>
            <a:ext cx="17228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200 ml de leite de coco</a:t>
            </a:r>
            <a:endParaRPr lang="en-US" sz="1100" dirty="0"/>
          </a:p>
        </p:txBody>
      </p:sp>
      <p:sp>
        <p:nvSpPr>
          <p:cNvPr id="28" name="Shape 26"/>
          <p:cNvSpPr/>
          <p:nvPr/>
        </p:nvSpPr>
        <p:spPr>
          <a:xfrm>
            <a:off x="631031" y="4983954"/>
            <a:ext cx="66675" cy="66675"/>
          </a:xfrm>
          <a:prstGeom prst="ellipse">
            <a:avLst/>
          </a:prstGeom>
          <a:solidFill>
            <a:srgbClr val="F96015"/>
          </a:solidFill>
          <a:ln/>
        </p:spPr>
      </p:sp>
      <p:sp>
        <p:nvSpPr>
          <p:cNvPr id="29" name="Text 27"/>
          <p:cNvSpPr txBox="1"/>
          <p:nvPr/>
        </p:nvSpPr>
        <p:spPr>
          <a:xfrm>
            <a:off x="783431" y="492591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 pimenta dedo-de-moça (ou pimenta-de-cheiro) picada, sem sementes</a:t>
            </a:r>
            <a:endParaRPr lang="en-US" sz="1100" dirty="0"/>
          </a:p>
        </p:txBody>
      </p:sp>
      <p:sp>
        <p:nvSpPr>
          <p:cNvPr id="30" name="Shape 28"/>
          <p:cNvSpPr/>
          <p:nvPr/>
        </p:nvSpPr>
        <p:spPr>
          <a:xfrm>
            <a:off x="631031" y="5422104"/>
            <a:ext cx="66675" cy="66675"/>
          </a:xfrm>
          <a:prstGeom prst="ellipse">
            <a:avLst/>
          </a:prstGeom>
          <a:solidFill>
            <a:srgbClr val="F96015"/>
          </a:solidFill>
          <a:ln/>
        </p:spPr>
      </p:sp>
      <p:sp>
        <p:nvSpPr>
          <p:cNvPr id="31" name="Text 29"/>
          <p:cNvSpPr txBox="1"/>
          <p:nvPr/>
        </p:nvSpPr>
        <p:spPr>
          <a:xfrm>
            <a:off x="783431" y="5358981"/>
            <a:ext cx="124783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de ½ limão</a:t>
            </a:r>
            <a:endParaRPr lang="en-US" sz="1100" dirty="0"/>
          </a:p>
        </p:txBody>
      </p:sp>
      <p:sp>
        <p:nvSpPr>
          <p:cNvPr id="32" name="Shape 30"/>
          <p:cNvSpPr/>
          <p:nvPr/>
        </p:nvSpPr>
        <p:spPr>
          <a:xfrm>
            <a:off x="631031" y="5650704"/>
            <a:ext cx="66675" cy="66675"/>
          </a:xfrm>
          <a:prstGeom prst="ellipse">
            <a:avLst/>
          </a:prstGeom>
          <a:solidFill>
            <a:srgbClr val="F96015"/>
          </a:solidFill>
          <a:ln/>
        </p:spPr>
      </p:sp>
      <p:sp>
        <p:nvSpPr>
          <p:cNvPr id="33" name="Text 31"/>
          <p:cNvSpPr txBox="1"/>
          <p:nvPr/>
        </p:nvSpPr>
        <p:spPr>
          <a:xfrm>
            <a:off x="783431" y="5587581"/>
            <a:ext cx="291465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Coentro (ou cheiro-verde) e sal a gosto</a:t>
            </a:r>
            <a:endParaRPr lang="en-US" sz="1100" dirty="0"/>
          </a:p>
        </p:txBody>
      </p:sp>
      <p:sp>
        <p:nvSpPr>
          <p:cNvPr id="34" name="Text 32"/>
          <p:cNvSpPr txBox="1"/>
          <p:nvPr/>
        </p:nvSpPr>
        <p:spPr>
          <a:xfrm>
            <a:off x="611981" y="60374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5" name="Text 33"/>
          <p:cNvSpPr txBox="1"/>
          <p:nvPr/>
        </p:nvSpPr>
        <p:spPr>
          <a:xfrm>
            <a:off x="611981" y="64060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6" name="Text 34"/>
          <p:cNvSpPr txBox="1"/>
          <p:nvPr/>
        </p:nvSpPr>
        <p:spPr>
          <a:xfrm>
            <a:off x="897731" y="64345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Aqueça 1 colher de dendê numa frigideira grande. Doure as rodelas de banana, 2 minutos de cada lado, sem mexer. Tempere com uma pitada de sal e reserve.</a:t>
            </a:r>
            <a:endParaRPr lang="en-US" sz="1100" dirty="0"/>
          </a:p>
        </p:txBody>
      </p:sp>
      <p:sp>
        <p:nvSpPr>
          <p:cNvPr id="37" name="Text 35"/>
          <p:cNvSpPr txBox="1"/>
          <p:nvPr/>
        </p:nvSpPr>
        <p:spPr>
          <a:xfrm>
            <a:off x="611981" y="68536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8" name="Text 36"/>
          <p:cNvSpPr txBox="1"/>
          <p:nvPr/>
        </p:nvSpPr>
        <p:spPr>
          <a:xfrm>
            <a:off x="897731" y="68822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Na mesma frigideira, com o restante do dendê, refogue a cebola, o pimentão e o alho por 3 minutos.</a:t>
            </a:r>
            <a:endParaRPr lang="en-US" sz="1100" dirty="0"/>
          </a:p>
        </p:txBody>
      </p:sp>
      <p:sp>
        <p:nvSpPr>
          <p:cNvPr id="39" name="Text 37"/>
          <p:cNvSpPr txBox="1"/>
          <p:nvPr/>
        </p:nvSpPr>
        <p:spPr>
          <a:xfrm>
            <a:off x="611981" y="730135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0" name="Text 38"/>
          <p:cNvSpPr txBox="1"/>
          <p:nvPr/>
        </p:nvSpPr>
        <p:spPr>
          <a:xfrm>
            <a:off x="897731" y="7324852"/>
            <a:ext cx="56060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Junte o tomate e a pimenta e cozinhe até o tomate começar a desmanchar.</a:t>
            </a:r>
            <a:endParaRPr lang="en-US" sz="1100" dirty="0"/>
          </a:p>
        </p:txBody>
      </p:sp>
      <p:sp>
        <p:nvSpPr>
          <p:cNvPr id="41" name="Text 39"/>
          <p:cNvSpPr txBox="1"/>
          <p:nvPr/>
        </p:nvSpPr>
        <p:spPr>
          <a:xfrm>
            <a:off x="611981" y="753948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2" name="Text 40"/>
          <p:cNvSpPr txBox="1"/>
          <p:nvPr/>
        </p:nvSpPr>
        <p:spPr>
          <a:xfrm>
            <a:off x="897731" y="7562977"/>
            <a:ext cx="703980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Acrescente o leite de coco e deixe ferver por 5 minutos, até engrossar levemente. Acerte o sal.</a:t>
            </a:r>
            <a:endParaRPr lang="en-US" sz="1100" dirty="0"/>
          </a:p>
        </p:txBody>
      </p:sp>
      <p:sp>
        <p:nvSpPr>
          <p:cNvPr id="43" name="Text 41"/>
          <p:cNvSpPr txBox="1"/>
          <p:nvPr/>
        </p:nvSpPr>
        <p:spPr>
          <a:xfrm>
            <a:off x="611981" y="777760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4" name="Text 42"/>
          <p:cNvSpPr txBox="1"/>
          <p:nvPr/>
        </p:nvSpPr>
        <p:spPr>
          <a:xfrm>
            <a:off x="897731" y="78061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Volte as bananas para a frigideira e cozinhe só por 3 a 4 minutos, para aquecerem no molho sem desmanchar.</a:t>
            </a:r>
            <a:endParaRPr lang="en-US" sz="1100" dirty="0"/>
          </a:p>
        </p:txBody>
      </p:sp>
      <p:sp>
        <p:nvSpPr>
          <p:cNvPr id="45" name="Text 43"/>
          <p:cNvSpPr txBox="1"/>
          <p:nvPr/>
        </p:nvSpPr>
        <p:spPr>
          <a:xfrm>
            <a:off x="611981" y="822528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6" name="Text 44"/>
          <p:cNvSpPr txBox="1"/>
          <p:nvPr/>
        </p:nvSpPr>
        <p:spPr>
          <a:xfrm>
            <a:off x="897731" y="8248777"/>
            <a:ext cx="49911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Desligue o fogo, regue com o suco de limão e finalize com coentro.</a:t>
            </a:r>
            <a:endParaRPr lang="en-US" sz="1100" dirty="0"/>
          </a:p>
        </p:txBody>
      </p:sp>
      <p:sp>
        <p:nvSpPr>
          <p:cNvPr id="47" name="Shape 45"/>
          <p:cNvSpPr/>
          <p:nvPr/>
        </p:nvSpPr>
        <p:spPr>
          <a:xfrm>
            <a:off x="611981" y="8549134"/>
            <a:ext cx="6335911" cy="982117"/>
          </a:xfrm>
          <a:prstGeom prst="roundRect">
            <a:avLst>
              <a:gd name="adj" fmla="val 9030"/>
            </a:avLst>
          </a:prstGeom>
          <a:solidFill>
            <a:srgbClr val="FFC926"/>
          </a:solidFill>
          <a:ln/>
        </p:spPr>
      </p:sp>
      <p:sp>
        <p:nvSpPr>
          <p:cNvPr id="48" name="Text 46"/>
          <p:cNvSpPr txBox="1"/>
          <p:nvPr/>
        </p:nvSpPr>
        <p:spPr>
          <a:xfrm>
            <a:off x="764381" y="865390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9" name="Text 47"/>
          <p:cNvSpPr txBox="1"/>
          <p:nvPr/>
        </p:nvSpPr>
        <p:spPr>
          <a:xfrm>
            <a:off x="764381" y="896927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Dourar a banana antes é o que dá estrutura e sabor à moqueca. Sirva com arroz branco e farofa de dendê.</a:t>
            </a:r>
            <a:endParaRPr lang="en-US" sz="1100" dirty="0"/>
          </a:p>
        </p:txBody>
      </p:sp>
      <p:sp>
        <p:nvSpPr>
          <p:cNvPr id="50" name="Text 48"/>
          <p:cNvSpPr txBox="1"/>
          <p:nvPr/>
        </p:nvSpPr>
        <p:spPr>
          <a:xfrm>
            <a:off x="590951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1" name="Text 49"/>
          <p:cNvSpPr txBox="1"/>
          <p:nvPr/>
        </p:nvSpPr>
        <p:spPr>
          <a:xfrm>
            <a:off x="6842671" y="10253663"/>
            <a:ext cx="257621"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18</a:t>
            </a:r>
            <a:endParaRPr lang="en-US" sz="8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11981" y="566440"/>
            <a:ext cx="26714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02</a:t>
            </a:r>
            <a:endParaRPr lang="en-US" sz="960" dirty="0"/>
          </a:p>
        </p:txBody>
      </p:sp>
      <p:sp>
        <p:nvSpPr>
          <p:cNvPr id="3" name="Text 1"/>
          <p:cNvSpPr txBox="1"/>
          <p:nvPr/>
        </p:nvSpPr>
        <p:spPr>
          <a:xfrm>
            <a:off x="611981" y="779960"/>
            <a:ext cx="3765113"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PURÊ DE BANANA GRELHADA</a:t>
            </a:r>
            <a:endParaRPr lang="en-US" sz="2420" dirty="0"/>
          </a:p>
        </p:txBody>
      </p:sp>
      <p:sp>
        <p:nvSpPr>
          <p:cNvPr id="4" name="Text 2"/>
          <p:cNvSpPr txBox="1"/>
          <p:nvPr/>
        </p:nvSpPr>
        <p:spPr>
          <a:xfrm>
            <a:off x="611981" y="1404171"/>
            <a:ext cx="41256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Purê aveludado de banana grelhada com noz-moscada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212330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bananas-da-terra maduras</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319450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ml de leite quente (ou caldo de frango)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21604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Noz-moscada ralada na hora</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355723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pimenta-do-reino e algumas gotas de limão</a:t>
            </a:r>
            <a:endParaRPr lang="en-US" sz="1100" dirty="0"/>
          </a:p>
        </p:txBody>
      </p:sp>
      <p:sp>
        <p:nvSpPr>
          <p:cNvPr id="16" name="Text 14"/>
          <p:cNvSpPr txBox="1"/>
          <p:nvPr/>
        </p:nvSpPr>
        <p:spPr>
          <a:xfrm>
            <a:off x="611981" y="36090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11981" y="566440"/>
            <a:ext cx="197935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02 · BANANA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PURÊ AVELUDADO DE BANANA GRELHADA COM NOZ-MOSCADA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TEXTURA SURPREENDENTE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(para acompanhar carnes ou legumes assados)</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643783"/>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80927"/>
            <a:ext cx="1117699" cy="360015"/>
          </a:xfrm>
          <a:prstGeom prst="rect">
            <a:avLst/>
          </a:prstGeom>
          <a:noFill/>
          <a:ln/>
        </p:spPr>
        <p:txBody>
          <a:bodyPr wrap="square" lIns="0" tIns="0" rIns="0" bIns="0" rtlCol="0" anchor="t"/>
          <a:lstStyle/>
          <a:p>
            <a:pPr algn="l" indent="0" marL="0">
              <a:lnSpc>
                <a:spcPts val="1490"/>
              </a:lnSpc>
              <a:buNone/>
            </a:pPr>
            <a:r>
              <a:rPr lang="en-US" sz="1100" dirty="0">
                <a:solidFill>
                  <a:srgbClr val="18542A"/>
                </a:solidFill>
                <a:latin typeface="Arimo" pitchFamily="34" charset="0"/>
                <a:ea typeface="Arimo" pitchFamily="34" charset="-122"/>
                <a:cs typeface="Arimo" pitchFamily="34" charset="-120"/>
              </a:rPr>
              <a:t>4 porções como acompanhamento</a:t>
            </a:r>
            <a:endParaRPr lang="en-US" sz="1100" dirty="0"/>
          </a:p>
        </p:txBody>
      </p:sp>
      <p:sp>
        <p:nvSpPr>
          <p:cNvPr id="13" name="Text 11"/>
          <p:cNvSpPr txBox="1"/>
          <p:nvPr/>
        </p:nvSpPr>
        <p:spPr>
          <a:xfrm>
            <a:off x="611981" y="2907622"/>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362769"/>
            <a:ext cx="66675" cy="66675"/>
          </a:xfrm>
          <a:prstGeom prst="ellipse">
            <a:avLst/>
          </a:prstGeom>
          <a:solidFill>
            <a:srgbClr val="F96015"/>
          </a:solidFill>
          <a:ln/>
        </p:spPr>
      </p:sp>
      <p:sp>
        <p:nvSpPr>
          <p:cNvPr id="15" name="Text 13"/>
          <p:cNvSpPr txBox="1"/>
          <p:nvPr/>
        </p:nvSpPr>
        <p:spPr>
          <a:xfrm>
            <a:off x="783431" y="3299646"/>
            <a:ext cx="212330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bananas-da-terra maduras</a:t>
            </a:r>
            <a:endParaRPr lang="en-US" sz="1100" dirty="0"/>
          </a:p>
        </p:txBody>
      </p:sp>
      <p:sp>
        <p:nvSpPr>
          <p:cNvPr id="16" name="Shape 14"/>
          <p:cNvSpPr/>
          <p:nvPr/>
        </p:nvSpPr>
        <p:spPr>
          <a:xfrm>
            <a:off x="631031" y="3591369"/>
            <a:ext cx="66675" cy="66675"/>
          </a:xfrm>
          <a:prstGeom prst="ellipse">
            <a:avLst/>
          </a:prstGeom>
          <a:solidFill>
            <a:srgbClr val="F96015"/>
          </a:solidFill>
          <a:ln/>
        </p:spPr>
      </p:sp>
      <p:sp>
        <p:nvSpPr>
          <p:cNvPr id="17" name="Text 15"/>
          <p:cNvSpPr txBox="1"/>
          <p:nvPr/>
        </p:nvSpPr>
        <p:spPr>
          <a:xfrm>
            <a:off x="783431" y="3528246"/>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a:t>
            </a:r>
            <a:endParaRPr lang="en-US" sz="1100" dirty="0"/>
          </a:p>
        </p:txBody>
      </p:sp>
      <p:sp>
        <p:nvSpPr>
          <p:cNvPr id="18" name="Shape 16"/>
          <p:cNvSpPr/>
          <p:nvPr/>
        </p:nvSpPr>
        <p:spPr>
          <a:xfrm>
            <a:off x="631031" y="3819969"/>
            <a:ext cx="66675" cy="66675"/>
          </a:xfrm>
          <a:prstGeom prst="ellipse">
            <a:avLst/>
          </a:prstGeom>
          <a:solidFill>
            <a:srgbClr val="F96015"/>
          </a:solidFill>
          <a:ln/>
        </p:spPr>
      </p:sp>
      <p:sp>
        <p:nvSpPr>
          <p:cNvPr id="19" name="Text 17"/>
          <p:cNvSpPr txBox="1"/>
          <p:nvPr/>
        </p:nvSpPr>
        <p:spPr>
          <a:xfrm>
            <a:off x="783431" y="3756846"/>
            <a:ext cx="319450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ml de leite quente (ou caldo de frango)</a:t>
            </a:r>
            <a:endParaRPr lang="en-US" sz="1100" dirty="0"/>
          </a:p>
        </p:txBody>
      </p:sp>
      <p:sp>
        <p:nvSpPr>
          <p:cNvPr id="20" name="Shape 18"/>
          <p:cNvSpPr/>
          <p:nvPr/>
        </p:nvSpPr>
        <p:spPr>
          <a:xfrm>
            <a:off x="631031" y="4048569"/>
            <a:ext cx="66675" cy="66675"/>
          </a:xfrm>
          <a:prstGeom prst="ellipse">
            <a:avLst/>
          </a:prstGeom>
          <a:solidFill>
            <a:srgbClr val="F96015"/>
          </a:solidFill>
          <a:ln/>
        </p:spPr>
      </p:sp>
      <p:sp>
        <p:nvSpPr>
          <p:cNvPr id="21" name="Text 19"/>
          <p:cNvSpPr txBox="1"/>
          <p:nvPr/>
        </p:nvSpPr>
        <p:spPr>
          <a:xfrm>
            <a:off x="783431" y="3985446"/>
            <a:ext cx="21604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Noz-moscada ralada na hora</a:t>
            </a:r>
            <a:endParaRPr lang="en-US" sz="1100" dirty="0"/>
          </a:p>
        </p:txBody>
      </p:sp>
      <p:sp>
        <p:nvSpPr>
          <p:cNvPr id="22" name="Shape 20"/>
          <p:cNvSpPr/>
          <p:nvPr/>
        </p:nvSpPr>
        <p:spPr>
          <a:xfrm>
            <a:off x="631031" y="4277169"/>
            <a:ext cx="66675" cy="66675"/>
          </a:xfrm>
          <a:prstGeom prst="ellipse">
            <a:avLst/>
          </a:prstGeom>
          <a:solidFill>
            <a:srgbClr val="F96015"/>
          </a:solidFill>
          <a:ln/>
        </p:spPr>
      </p:sp>
      <p:sp>
        <p:nvSpPr>
          <p:cNvPr id="23" name="Text 21"/>
          <p:cNvSpPr txBox="1"/>
          <p:nvPr/>
        </p:nvSpPr>
        <p:spPr>
          <a:xfrm>
            <a:off x="783431" y="4219129"/>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Sal, pimenta-do-reino e algumas gotas de limão</a:t>
            </a:r>
            <a:endParaRPr lang="en-US" sz="1100" dirty="0"/>
          </a:p>
        </p:txBody>
      </p:sp>
      <p:sp>
        <p:nvSpPr>
          <p:cNvPr id="24" name="Text 22"/>
          <p:cNvSpPr txBox="1"/>
          <p:nvPr/>
        </p:nvSpPr>
        <p:spPr>
          <a:xfrm>
            <a:off x="611981" y="4873493"/>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25" name="Text 23"/>
          <p:cNvSpPr txBox="1"/>
          <p:nvPr/>
        </p:nvSpPr>
        <p:spPr>
          <a:xfrm>
            <a:off x="611981" y="5242024"/>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26" name="Text 24"/>
          <p:cNvSpPr txBox="1"/>
          <p:nvPr/>
        </p:nvSpPr>
        <p:spPr>
          <a:xfrm>
            <a:off x="897731" y="5265517"/>
            <a:ext cx="53265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Descasque as bananas e corte em lâminas no sentido do comprimento.</a:t>
            </a:r>
            <a:endParaRPr lang="en-US" sz="1100" dirty="0"/>
          </a:p>
        </p:txBody>
      </p:sp>
      <p:sp>
        <p:nvSpPr>
          <p:cNvPr id="27" name="Text 25"/>
          <p:cNvSpPr txBox="1"/>
          <p:nvPr/>
        </p:nvSpPr>
        <p:spPr>
          <a:xfrm>
            <a:off x="611981" y="5480149"/>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28" name="Text 26"/>
          <p:cNvSpPr txBox="1"/>
          <p:nvPr/>
        </p:nvSpPr>
        <p:spPr>
          <a:xfrm>
            <a:off x="897731" y="550872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Aqueça 1 colher de manteiga numa frigideira e grelhe as lâminas em fogo médio-alto até ficarem bem douradas dos dois lados. É essa caramelização que dá profundidade ao purê.</a:t>
            </a:r>
            <a:endParaRPr lang="en-US" sz="1100" dirty="0"/>
          </a:p>
        </p:txBody>
      </p:sp>
      <p:sp>
        <p:nvSpPr>
          <p:cNvPr id="29" name="Text 27"/>
          <p:cNvSpPr txBox="1"/>
          <p:nvPr/>
        </p:nvSpPr>
        <p:spPr>
          <a:xfrm>
            <a:off x="611981" y="5927824"/>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0" name="Text 28"/>
          <p:cNvSpPr txBox="1"/>
          <p:nvPr/>
        </p:nvSpPr>
        <p:spPr>
          <a:xfrm>
            <a:off x="897731" y="595639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Transfira para uma panela, junte o leite quente e amasse bem com um garfo ou espremedor, em fogo baixo.</a:t>
            </a:r>
            <a:endParaRPr lang="en-US" sz="1100" dirty="0"/>
          </a:p>
        </p:txBody>
      </p:sp>
      <p:sp>
        <p:nvSpPr>
          <p:cNvPr id="31" name="Text 29"/>
          <p:cNvSpPr txBox="1"/>
          <p:nvPr/>
        </p:nvSpPr>
        <p:spPr>
          <a:xfrm>
            <a:off x="611981" y="6375499"/>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2" name="Text 30"/>
          <p:cNvSpPr txBox="1"/>
          <p:nvPr/>
        </p:nvSpPr>
        <p:spPr>
          <a:xfrm>
            <a:off x="897731" y="640407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Acrescente a manteiga restante e mexa até ficar aveludado. Se quiser mais liso, passe por uma peneira.</a:t>
            </a:r>
            <a:endParaRPr lang="en-US" sz="1100" dirty="0"/>
          </a:p>
        </p:txBody>
      </p:sp>
      <p:sp>
        <p:nvSpPr>
          <p:cNvPr id="33" name="Text 31"/>
          <p:cNvSpPr txBox="1"/>
          <p:nvPr/>
        </p:nvSpPr>
        <p:spPr>
          <a:xfrm>
            <a:off x="611981" y="6823174"/>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34" name="Text 32"/>
          <p:cNvSpPr txBox="1"/>
          <p:nvPr/>
        </p:nvSpPr>
        <p:spPr>
          <a:xfrm>
            <a:off x="897731" y="685174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Tempere com sal, pimenta e noz-moscada. Se estiver doce demais, equilibre com algumas gotas de limão.</a:t>
            </a:r>
            <a:endParaRPr lang="en-US" sz="1100" dirty="0"/>
          </a:p>
        </p:txBody>
      </p:sp>
      <p:sp>
        <p:nvSpPr>
          <p:cNvPr id="35" name="Shape 33"/>
          <p:cNvSpPr/>
          <p:nvPr/>
        </p:nvSpPr>
        <p:spPr>
          <a:xfrm>
            <a:off x="611981" y="7356574"/>
            <a:ext cx="6335911" cy="982117"/>
          </a:xfrm>
          <a:prstGeom prst="roundRect">
            <a:avLst>
              <a:gd name="adj" fmla="val 9030"/>
            </a:avLst>
          </a:prstGeom>
          <a:solidFill>
            <a:srgbClr val="FFC926"/>
          </a:solidFill>
          <a:ln/>
        </p:spPr>
      </p:sp>
      <p:sp>
        <p:nvSpPr>
          <p:cNvPr id="36" name="Text 34"/>
          <p:cNvSpPr txBox="1"/>
          <p:nvPr/>
        </p:nvSpPr>
        <p:spPr>
          <a:xfrm>
            <a:off x="764381" y="746134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37" name="Text 35"/>
          <p:cNvSpPr txBox="1"/>
          <p:nvPr/>
        </p:nvSpPr>
        <p:spPr>
          <a:xfrm>
            <a:off x="764381" y="777671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É um acompanhamento salgado de respeito: fica perfeito com carne de sol, frango assado ou peixe grelhado.</a:t>
            </a:r>
            <a:endParaRPr lang="en-US" sz="1100" dirty="0"/>
          </a:p>
        </p:txBody>
      </p:sp>
      <p:sp>
        <p:nvSpPr>
          <p:cNvPr id="38" name="Text 36"/>
          <p:cNvSpPr txBox="1"/>
          <p:nvPr/>
        </p:nvSpPr>
        <p:spPr>
          <a:xfrm>
            <a:off x="5891957"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9" name="Text 37"/>
          <p:cNvSpPr txBox="1"/>
          <p:nvPr/>
        </p:nvSpPr>
        <p:spPr>
          <a:xfrm>
            <a:off x="6825109" y="10253663"/>
            <a:ext cx="275183"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20</a:t>
            </a:r>
            <a:endParaRPr lang="en-US" sz="83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611981" y="566440"/>
            <a:ext cx="26722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03</a:t>
            </a:r>
            <a:endParaRPr lang="en-US" sz="960" dirty="0"/>
          </a:p>
        </p:txBody>
      </p:sp>
      <p:sp>
        <p:nvSpPr>
          <p:cNvPr id="3" name="Text 1"/>
          <p:cNvSpPr txBox="1"/>
          <p:nvPr/>
        </p:nvSpPr>
        <p:spPr>
          <a:xfrm>
            <a:off x="611981" y="779960"/>
            <a:ext cx="2932509"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BANANAS FLAMBADAS</a:t>
            </a:r>
            <a:endParaRPr lang="en-US" sz="2420" dirty="0"/>
          </a:p>
        </p:txBody>
      </p:sp>
      <p:sp>
        <p:nvSpPr>
          <p:cNvPr id="4" name="Text 2"/>
          <p:cNvSpPr txBox="1"/>
          <p:nvPr/>
        </p:nvSpPr>
        <p:spPr>
          <a:xfrm>
            <a:off x="611981" y="1404171"/>
            <a:ext cx="622970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Bananas flambadas no rum ou na cachaça com crosta de açúcar mascavo e canela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42703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bananas-da-terra ou 4 bananas-prata firmes</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27933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açúcar mascavo</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230939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canela em pó</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18809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ml de rum ou cachaça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30391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de 1 laranja</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16009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Sorvete de creme para servir</a:t>
            </a:r>
            <a:endParaRPr lang="en-US" sz="1100" dirty="0"/>
          </a:p>
        </p:txBody>
      </p:sp>
      <p:sp>
        <p:nvSpPr>
          <p:cNvPr id="22" name="Text 20"/>
          <p:cNvSpPr txBox="1"/>
          <p:nvPr/>
        </p:nvSpPr>
        <p:spPr>
          <a:xfrm>
            <a:off x="611981" y="44091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11981" y="566440"/>
            <a:ext cx="198024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03 · BANANA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BANANAS FLAMBADAS NO RUM OU NA CACHAÇA COM CROSTA DE AÇÚCAR MASCAVO E CANELA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SOBREMESA DE CHEF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(a sobremesa de restaurante feita em casa)</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49381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7655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342703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bananas-da-terra ou 4 bananas-prata firmes</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39681"/>
            <a:ext cx="27933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açúcar mascavo</a:t>
            </a:r>
            <a:endParaRPr lang="en-US" sz="1100" dirty="0"/>
          </a:p>
        </p:txBody>
      </p:sp>
      <p:sp>
        <p:nvSpPr>
          <p:cNvPr id="18" name="Shape 16"/>
          <p:cNvSpPr/>
          <p:nvPr/>
        </p:nvSpPr>
        <p:spPr>
          <a:xfrm>
            <a:off x="631031" y="3631404"/>
            <a:ext cx="66675" cy="66675"/>
          </a:xfrm>
          <a:prstGeom prst="ellipse">
            <a:avLst/>
          </a:prstGeom>
          <a:solidFill>
            <a:srgbClr val="F96015"/>
          </a:solidFill>
          <a:ln/>
        </p:spPr>
      </p:sp>
      <p:sp>
        <p:nvSpPr>
          <p:cNvPr id="19" name="Text 17"/>
          <p:cNvSpPr txBox="1"/>
          <p:nvPr/>
        </p:nvSpPr>
        <p:spPr>
          <a:xfrm>
            <a:off x="783431" y="3568281"/>
            <a:ext cx="230939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canela em pó</a:t>
            </a:r>
            <a:endParaRPr lang="en-US" sz="1100" dirty="0"/>
          </a:p>
        </p:txBody>
      </p:sp>
      <p:sp>
        <p:nvSpPr>
          <p:cNvPr id="20" name="Shape 18"/>
          <p:cNvSpPr/>
          <p:nvPr/>
        </p:nvSpPr>
        <p:spPr>
          <a:xfrm>
            <a:off x="631031" y="3860004"/>
            <a:ext cx="66675" cy="66675"/>
          </a:xfrm>
          <a:prstGeom prst="ellipse">
            <a:avLst/>
          </a:prstGeom>
          <a:solidFill>
            <a:srgbClr val="F96015"/>
          </a:solidFill>
          <a:ln/>
        </p:spPr>
      </p:sp>
      <p:sp>
        <p:nvSpPr>
          <p:cNvPr id="21" name="Text 19"/>
          <p:cNvSpPr txBox="1"/>
          <p:nvPr/>
        </p:nvSpPr>
        <p:spPr>
          <a:xfrm>
            <a:off x="783431" y="3796881"/>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a:t>
            </a:r>
            <a:endParaRPr lang="en-US" sz="1100" dirty="0"/>
          </a:p>
        </p:txBody>
      </p:sp>
      <p:sp>
        <p:nvSpPr>
          <p:cNvPr id="22" name="Shape 20"/>
          <p:cNvSpPr/>
          <p:nvPr/>
        </p:nvSpPr>
        <p:spPr>
          <a:xfrm>
            <a:off x="631031" y="4088604"/>
            <a:ext cx="66675" cy="66675"/>
          </a:xfrm>
          <a:prstGeom prst="ellipse">
            <a:avLst/>
          </a:prstGeom>
          <a:solidFill>
            <a:srgbClr val="F96015"/>
          </a:solidFill>
          <a:ln/>
        </p:spPr>
      </p:sp>
      <p:sp>
        <p:nvSpPr>
          <p:cNvPr id="23" name="Text 21"/>
          <p:cNvSpPr txBox="1"/>
          <p:nvPr/>
        </p:nvSpPr>
        <p:spPr>
          <a:xfrm>
            <a:off x="783431" y="4025481"/>
            <a:ext cx="18809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ml de rum ou cachaça</a:t>
            </a:r>
            <a:endParaRPr lang="en-US" sz="1100" dirty="0"/>
          </a:p>
        </p:txBody>
      </p:sp>
      <p:sp>
        <p:nvSpPr>
          <p:cNvPr id="24" name="Shape 22"/>
          <p:cNvSpPr/>
          <p:nvPr/>
        </p:nvSpPr>
        <p:spPr>
          <a:xfrm>
            <a:off x="631031" y="4317204"/>
            <a:ext cx="66675" cy="66675"/>
          </a:xfrm>
          <a:prstGeom prst="ellipse">
            <a:avLst/>
          </a:prstGeom>
          <a:solidFill>
            <a:srgbClr val="F96015"/>
          </a:solidFill>
          <a:ln/>
        </p:spPr>
      </p:sp>
      <p:sp>
        <p:nvSpPr>
          <p:cNvPr id="25" name="Text 23"/>
          <p:cNvSpPr txBox="1"/>
          <p:nvPr/>
        </p:nvSpPr>
        <p:spPr>
          <a:xfrm>
            <a:off x="783431" y="4254081"/>
            <a:ext cx="130391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de 1 laranja</a:t>
            </a:r>
            <a:endParaRPr lang="en-US" sz="1100" dirty="0"/>
          </a:p>
        </p:txBody>
      </p:sp>
      <p:sp>
        <p:nvSpPr>
          <p:cNvPr id="26" name="Shape 24"/>
          <p:cNvSpPr/>
          <p:nvPr/>
        </p:nvSpPr>
        <p:spPr>
          <a:xfrm>
            <a:off x="631031" y="4545804"/>
            <a:ext cx="66675" cy="66675"/>
          </a:xfrm>
          <a:prstGeom prst="ellipse">
            <a:avLst/>
          </a:prstGeom>
          <a:solidFill>
            <a:srgbClr val="F96015"/>
          </a:solidFill>
          <a:ln/>
        </p:spPr>
      </p:sp>
      <p:sp>
        <p:nvSpPr>
          <p:cNvPr id="27" name="Text 25"/>
          <p:cNvSpPr txBox="1"/>
          <p:nvPr/>
        </p:nvSpPr>
        <p:spPr>
          <a:xfrm>
            <a:off x="783431" y="4482681"/>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28" name="Shape 26"/>
          <p:cNvSpPr/>
          <p:nvPr/>
        </p:nvSpPr>
        <p:spPr>
          <a:xfrm>
            <a:off x="631031" y="4774404"/>
            <a:ext cx="66675" cy="66675"/>
          </a:xfrm>
          <a:prstGeom prst="ellipse">
            <a:avLst/>
          </a:prstGeom>
          <a:solidFill>
            <a:srgbClr val="F96015"/>
          </a:solidFill>
          <a:ln/>
        </p:spPr>
      </p:sp>
      <p:sp>
        <p:nvSpPr>
          <p:cNvPr id="29" name="Text 27"/>
          <p:cNvSpPr txBox="1"/>
          <p:nvPr/>
        </p:nvSpPr>
        <p:spPr>
          <a:xfrm>
            <a:off x="783431" y="4711281"/>
            <a:ext cx="216009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Sorvete de creme para servir</a:t>
            </a:r>
            <a:endParaRPr lang="en-US" sz="1100" dirty="0"/>
          </a:p>
        </p:txBody>
      </p:sp>
      <p:sp>
        <p:nvSpPr>
          <p:cNvPr id="30" name="Text 28"/>
          <p:cNvSpPr txBox="1"/>
          <p:nvPr/>
        </p:nvSpPr>
        <p:spPr>
          <a:xfrm>
            <a:off x="611981" y="51611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1" name="Text 29"/>
          <p:cNvSpPr txBox="1"/>
          <p:nvPr/>
        </p:nvSpPr>
        <p:spPr>
          <a:xfrm>
            <a:off x="611981" y="55297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2" name="Text 30"/>
          <p:cNvSpPr txBox="1"/>
          <p:nvPr/>
        </p:nvSpPr>
        <p:spPr>
          <a:xfrm>
            <a:off x="897731" y="5553202"/>
            <a:ext cx="717018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Corte as bananas ao meio no sentido do comprimento (e ao meio na largura, se forem grandes).</a:t>
            </a:r>
            <a:endParaRPr lang="en-US" sz="1100" dirty="0"/>
          </a:p>
        </p:txBody>
      </p:sp>
      <p:sp>
        <p:nvSpPr>
          <p:cNvPr id="33" name="Text 31"/>
          <p:cNvSpPr txBox="1"/>
          <p:nvPr/>
        </p:nvSpPr>
        <p:spPr>
          <a:xfrm>
            <a:off x="611981" y="576783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4" name="Text 32"/>
          <p:cNvSpPr txBox="1"/>
          <p:nvPr/>
        </p:nvSpPr>
        <p:spPr>
          <a:xfrm>
            <a:off x="897731" y="579640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Misture o açúcar mascavo com a canela e o sal e polvilhe sobre o lado cortado das bananas, pressionando.</a:t>
            </a:r>
            <a:endParaRPr lang="en-US" sz="1100" dirty="0"/>
          </a:p>
        </p:txBody>
      </p:sp>
      <p:sp>
        <p:nvSpPr>
          <p:cNvPr id="35" name="Text 33"/>
          <p:cNvSpPr txBox="1"/>
          <p:nvPr/>
        </p:nvSpPr>
        <p:spPr>
          <a:xfrm>
            <a:off x="611981" y="621550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6" name="Text 34"/>
          <p:cNvSpPr txBox="1"/>
          <p:nvPr/>
        </p:nvSpPr>
        <p:spPr>
          <a:xfrm>
            <a:off x="897731" y="62440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Aqueça a manteiga numa frigideira até espumar. Coloque as bananas com o lado do açúcar para baixo e não mexa por 2 a 3 minutos, até formar uma crosta. Vire com cuidado.</a:t>
            </a:r>
            <a:endParaRPr lang="en-US" sz="1100" dirty="0"/>
          </a:p>
        </p:txBody>
      </p:sp>
      <p:sp>
        <p:nvSpPr>
          <p:cNvPr id="37" name="Text 35"/>
          <p:cNvSpPr txBox="1"/>
          <p:nvPr/>
        </p:nvSpPr>
        <p:spPr>
          <a:xfrm>
            <a:off x="611981" y="666318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8" name="Text 36"/>
          <p:cNvSpPr txBox="1"/>
          <p:nvPr/>
        </p:nvSpPr>
        <p:spPr>
          <a:xfrm>
            <a:off x="897731" y="6691759"/>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Flambe com segurança: desligue o fogo, coloque o rum medido num copinho e despeje na frigideira. Afaste o rosto, religue o fogo e incline levemente a frigideira (ou acenda com um fósforo longo). Deixe a chama apagar sozinha.</a:t>
            </a:r>
            <a:endParaRPr lang="en-US" sz="1100" dirty="0"/>
          </a:p>
        </p:txBody>
      </p:sp>
      <p:sp>
        <p:nvSpPr>
          <p:cNvPr id="39" name="Text 37"/>
          <p:cNvSpPr txBox="1"/>
          <p:nvPr/>
        </p:nvSpPr>
        <p:spPr>
          <a:xfrm>
            <a:off x="611981" y="732040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0" name="Text 38"/>
          <p:cNvSpPr txBox="1"/>
          <p:nvPr/>
        </p:nvSpPr>
        <p:spPr>
          <a:xfrm>
            <a:off x="897731" y="7343902"/>
            <a:ext cx="57735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Junte o suco de laranja e deixe borbulhar por 1 minuto, até formar uma calda.</a:t>
            </a:r>
            <a:endParaRPr lang="en-US" sz="1100" dirty="0"/>
          </a:p>
        </p:txBody>
      </p:sp>
      <p:sp>
        <p:nvSpPr>
          <p:cNvPr id="41" name="Text 39"/>
          <p:cNvSpPr txBox="1"/>
          <p:nvPr/>
        </p:nvSpPr>
        <p:spPr>
          <a:xfrm>
            <a:off x="611981" y="755853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2" name="Text 40"/>
          <p:cNvSpPr txBox="1"/>
          <p:nvPr/>
        </p:nvSpPr>
        <p:spPr>
          <a:xfrm>
            <a:off x="897731" y="7582027"/>
            <a:ext cx="46377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Sirva as bananas quentes com a calda e uma bola de sorvete.</a:t>
            </a:r>
            <a:endParaRPr lang="en-US" sz="1100" dirty="0"/>
          </a:p>
        </p:txBody>
      </p:sp>
      <p:sp>
        <p:nvSpPr>
          <p:cNvPr id="43" name="Shape 41"/>
          <p:cNvSpPr/>
          <p:nvPr/>
        </p:nvSpPr>
        <p:spPr>
          <a:xfrm>
            <a:off x="611981" y="7882384"/>
            <a:ext cx="6335911" cy="982117"/>
          </a:xfrm>
          <a:prstGeom prst="roundRect">
            <a:avLst>
              <a:gd name="adj" fmla="val 9030"/>
            </a:avLst>
          </a:prstGeom>
          <a:solidFill>
            <a:srgbClr val="FFC926"/>
          </a:solidFill>
          <a:ln/>
        </p:spPr>
      </p:sp>
      <p:sp>
        <p:nvSpPr>
          <p:cNvPr id="44" name="Text 42"/>
          <p:cNvSpPr txBox="1"/>
          <p:nvPr/>
        </p:nvSpPr>
        <p:spPr>
          <a:xfrm>
            <a:off x="764381" y="798715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5" name="Text 43"/>
          <p:cNvSpPr txBox="1"/>
          <p:nvPr/>
        </p:nvSpPr>
        <p:spPr>
          <a:xfrm>
            <a:off x="764381" y="830252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Nunca despeje a bebida direto da garrafa perto do fogo, e desligue o exaustor durante a flambagem. Flambar queima o álcool e deixa só o aroma da bebida na calda.</a:t>
            </a:r>
            <a:endParaRPr lang="en-US" sz="1100" dirty="0"/>
          </a:p>
        </p:txBody>
      </p:sp>
      <p:sp>
        <p:nvSpPr>
          <p:cNvPr id="46" name="Text 44"/>
          <p:cNvSpPr txBox="1"/>
          <p:nvPr/>
        </p:nvSpPr>
        <p:spPr>
          <a:xfrm>
            <a:off x="58935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7" name="Text 45"/>
          <p:cNvSpPr txBox="1"/>
          <p:nvPr/>
        </p:nvSpPr>
        <p:spPr>
          <a:xfrm>
            <a:off x="6826746" y="10253663"/>
            <a:ext cx="2735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22</a:t>
            </a:r>
            <a:endParaRPr lang="en-US" sz="8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11981" y="566440"/>
            <a:ext cx="175254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PULO DO CHEF · BANANA</a:t>
            </a:r>
            <a:endParaRPr lang="en-US" sz="960" dirty="0"/>
          </a:p>
        </p:txBody>
      </p:sp>
      <p:sp>
        <p:nvSpPr>
          <p:cNvPr id="3" name="Text 1"/>
          <p:cNvSpPr txBox="1"/>
          <p:nvPr/>
        </p:nvSpPr>
        <p:spPr>
          <a:xfrm>
            <a:off x="611981" y="779960"/>
            <a:ext cx="5182791"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BANANA QUE VIRA PAPA NA FRIGIDEIRA</a:t>
            </a:r>
            <a:endParaRPr lang="en-US" sz="2420" dirty="0"/>
          </a:p>
        </p:txBody>
      </p:sp>
      <p:sp>
        <p:nvSpPr>
          <p:cNvPr id="4" name="Text 2"/>
          <p:cNvSpPr txBox="1"/>
          <p:nvPr/>
        </p:nvSpPr>
        <p:spPr>
          <a:xfrm>
            <a:off x="611981" y="1377818"/>
            <a:ext cx="67448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ERRO</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Colocar a banana em frigideira morna e ficar mexendo. Ela solta líquido, cozinha no próprio vapor e desmancha antes de dourar.</a:t>
            </a:r>
            <a:endParaRPr lang="en-US" sz="1100" dirty="0"/>
          </a:p>
        </p:txBody>
      </p:sp>
      <p:sp>
        <p:nvSpPr>
          <p:cNvPr id="6" name="Text 4"/>
          <p:cNvSpPr txBox="1"/>
          <p:nvPr/>
        </p:nvSpPr>
        <p:spPr>
          <a:xfrm>
            <a:off x="611981" y="2429289"/>
            <a:ext cx="91440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 TÉCNICA</a:t>
            </a:r>
            <a:endParaRPr lang="en-US" sz="1650" dirty="0"/>
          </a:p>
        </p:txBody>
      </p:sp>
      <p:sp>
        <p:nvSpPr>
          <p:cNvPr id="7" name="Text 5"/>
          <p:cNvSpPr txBox="1"/>
          <p:nvPr/>
        </p:nvSpPr>
        <p:spPr>
          <a:xfrm>
            <a:off x="611981" y="2797820"/>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8" name="Text 6"/>
          <p:cNvSpPr txBox="1"/>
          <p:nvPr/>
        </p:nvSpPr>
        <p:spPr>
          <a:xfrm>
            <a:off x="897731" y="2821313"/>
            <a:ext cx="62304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Frigideira quente de verdade, com a gordura já brilhando, antes de a banana entrar.</a:t>
            </a:r>
            <a:endParaRPr lang="en-US" sz="1100" dirty="0"/>
          </a:p>
        </p:txBody>
      </p:sp>
      <p:sp>
        <p:nvSpPr>
          <p:cNvPr id="9" name="Text 7"/>
          <p:cNvSpPr txBox="1"/>
          <p:nvPr/>
        </p:nvSpPr>
        <p:spPr>
          <a:xfrm>
            <a:off x="611981" y="3035945"/>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10" name="Text 8"/>
          <p:cNvSpPr txBox="1"/>
          <p:nvPr/>
        </p:nvSpPr>
        <p:spPr>
          <a:xfrm>
            <a:off x="897731" y="3059438"/>
            <a:ext cx="425571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Espaço: não amontoe. Se precisar, doure em duas levas.</a:t>
            </a:r>
            <a:endParaRPr lang="en-US" sz="1100" dirty="0"/>
          </a:p>
        </p:txBody>
      </p:sp>
      <p:sp>
        <p:nvSpPr>
          <p:cNvPr id="11" name="Text 9"/>
          <p:cNvSpPr txBox="1"/>
          <p:nvPr/>
        </p:nvSpPr>
        <p:spPr>
          <a:xfrm>
            <a:off x="611981" y="3274070"/>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2" name="Text 10"/>
          <p:cNvSpPr txBox="1"/>
          <p:nvPr/>
        </p:nvSpPr>
        <p:spPr>
          <a:xfrm>
            <a:off x="897731" y="3297563"/>
            <a:ext cx="422749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Não mexa: deixe 2 minutos parada e vire uma única vez.</a:t>
            </a:r>
            <a:endParaRPr lang="en-US" sz="1100" dirty="0"/>
          </a:p>
        </p:txBody>
      </p:sp>
      <p:sp>
        <p:nvSpPr>
          <p:cNvPr id="13" name="Text 11"/>
          <p:cNvSpPr txBox="1"/>
          <p:nvPr/>
        </p:nvSpPr>
        <p:spPr>
          <a:xfrm>
            <a:off x="611981" y="3512195"/>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4" name="Text 12"/>
          <p:cNvSpPr txBox="1"/>
          <p:nvPr/>
        </p:nvSpPr>
        <p:spPr>
          <a:xfrm>
            <a:off x="897731" y="3540770"/>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Banana no ponto: amarela com pintinhas. Preta demais desmancha; verde demais não carameliza.</a:t>
            </a:r>
            <a:endParaRPr lang="en-US" sz="1100" dirty="0"/>
          </a:p>
        </p:txBody>
      </p:sp>
      <p:sp>
        <p:nvSpPr>
          <p:cNvPr id="15" name="Text 13"/>
          <p:cNvSpPr txBox="1"/>
          <p:nvPr/>
        </p:nvSpPr>
        <p:spPr>
          <a:xfrm>
            <a:off x="611981" y="4195134"/>
            <a:ext cx="13105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NÃO TEM ISSO?</a:t>
            </a:r>
            <a:endParaRPr lang="en-US" sz="1650" dirty="0"/>
          </a:p>
        </p:txBody>
      </p:sp>
      <p:sp>
        <p:nvSpPr>
          <p:cNvPr id="16" name="Shape 14"/>
          <p:cNvSpPr/>
          <p:nvPr/>
        </p:nvSpPr>
        <p:spPr>
          <a:xfrm>
            <a:off x="611981" y="4563666"/>
            <a:ext cx="2280791" cy="298996"/>
          </a:xfrm>
          <a:prstGeom prst="rect">
            <a:avLst/>
          </a:prstGeom>
          <a:solidFill>
            <a:srgbClr val="18542A"/>
          </a:solidFill>
          <a:ln/>
        </p:spPr>
      </p:sp>
      <p:sp>
        <p:nvSpPr>
          <p:cNvPr id="17" name="Text 15"/>
          <p:cNvSpPr txBox="1"/>
          <p:nvPr/>
        </p:nvSpPr>
        <p:spPr>
          <a:xfrm>
            <a:off x="707231" y="4630341"/>
            <a:ext cx="10208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SE NÃO TIVER…</a:t>
            </a:r>
            <a:endParaRPr lang="en-US" sz="960" dirty="0"/>
          </a:p>
        </p:txBody>
      </p:sp>
      <p:sp>
        <p:nvSpPr>
          <p:cNvPr id="18" name="Shape 16"/>
          <p:cNvSpPr/>
          <p:nvPr/>
        </p:nvSpPr>
        <p:spPr>
          <a:xfrm>
            <a:off x="2892772" y="4563666"/>
            <a:ext cx="4055120" cy="298996"/>
          </a:xfrm>
          <a:prstGeom prst="rect">
            <a:avLst/>
          </a:prstGeom>
          <a:solidFill>
            <a:srgbClr val="18542A"/>
          </a:solidFill>
          <a:ln/>
        </p:spPr>
      </p:sp>
      <p:sp>
        <p:nvSpPr>
          <p:cNvPr id="19" name="Text 17"/>
          <p:cNvSpPr txBox="1"/>
          <p:nvPr/>
        </p:nvSpPr>
        <p:spPr>
          <a:xfrm>
            <a:off x="2988022" y="4630341"/>
            <a:ext cx="4582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USE…</a:t>
            </a:r>
            <a:endParaRPr lang="en-US" sz="960" dirty="0"/>
          </a:p>
        </p:txBody>
      </p:sp>
      <p:sp>
        <p:nvSpPr>
          <p:cNvPr id="20" name="Shape 18"/>
          <p:cNvSpPr/>
          <p:nvPr/>
        </p:nvSpPr>
        <p:spPr>
          <a:xfrm>
            <a:off x="611981" y="5419874"/>
            <a:ext cx="2280791" cy="0"/>
          </a:xfrm>
          <a:prstGeom prst="line">
            <a:avLst/>
          </a:prstGeom>
          <a:noFill/>
          <a:ln w="9525">
            <a:solidFill>
              <a:srgbClr val="EADCB8"/>
            </a:solidFill>
            <a:prstDash val="solid"/>
          </a:ln>
        </p:spPr>
      </p:sp>
      <p:sp>
        <p:nvSpPr>
          <p:cNvPr id="21" name="Text 19"/>
          <p:cNvSpPr txBox="1"/>
          <p:nvPr/>
        </p:nvSpPr>
        <p:spPr>
          <a:xfrm>
            <a:off x="707231" y="4938861"/>
            <a:ext cx="1055489"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Banana-da-terra</a:t>
            </a:r>
            <a:endParaRPr lang="en-US" sz="1170" dirty="0"/>
          </a:p>
        </p:txBody>
      </p:sp>
      <p:sp>
        <p:nvSpPr>
          <p:cNvPr id="22" name="Shape 20"/>
          <p:cNvSpPr/>
          <p:nvPr/>
        </p:nvSpPr>
        <p:spPr>
          <a:xfrm>
            <a:off x="2892772" y="5419874"/>
            <a:ext cx="4055120" cy="0"/>
          </a:xfrm>
          <a:prstGeom prst="line">
            <a:avLst/>
          </a:prstGeom>
          <a:noFill/>
          <a:ln w="9525">
            <a:solidFill>
              <a:srgbClr val="EADCB8"/>
            </a:solidFill>
            <a:prstDash val="solid"/>
          </a:ln>
        </p:spPr>
      </p:sp>
      <p:sp>
        <p:nvSpPr>
          <p:cNvPr id="23" name="Text 21"/>
          <p:cNvSpPr txBox="1"/>
          <p:nvPr/>
        </p:nvSpPr>
        <p:spPr>
          <a:xfrm>
            <a:off x="2988022" y="495791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Banana-prata firme (cozinha mais rápido: reduza os tempos pela metade).</a:t>
            </a:r>
            <a:endParaRPr lang="en-US" sz="1100" dirty="0"/>
          </a:p>
        </p:txBody>
      </p:sp>
      <p:sp>
        <p:nvSpPr>
          <p:cNvPr id="24" name="Shape 22"/>
          <p:cNvSpPr/>
          <p:nvPr/>
        </p:nvSpPr>
        <p:spPr>
          <a:xfrm>
            <a:off x="611981" y="5772299"/>
            <a:ext cx="2280791" cy="0"/>
          </a:xfrm>
          <a:prstGeom prst="line">
            <a:avLst/>
          </a:prstGeom>
          <a:noFill/>
          <a:ln w="9525">
            <a:solidFill>
              <a:srgbClr val="EADCB8"/>
            </a:solidFill>
            <a:prstDash val="solid"/>
          </a:ln>
        </p:spPr>
      </p:sp>
      <p:sp>
        <p:nvSpPr>
          <p:cNvPr id="25" name="Text 23"/>
          <p:cNvSpPr txBox="1"/>
          <p:nvPr/>
        </p:nvSpPr>
        <p:spPr>
          <a:xfrm>
            <a:off x="707231" y="5500836"/>
            <a:ext cx="997446"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Azeite de dendê</a:t>
            </a:r>
            <a:endParaRPr lang="en-US" sz="1170" dirty="0"/>
          </a:p>
        </p:txBody>
      </p:sp>
      <p:sp>
        <p:nvSpPr>
          <p:cNvPr id="26" name="Shape 24"/>
          <p:cNvSpPr/>
          <p:nvPr/>
        </p:nvSpPr>
        <p:spPr>
          <a:xfrm>
            <a:off x="2892772" y="5772299"/>
            <a:ext cx="4055120" cy="0"/>
          </a:xfrm>
          <a:prstGeom prst="line">
            <a:avLst/>
          </a:prstGeom>
          <a:noFill/>
          <a:ln w="9525">
            <a:solidFill>
              <a:srgbClr val="EADCB8"/>
            </a:solidFill>
            <a:prstDash val="solid"/>
          </a:ln>
        </p:spPr>
      </p:sp>
      <p:sp>
        <p:nvSpPr>
          <p:cNvPr id="27" name="Text 25"/>
          <p:cNvSpPr txBox="1"/>
          <p:nvPr/>
        </p:nvSpPr>
        <p:spPr>
          <a:xfrm>
            <a:off x="2988022" y="5514804"/>
            <a:ext cx="46091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Azeite comum com 1 colher (chá) de colorau ou páprica doce.</a:t>
            </a:r>
            <a:endParaRPr lang="en-US" sz="1100" dirty="0"/>
          </a:p>
        </p:txBody>
      </p:sp>
      <p:sp>
        <p:nvSpPr>
          <p:cNvPr id="28" name="Shape 26"/>
          <p:cNvSpPr/>
          <p:nvPr/>
        </p:nvSpPr>
        <p:spPr>
          <a:xfrm>
            <a:off x="611981" y="6124724"/>
            <a:ext cx="2280791" cy="0"/>
          </a:xfrm>
          <a:prstGeom prst="line">
            <a:avLst/>
          </a:prstGeom>
          <a:noFill/>
          <a:ln w="9525">
            <a:solidFill>
              <a:srgbClr val="EADCB8"/>
            </a:solidFill>
            <a:prstDash val="solid"/>
          </a:ln>
        </p:spPr>
      </p:sp>
      <p:sp>
        <p:nvSpPr>
          <p:cNvPr id="29" name="Text 27"/>
          <p:cNvSpPr txBox="1"/>
          <p:nvPr/>
        </p:nvSpPr>
        <p:spPr>
          <a:xfrm>
            <a:off x="707231" y="5853261"/>
            <a:ext cx="85501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Leite de coco</a:t>
            </a:r>
            <a:endParaRPr lang="en-US" sz="1170" dirty="0"/>
          </a:p>
        </p:txBody>
      </p:sp>
      <p:sp>
        <p:nvSpPr>
          <p:cNvPr id="30" name="Shape 28"/>
          <p:cNvSpPr/>
          <p:nvPr/>
        </p:nvSpPr>
        <p:spPr>
          <a:xfrm>
            <a:off x="2892772" y="6124724"/>
            <a:ext cx="4055120" cy="0"/>
          </a:xfrm>
          <a:prstGeom prst="line">
            <a:avLst/>
          </a:prstGeom>
          <a:noFill/>
          <a:ln w="9525">
            <a:solidFill>
              <a:srgbClr val="EADCB8"/>
            </a:solidFill>
            <a:prstDash val="solid"/>
          </a:ln>
        </p:spPr>
      </p:sp>
      <p:sp>
        <p:nvSpPr>
          <p:cNvPr id="31" name="Text 29"/>
          <p:cNvSpPr txBox="1"/>
          <p:nvPr/>
        </p:nvSpPr>
        <p:spPr>
          <a:xfrm>
            <a:off x="2988022" y="5867229"/>
            <a:ext cx="398532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Creme de leite com 2 colheres (sopa) de coco ralado.</a:t>
            </a:r>
            <a:endParaRPr lang="en-US" sz="1100" dirty="0"/>
          </a:p>
        </p:txBody>
      </p:sp>
      <p:sp>
        <p:nvSpPr>
          <p:cNvPr id="32" name="Shape 30"/>
          <p:cNvSpPr/>
          <p:nvPr/>
        </p:nvSpPr>
        <p:spPr>
          <a:xfrm>
            <a:off x="611981" y="6686699"/>
            <a:ext cx="2280791" cy="0"/>
          </a:xfrm>
          <a:prstGeom prst="line">
            <a:avLst/>
          </a:prstGeom>
          <a:noFill/>
          <a:ln w="9525">
            <a:solidFill>
              <a:srgbClr val="EADCB8"/>
            </a:solidFill>
            <a:prstDash val="solid"/>
          </a:ln>
        </p:spPr>
      </p:sp>
      <p:sp>
        <p:nvSpPr>
          <p:cNvPr id="33" name="Text 31"/>
          <p:cNvSpPr txBox="1"/>
          <p:nvPr/>
        </p:nvSpPr>
        <p:spPr>
          <a:xfrm>
            <a:off x="707231" y="6205686"/>
            <a:ext cx="1040130"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Rum ou cachaça</a:t>
            </a:r>
            <a:endParaRPr lang="en-US" sz="1170" dirty="0"/>
          </a:p>
        </p:txBody>
      </p:sp>
      <p:sp>
        <p:nvSpPr>
          <p:cNvPr id="34" name="Shape 32"/>
          <p:cNvSpPr/>
          <p:nvPr/>
        </p:nvSpPr>
        <p:spPr>
          <a:xfrm>
            <a:off x="2892772" y="6686699"/>
            <a:ext cx="4055120" cy="0"/>
          </a:xfrm>
          <a:prstGeom prst="line">
            <a:avLst/>
          </a:prstGeom>
          <a:noFill/>
          <a:ln w="9525">
            <a:solidFill>
              <a:srgbClr val="EADCB8"/>
            </a:solidFill>
            <a:prstDash val="solid"/>
          </a:ln>
        </p:spPr>
      </p:sp>
      <p:sp>
        <p:nvSpPr>
          <p:cNvPr id="35" name="Text 33"/>
          <p:cNvSpPr txBox="1"/>
          <p:nvPr/>
        </p:nvSpPr>
        <p:spPr>
          <a:xfrm>
            <a:off x="2988022" y="6224736"/>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Conhaque ou uísque. Sem álcool: dobre o suco de laranja e pule a flambagem.</a:t>
            </a:r>
            <a:endParaRPr lang="en-US" sz="1100" dirty="0"/>
          </a:p>
        </p:txBody>
      </p:sp>
      <p:sp>
        <p:nvSpPr>
          <p:cNvPr id="36" name="Shape 34"/>
          <p:cNvSpPr/>
          <p:nvPr/>
        </p:nvSpPr>
        <p:spPr>
          <a:xfrm>
            <a:off x="611981" y="7248674"/>
            <a:ext cx="2280791" cy="0"/>
          </a:xfrm>
          <a:prstGeom prst="line">
            <a:avLst/>
          </a:prstGeom>
          <a:noFill/>
          <a:ln w="9525">
            <a:solidFill>
              <a:srgbClr val="EADCB8"/>
            </a:solidFill>
            <a:prstDash val="solid"/>
          </a:ln>
        </p:spPr>
      </p:sp>
      <p:sp>
        <p:nvSpPr>
          <p:cNvPr id="37" name="Text 35"/>
          <p:cNvSpPr txBox="1"/>
          <p:nvPr/>
        </p:nvSpPr>
        <p:spPr>
          <a:xfrm>
            <a:off x="707231" y="6767661"/>
            <a:ext cx="1043523"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Açúcar mascavo</a:t>
            </a:r>
            <a:endParaRPr lang="en-US" sz="1170" dirty="0"/>
          </a:p>
        </p:txBody>
      </p:sp>
      <p:sp>
        <p:nvSpPr>
          <p:cNvPr id="38" name="Shape 36"/>
          <p:cNvSpPr/>
          <p:nvPr/>
        </p:nvSpPr>
        <p:spPr>
          <a:xfrm>
            <a:off x="2892772" y="7248674"/>
            <a:ext cx="4055120" cy="0"/>
          </a:xfrm>
          <a:prstGeom prst="line">
            <a:avLst/>
          </a:prstGeom>
          <a:noFill/>
          <a:ln w="9525">
            <a:solidFill>
              <a:srgbClr val="EADCB8"/>
            </a:solidFill>
            <a:prstDash val="solid"/>
          </a:ln>
        </p:spPr>
      </p:sp>
      <p:sp>
        <p:nvSpPr>
          <p:cNvPr id="39" name="Text 37"/>
          <p:cNvSpPr txBox="1"/>
          <p:nvPr/>
        </p:nvSpPr>
        <p:spPr>
          <a:xfrm>
            <a:off x="2988022" y="678671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Açúcar demerara, ou açúcar comum com 1 colher (chá) de melado.</a:t>
            </a:r>
            <a:endParaRPr lang="en-US" sz="1100" dirty="0"/>
          </a:p>
        </p:txBody>
      </p:sp>
      <p:sp>
        <p:nvSpPr>
          <p:cNvPr id="40" name="Shape 38"/>
          <p:cNvSpPr/>
          <p:nvPr/>
        </p:nvSpPr>
        <p:spPr>
          <a:xfrm>
            <a:off x="611981" y="7601099"/>
            <a:ext cx="2280791" cy="0"/>
          </a:xfrm>
          <a:prstGeom prst="line">
            <a:avLst/>
          </a:prstGeom>
          <a:noFill/>
          <a:ln w="9525">
            <a:solidFill>
              <a:srgbClr val="EADCB8"/>
            </a:solidFill>
            <a:prstDash val="solid"/>
          </a:ln>
        </p:spPr>
      </p:sp>
      <p:sp>
        <p:nvSpPr>
          <p:cNvPr id="41" name="Text 39"/>
          <p:cNvSpPr txBox="1"/>
          <p:nvPr/>
        </p:nvSpPr>
        <p:spPr>
          <a:xfrm>
            <a:off x="707231" y="7329636"/>
            <a:ext cx="87272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Noz-moscada</a:t>
            </a:r>
            <a:endParaRPr lang="en-US" sz="1170" dirty="0"/>
          </a:p>
        </p:txBody>
      </p:sp>
      <p:sp>
        <p:nvSpPr>
          <p:cNvPr id="42" name="Shape 40"/>
          <p:cNvSpPr/>
          <p:nvPr/>
        </p:nvSpPr>
        <p:spPr>
          <a:xfrm>
            <a:off x="2892772" y="7601099"/>
            <a:ext cx="4055120" cy="0"/>
          </a:xfrm>
          <a:prstGeom prst="line">
            <a:avLst/>
          </a:prstGeom>
          <a:noFill/>
          <a:ln w="9525">
            <a:solidFill>
              <a:srgbClr val="EADCB8"/>
            </a:solidFill>
            <a:prstDash val="solid"/>
          </a:ln>
        </p:spPr>
      </p:sp>
      <p:sp>
        <p:nvSpPr>
          <p:cNvPr id="43" name="Text 41"/>
          <p:cNvSpPr txBox="1"/>
          <p:nvPr/>
        </p:nvSpPr>
        <p:spPr>
          <a:xfrm>
            <a:off x="2988022" y="7343604"/>
            <a:ext cx="311038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Uma pitada de canela ou de cravo em pó.</a:t>
            </a:r>
            <a:endParaRPr lang="en-US" sz="1100" dirty="0"/>
          </a:p>
        </p:txBody>
      </p:sp>
      <p:sp>
        <p:nvSpPr>
          <p:cNvPr id="44" name="Text 42"/>
          <p:cNvSpPr txBox="1"/>
          <p:nvPr/>
        </p:nvSpPr>
        <p:spPr>
          <a:xfrm>
            <a:off x="5893743"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6895" y="10253663"/>
            <a:ext cx="27339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23</a:t>
            </a:r>
            <a:endParaRPr lang="en-US" sz="8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11981" y="566440"/>
            <a:ext cx="2300109"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APROVEITA ISSO TAMBÉM · BANANA</a:t>
            </a:r>
            <a:endParaRPr lang="en-US" sz="960" dirty="0"/>
          </a:p>
        </p:txBody>
      </p:sp>
      <p:sp>
        <p:nvSpPr>
          <p:cNvPr id="3" name="Text 1"/>
          <p:cNvSpPr txBox="1"/>
          <p:nvPr/>
        </p:nvSpPr>
        <p:spPr>
          <a:xfrm>
            <a:off x="611981" y="779960"/>
            <a:ext cx="294965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NADA VAI PARA O LIXO</a:t>
            </a:r>
            <a:endParaRPr lang="en-US" sz="2420" dirty="0"/>
          </a:p>
        </p:txBody>
      </p:sp>
      <p:sp>
        <p:nvSpPr>
          <p:cNvPr id="4" name="Text 2"/>
          <p:cNvSpPr txBox="1"/>
          <p:nvPr/>
        </p:nvSpPr>
        <p:spPr>
          <a:xfrm>
            <a:off x="611981" y="1377818"/>
            <a:ext cx="4378583"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CASCA: “CARNE” VEGETAL DESFIADA E TEMPERADA</a:t>
            </a:r>
            <a:endParaRPr lang="en-US" sz="1650" dirty="0"/>
          </a:p>
        </p:txBody>
      </p:sp>
      <p:sp>
        <p:nvSpPr>
          <p:cNvPr id="5" name="Text 3"/>
          <p:cNvSpPr txBox="1"/>
          <p:nvPr/>
        </p:nvSpPr>
        <p:spPr>
          <a:xfrm>
            <a:off x="611981" y="1774924"/>
            <a:ext cx="6335911" cy="10096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Funciona melhor com cascas de banana-prata ou nanica, maduras e bem lavadas (a da banana-da-terra é mais grossa: cozinhe antes por 15 minutos em água). Corte as pontas e desfie as cascas no comprimento com um garfo. Deixe de molho em água com limão por 10 minutos e escorra. Refogue cebola, alho e tomate, junte as cascas, cominho, páprica e colorau e cozinhe em fogo baixo, tampado, por 15 a 20 minutos, pingando água se secar. Ajuste o sal e finalize com cheiro-verde.</a:t>
            </a:r>
            <a:endParaRPr lang="en-US" sz="1100" dirty="0"/>
          </a:p>
        </p:txBody>
      </p:sp>
      <p:sp>
        <p:nvSpPr>
          <p:cNvPr id="6" name="Text 4"/>
          <p:cNvSpPr txBox="1"/>
          <p:nvPr/>
        </p:nvSpPr>
        <p:spPr>
          <a:xfrm>
            <a:off x="611981" y="3057939"/>
            <a:ext cx="982266"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ONDE USAR</a:t>
            </a:r>
            <a:endParaRPr lang="en-US" sz="1650" dirty="0"/>
          </a:p>
        </p:txBody>
      </p:sp>
      <p:sp>
        <p:nvSpPr>
          <p:cNvPr id="7" name="Text 5"/>
          <p:cNvSpPr txBox="1"/>
          <p:nvPr/>
        </p:nvSpPr>
        <p:spPr>
          <a:xfrm>
            <a:off x="611981" y="3455045"/>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Recheio de pastel, tapioca e torta; fricassê com creme de leite e queijo gratinado; refogado para servir com arroz e feijão. Com as cascas de 5 bananas você faz recheio para uns 10 pastéis.</a:t>
            </a:r>
            <a:endParaRPr lang="en-US" sz="1100" dirty="0"/>
          </a:p>
        </p:txBody>
      </p:sp>
      <p:sp>
        <p:nvSpPr>
          <p:cNvPr id="8" name="Text 6"/>
          <p:cNvSpPr txBox="1"/>
          <p:nvPr/>
        </p:nvSpPr>
        <p:spPr>
          <a:xfrm>
            <a:off x="5888682"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9" name="Text 7"/>
          <p:cNvSpPr txBox="1"/>
          <p:nvPr/>
        </p:nvSpPr>
        <p:spPr>
          <a:xfrm>
            <a:off x="6821835" y="10253663"/>
            <a:ext cx="27845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24</a:t>
            </a:r>
            <a:endParaRPr lang="en-US" sz="8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11981" y="566440"/>
            <a:ext cx="867519"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03</a:t>
            </a:r>
            <a:endParaRPr lang="en-US" sz="960" dirty="0"/>
          </a:p>
        </p:txBody>
      </p:sp>
      <p:sp>
        <p:nvSpPr>
          <p:cNvPr id="3" name="Text 1"/>
          <p:cNvSpPr txBox="1"/>
          <p:nvPr/>
        </p:nvSpPr>
        <p:spPr>
          <a:xfrm>
            <a:off x="611981" y="779960"/>
            <a:ext cx="3124498"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SOBRECOXA DE FRANGO</a:t>
            </a:r>
            <a:endParaRPr lang="en-US" sz="2420" dirty="0"/>
          </a:p>
        </p:txBody>
      </p:sp>
      <p:sp>
        <p:nvSpPr>
          <p:cNvPr id="4" name="Text 2"/>
          <p:cNvSpPr txBox="1"/>
          <p:nvPr/>
        </p:nvSpPr>
        <p:spPr>
          <a:xfrm>
            <a:off x="611981" y="1263518"/>
            <a:ext cx="1519118"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COM OSSO E PELE</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proteína é um dos itens que mais pesam no orçamento da família. A sobrecoxa é muito mais saborosa, suculenta e barata que o peito, e com técnica de chef você passa a dominá-la.</a:t>
            </a:r>
            <a:endParaRPr lang="en-US" sz="1100" dirty="0"/>
          </a:p>
        </p:txBody>
      </p:sp>
      <p:sp>
        <p:nvSpPr>
          <p:cNvPr id="6" name="Text 4"/>
          <p:cNvSpPr txBox="1"/>
          <p:nvPr/>
        </p:nvSpPr>
        <p:spPr>
          <a:xfrm>
            <a:off x="611981" y="2429289"/>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7" name="Text 5"/>
          <p:cNvSpPr txBox="1"/>
          <p:nvPr/>
        </p:nvSpPr>
        <p:spPr>
          <a:xfrm>
            <a:off x="611981" y="2775909"/>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8" name="Text 6"/>
          <p:cNvSpPr txBox="1"/>
          <p:nvPr/>
        </p:nvSpPr>
        <p:spPr>
          <a:xfrm>
            <a:off x="1031081" y="2797820"/>
            <a:ext cx="201078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TÉCNICA DA FRIGIDEIRA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27</a:t>
            </a:r>
            <a:endParaRPr lang="en-US" sz="1320" dirty="0"/>
          </a:p>
        </p:txBody>
      </p:sp>
      <p:sp>
        <p:nvSpPr>
          <p:cNvPr id="9" name="Text 7"/>
          <p:cNvSpPr txBox="1"/>
          <p:nvPr/>
        </p:nvSpPr>
        <p:spPr>
          <a:xfrm>
            <a:off x="1031081" y="3108105"/>
            <a:ext cx="58573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Sobrecoxa desossada com pele ultracrocante ao molho rústico de limão e alho</a:t>
            </a:r>
            <a:endParaRPr lang="en-US" sz="1100" dirty="0"/>
          </a:p>
        </p:txBody>
      </p:sp>
      <p:sp>
        <p:nvSpPr>
          <p:cNvPr id="10" name="Text 8"/>
          <p:cNvSpPr txBox="1"/>
          <p:nvPr/>
        </p:nvSpPr>
        <p:spPr>
          <a:xfrm>
            <a:off x="611981" y="3424651"/>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11" name="Text 9"/>
          <p:cNvSpPr txBox="1"/>
          <p:nvPr/>
        </p:nvSpPr>
        <p:spPr>
          <a:xfrm>
            <a:off x="1031081" y="3446562"/>
            <a:ext cx="1668423"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COZIMENTO LENTO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29</a:t>
            </a:r>
            <a:endParaRPr lang="en-US" sz="1320" dirty="0"/>
          </a:p>
        </p:txBody>
      </p:sp>
      <p:sp>
        <p:nvSpPr>
          <p:cNvPr id="12" name="Text 10"/>
          <p:cNvSpPr txBox="1"/>
          <p:nvPr/>
        </p:nvSpPr>
        <p:spPr>
          <a:xfrm>
            <a:off x="1031081" y="3756846"/>
            <a:ext cx="468415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Frango desfiado suculento ao molho de tomate caseiro e ervas</a:t>
            </a:r>
            <a:endParaRPr lang="en-US" sz="1100" dirty="0"/>
          </a:p>
        </p:txBody>
      </p:sp>
      <p:sp>
        <p:nvSpPr>
          <p:cNvPr id="13" name="Text 11"/>
          <p:cNvSpPr txBox="1"/>
          <p:nvPr/>
        </p:nvSpPr>
        <p:spPr>
          <a:xfrm>
            <a:off x="611981" y="4073393"/>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4" name="Text 12"/>
          <p:cNvSpPr txBox="1"/>
          <p:nvPr/>
        </p:nvSpPr>
        <p:spPr>
          <a:xfrm>
            <a:off x="1031081" y="4095304"/>
            <a:ext cx="189970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ASSADO TECNOLÓGICO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31</a:t>
            </a:r>
            <a:endParaRPr lang="en-US" sz="1320" dirty="0"/>
          </a:p>
        </p:txBody>
      </p:sp>
      <p:sp>
        <p:nvSpPr>
          <p:cNvPr id="15" name="Text 13"/>
          <p:cNvSpPr txBox="1"/>
          <p:nvPr/>
        </p:nvSpPr>
        <p:spPr>
          <a:xfrm>
            <a:off x="1031081" y="4405588"/>
            <a:ext cx="50379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Sobrecoxa marinada no iogurte com especiarias, assada até dourar</a:t>
            </a:r>
            <a:endParaRPr lang="en-US" sz="1100" dirty="0"/>
          </a:p>
        </p:txBody>
      </p:sp>
      <p:sp>
        <p:nvSpPr>
          <p:cNvPr id="16" name="Text 14"/>
          <p:cNvSpPr txBox="1"/>
          <p:nvPr/>
        </p:nvSpPr>
        <p:spPr>
          <a:xfrm>
            <a:off x="5893445"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17" name="Text 15"/>
          <p:cNvSpPr txBox="1"/>
          <p:nvPr/>
        </p:nvSpPr>
        <p:spPr>
          <a:xfrm>
            <a:off x="6826597" y="10253663"/>
            <a:ext cx="273695"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25</a:t>
            </a:r>
            <a:endParaRPr lang="en-US" sz="8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11981" y="566440"/>
            <a:ext cx="1521797"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03 · FRANGO</a:t>
            </a:r>
            <a:endParaRPr lang="en-US" sz="960" dirty="0"/>
          </a:p>
        </p:txBody>
      </p:sp>
      <p:sp>
        <p:nvSpPr>
          <p:cNvPr id="3" name="Text 1"/>
          <p:cNvSpPr txBox="1"/>
          <p:nvPr/>
        </p:nvSpPr>
        <p:spPr>
          <a:xfrm>
            <a:off x="611981" y="779960"/>
            <a:ext cx="200346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INGREDIENTE</a:t>
            </a:r>
            <a:endParaRPr lang="en-US" sz="2420" dirty="0"/>
          </a:p>
        </p:txBody>
      </p:sp>
      <p:sp>
        <p:nvSpPr>
          <p:cNvPr id="4" name="Text 2"/>
          <p:cNvSpPr txBox="1"/>
          <p:nvPr/>
        </p:nvSpPr>
        <p:spPr>
          <a:xfrm>
            <a:off x="611981" y="14092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 existe um corte que perdoa, é a sobrecoxa. Por ser carne escura, tem mais gordura e mais colágeno: aguenta mais tempo de fogo, continua suculenta e tem muito mais sabor que o peito.</a:t>
            </a:r>
            <a:endParaRPr lang="en-US" sz="1100" dirty="0"/>
          </a:p>
        </p:txBody>
      </p:sp>
      <p:sp>
        <p:nvSpPr>
          <p:cNvPr id="5" name="Text 3"/>
          <p:cNvSpPr txBox="1"/>
          <p:nvPr/>
        </p:nvSpPr>
        <p:spPr>
          <a:xfrm>
            <a:off x="611981" y="194265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 ela vem com dois presentes que quase todo mundo joga fora. A pele, que bem trabalhada fica crocante como um torresmo. E o osso, que vira um caldo capaz de transformar qualquer arroz, molho ou sopa.</a:t>
            </a:r>
            <a:endParaRPr lang="en-US" sz="1100" dirty="0"/>
          </a:p>
        </p:txBody>
      </p:sp>
      <p:sp>
        <p:nvSpPr>
          <p:cNvPr id="6" name="Text 4"/>
          <p:cNvSpPr txBox="1"/>
          <p:nvPr/>
        </p:nvSpPr>
        <p:spPr>
          <a:xfrm>
            <a:off x="611981" y="268560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Neste capítulo, a mesma peça vai para a frigideira, para a panela e para o forno, cada vez com uma técnica e um resultado diferentes.</a:t>
            </a:r>
            <a:endParaRPr lang="en-US" sz="1100" dirty="0"/>
          </a:p>
        </p:txBody>
      </p:sp>
      <p:sp>
        <p:nvSpPr>
          <p:cNvPr id="7" name="Text 5"/>
          <p:cNvSpPr txBox="1"/>
          <p:nvPr/>
        </p:nvSpPr>
        <p:spPr>
          <a:xfrm>
            <a:off x="611981" y="3339968"/>
            <a:ext cx="158752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ANTES DA PANELA</a:t>
            </a:r>
            <a:endParaRPr lang="en-US" sz="1650" dirty="0"/>
          </a:p>
        </p:txBody>
      </p:sp>
      <p:sp>
        <p:nvSpPr>
          <p:cNvPr id="8" name="Text 6"/>
          <p:cNvSpPr txBox="1"/>
          <p:nvPr/>
        </p:nvSpPr>
        <p:spPr>
          <a:xfrm>
            <a:off x="611981" y="3698974"/>
            <a:ext cx="159109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NA HORA DE ESCOLHER</a:t>
            </a:r>
            <a:endParaRPr lang="en-US" sz="1320" dirty="0"/>
          </a:p>
        </p:txBody>
      </p:sp>
      <p:sp>
        <p:nvSpPr>
          <p:cNvPr id="9" name="Shape 7"/>
          <p:cNvSpPr/>
          <p:nvPr/>
        </p:nvSpPr>
        <p:spPr>
          <a:xfrm>
            <a:off x="631031" y="4072382"/>
            <a:ext cx="66675" cy="66675"/>
          </a:xfrm>
          <a:prstGeom prst="ellipse">
            <a:avLst/>
          </a:prstGeom>
          <a:solidFill>
            <a:srgbClr val="F96015"/>
          </a:solidFill>
          <a:ln/>
        </p:spPr>
      </p:sp>
      <p:sp>
        <p:nvSpPr>
          <p:cNvPr id="10" name="Text 8"/>
          <p:cNvSpPr txBox="1"/>
          <p:nvPr/>
        </p:nvSpPr>
        <p:spPr>
          <a:xfrm>
            <a:off x="783431" y="4009259"/>
            <a:ext cx="44600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Pele inteira, de cor clara e uniforme, sem manchas escuras.</a:t>
            </a:r>
            <a:endParaRPr lang="en-US" sz="1100" dirty="0"/>
          </a:p>
        </p:txBody>
      </p:sp>
      <p:sp>
        <p:nvSpPr>
          <p:cNvPr id="11" name="Shape 9"/>
          <p:cNvSpPr/>
          <p:nvPr/>
        </p:nvSpPr>
        <p:spPr>
          <a:xfrm>
            <a:off x="631031" y="4339082"/>
            <a:ext cx="66675" cy="66675"/>
          </a:xfrm>
          <a:prstGeom prst="ellipse">
            <a:avLst/>
          </a:prstGeom>
          <a:solidFill>
            <a:srgbClr val="F96015"/>
          </a:solidFill>
          <a:ln/>
        </p:spPr>
      </p:sp>
      <p:sp>
        <p:nvSpPr>
          <p:cNvPr id="12" name="Text 10"/>
          <p:cNvSpPr txBox="1"/>
          <p:nvPr/>
        </p:nvSpPr>
        <p:spPr>
          <a:xfrm>
            <a:off x="783431" y="4275959"/>
            <a:ext cx="36136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Pouco líquido na bandeja e nenhum cheiro forte.</a:t>
            </a:r>
            <a:endParaRPr lang="en-US" sz="1100" dirty="0"/>
          </a:p>
        </p:txBody>
      </p:sp>
      <p:sp>
        <p:nvSpPr>
          <p:cNvPr id="13" name="Shape 11"/>
          <p:cNvSpPr/>
          <p:nvPr/>
        </p:nvSpPr>
        <p:spPr>
          <a:xfrm>
            <a:off x="631031" y="4605782"/>
            <a:ext cx="66675" cy="66675"/>
          </a:xfrm>
          <a:prstGeom prst="ellipse">
            <a:avLst/>
          </a:prstGeom>
          <a:solidFill>
            <a:srgbClr val="F96015"/>
          </a:solidFill>
          <a:ln/>
        </p:spPr>
      </p:sp>
      <p:sp>
        <p:nvSpPr>
          <p:cNvPr id="14" name="Text 12"/>
          <p:cNvSpPr txBox="1"/>
          <p:nvPr/>
        </p:nvSpPr>
        <p:spPr>
          <a:xfrm>
            <a:off x="783431" y="4542659"/>
            <a:ext cx="716160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Congelada: sem cristais grossos de gelo, que indicam que ela descongelou e congelou de novo.</a:t>
            </a:r>
            <a:endParaRPr lang="en-US" sz="1100" dirty="0"/>
          </a:p>
        </p:txBody>
      </p:sp>
      <p:sp>
        <p:nvSpPr>
          <p:cNvPr id="15" name="Text 13"/>
          <p:cNvSpPr txBox="1"/>
          <p:nvPr/>
        </p:nvSpPr>
        <p:spPr>
          <a:xfrm>
            <a:off x="611981" y="4909691"/>
            <a:ext cx="107477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COMO GUARDAR</a:t>
            </a:r>
            <a:endParaRPr lang="en-US" sz="1320" dirty="0"/>
          </a:p>
        </p:txBody>
      </p:sp>
      <p:sp>
        <p:nvSpPr>
          <p:cNvPr id="16" name="Shape 14"/>
          <p:cNvSpPr/>
          <p:nvPr/>
        </p:nvSpPr>
        <p:spPr>
          <a:xfrm>
            <a:off x="631031" y="5283099"/>
            <a:ext cx="66675" cy="66675"/>
          </a:xfrm>
          <a:prstGeom prst="ellipse">
            <a:avLst/>
          </a:prstGeom>
          <a:solidFill>
            <a:srgbClr val="F96015"/>
          </a:solidFill>
          <a:ln/>
        </p:spPr>
      </p:sp>
      <p:sp>
        <p:nvSpPr>
          <p:cNvPr id="17" name="Text 15"/>
          <p:cNvSpPr txBox="1"/>
          <p:nvPr/>
        </p:nvSpPr>
        <p:spPr>
          <a:xfrm>
            <a:off x="783431" y="5219976"/>
            <a:ext cx="38090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Na geladeira, na prateleira de baixo, por até 2 dias.</a:t>
            </a:r>
            <a:endParaRPr lang="en-US" sz="1100" dirty="0"/>
          </a:p>
        </p:txBody>
      </p:sp>
      <p:sp>
        <p:nvSpPr>
          <p:cNvPr id="18" name="Shape 16"/>
          <p:cNvSpPr/>
          <p:nvPr/>
        </p:nvSpPr>
        <p:spPr>
          <a:xfrm>
            <a:off x="631031" y="5549799"/>
            <a:ext cx="66675" cy="66675"/>
          </a:xfrm>
          <a:prstGeom prst="ellipse">
            <a:avLst/>
          </a:prstGeom>
          <a:solidFill>
            <a:srgbClr val="F96015"/>
          </a:solidFill>
          <a:ln/>
        </p:spPr>
      </p:sp>
      <p:sp>
        <p:nvSpPr>
          <p:cNvPr id="19" name="Text 17"/>
          <p:cNvSpPr txBox="1"/>
          <p:nvPr/>
        </p:nvSpPr>
        <p:spPr>
          <a:xfrm>
            <a:off x="783431" y="5486676"/>
            <a:ext cx="51402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No freezer, em porções achatadas dentro de sacos, por até 3 meses.</a:t>
            </a:r>
            <a:endParaRPr lang="en-US" sz="1100" dirty="0"/>
          </a:p>
        </p:txBody>
      </p:sp>
      <p:sp>
        <p:nvSpPr>
          <p:cNvPr id="20" name="Shape 18"/>
          <p:cNvSpPr/>
          <p:nvPr/>
        </p:nvSpPr>
        <p:spPr>
          <a:xfrm>
            <a:off x="631031" y="5816499"/>
            <a:ext cx="66675" cy="66675"/>
          </a:xfrm>
          <a:prstGeom prst="ellipse">
            <a:avLst/>
          </a:prstGeom>
          <a:solidFill>
            <a:srgbClr val="F96015"/>
          </a:solidFill>
          <a:ln/>
        </p:spPr>
      </p:sp>
      <p:sp>
        <p:nvSpPr>
          <p:cNvPr id="21" name="Text 19"/>
          <p:cNvSpPr txBox="1"/>
          <p:nvPr/>
        </p:nvSpPr>
        <p:spPr>
          <a:xfrm>
            <a:off x="783431" y="5753376"/>
            <a:ext cx="536406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Descongele sempre na geladeira, de um dia para o outro. Nunca na pia.</a:t>
            </a:r>
            <a:endParaRPr lang="en-US" sz="1100" dirty="0"/>
          </a:p>
        </p:txBody>
      </p:sp>
      <p:sp>
        <p:nvSpPr>
          <p:cNvPr id="22" name="Text 20"/>
          <p:cNvSpPr txBox="1"/>
          <p:nvPr/>
        </p:nvSpPr>
        <p:spPr>
          <a:xfrm>
            <a:off x="611981" y="6120408"/>
            <a:ext cx="16857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PRÉ-PREPARO E CORTES</a:t>
            </a:r>
            <a:endParaRPr lang="en-US" sz="1320" dirty="0"/>
          </a:p>
        </p:txBody>
      </p:sp>
      <p:sp>
        <p:nvSpPr>
          <p:cNvPr id="23" name="Shape 21"/>
          <p:cNvSpPr/>
          <p:nvPr/>
        </p:nvSpPr>
        <p:spPr>
          <a:xfrm>
            <a:off x="631031" y="6493816"/>
            <a:ext cx="66675" cy="66675"/>
          </a:xfrm>
          <a:prstGeom prst="ellipse">
            <a:avLst/>
          </a:prstGeom>
          <a:solidFill>
            <a:srgbClr val="F96015"/>
          </a:solidFill>
          <a:ln/>
        </p:spPr>
      </p:sp>
      <p:sp>
        <p:nvSpPr>
          <p:cNvPr id="24" name="Text 22"/>
          <p:cNvSpPr txBox="1"/>
          <p:nvPr/>
        </p:nvSpPr>
        <p:spPr>
          <a:xfrm>
            <a:off x="783431" y="6430693"/>
            <a:ext cx="668672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Seque bem com papel-toalha antes de qualquer preparo. Pele molhada não fica crocante.</a:t>
            </a:r>
            <a:endParaRPr lang="en-US" sz="1100" dirty="0"/>
          </a:p>
        </p:txBody>
      </p:sp>
      <p:sp>
        <p:nvSpPr>
          <p:cNvPr id="25" name="Shape 23"/>
          <p:cNvSpPr/>
          <p:nvPr/>
        </p:nvSpPr>
        <p:spPr>
          <a:xfrm>
            <a:off x="631031" y="6760516"/>
            <a:ext cx="66675" cy="66675"/>
          </a:xfrm>
          <a:prstGeom prst="ellipse">
            <a:avLst/>
          </a:prstGeom>
          <a:solidFill>
            <a:srgbClr val="F96015"/>
          </a:solidFill>
          <a:ln/>
        </p:spPr>
      </p:sp>
      <p:sp>
        <p:nvSpPr>
          <p:cNvPr id="26" name="Text 24"/>
          <p:cNvSpPr txBox="1"/>
          <p:nvPr/>
        </p:nvSpPr>
        <p:spPr>
          <a:xfrm>
            <a:off x="783431" y="670247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Para desossar: com a pele para baixo, faça um corte ao longo do osso, raspe a carne em volta com a ponta da faca e solte a articulação. Guarde o osso no freezer para o caldo.</a:t>
            </a:r>
            <a:endParaRPr lang="en-US" sz="1100" dirty="0"/>
          </a:p>
        </p:txBody>
      </p:sp>
      <p:sp>
        <p:nvSpPr>
          <p:cNvPr id="27" name="Shape 25"/>
          <p:cNvSpPr/>
          <p:nvPr/>
        </p:nvSpPr>
        <p:spPr>
          <a:xfrm>
            <a:off x="631031" y="7236766"/>
            <a:ext cx="66675" cy="66675"/>
          </a:xfrm>
          <a:prstGeom prst="ellipse">
            <a:avLst/>
          </a:prstGeom>
          <a:solidFill>
            <a:srgbClr val="F96015"/>
          </a:solidFill>
          <a:ln/>
        </p:spPr>
      </p:sp>
      <p:sp>
        <p:nvSpPr>
          <p:cNvPr id="28" name="Text 26"/>
          <p:cNvSpPr txBox="1"/>
          <p:nvPr/>
        </p:nvSpPr>
        <p:spPr>
          <a:xfrm>
            <a:off x="783431" y="717872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Salga antecipada: 1 colher (chá) de sal para cada 500 g, de 1 hora até 24 horas antes, na geladeira e descoberta. A carne fica mais temperada e a pele, mais seca.</a:t>
            </a:r>
            <a:endParaRPr lang="en-US" sz="1100" dirty="0"/>
          </a:p>
        </p:txBody>
      </p:sp>
      <p:sp>
        <p:nvSpPr>
          <p:cNvPr id="29" name="Text 27"/>
          <p:cNvSpPr txBox="1"/>
          <p:nvPr/>
        </p:nvSpPr>
        <p:spPr>
          <a:xfrm>
            <a:off x="5893296"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0" name="Text 28"/>
          <p:cNvSpPr txBox="1"/>
          <p:nvPr/>
        </p:nvSpPr>
        <p:spPr>
          <a:xfrm>
            <a:off x="6826448" y="10253663"/>
            <a:ext cx="273844"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26</a:t>
            </a:r>
            <a:endParaRPr lang="en-US" sz="83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11981" y="566440"/>
            <a:ext cx="26499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01</a:t>
            </a:r>
            <a:endParaRPr lang="en-US" sz="960" dirty="0"/>
          </a:p>
        </p:txBody>
      </p:sp>
      <p:sp>
        <p:nvSpPr>
          <p:cNvPr id="3" name="Text 1"/>
          <p:cNvSpPr txBox="1"/>
          <p:nvPr/>
        </p:nvSpPr>
        <p:spPr>
          <a:xfrm>
            <a:off x="611981" y="779960"/>
            <a:ext cx="306252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SOBRECOXA CROCANTE</a:t>
            </a:r>
            <a:endParaRPr lang="en-US" sz="2420" dirty="0"/>
          </a:p>
        </p:txBody>
      </p:sp>
      <p:sp>
        <p:nvSpPr>
          <p:cNvPr id="4" name="Text 2"/>
          <p:cNvSpPr txBox="1"/>
          <p:nvPr/>
        </p:nvSpPr>
        <p:spPr>
          <a:xfrm>
            <a:off x="611981" y="1404171"/>
            <a:ext cx="58573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Sobrecoxa desossada com pele ultracrocante ao molho rústico de limão e alho</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270980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sobrecoxas desossadas, com pele</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6203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óleo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87219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dentes de alho fatiados</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70087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100 ml de caldo de frango (ou água)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8904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e raspas de 1 limão</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28124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 gelada</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118282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Salsinha picada</a:t>
            </a:r>
            <a:endParaRPr lang="en-US" sz="1100" dirty="0"/>
          </a:p>
        </p:txBody>
      </p:sp>
      <p:sp>
        <p:nvSpPr>
          <p:cNvPr id="22" name="Text 20"/>
          <p:cNvSpPr txBox="1"/>
          <p:nvPr/>
        </p:nvSpPr>
        <p:spPr>
          <a:xfrm>
            <a:off x="611981" y="44091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11981" y="566440"/>
            <a:ext cx="19616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01 · FRANGO</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SOBRECOXA DESOSSADA COM PELE ULTRACROCANTE AO MOLHO RÚSTICO DE LIMÃO E ALHO</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TÉCNICA DA FRIGIDEIRA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(a pele mais crocante que você já fez)</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25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01512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a 4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Text 12"/>
          <p:cNvSpPr txBox="1"/>
          <p:nvPr/>
        </p:nvSpPr>
        <p:spPr>
          <a:xfrm>
            <a:off x="611981" y="3078063"/>
            <a:ext cx="61763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FRANGO</a:t>
            </a:r>
            <a:endParaRPr lang="en-US" sz="1320" dirty="0"/>
          </a:p>
        </p:txBody>
      </p:sp>
      <p:sp>
        <p:nvSpPr>
          <p:cNvPr id="15" name="Shape 13"/>
          <p:cNvSpPr/>
          <p:nvPr/>
        </p:nvSpPr>
        <p:spPr>
          <a:xfrm>
            <a:off x="631031" y="3451471"/>
            <a:ext cx="66675" cy="66675"/>
          </a:xfrm>
          <a:prstGeom prst="ellipse">
            <a:avLst/>
          </a:prstGeom>
          <a:solidFill>
            <a:srgbClr val="F96015"/>
          </a:solidFill>
          <a:ln/>
        </p:spPr>
      </p:sp>
      <p:sp>
        <p:nvSpPr>
          <p:cNvPr id="16" name="Text 14"/>
          <p:cNvSpPr txBox="1"/>
          <p:nvPr/>
        </p:nvSpPr>
        <p:spPr>
          <a:xfrm>
            <a:off x="783431" y="3388348"/>
            <a:ext cx="270980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sobrecoxas desossadas, com pele</a:t>
            </a:r>
            <a:endParaRPr lang="en-US" sz="1100" dirty="0"/>
          </a:p>
        </p:txBody>
      </p:sp>
      <p:sp>
        <p:nvSpPr>
          <p:cNvPr id="17" name="Shape 15"/>
          <p:cNvSpPr/>
          <p:nvPr/>
        </p:nvSpPr>
        <p:spPr>
          <a:xfrm>
            <a:off x="631031" y="3680071"/>
            <a:ext cx="66675" cy="66675"/>
          </a:xfrm>
          <a:prstGeom prst="ellipse">
            <a:avLst/>
          </a:prstGeom>
          <a:solidFill>
            <a:srgbClr val="F96015"/>
          </a:solidFill>
          <a:ln/>
        </p:spPr>
      </p:sp>
      <p:sp>
        <p:nvSpPr>
          <p:cNvPr id="18" name="Text 16"/>
          <p:cNvSpPr txBox="1"/>
          <p:nvPr/>
        </p:nvSpPr>
        <p:spPr>
          <a:xfrm>
            <a:off x="783431" y="3616948"/>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9" name="Shape 17"/>
          <p:cNvSpPr/>
          <p:nvPr/>
        </p:nvSpPr>
        <p:spPr>
          <a:xfrm>
            <a:off x="631031" y="3908671"/>
            <a:ext cx="66675" cy="66675"/>
          </a:xfrm>
          <a:prstGeom prst="ellipse">
            <a:avLst/>
          </a:prstGeom>
          <a:solidFill>
            <a:srgbClr val="F96015"/>
          </a:solidFill>
          <a:ln/>
        </p:spPr>
      </p:sp>
      <p:sp>
        <p:nvSpPr>
          <p:cNvPr id="20" name="Text 18"/>
          <p:cNvSpPr txBox="1"/>
          <p:nvPr/>
        </p:nvSpPr>
        <p:spPr>
          <a:xfrm>
            <a:off x="783431" y="3845548"/>
            <a:ext cx="16203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óleo</a:t>
            </a:r>
            <a:endParaRPr lang="en-US" sz="1100" dirty="0"/>
          </a:p>
        </p:txBody>
      </p:sp>
      <p:sp>
        <p:nvSpPr>
          <p:cNvPr id="21" name="Text 19"/>
          <p:cNvSpPr txBox="1"/>
          <p:nvPr/>
        </p:nvSpPr>
        <p:spPr>
          <a:xfrm>
            <a:off x="3894237" y="3078063"/>
            <a:ext cx="548580"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MOLHO</a:t>
            </a:r>
            <a:endParaRPr lang="en-US" sz="1320" dirty="0"/>
          </a:p>
        </p:txBody>
      </p:sp>
      <p:sp>
        <p:nvSpPr>
          <p:cNvPr id="22" name="Shape 20"/>
          <p:cNvSpPr/>
          <p:nvPr/>
        </p:nvSpPr>
        <p:spPr>
          <a:xfrm>
            <a:off x="3913287" y="3451471"/>
            <a:ext cx="66675" cy="66675"/>
          </a:xfrm>
          <a:prstGeom prst="ellipse">
            <a:avLst/>
          </a:prstGeom>
          <a:solidFill>
            <a:srgbClr val="F96015"/>
          </a:solidFill>
          <a:ln/>
        </p:spPr>
      </p:sp>
      <p:sp>
        <p:nvSpPr>
          <p:cNvPr id="23" name="Text 21"/>
          <p:cNvSpPr txBox="1"/>
          <p:nvPr/>
        </p:nvSpPr>
        <p:spPr>
          <a:xfrm>
            <a:off x="4065687" y="3388348"/>
            <a:ext cx="187219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dentes de alho fatiados</a:t>
            </a:r>
            <a:endParaRPr lang="en-US" sz="1100" dirty="0"/>
          </a:p>
        </p:txBody>
      </p:sp>
      <p:sp>
        <p:nvSpPr>
          <p:cNvPr id="24" name="Shape 22"/>
          <p:cNvSpPr/>
          <p:nvPr/>
        </p:nvSpPr>
        <p:spPr>
          <a:xfrm>
            <a:off x="3913287" y="3680071"/>
            <a:ext cx="66675" cy="66675"/>
          </a:xfrm>
          <a:prstGeom prst="ellipse">
            <a:avLst/>
          </a:prstGeom>
          <a:solidFill>
            <a:srgbClr val="F96015"/>
          </a:solidFill>
          <a:ln/>
        </p:spPr>
      </p:sp>
      <p:sp>
        <p:nvSpPr>
          <p:cNvPr id="25" name="Text 23"/>
          <p:cNvSpPr txBox="1"/>
          <p:nvPr/>
        </p:nvSpPr>
        <p:spPr>
          <a:xfrm>
            <a:off x="4065687" y="3616948"/>
            <a:ext cx="270087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100 ml de caldo de frango (ou água)</a:t>
            </a:r>
            <a:endParaRPr lang="en-US" sz="1100" dirty="0"/>
          </a:p>
        </p:txBody>
      </p:sp>
      <p:sp>
        <p:nvSpPr>
          <p:cNvPr id="26" name="Shape 24"/>
          <p:cNvSpPr/>
          <p:nvPr/>
        </p:nvSpPr>
        <p:spPr>
          <a:xfrm>
            <a:off x="3913287" y="3908671"/>
            <a:ext cx="66675" cy="66675"/>
          </a:xfrm>
          <a:prstGeom prst="ellipse">
            <a:avLst/>
          </a:prstGeom>
          <a:solidFill>
            <a:srgbClr val="F96015"/>
          </a:solidFill>
          <a:ln/>
        </p:spPr>
      </p:sp>
      <p:sp>
        <p:nvSpPr>
          <p:cNvPr id="27" name="Text 25"/>
          <p:cNvSpPr txBox="1"/>
          <p:nvPr/>
        </p:nvSpPr>
        <p:spPr>
          <a:xfrm>
            <a:off x="4065687" y="3845548"/>
            <a:ext cx="18904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e raspas de 1 limão</a:t>
            </a:r>
            <a:endParaRPr lang="en-US" sz="1100" dirty="0"/>
          </a:p>
        </p:txBody>
      </p:sp>
      <p:sp>
        <p:nvSpPr>
          <p:cNvPr id="28" name="Shape 26"/>
          <p:cNvSpPr/>
          <p:nvPr/>
        </p:nvSpPr>
        <p:spPr>
          <a:xfrm>
            <a:off x="3913287" y="4137271"/>
            <a:ext cx="66675" cy="66675"/>
          </a:xfrm>
          <a:prstGeom prst="ellipse">
            <a:avLst/>
          </a:prstGeom>
          <a:solidFill>
            <a:srgbClr val="F96015"/>
          </a:solidFill>
          <a:ln/>
        </p:spPr>
      </p:sp>
      <p:sp>
        <p:nvSpPr>
          <p:cNvPr id="29" name="Text 27"/>
          <p:cNvSpPr txBox="1"/>
          <p:nvPr/>
        </p:nvSpPr>
        <p:spPr>
          <a:xfrm>
            <a:off x="4065687" y="4074148"/>
            <a:ext cx="28124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manteiga gelada</a:t>
            </a:r>
            <a:endParaRPr lang="en-US" sz="1100" dirty="0"/>
          </a:p>
        </p:txBody>
      </p:sp>
      <p:sp>
        <p:nvSpPr>
          <p:cNvPr id="30" name="Shape 28"/>
          <p:cNvSpPr/>
          <p:nvPr/>
        </p:nvSpPr>
        <p:spPr>
          <a:xfrm>
            <a:off x="3913287" y="4365871"/>
            <a:ext cx="66675" cy="66675"/>
          </a:xfrm>
          <a:prstGeom prst="ellipse">
            <a:avLst/>
          </a:prstGeom>
          <a:solidFill>
            <a:srgbClr val="F96015"/>
          </a:solidFill>
          <a:ln/>
        </p:spPr>
      </p:sp>
      <p:sp>
        <p:nvSpPr>
          <p:cNvPr id="31" name="Text 29"/>
          <p:cNvSpPr txBox="1"/>
          <p:nvPr/>
        </p:nvSpPr>
        <p:spPr>
          <a:xfrm>
            <a:off x="4065687" y="4302748"/>
            <a:ext cx="118282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Salsinha picada</a:t>
            </a:r>
            <a:endParaRPr lang="en-US" sz="1100" dirty="0"/>
          </a:p>
        </p:txBody>
      </p:sp>
      <p:sp>
        <p:nvSpPr>
          <p:cNvPr id="32" name="Text 30"/>
          <p:cNvSpPr txBox="1"/>
          <p:nvPr/>
        </p:nvSpPr>
        <p:spPr>
          <a:xfrm>
            <a:off x="611981" y="4752644"/>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3" name="Text 31"/>
          <p:cNvSpPr txBox="1"/>
          <p:nvPr/>
        </p:nvSpPr>
        <p:spPr>
          <a:xfrm>
            <a:off x="611981" y="5121176"/>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4" name="Text 32"/>
          <p:cNvSpPr txBox="1"/>
          <p:nvPr/>
        </p:nvSpPr>
        <p:spPr>
          <a:xfrm>
            <a:off x="897731" y="5144669"/>
            <a:ext cx="581054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Seque muito bem as sobrecoxas e tempere com sal e pimenta dos dois lados.</a:t>
            </a:r>
            <a:endParaRPr lang="en-US" sz="1100" dirty="0"/>
          </a:p>
        </p:txBody>
      </p:sp>
      <p:sp>
        <p:nvSpPr>
          <p:cNvPr id="35" name="Text 33"/>
          <p:cNvSpPr txBox="1"/>
          <p:nvPr/>
        </p:nvSpPr>
        <p:spPr>
          <a:xfrm>
            <a:off x="611981" y="5359301"/>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6" name="Text 34"/>
          <p:cNvSpPr txBox="1"/>
          <p:nvPr/>
        </p:nvSpPr>
        <p:spPr>
          <a:xfrm>
            <a:off x="897731" y="53878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Coloque o óleo numa frigideira de fundo grosso e disponha as sobrecoxas com a pele para baixo, ainda com a frigideira fria. Ligue em fogo médio.</a:t>
            </a:r>
            <a:endParaRPr lang="en-US" sz="1100" dirty="0"/>
          </a:p>
        </p:txBody>
      </p:sp>
      <p:sp>
        <p:nvSpPr>
          <p:cNvPr id="37" name="Text 35"/>
          <p:cNvSpPr txBox="1"/>
          <p:nvPr/>
        </p:nvSpPr>
        <p:spPr>
          <a:xfrm>
            <a:off x="611981" y="5806976"/>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8" name="Text 36"/>
          <p:cNvSpPr txBox="1"/>
          <p:nvPr/>
        </p:nvSpPr>
        <p:spPr>
          <a:xfrm>
            <a:off x="897731" y="5835551"/>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Coloque um peso por cima (uma panela menor com água, por exemplo) e deixe por 12 a 15 minutos sem mexer. A gordura da pele derrete aos poucos e ela frita na própria gordura até ficar dourada e crocante.</a:t>
            </a:r>
            <a:endParaRPr lang="en-US" sz="1100" dirty="0"/>
          </a:p>
        </p:txBody>
      </p:sp>
      <p:sp>
        <p:nvSpPr>
          <p:cNvPr id="39" name="Text 37"/>
          <p:cNvSpPr txBox="1"/>
          <p:nvPr/>
        </p:nvSpPr>
        <p:spPr>
          <a:xfrm>
            <a:off x="611981" y="6464201"/>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0" name="Text 38"/>
          <p:cNvSpPr txBox="1"/>
          <p:nvPr/>
        </p:nvSpPr>
        <p:spPr>
          <a:xfrm>
            <a:off x="897731" y="64927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Vire e cozinhe por mais 4 a 6 minutos, até o centro atingir 75 °C ou o suco sair transparente ao furar.</a:t>
            </a:r>
            <a:endParaRPr lang="en-US" sz="1100" dirty="0"/>
          </a:p>
        </p:txBody>
      </p:sp>
      <p:sp>
        <p:nvSpPr>
          <p:cNvPr id="41" name="Text 39"/>
          <p:cNvSpPr txBox="1"/>
          <p:nvPr/>
        </p:nvSpPr>
        <p:spPr>
          <a:xfrm>
            <a:off x="611981" y="6911876"/>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2" name="Text 40"/>
          <p:cNvSpPr txBox="1"/>
          <p:nvPr/>
        </p:nvSpPr>
        <p:spPr>
          <a:xfrm>
            <a:off x="897731" y="6935369"/>
            <a:ext cx="65118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Transfira para uma grade ou prato, com a pele para cima, e deixe descansar 5 minutos.</a:t>
            </a:r>
            <a:endParaRPr lang="en-US" sz="1100" dirty="0"/>
          </a:p>
        </p:txBody>
      </p:sp>
      <p:sp>
        <p:nvSpPr>
          <p:cNvPr id="43" name="Text 41"/>
          <p:cNvSpPr txBox="1"/>
          <p:nvPr/>
        </p:nvSpPr>
        <p:spPr>
          <a:xfrm>
            <a:off x="611981" y="715000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4" name="Text 42"/>
          <p:cNvSpPr txBox="1"/>
          <p:nvPr/>
        </p:nvSpPr>
        <p:spPr>
          <a:xfrm>
            <a:off x="897731" y="71785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Retire o excesso de gordura da frigideira, deixando cerca de 1 colher. Em fogo baixo, doure o alho por 1 minuto.</a:t>
            </a:r>
            <a:endParaRPr lang="en-US" sz="1100" dirty="0"/>
          </a:p>
        </p:txBody>
      </p:sp>
      <p:sp>
        <p:nvSpPr>
          <p:cNvPr id="45" name="Text 43"/>
          <p:cNvSpPr txBox="1"/>
          <p:nvPr/>
        </p:nvSpPr>
        <p:spPr>
          <a:xfrm>
            <a:off x="611981" y="7597676"/>
            <a:ext cx="220712"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7</a:t>
            </a:r>
            <a:endParaRPr lang="en-US" sz="1320" dirty="0"/>
          </a:p>
        </p:txBody>
      </p:sp>
      <p:sp>
        <p:nvSpPr>
          <p:cNvPr id="46" name="Text 44"/>
          <p:cNvSpPr txBox="1"/>
          <p:nvPr/>
        </p:nvSpPr>
        <p:spPr>
          <a:xfrm>
            <a:off x="897731" y="7626251"/>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Junte o caldo e raspe bem o fundo com uma colher de pau. Deixe reduzir à metade. Desligue o fogo, junte o suco e as raspas de limão e a manteiga gelada, mexendo até o molho engrossar e brilhar. Finalize com salsinha.</a:t>
            </a:r>
            <a:endParaRPr lang="en-US" sz="1100" dirty="0"/>
          </a:p>
        </p:txBody>
      </p:sp>
      <p:sp>
        <p:nvSpPr>
          <p:cNvPr id="47" name="Text 45"/>
          <p:cNvSpPr txBox="1"/>
          <p:nvPr/>
        </p:nvSpPr>
        <p:spPr>
          <a:xfrm>
            <a:off x="611981" y="825490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8</a:t>
            </a:r>
            <a:endParaRPr lang="en-US" sz="1320" dirty="0"/>
          </a:p>
        </p:txBody>
      </p:sp>
      <p:sp>
        <p:nvSpPr>
          <p:cNvPr id="48" name="Text 46"/>
          <p:cNvSpPr txBox="1"/>
          <p:nvPr/>
        </p:nvSpPr>
        <p:spPr>
          <a:xfrm>
            <a:off x="897731" y="8278394"/>
            <a:ext cx="627667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Sirva o molho no fundo do prato e o frango por cima, para a pele continuar crocante.</a:t>
            </a:r>
            <a:endParaRPr lang="en-US" sz="1100" dirty="0"/>
          </a:p>
        </p:txBody>
      </p:sp>
      <p:sp>
        <p:nvSpPr>
          <p:cNvPr id="49" name="Shape 47"/>
          <p:cNvSpPr/>
          <p:nvPr/>
        </p:nvSpPr>
        <p:spPr>
          <a:xfrm>
            <a:off x="611981" y="8578751"/>
            <a:ext cx="6335911" cy="982117"/>
          </a:xfrm>
          <a:prstGeom prst="roundRect">
            <a:avLst>
              <a:gd name="adj" fmla="val 9030"/>
            </a:avLst>
          </a:prstGeom>
          <a:solidFill>
            <a:srgbClr val="FFC926"/>
          </a:solidFill>
          <a:ln/>
        </p:spPr>
      </p:sp>
      <p:sp>
        <p:nvSpPr>
          <p:cNvPr id="50" name="Text 48"/>
          <p:cNvSpPr txBox="1"/>
          <p:nvPr/>
        </p:nvSpPr>
        <p:spPr>
          <a:xfrm>
            <a:off x="764381" y="8683526"/>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51" name="Text 49"/>
          <p:cNvSpPr txBox="1"/>
          <p:nvPr/>
        </p:nvSpPr>
        <p:spPr>
          <a:xfrm>
            <a:off x="764381" y="8998893"/>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Aquele fundo grudado na frigideira é sabor puro. Soltá-lo com um líquido (deglaçar) transforma o que iria para a pia no melhor molho do prato.</a:t>
            </a:r>
            <a:endParaRPr lang="en-US" sz="1100" dirty="0"/>
          </a:p>
        </p:txBody>
      </p:sp>
      <p:sp>
        <p:nvSpPr>
          <p:cNvPr id="52" name="Text 50"/>
          <p:cNvSpPr txBox="1"/>
          <p:nvPr/>
        </p:nvSpPr>
        <p:spPr>
          <a:xfrm>
            <a:off x="5893296"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3" name="Text 51"/>
          <p:cNvSpPr txBox="1"/>
          <p:nvPr/>
        </p:nvSpPr>
        <p:spPr>
          <a:xfrm>
            <a:off x="6826448" y="10253663"/>
            <a:ext cx="273844"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28</a:t>
            </a:r>
            <a:endParaRPr lang="en-US" sz="83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11981" y="566440"/>
            <a:ext cx="26714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02</a:t>
            </a:r>
            <a:endParaRPr lang="en-US" sz="960" dirty="0"/>
          </a:p>
        </p:txBody>
      </p:sp>
      <p:sp>
        <p:nvSpPr>
          <p:cNvPr id="3" name="Text 1"/>
          <p:cNvSpPr txBox="1"/>
          <p:nvPr/>
        </p:nvSpPr>
        <p:spPr>
          <a:xfrm>
            <a:off x="611981" y="779960"/>
            <a:ext cx="2430661"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FRANGO DESFIADO</a:t>
            </a:r>
            <a:endParaRPr lang="en-US" sz="2420" dirty="0"/>
          </a:p>
        </p:txBody>
      </p:sp>
      <p:sp>
        <p:nvSpPr>
          <p:cNvPr id="4" name="Text 2"/>
          <p:cNvSpPr txBox="1"/>
          <p:nvPr/>
        </p:nvSpPr>
        <p:spPr>
          <a:xfrm>
            <a:off x="611981" y="1404171"/>
            <a:ext cx="468415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Frango desfiado suculento ao molho de tomate caseiro e ervas</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42667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sobrecoxas com osso e pele (cerca de 1 kg)</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8438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azeite</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17371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picada</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picados</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2574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cenoura ralada</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27005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extrato de tomate</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457235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tomates bem maduros picados (ou 1 lata de tomate pelado)</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11549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folha de louro</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258925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ml de caldo de frango ou água</a:t>
            </a:r>
            <a:endParaRPr lang="en-US" sz="1100" dirty="0"/>
          </a:p>
        </p:txBody>
      </p:sp>
      <p:sp>
        <p:nvSpPr>
          <p:cNvPr id="26" name="Shape 24"/>
          <p:cNvSpPr/>
          <p:nvPr/>
        </p:nvSpPr>
        <p:spPr>
          <a:xfrm>
            <a:off x="631031" y="4976215"/>
            <a:ext cx="66675" cy="66675"/>
          </a:xfrm>
          <a:prstGeom prst="ellipse">
            <a:avLst/>
          </a:prstGeom>
          <a:solidFill>
            <a:srgbClr val="F96015"/>
          </a:solidFill>
          <a:ln/>
        </p:spPr>
      </p:sp>
      <p:sp>
        <p:nvSpPr>
          <p:cNvPr id="27" name="Text 25"/>
          <p:cNvSpPr txBox="1"/>
          <p:nvPr/>
        </p:nvSpPr>
        <p:spPr>
          <a:xfrm>
            <a:off x="783431" y="4913092"/>
            <a:ext cx="327791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Orégano, manjericão e cheiro-verde a gosto</a:t>
            </a:r>
            <a:endParaRPr lang="en-US" sz="1100" dirty="0"/>
          </a:p>
        </p:txBody>
      </p:sp>
      <p:sp>
        <p:nvSpPr>
          <p:cNvPr id="28" name="Text 26"/>
          <p:cNvSpPr txBox="1"/>
          <p:nvPr/>
        </p:nvSpPr>
        <p:spPr>
          <a:xfrm>
            <a:off x="611981" y="52092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11981" y="566440"/>
            <a:ext cx="19831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02 · FRANGO</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FRANGO DESFIADO SUCULENTO AO MOLHO DE TOMATE CASEIRO E ERVAS</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COZIMENTO LENTO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(para massas, tortas e sanduíches)</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190898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1h05 (25 min na pressão)</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7655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342667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sobrecoxas com osso e pele (cerca de 1 kg)</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39681"/>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8" name="Shape 16"/>
          <p:cNvSpPr/>
          <p:nvPr/>
        </p:nvSpPr>
        <p:spPr>
          <a:xfrm>
            <a:off x="631031" y="3631404"/>
            <a:ext cx="66675" cy="66675"/>
          </a:xfrm>
          <a:prstGeom prst="ellipse">
            <a:avLst/>
          </a:prstGeom>
          <a:solidFill>
            <a:srgbClr val="F96015"/>
          </a:solidFill>
          <a:ln/>
        </p:spPr>
      </p:sp>
      <p:sp>
        <p:nvSpPr>
          <p:cNvPr id="19" name="Text 17"/>
          <p:cNvSpPr txBox="1"/>
          <p:nvPr/>
        </p:nvSpPr>
        <p:spPr>
          <a:xfrm>
            <a:off x="783431" y="3568281"/>
            <a:ext cx="18438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azeite</a:t>
            </a:r>
            <a:endParaRPr lang="en-US" sz="1100" dirty="0"/>
          </a:p>
        </p:txBody>
      </p:sp>
      <p:sp>
        <p:nvSpPr>
          <p:cNvPr id="20" name="Shape 18"/>
          <p:cNvSpPr/>
          <p:nvPr/>
        </p:nvSpPr>
        <p:spPr>
          <a:xfrm>
            <a:off x="631031" y="3860004"/>
            <a:ext cx="66675" cy="66675"/>
          </a:xfrm>
          <a:prstGeom prst="ellipse">
            <a:avLst/>
          </a:prstGeom>
          <a:solidFill>
            <a:srgbClr val="F96015"/>
          </a:solidFill>
          <a:ln/>
        </p:spPr>
      </p:sp>
      <p:sp>
        <p:nvSpPr>
          <p:cNvPr id="21" name="Text 19"/>
          <p:cNvSpPr txBox="1"/>
          <p:nvPr/>
        </p:nvSpPr>
        <p:spPr>
          <a:xfrm>
            <a:off x="783431" y="3796881"/>
            <a:ext cx="117371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picada</a:t>
            </a:r>
            <a:endParaRPr lang="en-US" sz="1100" dirty="0"/>
          </a:p>
        </p:txBody>
      </p:sp>
      <p:sp>
        <p:nvSpPr>
          <p:cNvPr id="22" name="Shape 20"/>
          <p:cNvSpPr/>
          <p:nvPr/>
        </p:nvSpPr>
        <p:spPr>
          <a:xfrm>
            <a:off x="631031" y="4088604"/>
            <a:ext cx="66675" cy="66675"/>
          </a:xfrm>
          <a:prstGeom prst="ellipse">
            <a:avLst/>
          </a:prstGeom>
          <a:solidFill>
            <a:srgbClr val="F96015"/>
          </a:solidFill>
          <a:ln/>
        </p:spPr>
      </p:sp>
      <p:sp>
        <p:nvSpPr>
          <p:cNvPr id="23" name="Text 21"/>
          <p:cNvSpPr txBox="1"/>
          <p:nvPr/>
        </p:nvSpPr>
        <p:spPr>
          <a:xfrm>
            <a:off x="783431" y="4025481"/>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picados</a:t>
            </a:r>
            <a:endParaRPr lang="en-US" sz="1100" dirty="0"/>
          </a:p>
        </p:txBody>
      </p:sp>
      <p:sp>
        <p:nvSpPr>
          <p:cNvPr id="24" name="Shape 22"/>
          <p:cNvSpPr/>
          <p:nvPr/>
        </p:nvSpPr>
        <p:spPr>
          <a:xfrm>
            <a:off x="631031" y="4317204"/>
            <a:ext cx="66675" cy="66675"/>
          </a:xfrm>
          <a:prstGeom prst="ellipse">
            <a:avLst/>
          </a:prstGeom>
          <a:solidFill>
            <a:srgbClr val="F96015"/>
          </a:solidFill>
          <a:ln/>
        </p:spPr>
      </p:sp>
      <p:sp>
        <p:nvSpPr>
          <p:cNvPr id="25" name="Text 23"/>
          <p:cNvSpPr txBox="1"/>
          <p:nvPr/>
        </p:nvSpPr>
        <p:spPr>
          <a:xfrm>
            <a:off x="783431" y="4254081"/>
            <a:ext cx="12574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cenoura ralada</a:t>
            </a:r>
            <a:endParaRPr lang="en-US" sz="1100" dirty="0"/>
          </a:p>
        </p:txBody>
      </p:sp>
      <p:sp>
        <p:nvSpPr>
          <p:cNvPr id="26" name="Shape 24"/>
          <p:cNvSpPr/>
          <p:nvPr/>
        </p:nvSpPr>
        <p:spPr>
          <a:xfrm>
            <a:off x="631031" y="4545804"/>
            <a:ext cx="66675" cy="66675"/>
          </a:xfrm>
          <a:prstGeom prst="ellipse">
            <a:avLst/>
          </a:prstGeom>
          <a:solidFill>
            <a:srgbClr val="F96015"/>
          </a:solidFill>
          <a:ln/>
        </p:spPr>
      </p:sp>
      <p:sp>
        <p:nvSpPr>
          <p:cNvPr id="27" name="Text 25"/>
          <p:cNvSpPr txBox="1"/>
          <p:nvPr/>
        </p:nvSpPr>
        <p:spPr>
          <a:xfrm>
            <a:off x="783431" y="4482681"/>
            <a:ext cx="27005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extrato de tomate</a:t>
            </a:r>
            <a:endParaRPr lang="en-US" sz="1100" dirty="0"/>
          </a:p>
        </p:txBody>
      </p:sp>
      <p:sp>
        <p:nvSpPr>
          <p:cNvPr id="28" name="Shape 26"/>
          <p:cNvSpPr/>
          <p:nvPr/>
        </p:nvSpPr>
        <p:spPr>
          <a:xfrm>
            <a:off x="631031" y="4774404"/>
            <a:ext cx="66675" cy="66675"/>
          </a:xfrm>
          <a:prstGeom prst="ellipse">
            <a:avLst/>
          </a:prstGeom>
          <a:solidFill>
            <a:srgbClr val="F96015"/>
          </a:solidFill>
          <a:ln/>
        </p:spPr>
      </p:sp>
      <p:sp>
        <p:nvSpPr>
          <p:cNvPr id="29" name="Text 27"/>
          <p:cNvSpPr txBox="1"/>
          <p:nvPr/>
        </p:nvSpPr>
        <p:spPr>
          <a:xfrm>
            <a:off x="783431" y="47163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6 tomates bem maduros picados (ou 1 lata de tomate pelado)</a:t>
            </a:r>
            <a:endParaRPr lang="en-US" sz="1100" dirty="0"/>
          </a:p>
        </p:txBody>
      </p:sp>
      <p:sp>
        <p:nvSpPr>
          <p:cNvPr id="30" name="Shape 28"/>
          <p:cNvSpPr/>
          <p:nvPr/>
        </p:nvSpPr>
        <p:spPr>
          <a:xfrm>
            <a:off x="631031" y="5212554"/>
            <a:ext cx="66675" cy="66675"/>
          </a:xfrm>
          <a:prstGeom prst="ellipse">
            <a:avLst/>
          </a:prstGeom>
          <a:solidFill>
            <a:srgbClr val="F96015"/>
          </a:solidFill>
          <a:ln/>
        </p:spPr>
      </p:sp>
      <p:sp>
        <p:nvSpPr>
          <p:cNvPr id="31" name="Text 29"/>
          <p:cNvSpPr txBox="1"/>
          <p:nvPr/>
        </p:nvSpPr>
        <p:spPr>
          <a:xfrm>
            <a:off x="783431" y="5149431"/>
            <a:ext cx="11549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folha de louro</a:t>
            </a:r>
            <a:endParaRPr lang="en-US" sz="1100" dirty="0"/>
          </a:p>
        </p:txBody>
      </p:sp>
      <p:sp>
        <p:nvSpPr>
          <p:cNvPr id="32" name="Shape 30"/>
          <p:cNvSpPr/>
          <p:nvPr/>
        </p:nvSpPr>
        <p:spPr>
          <a:xfrm>
            <a:off x="631031" y="5441154"/>
            <a:ext cx="66675" cy="66675"/>
          </a:xfrm>
          <a:prstGeom prst="ellipse">
            <a:avLst/>
          </a:prstGeom>
          <a:solidFill>
            <a:srgbClr val="F96015"/>
          </a:solidFill>
          <a:ln/>
        </p:spPr>
      </p:sp>
      <p:sp>
        <p:nvSpPr>
          <p:cNvPr id="33" name="Text 31"/>
          <p:cNvSpPr txBox="1"/>
          <p:nvPr/>
        </p:nvSpPr>
        <p:spPr>
          <a:xfrm>
            <a:off x="783431" y="5378031"/>
            <a:ext cx="258925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ml de caldo de frango ou água</a:t>
            </a:r>
            <a:endParaRPr lang="en-US" sz="1100" dirty="0"/>
          </a:p>
        </p:txBody>
      </p:sp>
      <p:sp>
        <p:nvSpPr>
          <p:cNvPr id="34" name="Shape 32"/>
          <p:cNvSpPr/>
          <p:nvPr/>
        </p:nvSpPr>
        <p:spPr>
          <a:xfrm>
            <a:off x="631031" y="5669754"/>
            <a:ext cx="66675" cy="66675"/>
          </a:xfrm>
          <a:prstGeom prst="ellipse">
            <a:avLst/>
          </a:prstGeom>
          <a:solidFill>
            <a:srgbClr val="F96015"/>
          </a:solidFill>
          <a:ln/>
        </p:spPr>
      </p:sp>
      <p:sp>
        <p:nvSpPr>
          <p:cNvPr id="35" name="Text 33"/>
          <p:cNvSpPr txBox="1"/>
          <p:nvPr/>
        </p:nvSpPr>
        <p:spPr>
          <a:xfrm>
            <a:off x="783431" y="5606631"/>
            <a:ext cx="327791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Orégano, manjericão e cheiro-verde a gosto</a:t>
            </a:r>
            <a:endParaRPr lang="en-US" sz="1100" dirty="0"/>
          </a:p>
        </p:txBody>
      </p:sp>
      <p:sp>
        <p:nvSpPr>
          <p:cNvPr id="36" name="Text 34"/>
          <p:cNvSpPr txBox="1"/>
          <p:nvPr/>
        </p:nvSpPr>
        <p:spPr>
          <a:xfrm>
            <a:off x="611981" y="605652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7" name="Text 35"/>
          <p:cNvSpPr txBox="1"/>
          <p:nvPr/>
        </p:nvSpPr>
        <p:spPr>
          <a:xfrm>
            <a:off x="611981" y="642505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8" name="Text 36"/>
          <p:cNvSpPr txBox="1"/>
          <p:nvPr/>
        </p:nvSpPr>
        <p:spPr>
          <a:xfrm>
            <a:off x="897731" y="645363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Seque e tempere as sobrecoxas com sal e pimenta. Doure no azeite, com a pele para baixo, por 6 a 8 minutos, até ficarem bem douradas. Vire, doure o outro lado por 2 minutos e reserve.</a:t>
            </a:r>
            <a:endParaRPr lang="en-US" sz="1100" dirty="0"/>
          </a:p>
        </p:txBody>
      </p:sp>
      <p:sp>
        <p:nvSpPr>
          <p:cNvPr id="39" name="Text 37"/>
          <p:cNvSpPr txBox="1"/>
          <p:nvPr/>
        </p:nvSpPr>
        <p:spPr>
          <a:xfrm>
            <a:off x="611981" y="687273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40" name="Text 38"/>
          <p:cNvSpPr txBox="1"/>
          <p:nvPr/>
        </p:nvSpPr>
        <p:spPr>
          <a:xfrm>
            <a:off x="897731" y="6896227"/>
            <a:ext cx="666797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Na gordura que ficou na panela, refogue a cebola, o alho e a cenoura até ficarem macios.</a:t>
            </a:r>
            <a:endParaRPr lang="en-US" sz="1100" dirty="0"/>
          </a:p>
        </p:txBody>
      </p:sp>
      <p:sp>
        <p:nvSpPr>
          <p:cNvPr id="41" name="Text 39"/>
          <p:cNvSpPr txBox="1"/>
          <p:nvPr/>
        </p:nvSpPr>
        <p:spPr>
          <a:xfrm>
            <a:off x="611981" y="711085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2" name="Text 40"/>
          <p:cNvSpPr txBox="1"/>
          <p:nvPr/>
        </p:nvSpPr>
        <p:spPr>
          <a:xfrm>
            <a:off x="897731" y="713943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Junte o extrato de tomate e mexa por 1 minuto, até ele escurecer levemente. Isso tira o gosto ácido de lata e aprofunda o sabor.</a:t>
            </a:r>
            <a:endParaRPr lang="en-US" sz="1100" dirty="0"/>
          </a:p>
        </p:txBody>
      </p:sp>
      <p:sp>
        <p:nvSpPr>
          <p:cNvPr id="43" name="Text 41"/>
          <p:cNvSpPr txBox="1"/>
          <p:nvPr/>
        </p:nvSpPr>
        <p:spPr>
          <a:xfrm>
            <a:off x="611981" y="755853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4" name="Text 42"/>
          <p:cNvSpPr txBox="1"/>
          <p:nvPr/>
        </p:nvSpPr>
        <p:spPr>
          <a:xfrm>
            <a:off x="897731" y="7582027"/>
            <a:ext cx="667744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Acrescente os tomates, o louro e o caldo, raspando o fundo. Volte o frango para a panela.</a:t>
            </a:r>
            <a:endParaRPr lang="en-US" sz="1100" dirty="0"/>
          </a:p>
        </p:txBody>
      </p:sp>
      <p:sp>
        <p:nvSpPr>
          <p:cNvPr id="45" name="Text 43"/>
          <p:cNvSpPr txBox="1"/>
          <p:nvPr/>
        </p:nvSpPr>
        <p:spPr>
          <a:xfrm>
            <a:off x="611981" y="779665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6" name="Text 44"/>
          <p:cNvSpPr txBox="1"/>
          <p:nvPr/>
        </p:nvSpPr>
        <p:spPr>
          <a:xfrm>
            <a:off x="897731" y="782523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Tampe e cozinhe em fogo baixo por 50 a 60 minutos (ou 20 minutos na panela de pressão), até a carne soltar do osso.</a:t>
            </a:r>
            <a:endParaRPr lang="en-US" sz="1100" dirty="0"/>
          </a:p>
        </p:txBody>
      </p:sp>
      <p:sp>
        <p:nvSpPr>
          <p:cNvPr id="47" name="Text 45"/>
          <p:cNvSpPr txBox="1"/>
          <p:nvPr/>
        </p:nvSpPr>
        <p:spPr>
          <a:xfrm>
            <a:off x="611981" y="824433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8" name="Text 46"/>
          <p:cNvSpPr txBox="1"/>
          <p:nvPr/>
        </p:nvSpPr>
        <p:spPr>
          <a:xfrm>
            <a:off x="897731" y="827290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Retire os ossos e a pele (guarde os ossos para o caldo). Desfie a carne com dois garfos dentro do próprio molho.</a:t>
            </a:r>
            <a:endParaRPr lang="en-US" sz="1100" dirty="0"/>
          </a:p>
        </p:txBody>
      </p:sp>
      <p:sp>
        <p:nvSpPr>
          <p:cNvPr id="49" name="Text 47"/>
          <p:cNvSpPr txBox="1"/>
          <p:nvPr/>
        </p:nvSpPr>
        <p:spPr>
          <a:xfrm>
            <a:off x="611981" y="8692009"/>
            <a:ext cx="220712"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7</a:t>
            </a:r>
            <a:endParaRPr lang="en-US" sz="1320" dirty="0"/>
          </a:p>
        </p:txBody>
      </p:sp>
      <p:sp>
        <p:nvSpPr>
          <p:cNvPr id="50" name="Text 48"/>
          <p:cNvSpPr txBox="1"/>
          <p:nvPr/>
        </p:nvSpPr>
        <p:spPr>
          <a:xfrm>
            <a:off x="897731" y="8715502"/>
            <a:ext cx="665797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Cozinhe destampado até o molho envolver o frango. Finalize com as ervas e acerte o sal.</a:t>
            </a:r>
            <a:endParaRPr lang="en-US" sz="1100" dirty="0"/>
          </a:p>
        </p:txBody>
      </p:sp>
      <p:sp>
        <p:nvSpPr>
          <p:cNvPr id="51" name="Shape 49"/>
          <p:cNvSpPr/>
          <p:nvPr/>
        </p:nvSpPr>
        <p:spPr>
          <a:xfrm>
            <a:off x="611981" y="9015859"/>
            <a:ext cx="6335911" cy="982117"/>
          </a:xfrm>
          <a:prstGeom prst="roundRect">
            <a:avLst>
              <a:gd name="adj" fmla="val 9030"/>
            </a:avLst>
          </a:prstGeom>
          <a:solidFill>
            <a:srgbClr val="FFC926"/>
          </a:solidFill>
          <a:ln/>
        </p:spPr>
      </p:sp>
      <p:sp>
        <p:nvSpPr>
          <p:cNvPr id="52" name="Text 50"/>
          <p:cNvSpPr txBox="1"/>
          <p:nvPr/>
        </p:nvSpPr>
        <p:spPr>
          <a:xfrm>
            <a:off x="764381" y="9120634"/>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53" name="Text 51"/>
          <p:cNvSpPr txBox="1"/>
          <p:nvPr/>
        </p:nvSpPr>
        <p:spPr>
          <a:xfrm>
            <a:off x="764381" y="9436001"/>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Desfiar dentro do molho faz a carne absorver o líquido e continuar suculenta. Use em sanduíches, massas, tortas, panquecas ou sobre polenta mole.</a:t>
            </a:r>
            <a:endParaRPr lang="en-US" sz="1100" dirty="0"/>
          </a:p>
        </p:txBody>
      </p:sp>
      <p:sp>
        <p:nvSpPr>
          <p:cNvPr id="54" name="Text 52"/>
          <p:cNvSpPr txBox="1"/>
          <p:nvPr/>
        </p:nvSpPr>
        <p:spPr>
          <a:xfrm>
            <a:off x="589225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5" name="Text 53"/>
          <p:cNvSpPr txBox="1"/>
          <p:nvPr/>
        </p:nvSpPr>
        <p:spPr>
          <a:xfrm>
            <a:off x="6825407" y="10253663"/>
            <a:ext cx="27488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30</a:t>
            </a:r>
            <a:endParaRPr lang="en-US" sz="83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11981" y="566440"/>
            <a:ext cx="26722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03</a:t>
            </a:r>
            <a:endParaRPr lang="en-US" sz="960" dirty="0"/>
          </a:p>
        </p:txBody>
      </p:sp>
      <p:sp>
        <p:nvSpPr>
          <p:cNvPr id="3" name="Text 1"/>
          <p:cNvSpPr txBox="1"/>
          <p:nvPr/>
        </p:nvSpPr>
        <p:spPr>
          <a:xfrm>
            <a:off x="611981" y="779960"/>
            <a:ext cx="322147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SOBRECOXA NO IOGURTE</a:t>
            </a:r>
            <a:endParaRPr lang="en-US" sz="2420" dirty="0"/>
          </a:p>
        </p:txBody>
      </p:sp>
      <p:sp>
        <p:nvSpPr>
          <p:cNvPr id="4" name="Text 2"/>
          <p:cNvSpPr txBox="1"/>
          <p:nvPr/>
        </p:nvSpPr>
        <p:spPr>
          <a:xfrm>
            <a:off x="611981" y="1404171"/>
            <a:ext cx="50379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Sobrecoxa marinada no iogurte com especiarias, assada até dourar</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29894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170 g de iogurte natural integral (1 pote)</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8348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ralados</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246798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gengibre ralado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páprica doce</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99257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colher (chá) de cúrcuma</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93702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e raspas de ½ limão</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151786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sal</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18438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azeite</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22627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sobrecoxas com osso e pele</a:t>
            </a:r>
            <a:endParaRPr lang="en-US" sz="1100" dirty="0"/>
          </a:p>
        </p:txBody>
      </p:sp>
      <p:sp>
        <p:nvSpPr>
          <p:cNvPr id="26" name="Text 24"/>
          <p:cNvSpPr txBox="1"/>
          <p:nvPr/>
        </p:nvSpPr>
        <p:spPr>
          <a:xfrm>
            <a:off x="611981" y="49425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11981" y="566440"/>
            <a:ext cx="19839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03 · FRANGO</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SOBRECOXA MARINADA NO IOGURTE COM ESPECIARIAS, ASSADA ATÉ DOURAR</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ASSADO TECNOLÓGICO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(maciez extrema, no forno ou na airfryer)</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190452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10 min + 2 h de marinada</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01512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a 6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Text 12"/>
          <p:cNvSpPr txBox="1"/>
          <p:nvPr/>
        </p:nvSpPr>
        <p:spPr>
          <a:xfrm>
            <a:off x="611981" y="3078063"/>
            <a:ext cx="74741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MARINADA</a:t>
            </a:r>
            <a:endParaRPr lang="en-US" sz="1320" dirty="0"/>
          </a:p>
        </p:txBody>
      </p:sp>
      <p:sp>
        <p:nvSpPr>
          <p:cNvPr id="15" name="Shape 13"/>
          <p:cNvSpPr/>
          <p:nvPr/>
        </p:nvSpPr>
        <p:spPr>
          <a:xfrm>
            <a:off x="631031" y="3451471"/>
            <a:ext cx="66675" cy="66675"/>
          </a:xfrm>
          <a:prstGeom prst="ellipse">
            <a:avLst/>
          </a:prstGeom>
          <a:solidFill>
            <a:srgbClr val="F96015"/>
          </a:solidFill>
          <a:ln/>
        </p:spPr>
      </p:sp>
      <p:sp>
        <p:nvSpPr>
          <p:cNvPr id="16" name="Text 14"/>
          <p:cNvSpPr txBox="1"/>
          <p:nvPr/>
        </p:nvSpPr>
        <p:spPr>
          <a:xfrm>
            <a:off x="783431" y="3388348"/>
            <a:ext cx="29894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170 g de iogurte natural integral (1 pote)</a:t>
            </a:r>
            <a:endParaRPr lang="en-US" sz="1100" dirty="0"/>
          </a:p>
        </p:txBody>
      </p:sp>
      <p:sp>
        <p:nvSpPr>
          <p:cNvPr id="17" name="Shape 15"/>
          <p:cNvSpPr/>
          <p:nvPr/>
        </p:nvSpPr>
        <p:spPr>
          <a:xfrm>
            <a:off x="631031" y="3680071"/>
            <a:ext cx="66675" cy="66675"/>
          </a:xfrm>
          <a:prstGeom prst="ellipse">
            <a:avLst/>
          </a:prstGeom>
          <a:solidFill>
            <a:srgbClr val="F96015"/>
          </a:solidFill>
          <a:ln/>
        </p:spPr>
      </p:sp>
      <p:sp>
        <p:nvSpPr>
          <p:cNvPr id="18" name="Text 16"/>
          <p:cNvSpPr txBox="1"/>
          <p:nvPr/>
        </p:nvSpPr>
        <p:spPr>
          <a:xfrm>
            <a:off x="783431" y="3616948"/>
            <a:ext cx="18348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ralados</a:t>
            </a:r>
            <a:endParaRPr lang="en-US" sz="1100" dirty="0"/>
          </a:p>
        </p:txBody>
      </p:sp>
      <p:sp>
        <p:nvSpPr>
          <p:cNvPr id="19" name="Shape 17"/>
          <p:cNvSpPr/>
          <p:nvPr/>
        </p:nvSpPr>
        <p:spPr>
          <a:xfrm>
            <a:off x="631031" y="3908671"/>
            <a:ext cx="66675" cy="66675"/>
          </a:xfrm>
          <a:prstGeom prst="ellipse">
            <a:avLst/>
          </a:prstGeom>
          <a:solidFill>
            <a:srgbClr val="F96015"/>
          </a:solidFill>
          <a:ln/>
        </p:spPr>
      </p:sp>
      <p:sp>
        <p:nvSpPr>
          <p:cNvPr id="20" name="Text 18"/>
          <p:cNvSpPr txBox="1"/>
          <p:nvPr/>
        </p:nvSpPr>
        <p:spPr>
          <a:xfrm>
            <a:off x="783431" y="3845548"/>
            <a:ext cx="246798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gengibre ralado</a:t>
            </a:r>
            <a:endParaRPr lang="en-US" sz="1100" dirty="0"/>
          </a:p>
        </p:txBody>
      </p:sp>
      <p:sp>
        <p:nvSpPr>
          <p:cNvPr id="21" name="Shape 19"/>
          <p:cNvSpPr/>
          <p:nvPr/>
        </p:nvSpPr>
        <p:spPr>
          <a:xfrm>
            <a:off x="631031" y="4137271"/>
            <a:ext cx="66675" cy="66675"/>
          </a:xfrm>
          <a:prstGeom prst="ellipse">
            <a:avLst/>
          </a:prstGeom>
          <a:solidFill>
            <a:srgbClr val="F96015"/>
          </a:solidFill>
          <a:ln/>
        </p:spPr>
      </p:sp>
      <p:sp>
        <p:nvSpPr>
          <p:cNvPr id="22" name="Text 20"/>
          <p:cNvSpPr txBox="1"/>
          <p:nvPr/>
        </p:nvSpPr>
        <p:spPr>
          <a:xfrm>
            <a:off x="783431" y="4074148"/>
            <a:ext cx="2262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páprica doce</a:t>
            </a:r>
            <a:endParaRPr lang="en-US" sz="1100" dirty="0"/>
          </a:p>
        </p:txBody>
      </p:sp>
      <p:sp>
        <p:nvSpPr>
          <p:cNvPr id="23" name="Shape 21"/>
          <p:cNvSpPr/>
          <p:nvPr/>
        </p:nvSpPr>
        <p:spPr>
          <a:xfrm>
            <a:off x="631031" y="4365871"/>
            <a:ext cx="66675" cy="66675"/>
          </a:xfrm>
          <a:prstGeom prst="ellipse">
            <a:avLst/>
          </a:prstGeom>
          <a:solidFill>
            <a:srgbClr val="F96015"/>
          </a:solidFill>
          <a:ln/>
        </p:spPr>
      </p:sp>
      <p:sp>
        <p:nvSpPr>
          <p:cNvPr id="24" name="Text 22"/>
          <p:cNvSpPr txBox="1"/>
          <p:nvPr/>
        </p:nvSpPr>
        <p:spPr>
          <a:xfrm>
            <a:off x="783431" y="4302748"/>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25" name="Shape 23"/>
          <p:cNvSpPr/>
          <p:nvPr/>
        </p:nvSpPr>
        <p:spPr>
          <a:xfrm>
            <a:off x="631031" y="4594471"/>
            <a:ext cx="66675" cy="66675"/>
          </a:xfrm>
          <a:prstGeom prst="ellipse">
            <a:avLst/>
          </a:prstGeom>
          <a:solidFill>
            <a:srgbClr val="F96015"/>
          </a:solidFill>
          <a:ln/>
        </p:spPr>
      </p:sp>
      <p:sp>
        <p:nvSpPr>
          <p:cNvPr id="26" name="Text 24"/>
          <p:cNvSpPr txBox="1"/>
          <p:nvPr/>
        </p:nvSpPr>
        <p:spPr>
          <a:xfrm>
            <a:off x="783431" y="4531348"/>
            <a:ext cx="199257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colher (chá) de cúrcuma</a:t>
            </a:r>
            <a:endParaRPr lang="en-US" sz="1100" dirty="0"/>
          </a:p>
        </p:txBody>
      </p:sp>
      <p:sp>
        <p:nvSpPr>
          <p:cNvPr id="27" name="Shape 25"/>
          <p:cNvSpPr/>
          <p:nvPr/>
        </p:nvSpPr>
        <p:spPr>
          <a:xfrm>
            <a:off x="631031" y="4823071"/>
            <a:ext cx="66675" cy="66675"/>
          </a:xfrm>
          <a:prstGeom prst="ellipse">
            <a:avLst/>
          </a:prstGeom>
          <a:solidFill>
            <a:srgbClr val="F96015"/>
          </a:solidFill>
          <a:ln/>
        </p:spPr>
      </p:sp>
      <p:sp>
        <p:nvSpPr>
          <p:cNvPr id="28" name="Text 26"/>
          <p:cNvSpPr txBox="1"/>
          <p:nvPr/>
        </p:nvSpPr>
        <p:spPr>
          <a:xfrm>
            <a:off x="783431" y="4759948"/>
            <a:ext cx="193702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Suco e raspas de ½ limão</a:t>
            </a:r>
            <a:endParaRPr lang="en-US" sz="1100" dirty="0"/>
          </a:p>
        </p:txBody>
      </p:sp>
      <p:sp>
        <p:nvSpPr>
          <p:cNvPr id="29" name="Shape 27"/>
          <p:cNvSpPr/>
          <p:nvPr/>
        </p:nvSpPr>
        <p:spPr>
          <a:xfrm>
            <a:off x="631031" y="5051671"/>
            <a:ext cx="66675" cy="66675"/>
          </a:xfrm>
          <a:prstGeom prst="ellipse">
            <a:avLst/>
          </a:prstGeom>
          <a:solidFill>
            <a:srgbClr val="F96015"/>
          </a:solidFill>
          <a:ln/>
        </p:spPr>
      </p:sp>
      <p:sp>
        <p:nvSpPr>
          <p:cNvPr id="30" name="Text 28"/>
          <p:cNvSpPr txBox="1"/>
          <p:nvPr/>
        </p:nvSpPr>
        <p:spPr>
          <a:xfrm>
            <a:off x="783431" y="4988548"/>
            <a:ext cx="151786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sal</a:t>
            </a:r>
            <a:endParaRPr lang="en-US" sz="1100" dirty="0"/>
          </a:p>
        </p:txBody>
      </p:sp>
      <p:sp>
        <p:nvSpPr>
          <p:cNvPr id="31" name="Shape 29"/>
          <p:cNvSpPr/>
          <p:nvPr/>
        </p:nvSpPr>
        <p:spPr>
          <a:xfrm>
            <a:off x="631031" y="5280271"/>
            <a:ext cx="66675" cy="66675"/>
          </a:xfrm>
          <a:prstGeom prst="ellipse">
            <a:avLst/>
          </a:prstGeom>
          <a:solidFill>
            <a:srgbClr val="F96015"/>
          </a:solidFill>
          <a:ln/>
        </p:spPr>
      </p:sp>
      <p:sp>
        <p:nvSpPr>
          <p:cNvPr id="32" name="Text 30"/>
          <p:cNvSpPr txBox="1"/>
          <p:nvPr/>
        </p:nvSpPr>
        <p:spPr>
          <a:xfrm>
            <a:off x="783431" y="5217148"/>
            <a:ext cx="18438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azeite</a:t>
            </a:r>
            <a:endParaRPr lang="en-US" sz="1100" dirty="0"/>
          </a:p>
        </p:txBody>
      </p:sp>
      <p:sp>
        <p:nvSpPr>
          <p:cNvPr id="33" name="Text 31"/>
          <p:cNvSpPr txBox="1"/>
          <p:nvPr/>
        </p:nvSpPr>
        <p:spPr>
          <a:xfrm>
            <a:off x="3894237" y="3078063"/>
            <a:ext cx="61763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FRANGO</a:t>
            </a:r>
            <a:endParaRPr lang="en-US" sz="1320" dirty="0"/>
          </a:p>
        </p:txBody>
      </p:sp>
      <p:sp>
        <p:nvSpPr>
          <p:cNvPr id="34" name="Shape 32"/>
          <p:cNvSpPr/>
          <p:nvPr/>
        </p:nvSpPr>
        <p:spPr>
          <a:xfrm>
            <a:off x="3913287" y="3451471"/>
            <a:ext cx="66675" cy="66675"/>
          </a:xfrm>
          <a:prstGeom prst="ellipse">
            <a:avLst/>
          </a:prstGeom>
          <a:solidFill>
            <a:srgbClr val="F96015"/>
          </a:solidFill>
          <a:ln/>
        </p:spPr>
      </p:sp>
      <p:sp>
        <p:nvSpPr>
          <p:cNvPr id="35" name="Text 33"/>
          <p:cNvSpPr txBox="1"/>
          <p:nvPr/>
        </p:nvSpPr>
        <p:spPr>
          <a:xfrm>
            <a:off x="4065687" y="3388348"/>
            <a:ext cx="22627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sobrecoxas com osso e pele</a:t>
            </a:r>
            <a:endParaRPr lang="en-US" sz="1100" dirty="0"/>
          </a:p>
        </p:txBody>
      </p:sp>
      <p:sp>
        <p:nvSpPr>
          <p:cNvPr id="36" name="Text 34"/>
          <p:cNvSpPr txBox="1"/>
          <p:nvPr/>
        </p:nvSpPr>
        <p:spPr>
          <a:xfrm>
            <a:off x="611981" y="5667044"/>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7" name="Text 35"/>
          <p:cNvSpPr txBox="1"/>
          <p:nvPr/>
        </p:nvSpPr>
        <p:spPr>
          <a:xfrm>
            <a:off x="611981" y="6035576"/>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8" name="Text 36"/>
          <p:cNvSpPr txBox="1"/>
          <p:nvPr/>
        </p:nvSpPr>
        <p:spPr>
          <a:xfrm>
            <a:off x="897731" y="6059069"/>
            <a:ext cx="412533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Misture todos os ingredientes da marinada numa tigela.</a:t>
            </a:r>
            <a:endParaRPr lang="en-US" sz="1100" dirty="0"/>
          </a:p>
        </p:txBody>
      </p:sp>
      <p:sp>
        <p:nvSpPr>
          <p:cNvPr id="39" name="Text 37"/>
          <p:cNvSpPr txBox="1"/>
          <p:nvPr/>
        </p:nvSpPr>
        <p:spPr>
          <a:xfrm>
            <a:off x="611981" y="6273701"/>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40" name="Text 38"/>
          <p:cNvSpPr txBox="1"/>
          <p:nvPr/>
        </p:nvSpPr>
        <p:spPr>
          <a:xfrm>
            <a:off x="897731" y="63022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Faça 2 cortes rasos em cada sobrecoxa, do lado da pele, e envolva bem na marinada. Cubra e leve à geladeira por no mínimo 2 horas, idealmente de um dia para o outro.</a:t>
            </a:r>
            <a:endParaRPr lang="en-US" sz="1100" dirty="0"/>
          </a:p>
        </p:txBody>
      </p:sp>
      <p:sp>
        <p:nvSpPr>
          <p:cNvPr id="41" name="Text 39"/>
          <p:cNvSpPr txBox="1"/>
          <p:nvPr/>
        </p:nvSpPr>
        <p:spPr>
          <a:xfrm>
            <a:off x="611981" y="6721376"/>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2" name="Text 40"/>
          <p:cNvSpPr txBox="1"/>
          <p:nvPr/>
        </p:nvSpPr>
        <p:spPr>
          <a:xfrm>
            <a:off x="897731" y="674995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Retire o excesso de marinada e disponha as sobrecoxas com a pele para cima, sobre uma grade apoiada na assadeira (ou sobre papel-manteiga), bem espaçadas.</a:t>
            </a:r>
            <a:endParaRPr lang="en-US" sz="1100" dirty="0"/>
          </a:p>
        </p:txBody>
      </p:sp>
      <p:sp>
        <p:nvSpPr>
          <p:cNvPr id="43" name="Text 41"/>
          <p:cNvSpPr txBox="1"/>
          <p:nvPr/>
        </p:nvSpPr>
        <p:spPr>
          <a:xfrm>
            <a:off x="611981" y="7169051"/>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4" name="Text 42"/>
          <p:cNvSpPr txBox="1"/>
          <p:nvPr/>
        </p:nvSpPr>
        <p:spPr>
          <a:xfrm>
            <a:off x="897731" y="719762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No forno: asse a 220 °C por 35 a 40 minutos. Nos últimos 5 minutos, ligue o grill, se o seu forno tiver, para formar manchas tostadas.</a:t>
            </a:r>
            <a:endParaRPr lang="en-US" sz="1100" dirty="0"/>
          </a:p>
        </p:txBody>
      </p:sp>
      <p:sp>
        <p:nvSpPr>
          <p:cNvPr id="45" name="Text 43"/>
          <p:cNvSpPr txBox="1"/>
          <p:nvPr/>
        </p:nvSpPr>
        <p:spPr>
          <a:xfrm>
            <a:off x="611981" y="7616726"/>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6" name="Text 44"/>
          <p:cNvSpPr txBox="1"/>
          <p:nvPr/>
        </p:nvSpPr>
        <p:spPr>
          <a:xfrm>
            <a:off x="897731" y="7640219"/>
            <a:ext cx="53854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Na airfryer: 180 °C por 15 minutos, vire, e mais 8 a 10 minutos a 200 °C.</a:t>
            </a:r>
            <a:endParaRPr lang="en-US" sz="1100" dirty="0"/>
          </a:p>
        </p:txBody>
      </p:sp>
      <p:sp>
        <p:nvSpPr>
          <p:cNvPr id="47" name="Text 45"/>
          <p:cNvSpPr txBox="1"/>
          <p:nvPr/>
        </p:nvSpPr>
        <p:spPr>
          <a:xfrm>
            <a:off x="611981" y="785485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8" name="Text 46"/>
          <p:cNvSpPr txBox="1"/>
          <p:nvPr/>
        </p:nvSpPr>
        <p:spPr>
          <a:xfrm>
            <a:off x="897731" y="7878344"/>
            <a:ext cx="32032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Deixe descansar 5 minutos antes de servir.</a:t>
            </a:r>
            <a:endParaRPr lang="en-US" sz="1100" dirty="0"/>
          </a:p>
        </p:txBody>
      </p:sp>
      <p:sp>
        <p:nvSpPr>
          <p:cNvPr id="49" name="Shape 47"/>
          <p:cNvSpPr/>
          <p:nvPr/>
        </p:nvSpPr>
        <p:spPr>
          <a:xfrm>
            <a:off x="611981" y="8178701"/>
            <a:ext cx="6335911" cy="1191667"/>
          </a:xfrm>
          <a:prstGeom prst="roundRect">
            <a:avLst>
              <a:gd name="adj" fmla="val 6133"/>
            </a:avLst>
          </a:prstGeom>
          <a:solidFill>
            <a:srgbClr val="FFC926"/>
          </a:solidFill>
          <a:ln/>
        </p:spPr>
      </p:sp>
      <p:sp>
        <p:nvSpPr>
          <p:cNvPr id="50" name="Text 48"/>
          <p:cNvSpPr txBox="1"/>
          <p:nvPr/>
        </p:nvSpPr>
        <p:spPr>
          <a:xfrm>
            <a:off x="764381" y="8283476"/>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51" name="Text 49"/>
          <p:cNvSpPr txBox="1"/>
          <p:nvPr/>
        </p:nvSpPr>
        <p:spPr>
          <a:xfrm>
            <a:off x="764381" y="8598843"/>
            <a:ext cx="60311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ácido suave do iogurte amacia a carne sem deixá-la farinhenta (como acontece com marinadas muito ácidas), e os açúcares do leite ajudam a dourar. Sirva com arroz, salada de pepino e um molho de iogurte com hortelã.</a:t>
            </a:r>
            <a:endParaRPr lang="en-US" sz="1100" dirty="0"/>
          </a:p>
        </p:txBody>
      </p:sp>
      <p:sp>
        <p:nvSpPr>
          <p:cNvPr id="52" name="Text 50"/>
          <p:cNvSpPr txBox="1"/>
          <p:nvPr/>
        </p:nvSpPr>
        <p:spPr>
          <a:xfrm>
            <a:off x="5893743"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3" name="Text 51"/>
          <p:cNvSpPr txBox="1"/>
          <p:nvPr/>
        </p:nvSpPr>
        <p:spPr>
          <a:xfrm>
            <a:off x="6826895" y="10253663"/>
            <a:ext cx="27339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32</a:t>
            </a:r>
            <a:endParaRPr lang="en-US" sz="83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11981" y="566440"/>
            <a:ext cx="1756291"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PULO DO CHEF · FRANGO</a:t>
            </a:r>
            <a:endParaRPr lang="en-US" sz="960" dirty="0"/>
          </a:p>
        </p:txBody>
      </p:sp>
      <p:sp>
        <p:nvSpPr>
          <p:cNvPr id="3" name="Text 1"/>
          <p:cNvSpPr txBox="1"/>
          <p:nvPr/>
        </p:nvSpPr>
        <p:spPr>
          <a:xfrm>
            <a:off x="611981" y="779960"/>
            <a:ext cx="4635401"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PELE BORRACHUDA E FRANGO SECO</a:t>
            </a:r>
            <a:endParaRPr lang="en-US" sz="2420" dirty="0"/>
          </a:p>
        </p:txBody>
      </p:sp>
      <p:sp>
        <p:nvSpPr>
          <p:cNvPr id="4" name="Text 2"/>
          <p:cNvSpPr txBox="1"/>
          <p:nvPr/>
        </p:nvSpPr>
        <p:spPr>
          <a:xfrm>
            <a:off x="611981" y="1377818"/>
            <a:ext cx="67448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ERRO</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Tirar o frango molhado da embalagem direto para a frigideira, mexer o tempo todo e cortar assim que sai do fogo. A pele cozinha no vapor e fica mole; a carne perde o suco na tábua.</a:t>
            </a:r>
            <a:endParaRPr lang="en-US" sz="1100" dirty="0"/>
          </a:p>
        </p:txBody>
      </p:sp>
      <p:sp>
        <p:nvSpPr>
          <p:cNvPr id="6" name="Text 4"/>
          <p:cNvSpPr txBox="1"/>
          <p:nvPr/>
        </p:nvSpPr>
        <p:spPr>
          <a:xfrm>
            <a:off x="611981" y="2429289"/>
            <a:ext cx="91440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 TÉCNICA</a:t>
            </a:r>
            <a:endParaRPr lang="en-US" sz="1650" dirty="0"/>
          </a:p>
        </p:txBody>
      </p:sp>
      <p:sp>
        <p:nvSpPr>
          <p:cNvPr id="7" name="Text 5"/>
          <p:cNvSpPr txBox="1"/>
          <p:nvPr/>
        </p:nvSpPr>
        <p:spPr>
          <a:xfrm>
            <a:off x="611981" y="2797820"/>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8" name="Text 6"/>
          <p:cNvSpPr txBox="1"/>
          <p:nvPr/>
        </p:nvSpPr>
        <p:spPr>
          <a:xfrm>
            <a:off x="897731" y="2821313"/>
            <a:ext cx="69755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Seque e salgue antes: papel-toalha e, se der, sal com antecedência na geladeira, descoberto.</a:t>
            </a:r>
            <a:endParaRPr lang="en-US" sz="1100" dirty="0"/>
          </a:p>
        </p:txBody>
      </p:sp>
      <p:sp>
        <p:nvSpPr>
          <p:cNvPr id="9" name="Text 7"/>
          <p:cNvSpPr txBox="1"/>
          <p:nvPr/>
        </p:nvSpPr>
        <p:spPr>
          <a:xfrm>
            <a:off x="611981" y="3035945"/>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10" name="Text 8"/>
          <p:cNvSpPr txBox="1"/>
          <p:nvPr/>
        </p:nvSpPr>
        <p:spPr>
          <a:xfrm>
            <a:off x="897731" y="3064520"/>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Pele para baixo e paciência: fogo médio, peso por cima e nada de mexer até ela soltar sozinha da frigideira.</a:t>
            </a:r>
            <a:endParaRPr lang="en-US" sz="1100" dirty="0"/>
          </a:p>
        </p:txBody>
      </p:sp>
      <p:sp>
        <p:nvSpPr>
          <p:cNvPr id="11" name="Text 9"/>
          <p:cNvSpPr txBox="1"/>
          <p:nvPr/>
        </p:nvSpPr>
        <p:spPr>
          <a:xfrm>
            <a:off x="611981" y="3483620"/>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2" name="Text 10"/>
          <p:cNvSpPr txBox="1"/>
          <p:nvPr/>
        </p:nvSpPr>
        <p:spPr>
          <a:xfrm>
            <a:off x="897731" y="3512195"/>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Ponto pela temperatura: sobrecoxa fica melhor entre 75 °C e 80 °C. Um termômetro culinário custa menos que uma pizza e acaba com o achismo.</a:t>
            </a:r>
            <a:endParaRPr lang="en-US" sz="1100" dirty="0"/>
          </a:p>
        </p:txBody>
      </p:sp>
      <p:sp>
        <p:nvSpPr>
          <p:cNvPr id="13" name="Text 11"/>
          <p:cNvSpPr txBox="1"/>
          <p:nvPr/>
        </p:nvSpPr>
        <p:spPr>
          <a:xfrm>
            <a:off x="611981" y="3931295"/>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4" name="Text 12"/>
          <p:cNvSpPr txBox="1"/>
          <p:nvPr/>
        </p:nvSpPr>
        <p:spPr>
          <a:xfrm>
            <a:off x="897731" y="3954788"/>
            <a:ext cx="51956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Descanso: 5 minutos antes de cortar, para os sucos se redistribuírem.</a:t>
            </a:r>
            <a:endParaRPr lang="en-US" sz="1100" dirty="0"/>
          </a:p>
        </p:txBody>
      </p:sp>
      <p:sp>
        <p:nvSpPr>
          <p:cNvPr id="15" name="Text 13"/>
          <p:cNvSpPr txBox="1"/>
          <p:nvPr/>
        </p:nvSpPr>
        <p:spPr>
          <a:xfrm>
            <a:off x="611981" y="4404684"/>
            <a:ext cx="13105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NÃO TEM ISSO?</a:t>
            </a:r>
            <a:endParaRPr lang="en-US" sz="1650" dirty="0"/>
          </a:p>
        </p:txBody>
      </p:sp>
      <p:sp>
        <p:nvSpPr>
          <p:cNvPr id="16" name="Shape 14"/>
          <p:cNvSpPr/>
          <p:nvPr/>
        </p:nvSpPr>
        <p:spPr>
          <a:xfrm>
            <a:off x="611981" y="4773216"/>
            <a:ext cx="2280791" cy="298996"/>
          </a:xfrm>
          <a:prstGeom prst="rect">
            <a:avLst/>
          </a:prstGeom>
          <a:solidFill>
            <a:srgbClr val="18542A"/>
          </a:solidFill>
          <a:ln/>
        </p:spPr>
      </p:sp>
      <p:sp>
        <p:nvSpPr>
          <p:cNvPr id="17" name="Text 15"/>
          <p:cNvSpPr txBox="1"/>
          <p:nvPr/>
        </p:nvSpPr>
        <p:spPr>
          <a:xfrm>
            <a:off x="707231" y="4839891"/>
            <a:ext cx="10208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SE NÃO TIVER…</a:t>
            </a:r>
            <a:endParaRPr lang="en-US" sz="960" dirty="0"/>
          </a:p>
        </p:txBody>
      </p:sp>
      <p:sp>
        <p:nvSpPr>
          <p:cNvPr id="18" name="Shape 16"/>
          <p:cNvSpPr/>
          <p:nvPr/>
        </p:nvSpPr>
        <p:spPr>
          <a:xfrm>
            <a:off x="2892772" y="4773216"/>
            <a:ext cx="4055120" cy="298996"/>
          </a:xfrm>
          <a:prstGeom prst="rect">
            <a:avLst/>
          </a:prstGeom>
          <a:solidFill>
            <a:srgbClr val="18542A"/>
          </a:solidFill>
          <a:ln/>
        </p:spPr>
      </p:sp>
      <p:sp>
        <p:nvSpPr>
          <p:cNvPr id="19" name="Text 17"/>
          <p:cNvSpPr txBox="1"/>
          <p:nvPr/>
        </p:nvSpPr>
        <p:spPr>
          <a:xfrm>
            <a:off x="2988022" y="4839891"/>
            <a:ext cx="4582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USE…</a:t>
            </a:r>
            <a:endParaRPr lang="en-US" sz="960" dirty="0"/>
          </a:p>
        </p:txBody>
      </p:sp>
      <p:sp>
        <p:nvSpPr>
          <p:cNvPr id="20" name="Shape 18"/>
          <p:cNvSpPr/>
          <p:nvPr/>
        </p:nvSpPr>
        <p:spPr>
          <a:xfrm>
            <a:off x="611981" y="5629424"/>
            <a:ext cx="2280791" cy="0"/>
          </a:xfrm>
          <a:prstGeom prst="line">
            <a:avLst/>
          </a:prstGeom>
          <a:noFill/>
          <a:ln w="9525">
            <a:solidFill>
              <a:srgbClr val="EADCB8"/>
            </a:solidFill>
            <a:prstDash val="solid"/>
          </a:ln>
        </p:spPr>
      </p:sp>
      <p:sp>
        <p:nvSpPr>
          <p:cNvPr id="21" name="Text 19"/>
          <p:cNvSpPr txBox="1"/>
          <p:nvPr/>
        </p:nvSpPr>
        <p:spPr>
          <a:xfrm>
            <a:off x="707231" y="5148411"/>
            <a:ext cx="70514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Sobrecoxa</a:t>
            </a:r>
            <a:endParaRPr lang="en-US" sz="1170" dirty="0"/>
          </a:p>
        </p:txBody>
      </p:sp>
      <p:sp>
        <p:nvSpPr>
          <p:cNvPr id="22" name="Shape 20"/>
          <p:cNvSpPr/>
          <p:nvPr/>
        </p:nvSpPr>
        <p:spPr>
          <a:xfrm>
            <a:off x="2892772" y="5629424"/>
            <a:ext cx="4055120" cy="0"/>
          </a:xfrm>
          <a:prstGeom prst="line">
            <a:avLst/>
          </a:prstGeom>
          <a:noFill/>
          <a:ln w="9525">
            <a:solidFill>
              <a:srgbClr val="EADCB8"/>
            </a:solidFill>
            <a:prstDash val="solid"/>
          </a:ln>
        </p:spPr>
      </p:sp>
      <p:sp>
        <p:nvSpPr>
          <p:cNvPr id="23" name="Text 21"/>
          <p:cNvSpPr txBox="1"/>
          <p:nvPr/>
        </p:nvSpPr>
        <p:spPr>
          <a:xfrm>
            <a:off x="2988022" y="5167461"/>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Coxa (aumente um pouco o tempo) ou peito (reduza bastante o tempo e retire do fogo a 65 °C: ele resseca fácil).</a:t>
            </a:r>
            <a:endParaRPr lang="en-US" sz="1100" dirty="0"/>
          </a:p>
        </p:txBody>
      </p:sp>
      <p:sp>
        <p:nvSpPr>
          <p:cNvPr id="24" name="Shape 22"/>
          <p:cNvSpPr/>
          <p:nvPr/>
        </p:nvSpPr>
        <p:spPr>
          <a:xfrm>
            <a:off x="611981" y="6191399"/>
            <a:ext cx="2280791" cy="0"/>
          </a:xfrm>
          <a:prstGeom prst="line">
            <a:avLst/>
          </a:prstGeom>
          <a:noFill/>
          <a:ln w="9525">
            <a:solidFill>
              <a:srgbClr val="EADCB8"/>
            </a:solidFill>
            <a:prstDash val="solid"/>
          </a:ln>
        </p:spPr>
      </p:sp>
      <p:sp>
        <p:nvSpPr>
          <p:cNvPr id="25" name="Text 23"/>
          <p:cNvSpPr txBox="1"/>
          <p:nvPr/>
        </p:nvSpPr>
        <p:spPr>
          <a:xfrm>
            <a:off x="707231" y="5710386"/>
            <a:ext cx="940475"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Iogurte natural</a:t>
            </a:r>
            <a:endParaRPr lang="en-US" sz="1170" dirty="0"/>
          </a:p>
        </p:txBody>
      </p:sp>
      <p:sp>
        <p:nvSpPr>
          <p:cNvPr id="26" name="Shape 24"/>
          <p:cNvSpPr/>
          <p:nvPr/>
        </p:nvSpPr>
        <p:spPr>
          <a:xfrm>
            <a:off x="2892772" y="6191399"/>
            <a:ext cx="4055120" cy="0"/>
          </a:xfrm>
          <a:prstGeom prst="line">
            <a:avLst/>
          </a:prstGeom>
          <a:noFill/>
          <a:ln w="9525">
            <a:solidFill>
              <a:srgbClr val="EADCB8"/>
            </a:solidFill>
            <a:prstDash val="solid"/>
          </a:ln>
        </p:spPr>
      </p:sp>
      <p:sp>
        <p:nvSpPr>
          <p:cNvPr id="27" name="Text 25"/>
          <p:cNvSpPr txBox="1"/>
          <p:nvPr/>
        </p:nvSpPr>
        <p:spPr>
          <a:xfrm>
            <a:off x="2988022" y="5729436"/>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Coalhada seca, ou leite com suco de limão descansado por 10 minutos.</a:t>
            </a:r>
            <a:endParaRPr lang="en-US" sz="1100" dirty="0"/>
          </a:p>
        </p:txBody>
      </p:sp>
      <p:sp>
        <p:nvSpPr>
          <p:cNvPr id="28" name="Shape 26"/>
          <p:cNvSpPr/>
          <p:nvPr/>
        </p:nvSpPr>
        <p:spPr>
          <a:xfrm>
            <a:off x="611981" y="6543824"/>
            <a:ext cx="2280791" cy="0"/>
          </a:xfrm>
          <a:prstGeom prst="line">
            <a:avLst/>
          </a:prstGeom>
          <a:noFill/>
          <a:ln w="9525">
            <a:solidFill>
              <a:srgbClr val="EADCB8"/>
            </a:solidFill>
            <a:prstDash val="solid"/>
          </a:ln>
        </p:spPr>
      </p:sp>
      <p:sp>
        <p:nvSpPr>
          <p:cNvPr id="29" name="Text 27"/>
          <p:cNvSpPr txBox="1"/>
          <p:nvPr/>
        </p:nvSpPr>
        <p:spPr>
          <a:xfrm>
            <a:off x="707231" y="6272361"/>
            <a:ext cx="989767"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Caldo de frango</a:t>
            </a:r>
            <a:endParaRPr lang="en-US" sz="1170" dirty="0"/>
          </a:p>
        </p:txBody>
      </p:sp>
      <p:sp>
        <p:nvSpPr>
          <p:cNvPr id="30" name="Shape 28"/>
          <p:cNvSpPr/>
          <p:nvPr/>
        </p:nvSpPr>
        <p:spPr>
          <a:xfrm>
            <a:off x="2892772" y="6543824"/>
            <a:ext cx="4055120" cy="0"/>
          </a:xfrm>
          <a:prstGeom prst="line">
            <a:avLst/>
          </a:prstGeom>
          <a:noFill/>
          <a:ln w="9525">
            <a:solidFill>
              <a:srgbClr val="EADCB8"/>
            </a:solidFill>
            <a:prstDash val="solid"/>
          </a:ln>
        </p:spPr>
      </p:sp>
      <p:sp>
        <p:nvSpPr>
          <p:cNvPr id="31" name="Text 29"/>
          <p:cNvSpPr txBox="1"/>
          <p:nvPr/>
        </p:nvSpPr>
        <p:spPr>
          <a:xfrm>
            <a:off x="2988022" y="6286329"/>
            <a:ext cx="364081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Água com as aparas e um ramo de cheiro-verde.</a:t>
            </a:r>
            <a:endParaRPr lang="en-US" sz="1100" dirty="0"/>
          </a:p>
        </p:txBody>
      </p:sp>
      <p:sp>
        <p:nvSpPr>
          <p:cNvPr id="32" name="Shape 30"/>
          <p:cNvSpPr/>
          <p:nvPr/>
        </p:nvSpPr>
        <p:spPr>
          <a:xfrm>
            <a:off x="611981" y="6896249"/>
            <a:ext cx="2280791" cy="0"/>
          </a:xfrm>
          <a:prstGeom prst="line">
            <a:avLst/>
          </a:prstGeom>
          <a:noFill/>
          <a:ln w="9525">
            <a:solidFill>
              <a:srgbClr val="EADCB8"/>
            </a:solidFill>
            <a:prstDash val="solid"/>
          </a:ln>
        </p:spPr>
      </p:sp>
      <p:sp>
        <p:nvSpPr>
          <p:cNvPr id="33" name="Text 31"/>
          <p:cNvSpPr txBox="1"/>
          <p:nvPr/>
        </p:nvSpPr>
        <p:spPr>
          <a:xfrm>
            <a:off x="707231" y="6624786"/>
            <a:ext cx="90963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Tomate fresco</a:t>
            </a:r>
            <a:endParaRPr lang="en-US" sz="1170" dirty="0"/>
          </a:p>
        </p:txBody>
      </p:sp>
      <p:sp>
        <p:nvSpPr>
          <p:cNvPr id="34" name="Shape 32"/>
          <p:cNvSpPr/>
          <p:nvPr/>
        </p:nvSpPr>
        <p:spPr>
          <a:xfrm>
            <a:off x="2892772" y="6896249"/>
            <a:ext cx="4055120" cy="0"/>
          </a:xfrm>
          <a:prstGeom prst="line">
            <a:avLst/>
          </a:prstGeom>
          <a:noFill/>
          <a:ln w="9525">
            <a:solidFill>
              <a:srgbClr val="EADCB8"/>
            </a:solidFill>
            <a:prstDash val="solid"/>
          </a:ln>
        </p:spPr>
      </p:sp>
      <p:sp>
        <p:nvSpPr>
          <p:cNvPr id="35" name="Text 33"/>
          <p:cNvSpPr txBox="1"/>
          <p:nvPr/>
        </p:nvSpPr>
        <p:spPr>
          <a:xfrm>
            <a:off x="2988022" y="6638754"/>
            <a:ext cx="26076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Tomate pelado em lata ou passata.</a:t>
            </a:r>
            <a:endParaRPr lang="en-US" sz="1100" dirty="0"/>
          </a:p>
        </p:txBody>
      </p:sp>
      <p:sp>
        <p:nvSpPr>
          <p:cNvPr id="36" name="Shape 34"/>
          <p:cNvSpPr/>
          <p:nvPr/>
        </p:nvSpPr>
        <p:spPr>
          <a:xfrm>
            <a:off x="611981" y="7248674"/>
            <a:ext cx="2280791" cy="0"/>
          </a:xfrm>
          <a:prstGeom prst="line">
            <a:avLst/>
          </a:prstGeom>
          <a:noFill/>
          <a:ln w="9525">
            <a:solidFill>
              <a:srgbClr val="EADCB8"/>
            </a:solidFill>
            <a:prstDash val="solid"/>
          </a:ln>
        </p:spPr>
      </p:sp>
      <p:sp>
        <p:nvSpPr>
          <p:cNvPr id="37" name="Text 35"/>
          <p:cNvSpPr txBox="1"/>
          <p:nvPr/>
        </p:nvSpPr>
        <p:spPr>
          <a:xfrm>
            <a:off x="707231" y="6977211"/>
            <a:ext cx="1637883"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Manteiga gelada no molho</a:t>
            </a:r>
            <a:endParaRPr lang="en-US" sz="1170" dirty="0"/>
          </a:p>
        </p:txBody>
      </p:sp>
      <p:sp>
        <p:nvSpPr>
          <p:cNvPr id="38" name="Shape 36"/>
          <p:cNvSpPr/>
          <p:nvPr/>
        </p:nvSpPr>
        <p:spPr>
          <a:xfrm>
            <a:off x="2892772" y="7248674"/>
            <a:ext cx="4055120" cy="0"/>
          </a:xfrm>
          <a:prstGeom prst="line">
            <a:avLst/>
          </a:prstGeom>
          <a:noFill/>
          <a:ln w="9525">
            <a:solidFill>
              <a:srgbClr val="EADCB8"/>
            </a:solidFill>
            <a:prstDash val="solid"/>
          </a:ln>
        </p:spPr>
      </p:sp>
      <p:sp>
        <p:nvSpPr>
          <p:cNvPr id="39" name="Text 37"/>
          <p:cNvSpPr txBox="1"/>
          <p:nvPr/>
        </p:nvSpPr>
        <p:spPr>
          <a:xfrm>
            <a:off x="2988022" y="6991179"/>
            <a:ext cx="43017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Azeite (o molho fica mais fino, mas igualmente saboroso).</a:t>
            </a:r>
            <a:endParaRPr lang="en-US" sz="1100" dirty="0"/>
          </a:p>
        </p:txBody>
      </p:sp>
      <p:sp>
        <p:nvSpPr>
          <p:cNvPr id="40" name="Shape 38"/>
          <p:cNvSpPr/>
          <p:nvPr/>
        </p:nvSpPr>
        <p:spPr>
          <a:xfrm>
            <a:off x="611981" y="7601099"/>
            <a:ext cx="2280791" cy="0"/>
          </a:xfrm>
          <a:prstGeom prst="line">
            <a:avLst/>
          </a:prstGeom>
          <a:noFill/>
          <a:ln w="9525">
            <a:solidFill>
              <a:srgbClr val="EADCB8"/>
            </a:solidFill>
            <a:prstDash val="solid"/>
          </a:ln>
        </p:spPr>
      </p:sp>
      <p:sp>
        <p:nvSpPr>
          <p:cNvPr id="41" name="Text 39"/>
          <p:cNvSpPr txBox="1"/>
          <p:nvPr/>
        </p:nvSpPr>
        <p:spPr>
          <a:xfrm>
            <a:off x="707231" y="7329636"/>
            <a:ext cx="621655"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Cúrcuma</a:t>
            </a:r>
            <a:endParaRPr lang="en-US" sz="1170" dirty="0"/>
          </a:p>
        </p:txBody>
      </p:sp>
      <p:sp>
        <p:nvSpPr>
          <p:cNvPr id="42" name="Shape 40"/>
          <p:cNvSpPr/>
          <p:nvPr/>
        </p:nvSpPr>
        <p:spPr>
          <a:xfrm>
            <a:off x="2892772" y="7601099"/>
            <a:ext cx="4055120" cy="0"/>
          </a:xfrm>
          <a:prstGeom prst="line">
            <a:avLst/>
          </a:prstGeom>
          <a:noFill/>
          <a:ln w="9525">
            <a:solidFill>
              <a:srgbClr val="EADCB8"/>
            </a:solidFill>
            <a:prstDash val="solid"/>
          </a:ln>
        </p:spPr>
      </p:sp>
      <p:sp>
        <p:nvSpPr>
          <p:cNvPr id="43" name="Text 41"/>
          <p:cNvSpPr txBox="1"/>
          <p:nvPr/>
        </p:nvSpPr>
        <p:spPr>
          <a:xfrm>
            <a:off x="2988022" y="7343604"/>
            <a:ext cx="325594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Uma pitada de açafrão-da-terra ou de curry.</a:t>
            </a:r>
            <a:endParaRPr lang="en-US" sz="1100" dirty="0"/>
          </a:p>
        </p:txBody>
      </p:sp>
      <p:sp>
        <p:nvSpPr>
          <p:cNvPr id="44" name="Text 42"/>
          <p:cNvSpPr txBox="1"/>
          <p:nvPr/>
        </p:nvSpPr>
        <p:spPr>
          <a:xfrm>
            <a:off x="5893891"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7044" y="10253663"/>
            <a:ext cx="273248"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33</a:t>
            </a:r>
            <a:endParaRPr lang="en-US" sz="83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611981" y="566440"/>
            <a:ext cx="230403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APROVEITA ISSO TAMBÉM · FRANGO</a:t>
            </a:r>
            <a:endParaRPr lang="en-US" sz="960" dirty="0"/>
          </a:p>
        </p:txBody>
      </p:sp>
      <p:sp>
        <p:nvSpPr>
          <p:cNvPr id="3" name="Text 1"/>
          <p:cNvSpPr txBox="1"/>
          <p:nvPr/>
        </p:nvSpPr>
        <p:spPr>
          <a:xfrm>
            <a:off x="611981" y="779960"/>
            <a:ext cx="294965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NADA VAI PARA O LIXO</a:t>
            </a:r>
            <a:endParaRPr lang="en-US" sz="2420" dirty="0"/>
          </a:p>
        </p:txBody>
      </p:sp>
      <p:sp>
        <p:nvSpPr>
          <p:cNvPr id="4" name="Text 2"/>
          <p:cNvSpPr txBox="1"/>
          <p:nvPr/>
        </p:nvSpPr>
        <p:spPr>
          <a:xfrm>
            <a:off x="611981" y="1377818"/>
            <a:ext cx="4592538"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OSSOS E APARAS: FUNDO CASEIRO ULTRA-AROMÁTICO</a:t>
            </a:r>
            <a:endParaRPr lang="en-US" sz="1650" dirty="0"/>
          </a:p>
        </p:txBody>
      </p:sp>
      <p:sp>
        <p:nvSpPr>
          <p:cNvPr id="5" name="Text 3"/>
          <p:cNvSpPr txBox="1"/>
          <p:nvPr/>
        </p:nvSpPr>
        <p:spPr>
          <a:xfrm>
            <a:off x="611981" y="1774924"/>
            <a:ext cx="6335911" cy="8001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Junte os ossos, peles e aparas de 6 a 8 sobrecoxas (pode ir guardando no freezer). Para um caldo mais escuro e intenso, asse os ossos antes a 200 °C por 30 minutos. Coloque numa panela com 1 cebola cortada ao meio com casca, 1 cenoura com casca, talos de salsinha, 1 folha de louro, 6 grãos de pimenta e 2 litros de água fria.</a:t>
            </a:r>
            <a:endParaRPr lang="en-US" sz="1100" dirty="0"/>
          </a:p>
        </p:txBody>
      </p:sp>
      <p:sp>
        <p:nvSpPr>
          <p:cNvPr id="6" name="Text 4"/>
          <p:cNvSpPr txBox="1"/>
          <p:nvPr/>
        </p:nvSpPr>
        <p:spPr>
          <a:xfrm>
            <a:off x="611981" y="2848389"/>
            <a:ext cx="165752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PONTO DO CALDO</a:t>
            </a:r>
            <a:endParaRPr lang="en-US" sz="1650" dirty="0"/>
          </a:p>
        </p:txBody>
      </p:sp>
      <p:sp>
        <p:nvSpPr>
          <p:cNvPr id="7" name="Text 5"/>
          <p:cNvSpPr txBox="1"/>
          <p:nvPr/>
        </p:nvSpPr>
        <p:spPr>
          <a:xfrm>
            <a:off x="611981" y="3245495"/>
            <a:ext cx="6335911" cy="10096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Leve ao fogo baixo e nunca deixe ferver forte: a fervura turva o caldo. Retire a espuma que subir. Cozinhe por 2 a 3 horas, coe e leve à geladeira. A gordura endurece por cima: retire e guarde, ela é ótima para refogar. Congele o caldo em forminhas de gelo por até 3 meses e use um cubo para enriquecer arroz, feijão, molhos e sopas, como o caldo de mandioca do próximo capítulo. É o seu caldo caseiro, sem cubinhos industrializados.</a:t>
            </a:r>
            <a:endParaRPr lang="en-US" sz="1100" dirty="0"/>
          </a:p>
        </p:txBody>
      </p:sp>
      <p:sp>
        <p:nvSpPr>
          <p:cNvPr id="8" name="Text 6"/>
          <p:cNvSpPr txBox="1"/>
          <p:nvPr/>
        </p:nvSpPr>
        <p:spPr>
          <a:xfrm>
            <a:off x="5888980"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9" name="Text 7"/>
          <p:cNvSpPr txBox="1"/>
          <p:nvPr/>
        </p:nvSpPr>
        <p:spPr>
          <a:xfrm>
            <a:off x="6822132" y="10253663"/>
            <a:ext cx="278160"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34</a:t>
            </a:r>
            <a:endParaRPr lang="en-US" sz="83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11981" y="566440"/>
            <a:ext cx="868263"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04</a:t>
            </a:r>
            <a:endParaRPr lang="en-US" sz="960" dirty="0"/>
          </a:p>
        </p:txBody>
      </p:sp>
      <p:sp>
        <p:nvSpPr>
          <p:cNvPr id="3" name="Text 1"/>
          <p:cNvSpPr txBox="1"/>
          <p:nvPr/>
        </p:nvSpPr>
        <p:spPr>
          <a:xfrm>
            <a:off x="611981" y="779960"/>
            <a:ext cx="1381601"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MANDIOCA</a:t>
            </a:r>
            <a:endParaRPr lang="en-US" sz="2420" dirty="0"/>
          </a:p>
        </p:txBody>
      </p:sp>
      <p:sp>
        <p:nvSpPr>
          <p:cNvPr id="4" name="Text 2"/>
          <p:cNvSpPr txBox="1"/>
          <p:nvPr/>
        </p:nvSpPr>
        <p:spPr>
          <a:xfrm>
            <a:off x="611981" y="1263518"/>
            <a:ext cx="1566446"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AIPIM, MACAXEIRA</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raiz do Brasil: rica em amido, acessível e um coringa técnico. Une sustentabilidade e brasilidade num ingrediente só.</a:t>
            </a:r>
            <a:endParaRPr lang="en-US" sz="1100" dirty="0"/>
          </a:p>
        </p:txBody>
      </p:sp>
      <p:sp>
        <p:nvSpPr>
          <p:cNvPr id="6" name="Text 4"/>
          <p:cNvSpPr txBox="1"/>
          <p:nvPr/>
        </p:nvSpPr>
        <p:spPr>
          <a:xfrm>
            <a:off x="611981" y="2429289"/>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7" name="Text 5"/>
          <p:cNvSpPr txBox="1"/>
          <p:nvPr/>
        </p:nvSpPr>
        <p:spPr>
          <a:xfrm>
            <a:off x="611981" y="2775909"/>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8" name="Text 6"/>
          <p:cNvSpPr txBox="1"/>
          <p:nvPr/>
        </p:nvSpPr>
        <p:spPr>
          <a:xfrm>
            <a:off x="1031081" y="2797820"/>
            <a:ext cx="1869519"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CROCÂNCIA PERFEITA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37</a:t>
            </a:r>
            <a:endParaRPr lang="en-US" sz="1320" dirty="0"/>
          </a:p>
        </p:txBody>
      </p:sp>
      <p:sp>
        <p:nvSpPr>
          <p:cNvPr id="9" name="Text 7"/>
          <p:cNvSpPr txBox="1"/>
          <p:nvPr/>
        </p:nvSpPr>
        <p:spPr>
          <a:xfrm>
            <a:off x="1031081" y="3108105"/>
            <a:ext cx="305448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Rösti de mandioca recheado na frigideira</a:t>
            </a:r>
            <a:endParaRPr lang="en-US" sz="1100" dirty="0"/>
          </a:p>
        </p:txBody>
      </p:sp>
      <p:sp>
        <p:nvSpPr>
          <p:cNvPr id="10" name="Text 8"/>
          <p:cNvSpPr txBox="1"/>
          <p:nvPr/>
        </p:nvSpPr>
        <p:spPr>
          <a:xfrm>
            <a:off x="611981" y="3424651"/>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11" name="Text 9"/>
          <p:cNvSpPr txBox="1"/>
          <p:nvPr/>
        </p:nvSpPr>
        <p:spPr>
          <a:xfrm>
            <a:off x="1031081" y="3446562"/>
            <a:ext cx="2078295"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CULINÁRIA ACOLHEDORA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39</a:t>
            </a:r>
            <a:endParaRPr lang="en-US" sz="1320" dirty="0"/>
          </a:p>
        </p:txBody>
      </p:sp>
      <p:sp>
        <p:nvSpPr>
          <p:cNvPr id="12" name="Text 10"/>
          <p:cNvSpPr txBox="1"/>
          <p:nvPr/>
        </p:nvSpPr>
        <p:spPr>
          <a:xfrm>
            <a:off x="1031081" y="3756846"/>
            <a:ext cx="516868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Caldo aveludado de mandioca com gengibre e bacon (ou cogumelos)</a:t>
            </a:r>
            <a:endParaRPr lang="en-US" sz="1100" dirty="0"/>
          </a:p>
        </p:txBody>
      </p:sp>
      <p:sp>
        <p:nvSpPr>
          <p:cNvPr id="13" name="Text 11"/>
          <p:cNvSpPr txBox="1"/>
          <p:nvPr/>
        </p:nvSpPr>
        <p:spPr>
          <a:xfrm>
            <a:off x="611981" y="4073393"/>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4" name="Text 12"/>
          <p:cNvSpPr txBox="1"/>
          <p:nvPr/>
        </p:nvSpPr>
        <p:spPr>
          <a:xfrm>
            <a:off x="1031081" y="4095304"/>
            <a:ext cx="107674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SURPRESA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41</a:t>
            </a:r>
            <a:endParaRPr lang="en-US" sz="1320" dirty="0"/>
          </a:p>
        </p:txBody>
      </p:sp>
      <p:sp>
        <p:nvSpPr>
          <p:cNvPr id="15" name="Text 13"/>
          <p:cNvSpPr txBox="1"/>
          <p:nvPr/>
        </p:nvSpPr>
        <p:spPr>
          <a:xfrm>
            <a:off x="1031081" y="4405588"/>
            <a:ext cx="335256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Biscoito de polvilho e mandioca de assadeira</a:t>
            </a:r>
            <a:endParaRPr lang="en-US" sz="1100" dirty="0"/>
          </a:p>
        </p:txBody>
      </p:sp>
      <p:sp>
        <p:nvSpPr>
          <p:cNvPr id="16" name="Text 14"/>
          <p:cNvSpPr txBox="1"/>
          <p:nvPr/>
        </p:nvSpPr>
        <p:spPr>
          <a:xfrm>
            <a:off x="58935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17" name="Text 15"/>
          <p:cNvSpPr txBox="1"/>
          <p:nvPr/>
        </p:nvSpPr>
        <p:spPr>
          <a:xfrm>
            <a:off x="6826746" y="10253663"/>
            <a:ext cx="2735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35</a:t>
            </a:r>
            <a:endParaRPr lang="en-US" sz="83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11981" y="566440"/>
            <a:ext cx="1672709"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04 · MANDIOCA</a:t>
            </a:r>
            <a:endParaRPr lang="en-US" sz="960" dirty="0"/>
          </a:p>
        </p:txBody>
      </p:sp>
      <p:sp>
        <p:nvSpPr>
          <p:cNvPr id="3" name="Text 1"/>
          <p:cNvSpPr txBox="1"/>
          <p:nvPr/>
        </p:nvSpPr>
        <p:spPr>
          <a:xfrm>
            <a:off x="611981" y="779960"/>
            <a:ext cx="200346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INGREDIENTE</a:t>
            </a:r>
            <a:endParaRPr lang="en-US" sz="2420" dirty="0"/>
          </a:p>
        </p:txBody>
      </p:sp>
      <p:sp>
        <p:nvSpPr>
          <p:cNvPr id="4" name="Text 2"/>
          <p:cNvSpPr txBox="1"/>
          <p:nvPr/>
        </p:nvSpPr>
        <p:spPr>
          <a:xfrm>
            <a:off x="611981" y="14092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Poucos ingredientes são tão brasileiros e tão subestimados. A mandioca costuma ficar presa a dois papéis: cozida na manteiga ou frita como acompanhamento.</a:t>
            </a:r>
            <a:endParaRPr lang="en-US" sz="1100" dirty="0"/>
          </a:p>
        </p:txBody>
      </p:sp>
      <p:sp>
        <p:nvSpPr>
          <p:cNvPr id="5" name="Text 3"/>
          <p:cNvSpPr txBox="1"/>
          <p:nvPr/>
        </p:nvSpPr>
        <p:spPr>
          <a:xfrm>
            <a:off x="611981" y="194265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Mas é justamente o amido dela que a torna um coringa técnico. Ralada crua, ela se une sozinha e fica crocante na frigideira. Cozida e batida, vira um creme aveludado sem precisar de creme de leite. Misturada com queijo, vira biscoito.</a:t>
            </a:r>
            <a:endParaRPr lang="en-US" sz="1100" dirty="0"/>
          </a:p>
        </p:txBody>
      </p:sp>
      <p:sp>
        <p:nvSpPr>
          <p:cNvPr id="6" name="Text 4"/>
          <p:cNvSpPr txBox="1"/>
          <p:nvPr/>
        </p:nvSpPr>
        <p:spPr>
          <a:xfrm>
            <a:off x="611981" y="268560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Um aviso importante: a mandioca vendida no mercado e na feira é a mandioca mansa, de mesa. Mesmo assim, ela deve ser sempre bem cozida antes de comer. Nunca consuma mandioca crua.</a:t>
            </a:r>
            <a:endParaRPr lang="en-US" sz="1100" dirty="0"/>
          </a:p>
        </p:txBody>
      </p:sp>
      <p:sp>
        <p:nvSpPr>
          <p:cNvPr id="7" name="Text 5"/>
          <p:cNvSpPr txBox="1"/>
          <p:nvPr/>
        </p:nvSpPr>
        <p:spPr>
          <a:xfrm>
            <a:off x="611981" y="3339968"/>
            <a:ext cx="158752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ANTES DA PANELA</a:t>
            </a:r>
            <a:endParaRPr lang="en-US" sz="1650" dirty="0"/>
          </a:p>
        </p:txBody>
      </p:sp>
      <p:sp>
        <p:nvSpPr>
          <p:cNvPr id="8" name="Text 6"/>
          <p:cNvSpPr txBox="1"/>
          <p:nvPr/>
        </p:nvSpPr>
        <p:spPr>
          <a:xfrm>
            <a:off x="611981" y="3698974"/>
            <a:ext cx="159109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NA HORA DE ESCOLHER</a:t>
            </a:r>
            <a:endParaRPr lang="en-US" sz="1320" dirty="0"/>
          </a:p>
        </p:txBody>
      </p:sp>
      <p:sp>
        <p:nvSpPr>
          <p:cNvPr id="9" name="Shape 7"/>
          <p:cNvSpPr/>
          <p:nvPr/>
        </p:nvSpPr>
        <p:spPr>
          <a:xfrm>
            <a:off x="631031" y="4072382"/>
            <a:ext cx="66675" cy="66675"/>
          </a:xfrm>
          <a:prstGeom prst="ellipse">
            <a:avLst/>
          </a:prstGeom>
          <a:solidFill>
            <a:srgbClr val="F96015"/>
          </a:solidFill>
          <a:ln/>
        </p:spPr>
      </p:sp>
      <p:sp>
        <p:nvSpPr>
          <p:cNvPr id="10" name="Text 8"/>
          <p:cNvSpPr txBox="1"/>
          <p:nvPr/>
        </p:nvSpPr>
        <p:spPr>
          <a:xfrm>
            <a:off x="783431" y="4009259"/>
            <a:ext cx="557801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Casca marrom, que se solta com facilidade, e ponta que estala ao quebrar.</a:t>
            </a:r>
            <a:endParaRPr lang="en-US" sz="1100" dirty="0"/>
          </a:p>
        </p:txBody>
      </p:sp>
      <p:sp>
        <p:nvSpPr>
          <p:cNvPr id="11" name="Shape 9"/>
          <p:cNvSpPr/>
          <p:nvPr/>
        </p:nvSpPr>
        <p:spPr>
          <a:xfrm>
            <a:off x="631031" y="4339082"/>
            <a:ext cx="66675" cy="66675"/>
          </a:xfrm>
          <a:prstGeom prst="ellipse">
            <a:avLst/>
          </a:prstGeom>
          <a:solidFill>
            <a:srgbClr val="F96015"/>
          </a:solidFill>
          <a:ln/>
        </p:spPr>
      </p:sp>
      <p:sp>
        <p:nvSpPr>
          <p:cNvPr id="12" name="Text 10"/>
          <p:cNvSpPr txBox="1"/>
          <p:nvPr/>
        </p:nvSpPr>
        <p:spPr>
          <a:xfrm>
            <a:off x="783431" y="4275959"/>
            <a:ext cx="64717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Polpa branca ou amarelada, uniforme, sem estrias escuras, azuladas ou pontos moles.</a:t>
            </a:r>
            <a:endParaRPr lang="en-US" sz="1100" dirty="0"/>
          </a:p>
        </p:txBody>
      </p:sp>
      <p:sp>
        <p:nvSpPr>
          <p:cNvPr id="13" name="Shape 11"/>
          <p:cNvSpPr/>
          <p:nvPr/>
        </p:nvSpPr>
        <p:spPr>
          <a:xfrm>
            <a:off x="631031" y="4605782"/>
            <a:ext cx="66675" cy="66675"/>
          </a:xfrm>
          <a:prstGeom prst="ellipse">
            <a:avLst/>
          </a:prstGeom>
          <a:solidFill>
            <a:srgbClr val="F96015"/>
          </a:solidFill>
          <a:ln/>
        </p:spPr>
      </p:sp>
      <p:sp>
        <p:nvSpPr>
          <p:cNvPr id="14" name="Text 12"/>
          <p:cNvSpPr txBox="1"/>
          <p:nvPr/>
        </p:nvSpPr>
        <p:spPr>
          <a:xfrm>
            <a:off x="783431" y="4542659"/>
            <a:ext cx="486918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Raízes médias costumam ser mais macias que as muito grossas.</a:t>
            </a:r>
            <a:endParaRPr lang="en-US" sz="1100" dirty="0"/>
          </a:p>
        </p:txBody>
      </p:sp>
      <p:sp>
        <p:nvSpPr>
          <p:cNvPr id="15" name="Shape 13"/>
          <p:cNvSpPr/>
          <p:nvPr/>
        </p:nvSpPr>
        <p:spPr>
          <a:xfrm>
            <a:off x="631031" y="4872482"/>
            <a:ext cx="66675" cy="66675"/>
          </a:xfrm>
          <a:prstGeom prst="ellipse">
            <a:avLst/>
          </a:prstGeom>
          <a:solidFill>
            <a:srgbClr val="F96015"/>
          </a:solidFill>
          <a:ln/>
        </p:spPr>
      </p:sp>
      <p:sp>
        <p:nvSpPr>
          <p:cNvPr id="16" name="Text 14"/>
          <p:cNvSpPr txBox="1"/>
          <p:nvPr/>
        </p:nvSpPr>
        <p:spPr>
          <a:xfrm>
            <a:off x="783431" y="4809359"/>
            <a:ext cx="609022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Mandioca boa cozinha rápido. Se demorar demais, o problema é a raiz, não você.</a:t>
            </a:r>
            <a:endParaRPr lang="en-US" sz="1100" dirty="0"/>
          </a:p>
        </p:txBody>
      </p:sp>
      <p:sp>
        <p:nvSpPr>
          <p:cNvPr id="17" name="Text 15"/>
          <p:cNvSpPr txBox="1"/>
          <p:nvPr/>
        </p:nvSpPr>
        <p:spPr>
          <a:xfrm>
            <a:off x="611981" y="5176391"/>
            <a:ext cx="107477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COMO GUARDAR</a:t>
            </a:r>
            <a:endParaRPr lang="en-US" sz="1320" dirty="0"/>
          </a:p>
        </p:txBody>
      </p:sp>
      <p:sp>
        <p:nvSpPr>
          <p:cNvPr id="18" name="Shape 16"/>
          <p:cNvSpPr/>
          <p:nvPr/>
        </p:nvSpPr>
        <p:spPr>
          <a:xfrm>
            <a:off x="631031" y="5549799"/>
            <a:ext cx="66675" cy="66675"/>
          </a:xfrm>
          <a:prstGeom prst="ellipse">
            <a:avLst/>
          </a:prstGeom>
          <a:solidFill>
            <a:srgbClr val="F96015"/>
          </a:solidFill>
          <a:ln/>
        </p:spPr>
      </p:sp>
      <p:sp>
        <p:nvSpPr>
          <p:cNvPr id="19" name="Text 17"/>
          <p:cNvSpPr txBox="1"/>
          <p:nvPr/>
        </p:nvSpPr>
        <p:spPr>
          <a:xfrm>
            <a:off x="783431" y="5486676"/>
            <a:ext cx="430214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Com casca, fora da geladeira, ela estraga em 2 ou 3 dias.</a:t>
            </a:r>
            <a:endParaRPr lang="en-US" sz="1100" dirty="0"/>
          </a:p>
        </p:txBody>
      </p:sp>
      <p:sp>
        <p:nvSpPr>
          <p:cNvPr id="20" name="Shape 18"/>
          <p:cNvSpPr/>
          <p:nvPr/>
        </p:nvSpPr>
        <p:spPr>
          <a:xfrm>
            <a:off x="631031" y="5816499"/>
            <a:ext cx="66675" cy="66675"/>
          </a:xfrm>
          <a:prstGeom prst="ellipse">
            <a:avLst/>
          </a:prstGeom>
          <a:solidFill>
            <a:srgbClr val="F96015"/>
          </a:solidFill>
          <a:ln/>
        </p:spPr>
      </p:sp>
      <p:sp>
        <p:nvSpPr>
          <p:cNvPr id="21" name="Text 19"/>
          <p:cNvSpPr txBox="1"/>
          <p:nvPr/>
        </p:nvSpPr>
        <p:spPr>
          <a:xfrm>
            <a:off x="783431" y="5758458"/>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melhor caminho: descasque, lave, corte em pedaços e congele crua em sacos por até 3 meses. Ela cozinha ainda melhor depois de congelada.</a:t>
            </a:r>
            <a:endParaRPr lang="en-US" sz="1100" dirty="0"/>
          </a:p>
        </p:txBody>
      </p:sp>
      <p:sp>
        <p:nvSpPr>
          <p:cNvPr id="22" name="Shape 20"/>
          <p:cNvSpPr/>
          <p:nvPr/>
        </p:nvSpPr>
        <p:spPr>
          <a:xfrm>
            <a:off x="631031" y="6292749"/>
            <a:ext cx="66675" cy="66675"/>
          </a:xfrm>
          <a:prstGeom prst="ellipse">
            <a:avLst/>
          </a:prstGeom>
          <a:solidFill>
            <a:srgbClr val="F96015"/>
          </a:solidFill>
          <a:ln/>
        </p:spPr>
      </p:sp>
      <p:sp>
        <p:nvSpPr>
          <p:cNvPr id="23" name="Text 21"/>
          <p:cNvSpPr txBox="1"/>
          <p:nvPr/>
        </p:nvSpPr>
        <p:spPr>
          <a:xfrm>
            <a:off x="783431" y="6229626"/>
            <a:ext cx="569017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Cozida: na geladeira por até 3 dias, coberta pela própria água do cozimento.</a:t>
            </a:r>
            <a:endParaRPr lang="en-US" sz="1100" dirty="0"/>
          </a:p>
        </p:txBody>
      </p:sp>
      <p:sp>
        <p:nvSpPr>
          <p:cNvPr id="24" name="Text 22"/>
          <p:cNvSpPr txBox="1"/>
          <p:nvPr/>
        </p:nvSpPr>
        <p:spPr>
          <a:xfrm>
            <a:off x="611981" y="6596658"/>
            <a:ext cx="16857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PRÉ-PREPARO E CORTES</a:t>
            </a:r>
            <a:endParaRPr lang="en-US" sz="1320" dirty="0"/>
          </a:p>
        </p:txBody>
      </p:sp>
      <p:sp>
        <p:nvSpPr>
          <p:cNvPr id="25" name="Shape 23"/>
          <p:cNvSpPr/>
          <p:nvPr/>
        </p:nvSpPr>
        <p:spPr>
          <a:xfrm>
            <a:off x="631031" y="6970066"/>
            <a:ext cx="66675" cy="66675"/>
          </a:xfrm>
          <a:prstGeom prst="ellipse">
            <a:avLst/>
          </a:prstGeom>
          <a:solidFill>
            <a:srgbClr val="F96015"/>
          </a:solidFill>
          <a:ln/>
        </p:spPr>
      </p:sp>
      <p:sp>
        <p:nvSpPr>
          <p:cNvPr id="26" name="Text 24"/>
          <p:cNvSpPr txBox="1"/>
          <p:nvPr/>
        </p:nvSpPr>
        <p:spPr>
          <a:xfrm>
            <a:off x="783431" y="691202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Corte em toras de 8 a 10 cm. Faça um talho no comprimento e solte a casca marrom junto com a entrecasca rosada, de uma vez.</a:t>
            </a:r>
            <a:endParaRPr lang="en-US" sz="1100" dirty="0"/>
          </a:p>
        </p:txBody>
      </p:sp>
      <p:sp>
        <p:nvSpPr>
          <p:cNvPr id="27" name="Shape 25"/>
          <p:cNvSpPr/>
          <p:nvPr/>
        </p:nvSpPr>
        <p:spPr>
          <a:xfrm>
            <a:off x="631031" y="7446316"/>
            <a:ext cx="66675" cy="66675"/>
          </a:xfrm>
          <a:prstGeom prst="ellipse">
            <a:avLst/>
          </a:prstGeom>
          <a:solidFill>
            <a:srgbClr val="F96015"/>
          </a:solidFill>
          <a:ln/>
        </p:spPr>
      </p:sp>
      <p:sp>
        <p:nvSpPr>
          <p:cNvPr id="28" name="Text 26"/>
          <p:cNvSpPr txBox="1"/>
          <p:nvPr/>
        </p:nvSpPr>
        <p:spPr>
          <a:xfrm>
            <a:off x="783431" y="7383193"/>
            <a:ext cx="494472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Depois de cozida, abra ao meio e retire o fio central, que é fibroso.</a:t>
            </a:r>
            <a:endParaRPr lang="en-US" sz="1100" dirty="0"/>
          </a:p>
        </p:txBody>
      </p:sp>
      <p:sp>
        <p:nvSpPr>
          <p:cNvPr id="29" name="Shape 27"/>
          <p:cNvSpPr/>
          <p:nvPr/>
        </p:nvSpPr>
        <p:spPr>
          <a:xfrm>
            <a:off x="631031" y="7713016"/>
            <a:ext cx="66675" cy="66675"/>
          </a:xfrm>
          <a:prstGeom prst="ellipse">
            <a:avLst/>
          </a:prstGeom>
          <a:solidFill>
            <a:srgbClr val="F96015"/>
          </a:solidFill>
          <a:ln/>
        </p:spPr>
      </p:sp>
      <p:sp>
        <p:nvSpPr>
          <p:cNvPr id="30" name="Text 28"/>
          <p:cNvSpPr txBox="1"/>
          <p:nvPr/>
        </p:nvSpPr>
        <p:spPr>
          <a:xfrm>
            <a:off x="783431" y="7649893"/>
            <a:ext cx="581090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Corte sempre em pedaços de tamanho parecido, para tudo cozinhar por igual.</a:t>
            </a:r>
            <a:endParaRPr lang="en-US" sz="1100" dirty="0"/>
          </a:p>
        </p:txBody>
      </p:sp>
      <p:sp>
        <p:nvSpPr>
          <p:cNvPr id="31" name="Text 29"/>
          <p:cNvSpPr txBox="1"/>
          <p:nvPr/>
        </p:nvSpPr>
        <p:spPr>
          <a:xfrm>
            <a:off x="58935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2" name="Text 30"/>
          <p:cNvSpPr txBox="1"/>
          <p:nvPr/>
        </p:nvSpPr>
        <p:spPr>
          <a:xfrm>
            <a:off x="6826746" y="10253663"/>
            <a:ext cx="2735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36</a:t>
            </a:r>
            <a:endParaRPr lang="en-US" sz="8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611981" y="566440"/>
            <a:ext cx="26499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01</a:t>
            </a:r>
            <a:endParaRPr lang="en-US" sz="960" dirty="0"/>
          </a:p>
        </p:txBody>
      </p:sp>
      <p:sp>
        <p:nvSpPr>
          <p:cNvPr id="3" name="Text 1"/>
          <p:cNvSpPr txBox="1"/>
          <p:nvPr/>
        </p:nvSpPr>
        <p:spPr>
          <a:xfrm>
            <a:off x="611981" y="779960"/>
            <a:ext cx="265372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RÖSTI DE MANDIOCA</a:t>
            </a:r>
            <a:endParaRPr lang="en-US" sz="2420" dirty="0"/>
          </a:p>
        </p:txBody>
      </p:sp>
      <p:sp>
        <p:nvSpPr>
          <p:cNvPr id="4" name="Text 2"/>
          <p:cNvSpPr txBox="1"/>
          <p:nvPr/>
        </p:nvSpPr>
        <p:spPr>
          <a:xfrm>
            <a:off x="611981" y="1404171"/>
            <a:ext cx="305448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Rösti de mandioca recheado na frigideira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273802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500 g de mandioca crua descascada</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496347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manteiga (ou metade manteiga, metade óleo)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548550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carne-seca dessalgada, cozida e desfiada, refogada com cebola</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498187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ou 150 g de muçarela com 3 colheres (sopa) de requeijão cremoso</a:t>
            </a:r>
            <a:endParaRPr lang="en-US" sz="1100" dirty="0"/>
          </a:p>
        </p:txBody>
      </p:sp>
      <p:sp>
        <p:nvSpPr>
          <p:cNvPr id="16" name="Text 14"/>
          <p:cNvSpPr txBox="1"/>
          <p:nvPr/>
        </p:nvSpPr>
        <p:spPr>
          <a:xfrm>
            <a:off x="611981" y="36090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11981" y="566440"/>
            <a:ext cx="211151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01 · MANDIOCA</a:t>
            </a:r>
            <a:endParaRPr lang="en-US" sz="960" dirty="0"/>
          </a:p>
        </p:txBody>
      </p:sp>
      <p:sp>
        <p:nvSpPr>
          <p:cNvPr id="3" name="Text 1"/>
          <p:cNvSpPr txBox="1"/>
          <p:nvPr/>
        </p:nvSpPr>
        <p:spPr>
          <a:xfrm>
            <a:off x="611981" y="779960"/>
            <a:ext cx="6126837"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RÖSTI DE MANDIOCA RECHEADO NA FRIGIDEIRA</a:t>
            </a:r>
            <a:endParaRPr lang="en-US" sz="2420" dirty="0"/>
          </a:p>
        </p:txBody>
      </p:sp>
      <p:sp>
        <p:nvSpPr>
          <p:cNvPr id="4" name="Text 2"/>
          <p:cNvSpPr txBox="1"/>
          <p:nvPr/>
        </p:nvSpPr>
        <p:spPr>
          <a:xfrm>
            <a:off x="611981" y="1275904"/>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CROCÂNCIA PERFEITA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(crosta dourada por fora, cremoso por dentro)</a:t>
            </a:r>
            <a:endParaRPr lang="en-US" sz="1100" dirty="0"/>
          </a:p>
        </p:txBody>
      </p:sp>
      <p:sp>
        <p:nvSpPr>
          <p:cNvPr id="5" name="Shape 3"/>
          <p:cNvSpPr/>
          <p:nvPr/>
        </p:nvSpPr>
        <p:spPr>
          <a:xfrm>
            <a:off x="611981" y="1576239"/>
            <a:ext cx="6335911" cy="0"/>
          </a:xfrm>
          <a:prstGeom prst="line">
            <a:avLst/>
          </a:prstGeom>
          <a:noFill/>
          <a:ln w="19050">
            <a:solidFill>
              <a:srgbClr val="18542A"/>
            </a:solidFill>
            <a:prstDash val="solid"/>
          </a:ln>
        </p:spPr>
      </p:sp>
      <p:sp>
        <p:nvSpPr>
          <p:cNvPr id="6" name="Shape 4"/>
          <p:cNvSpPr/>
          <p:nvPr/>
        </p:nvSpPr>
        <p:spPr>
          <a:xfrm>
            <a:off x="611981" y="2101900"/>
            <a:ext cx="6335911" cy="0"/>
          </a:xfrm>
          <a:prstGeom prst="line">
            <a:avLst/>
          </a:prstGeom>
          <a:noFill/>
          <a:ln w="19050">
            <a:solidFill>
              <a:srgbClr val="18542A"/>
            </a:solidFill>
            <a:prstDash val="solid"/>
          </a:ln>
        </p:spPr>
      </p:sp>
      <p:sp>
        <p:nvSpPr>
          <p:cNvPr id="7" name="Text 5"/>
          <p:cNvSpPr txBox="1"/>
          <p:nvPr/>
        </p:nvSpPr>
        <p:spPr>
          <a:xfrm>
            <a:off x="611981" y="1661964"/>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1822527"/>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 min</a:t>
            </a:r>
            <a:endParaRPr lang="en-US" sz="1100" dirty="0"/>
          </a:p>
        </p:txBody>
      </p:sp>
      <p:sp>
        <p:nvSpPr>
          <p:cNvPr id="9" name="Text 7"/>
          <p:cNvSpPr txBox="1"/>
          <p:nvPr/>
        </p:nvSpPr>
        <p:spPr>
          <a:xfrm>
            <a:off x="2761952" y="1661964"/>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1822527"/>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 min</a:t>
            </a:r>
            <a:endParaRPr lang="en-US" sz="1100" dirty="0"/>
          </a:p>
        </p:txBody>
      </p:sp>
      <p:sp>
        <p:nvSpPr>
          <p:cNvPr id="11" name="Text 9"/>
          <p:cNvSpPr txBox="1"/>
          <p:nvPr/>
        </p:nvSpPr>
        <p:spPr>
          <a:xfrm>
            <a:off x="4912072" y="1661964"/>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1822527"/>
            <a:ext cx="219759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rösti grande (2 a 4 porções)</a:t>
            </a:r>
            <a:endParaRPr lang="en-US" sz="1100" dirty="0"/>
          </a:p>
        </p:txBody>
      </p:sp>
      <p:sp>
        <p:nvSpPr>
          <p:cNvPr id="13" name="Text 11"/>
          <p:cNvSpPr txBox="1"/>
          <p:nvPr/>
        </p:nvSpPr>
        <p:spPr>
          <a:xfrm>
            <a:off x="611981" y="2365739"/>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Text 12"/>
          <p:cNvSpPr txBox="1"/>
          <p:nvPr/>
        </p:nvSpPr>
        <p:spPr>
          <a:xfrm>
            <a:off x="611981" y="2724745"/>
            <a:ext cx="53712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MASSA</a:t>
            </a:r>
            <a:endParaRPr lang="en-US" sz="1320" dirty="0"/>
          </a:p>
        </p:txBody>
      </p:sp>
      <p:sp>
        <p:nvSpPr>
          <p:cNvPr id="15" name="Shape 13"/>
          <p:cNvSpPr/>
          <p:nvPr/>
        </p:nvSpPr>
        <p:spPr>
          <a:xfrm>
            <a:off x="631031" y="3098153"/>
            <a:ext cx="66675" cy="66675"/>
          </a:xfrm>
          <a:prstGeom prst="ellipse">
            <a:avLst/>
          </a:prstGeom>
          <a:solidFill>
            <a:srgbClr val="F96015"/>
          </a:solidFill>
          <a:ln/>
        </p:spPr>
      </p:sp>
      <p:sp>
        <p:nvSpPr>
          <p:cNvPr id="16" name="Text 14"/>
          <p:cNvSpPr txBox="1"/>
          <p:nvPr/>
        </p:nvSpPr>
        <p:spPr>
          <a:xfrm>
            <a:off x="783431" y="3035030"/>
            <a:ext cx="273802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500 g de mandioca crua descascada</a:t>
            </a:r>
            <a:endParaRPr lang="en-US" sz="1100" dirty="0"/>
          </a:p>
        </p:txBody>
      </p:sp>
      <p:sp>
        <p:nvSpPr>
          <p:cNvPr id="17" name="Shape 15"/>
          <p:cNvSpPr/>
          <p:nvPr/>
        </p:nvSpPr>
        <p:spPr>
          <a:xfrm>
            <a:off x="631031" y="3326753"/>
            <a:ext cx="66675" cy="66675"/>
          </a:xfrm>
          <a:prstGeom prst="ellipse">
            <a:avLst/>
          </a:prstGeom>
          <a:solidFill>
            <a:srgbClr val="F96015"/>
          </a:solidFill>
          <a:ln/>
        </p:spPr>
      </p:sp>
      <p:sp>
        <p:nvSpPr>
          <p:cNvPr id="18" name="Text 16"/>
          <p:cNvSpPr txBox="1"/>
          <p:nvPr/>
        </p:nvSpPr>
        <p:spPr>
          <a:xfrm>
            <a:off x="783431" y="3263630"/>
            <a:ext cx="169485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e pimenta-do-reino</a:t>
            </a:r>
            <a:endParaRPr lang="en-US" sz="1100" dirty="0"/>
          </a:p>
        </p:txBody>
      </p:sp>
      <p:sp>
        <p:nvSpPr>
          <p:cNvPr id="19" name="Shape 17"/>
          <p:cNvSpPr/>
          <p:nvPr/>
        </p:nvSpPr>
        <p:spPr>
          <a:xfrm>
            <a:off x="631031" y="3555353"/>
            <a:ext cx="66675" cy="66675"/>
          </a:xfrm>
          <a:prstGeom prst="ellipse">
            <a:avLst/>
          </a:prstGeom>
          <a:solidFill>
            <a:srgbClr val="F96015"/>
          </a:solidFill>
          <a:ln/>
        </p:spPr>
      </p:sp>
      <p:sp>
        <p:nvSpPr>
          <p:cNvPr id="20" name="Text 18"/>
          <p:cNvSpPr txBox="1"/>
          <p:nvPr/>
        </p:nvSpPr>
        <p:spPr>
          <a:xfrm>
            <a:off x="783431" y="3497312"/>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3 colheres (sopa) de manteiga (ou metade manteiga, metade óleo)</a:t>
            </a:r>
            <a:endParaRPr lang="en-US" sz="1100" dirty="0"/>
          </a:p>
        </p:txBody>
      </p:sp>
      <p:sp>
        <p:nvSpPr>
          <p:cNvPr id="21" name="Text 19"/>
          <p:cNvSpPr txBox="1"/>
          <p:nvPr/>
        </p:nvSpPr>
        <p:spPr>
          <a:xfrm>
            <a:off x="3894237" y="2724745"/>
            <a:ext cx="16223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RECHEIO (ESCOLHA UM)</a:t>
            </a:r>
            <a:endParaRPr lang="en-US" sz="1320" dirty="0"/>
          </a:p>
        </p:txBody>
      </p:sp>
      <p:sp>
        <p:nvSpPr>
          <p:cNvPr id="22" name="Shape 20"/>
          <p:cNvSpPr/>
          <p:nvPr/>
        </p:nvSpPr>
        <p:spPr>
          <a:xfrm>
            <a:off x="3913287" y="3098153"/>
            <a:ext cx="66675" cy="66675"/>
          </a:xfrm>
          <a:prstGeom prst="ellipse">
            <a:avLst/>
          </a:prstGeom>
          <a:solidFill>
            <a:srgbClr val="F96015"/>
          </a:solidFill>
          <a:ln/>
        </p:spPr>
      </p:sp>
      <p:sp>
        <p:nvSpPr>
          <p:cNvPr id="23" name="Text 21"/>
          <p:cNvSpPr txBox="1"/>
          <p:nvPr/>
        </p:nvSpPr>
        <p:spPr>
          <a:xfrm>
            <a:off x="4065687" y="3040112"/>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150 g de carne-seca dessalgada, cozida e desfiada, refogada com cebola</a:t>
            </a:r>
            <a:endParaRPr lang="en-US" sz="1100" dirty="0"/>
          </a:p>
        </p:txBody>
      </p:sp>
      <p:sp>
        <p:nvSpPr>
          <p:cNvPr id="24" name="Shape 22"/>
          <p:cNvSpPr/>
          <p:nvPr/>
        </p:nvSpPr>
        <p:spPr>
          <a:xfrm>
            <a:off x="3913287" y="3536303"/>
            <a:ext cx="66675" cy="66675"/>
          </a:xfrm>
          <a:prstGeom prst="ellipse">
            <a:avLst/>
          </a:prstGeom>
          <a:solidFill>
            <a:srgbClr val="F96015"/>
          </a:solidFill>
          <a:ln/>
        </p:spPr>
      </p:sp>
      <p:sp>
        <p:nvSpPr>
          <p:cNvPr id="25" name="Text 23"/>
          <p:cNvSpPr txBox="1"/>
          <p:nvPr/>
        </p:nvSpPr>
        <p:spPr>
          <a:xfrm>
            <a:off x="4065687" y="3478262"/>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ou 150 g de muçarela com 3 colheres (sopa) de requeijão cremoso</a:t>
            </a:r>
            <a:endParaRPr lang="en-US" sz="1100" dirty="0"/>
          </a:p>
        </p:txBody>
      </p:sp>
      <p:sp>
        <p:nvSpPr>
          <p:cNvPr id="26" name="Text 24"/>
          <p:cNvSpPr txBox="1"/>
          <p:nvPr/>
        </p:nvSpPr>
        <p:spPr>
          <a:xfrm>
            <a:off x="611981" y="4256452"/>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27" name="Text 25"/>
          <p:cNvSpPr txBox="1"/>
          <p:nvPr/>
        </p:nvSpPr>
        <p:spPr>
          <a:xfrm>
            <a:off x="611981" y="4624983"/>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28" name="Text 26"/>
          <p:cNvSpPr txBox="1"/>
          <p:nvPr/>
        </p:nvSpPr>
        <p:spPr>
          <a:xfrm>
            <a:off x="897731" y="4648476"/>
            <a:ext cx="361330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Rale a mandioca crua no lado grosso do ralador.</a:t>
            </a:r>
            <a:endParaRPr lang="en-US" sz="1100" dirty="0"/>
          </a:p>
        </p:txBody>
      </p:sp>
      <p:sp>
        <p:nvSpPr>
          <p:cNvPr id="29" name="Text 27"/>
          <p:cNvSpPr txBox="1"/>
          <p:nvPr/>
        </p:nvSpPr>
        <p:spPr>
          <a:xfrm>
            <a:off x="611981" y="4863108"/>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0" name="Text 28"/>
          <p:cNvSpPr txBox="1"/>
          <p:nvPr/>
        </p:nvSpPr>
        <p:spPr>
          <a:xfrm>
            <a:off x="897731" y="4891683"/>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Coloque num pano de prato limpo e torça com força para retirar o máximo de líquido. Descarte o líquido. Este é o passo que garante a crocância.</a:t>
            </a:r>
            <a:endParaRPr lang="en-US" sz="1100" dirty="0"/>
          </a:p>
        </p:txBody>
      </p:sp>
      <p:sp>
        <p:nvSpPr>
          <p:cNvPr id="31" name="Text 29"/>
          <p:cNvSpPr txBox="1"/>
          <p:nvPr/>
        </p:nvSpPr>
        <p:spPr>
          <a:xfrm>
            <a:off x="611981" y="5310783"/>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2" name="Text 30"/>
          <p:cNvSpPr txBox="1"/>
          <p:nvPr/>
        </p:nvSpPr>
        <p:spPr>
          <a:xfrm>
            <a:off x="897731" y="5334276"/>
            <a:ext cx="352919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Tempere a mandioca ralada com sal e pimenta.</a:t>
            </a:r>
            <a:endParaRPr lang="en-US" sz="1100" dirty="0"/>
          </a:p>
        </p:txBody>
      </p:sp>
      <p:sp>
        <p:nvSpPr>
          <p:cNvPr id="33" name="Text 31"/>
          <p:cNvSpPr txBox="1"/>
          <p:nvPr/>
        </p:nvSpPr>
        <p:spPr>
          <a:xfrm>
            <a:off x="611981" y="5548908"/>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4" name="Text 32"/>
          <p:cNvSpPr txBox="1"/>
          <p:nvPr/>
        </p:nvSpPr>
        <p:spPr>
          <a:xfrm>
            <a:off x="897731" y="5577483"/>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Aqueça metade da manteiga numa frigideira antiaderente de 20 a 22 cm, em fogo médio. Espalhe metade da mandioca, pressionando com uma espátula para formar uma base compacta.</a:t>
            </a:r>
            <a:endParaRPr lang="en-US" sz="1100" dirty="0"/>
          </a:p>
        </p:txBody>
      </p:sp>
      <p:sp>
        <p:nvSpPr>
          <p:cNvPr id="35" name="Text 33"/>
          <p:cNvSpPr txBox="1"/>
          <p:nvPr/>
        </p:nvSpPr>
        <p:spPr>
          <a:xfrm>
            <a:off x="611981" y="5996583"/>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36" name="Text 34"/>
          <p:cNvSpPr txBox="1"/>
          <p:nvPr/>
        </p:nvSpPr>
        <p:spPr>
          <a:xfrm>
            <a:off x="897731" y="6025158"/>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Distribua o recheio, deixando 1 cm livre na borda. Cubra com o restante da mandioca, pressione e feche bem as bordas.</a:t>
            </a:r>
            <a:endParaRPr lang="en-US" sz="1100" dirty="0"/>
          </a:p>
        </p:txBody>
      </p:sp>
      <p:sp>
        <p:nvSpPr>
          <p:cNvPr id="37" name="Text 35"/>
          <p:cNvSpPr txBox="1"/>
          <p:nvPr/>
        </p:nvSpPr>
        <p:spPr>
          <a:xfrm>
            <a:off x="611981" y="6444258"/>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38" name="Text 36"/>
          <p:cNvSpPr txBox="1"/>
          <p:nvPr/>
        </p:nvSpPr>
        <p:spPr>
          <a:xfrm>
            <a:off x="897731" y="6472833"/>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Tampe e cozinhe em fogo médio-baixo por 12 a 15 minutos, até a base ficar dourada e firme (dá para levantar a borda com a espátula para conferir).</a:t>
            </a:r>
            <a:endParaRPr lang="en-US" sz="1100" dirty="0"/>
          </a:p>
        </p:txBody>
      </p:sp>
      <p:sp>
        <p:nvSpPr>
          <p:cNvPr id="39" name="Text 37"/>
          <p:cNvSpPr txBox="1"/>
          <p:nvPr/>
        </p:nvSpPr>
        <p:spPr>
          <a:xfrm>
            <a:off x="611981" y="6891933"/>
            <a:ext cx="220712"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7</a:t>
            </a:r>
            <a:endParaRPr lang="en-US" sz="1320" dirty="0"/>
          </a:p>
        </p:txBody>
      </p:sp>
      <p:sp>
        <p:nvSpPr>
          <p:cNvPr id="40" name="Text 38"/>
          <p:cNvSpPr txBox="1"/>
          <p:nvPr/>
        </p:nvSpPr>
        <p:spPr>
          <a:xfrm>
            <a:off x="897731" y="6920508"/>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Deslize o rösti para um prato, cubra com outro prato, vire e devolva à frigideira com o restante da manteiga. Cozinhe destampado por mais 12 a 15 minutos, até dourar.</a:t>
            </a:r>
            <a:endParaRPr lang="en-US" sz="1100" dirty="0"/>
          </a:p>
        </p:txBody>
      </p:sp>
      <p:sp>
        <p:nvSpPr>
          <p:cNvPr id="41" name="Shape 39"/>
          <p:cNvSpPr/>
          <p:nvPr/>
        </p:nvSpPr>
        <p:spPr>
          <a:xfrm>
            <a:off x="611981" y="7425333"/>
            <a:ext cx="6335911" cy="982117"/>
          </a:xfrm>
          <a:prstGeom prst="roundRect">
            <a:avLst>
              <a:gd name="adj" fmla="val 9030"/>
            </a:avLst>
          </a:prstGeom>
          <a:solidFill>
            <a:srgbClr val="FFC926"/>
          </a:solidFill>
          <a:ln/>
        </p:spPr>
      </p:sp>
      <p:sp>
        <p:nvSpPr>
          <p:cNvPr id="42" name="Text 40"/>
          <p:cNvSpPr txBox="1"/>
          <p:nvPr/>
        </p:nvSpPr>
        <p:spPr>
          <a:xfrm>
            <a:off x="764381" y="7530108"/>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3" name="Text 41"/>
          <p:cNvSpPr txBox="1"/>
          <p:nvPr/>
        </p:nvSpPr>
        <p:spPr>
          <a:xfrm>
            <a:off x="764381" y="7845475"/>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Fogo alto doura por fora e deixa a mandioca crua por dentro. O segredo é fogo médio-baixo e tempo: por fora ela fica dourada, por dentro, cremosa.</a:t>
            </a:r>
            <a:endParaRPr lang="en-US" sz="1100" dirty="0"/>
          </a:p>
        </p:txBody>
      </p:sp>
      <p:sp>
        <p:nvSpPr>
          <p:cNvPr id="44" name="Text 42"/>
          <p:cNvSpPr txBox="1"/>
          <p:nvPr/>
        </p:nvSpPr>
        <p:spPr>
          <a:xfrm>
            <a:off x="58935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6746" y="10253663"/>
            <a:ext cx="2735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38</a:t>
            </a:r>
            <a:endParaRPr lang="en-US" sz="83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611981" y="566440"/>
            <a:ext cx="26714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02</a:t>
            </a:r>
            <a:endParaRPr lang="en-US" sz="960" dirty="0"/>
          </a:p>
        </p:txBody>
      </p:sp>
      <p:sp>
        <p:nvSpPr>
          <p:cNvPr id="3" name="Text 1"/>
          <p:cNvSpPr txBox="1"/>
          <p:nvPr/>
        </p:nvSpPr>
        <p:spPr>
          <a:xfrm>
            <a:off x="611981" y="779960"/>
            <a:ext cx="273891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CALDO DE MANDIOCA</a:t>
            </a:r>
            <a:endParaRPr lang="en-US" sz="2420" dirty="0"/>
          </a:p>
        </p:txBody>
      </p:sp>
      <p:sp>
        <p:nvSpPr>
          <p:cNvPr id="4" name="Text 2"/>
          <p:cNvSpPr txBox="1"/>
          <p:nvPr/>
        </p:nvSpPr>
        <p:spPr>
          <a:xfrm>
            <a:off x="611981" y="1404171"/>
            <a:ext cx="516868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Caldo aveludado de mandioca com gengibre e bacon (ou cogumelos)</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37131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800 g de mandioca descascada, em pedaços</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643526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bacon em cubinhos (ou 200 g de cogumelos fatiados, na versão vegetariana)</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17371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picada</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picados</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306377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gengibre fresco ralado</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401371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 litro de caldo de frango (capítulo 3) ou de legumes</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355723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pimenta-do-reino e algumas gotas de limão</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9335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Cebolinha picada e azeite para finalizar</a:t>
            </a:r>
            <a:endParaRPr lang="en-US" sz="1100" dirty="0"/>
          </a:p>
        </p:txBody>
      </p:sp>
      <p:sp>
        <p:nvSpPr>
          <p:cNvPr id="22" name="Text 20"/>
          <p:cNvSpPr txBox="1"/>
          <p:nvPr/>
        </p:nvSpPr>
        <p:spPr>
          <a:xfrm>
            <a:off x="611981" y="44091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611981" y="566440"/>
            <a:ext cx="213294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02 · MANDIOCA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CALDO AVELUDADO DE MANDIOCA COM GENGIBRE E BACON (OU COGUMELOS)</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CULINÁRIA ACOLHEDORA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(abraço em forma de prato)</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20391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 min (12 min na pressão)</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01512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a 6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337131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800 g de mandioca descascada, em pedaços</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447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150 g de bacon em cubinhos (ou 200 g de cogumelos fatiados, na versão vegetariana)</a:t>
            </a:r>
            <a:endParaRPr lang="en-US" sz="1100" dirty="0"/>
          </a:p>
        </p:txBody>
      </p:sp>
      <p:sp>
        <p:nvSpPr>
          <p:cNvPr id="18" name="Shape 16"/>
          <p:cNvSpPr/>
          <p:nvPr/>
        </p:nvSpPr>
        <p:spPr>
          <a:xfrm>
            <a:off x="631031" y="3840954"/>
            <a:ext cx="66675" cy="66675"/>
          </a:xfrm>
          <a:prstGeom prst="ellipse">
            <a:avLst/>
          </a:prstGeom>
          <a:solidFill>
            <a:srgbClr val="F96015"/>
          </a:solidFill>
          <a:ln/>
        </p:spPr>
      </p:sp>
      <p:sp>
        <p:nvSpPr>
          <p:cNvPr id="19" name="Text 17"/>
          <p:cNvSpPr txBox="1"/>
          <p:nvPr/>
        </p:nvSpPr>
        <p:spPr>
          <a:xfrm>
            <a:off x="783431" y="3777831"/>
            <a:ext cx="117371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picada</a:t>
            </a:r>
            <a:endParaRPr lang="en-US" sz="1100" dirty="0"/>
          </a:p>
        </p:txBody>
      </p:sp>
      <p:sp>
        <p:nvSpPr>
          <p:cNvPr id="20" name="Shape 18"/>
          <p:cNvSpPr/>
          <p:nvPr/>
        </p:nvSpPr>
        <p:spPr>
          <a:xfrm>
            <a:off x="631031" y="4069554"/>
            <a:ext cx="66675" cy="66675"/>
          </a:xfrm>
          <a:prstGeom prst="ellipse">
            <a:avLst/>
          </a:prstGeom>
          <a:solidFill>
            <a:srgbClr val="F96015"/>
          </a:solidFill>
          <a:ln/>
        </p:spPr>
      </p:sp>
      <p:sp>
        <p:nvSpPr>
          <p:cNvPr id="21" name="Text 19"/>
          <p:cNvSpPr txBox="1"/>
          <p:nvPr/>
        </p:nvSpPr>
        <p:spPr>
          <a:xfrm>
            <a:off x="783431" y="4006431"/>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dentes de alho picados</a:t>
            </a:r>
            <a:endParaRPr lang="en-US" sz="1100" dirty="0"/>
          </a:p>
        </p:txBody>
      </p:sp>
      <p:sp>
        <p:nvSpPr>
          <p:cNvPr id="22" name="Shape 20"/>
          <p:cNvSpPr/>
          <p:nvPr/>
        </p:nvSpPr>
        <p:spPr>
          <a:xfrm>
            <a:off x="631031" y="4298154"/>
            <a:ext cx="66675" cy="66675"/>
          </a:xfrm>
          <a:prstGeom prst="ellipse">
            <a:avLst/>
          </a:prstGeom>
          <a:solidFill>
            <a:srgbClr val="F96015"/>
          </a:solidFill>
          <a:ln/>
        </p:spPr>
      </p:sp>
      <p:sp>
        <p:nvSpPr>
          <p:cNvPr id="23" name="Text 21"/>
          <p:cNvSpPr txBox="1"/>
          <p:nvPr/>
        </p:nvSpPr>
        <p:spPr>
          <a:xfrm>
            <a:off x="783431" y="4235031"/>
            <a:ext cx="306377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gengibre fresco ralado</a:t>
            </a:r>
            <a:endParaRPr lang="en-US" sz="1100" dirty="0"/>
          </a:p>
        </p:txBody>
      </p:sp>
      <p:sp>
        <p:nvSpPr>
          <p:cNvPr id="24" name="Shape 22"/>
          <p:cNvSpPr/>
          <p:nvPr/>
        </p:nvSpPr>
        <p:spPr>
          <a:xfrm>
            <a:off x="631031" y="4526754"/>
            <a:ext cx="66675" cy="66675"/>
          </a:xfrm>
          <a:prstGeom prst="ellipse">
            <a:avLst/>
          </a:prstGeom>
          <a:solidFill>
            <a:srgbClr val="F96015"/>
          </a:solidFill>
          <a:ln/>
        </p:spPr>
      </p:sp>
      <p:sp>
        <p:nvSpPr>
          <p:cNvPr id="25" name="Text 23"/>
          <p:cNvSpPr txBox="1"/>
          <p:nvPr/>
        </p:nvSpPr>
        <p:spPr>
          <a:xfrm>
            <a:off x="783431" y="446871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1,2 litro de caldo de frango (capítulo 3) ou de legumes</a:t>
            </a:r>
            <a:endParaRPr lang="en-US" sz="1100" dirty="0"/>
          </a:p>
        </p:txBody>
      </p:sp>
      <p:sp>
        <p:nvSpPr>
          <p:cNvPr id="26" name="Shape 24"/>
          <p:cNvSpPr/>
          <p:nvPr/>
        </p:nvSpPr>
        <p:spPr>
          <a:xfrm>
            <a:off x="631031" y="4964904"/>
            <a:ext cx="66675" cy="66675"/>
          </a:xfrm>
          <a:prstGeom prst="ellipse">
            <a:avLst/>
          </a:prstGeom>
          <a:solidFill>
            <a:srgbClr val="F96015"/>
          </a:solidFill>
          <a:ln/>
        </p:spPr>
      </p:sp>
      <p:sp>
        <p:nvSpPr>
          <p:cNvPr id="27" name="Text 25"/>
          <p:cNvSpPr txBox="1"/>
          <p:nvPr/>
        </p:nvSpPr>
        <p:spPr>
          <a:xfrm>
            <a:off x="783431" y="49068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Sal, pimenta-do-reino e algumas gotas de limão</a:t>
            </a:r>
            <a:endParaRPr lang="en-US" sz="1100" dirty="0"/>
          </a:p>
        </p:txBody>
      </p:sp>
      <p:sp>
        <p:nvSpPr>
          <p:cNvPr id="28" name="Shape 26"/>
          <p:cNvSpPr/>
          <p:nvPr/>
        </p:nvSpPr>
        <p:spPr>
          <a:xfrm>
            <a:off x="631031" y="5403054"/>
            <a:ext cx="66675" cy="66675"/>
          </a:xfrm>
          <a:prstGeom prst="ellipse">
            <a:avLst/>
          </a:prstGeom>
          <a:solidFill>
            <a:srgbClr val="F96015"/>
          </a:solidFill>
          <a:ln/>
        </p:spPr>
      </p:sp>
      <p:sp>
        <p:nvSpPr>
          <p:cNvPr id="29" name="Text 27"/>
          <p:cNvSpPr txBox="1"/>
          <p:nvPr/>
        </p:nvSpPr>
        <p:spPr>
          <a:xfrm>
            <a:off x="783431" y="5339931"/>
            <a:ext cx="29335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Cebolinha picada e azeite para finalizar</a:t>
            </a:r>
            <a:endParaRPr lang="en-US" sz="1100" dirty="0"/>
          </a:p>
        </p:txBody>
      </p:sp>
      <p:sp>
        <p:nvSpPr>
          <p:cNvPr id="30" name="Text 28"/>
          <p:cNvSpPr txBox="1"/>
          <p:nvPr/>
        </p:nvSpPr>
        <p:spPr>
          <a:xfrm>
            <a:off x="611981" y="578982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1" name="Text 29"/>
          <p:cNvSpPr txBox="1"/>
          <p:nvPr/>
        </p:nvSpPr>
        <p:spPr>
          <a:xfrm>
            <a:off x="611981" y="615835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2" name="Text 30"/>
          <p:cNvSpPr txBox="1"/>
          <p:nvPr/>
        </p:nvSpPr>
        <p:spPr>
          <a:xfrm>
            <a:off x="897731" y="6186934"/>
            <a:ext cx="605016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panela, doure o bacon em fogo médio até ficar crocante. Retire com escumadeira e reserve, deixando a gordura na panela. (Na versão com cogumelos, doure-os em 1 colher de manteiga e reserve.)</a:t>
            </a:r>
            <a:endParaRPr lang="en-US" sz="1100" dirty="0"/>
          </a:p>
        </p:txBody>
      </p:sp>
      <p:sp>
        <p:nvSpPr>
          <p:cNvPr id="33" name="Text 31"/>
          <p:cNvSpPr txBox="1"/>
          <p:nvPr/>
        </p:nvSpPr>
        <p:spPr>
          <a:xfrm>
            <a:off x="611981" y="68155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4" name="Text 32"/>
          <p:cNvSpPr txBox="1"/>
          <p:nvPr/>
        </p:nvSpPr>
        <p:spPr>
          <a:xfrm>
            <a:off x="897731" y="68441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Na mesma panela, refogue a cebola até ficar transparente. Junte o alho e o gengibre e refogue por 1 minuto.</a:t>
            </a:r>
            <a:endParaRPr lang="en-US" sz="1100" dirty="0"/>
          </a:p>
        </p:txBody>
      </p:sp>
      <p:sp>
        <p:nvSpPr>
          <p:cNvPr id="35" name="Text 33"/>
          <p:cNvSpPr txBox="1"/>
          <p:nvPr/>
        </p:nvSpPr>
        <p:spPr>
          <a:xfrm>
            <a:off x="611981" y="726325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6" name="Text 34"/>
          <p:cNvSpPr txBox="1"/>
          <p:nvPr/>
        </p:nvSpPr>
        <p:spPr>
          <a:xfrm>
            <a:off x="897731" y="729183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Acrescente a mandioca e o caldo. Cozinhe tampado até a mandioca começar a desmanchar: 25 a 30 minutos na panela comum ou 12 minutos na pressão.</a:t>
            </a:r>
            <a:endParaRPr lang="en-US" sz="1100" dirty="0"/>
          </a:p>
        </p:txBody>
      </p:sp>
      <p:sp>
        <p:nvSpPr>
          <p:cNvPr id="37" name="Text 35"/>
          <p:cNvSpPr txBox="1"/>
          <p:nvPr/>
        </p:nvSpPr>
        <p:spPr>
          <a:xfrm>
            <a:off x="611981" y="771093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8" name="Text 36"/>
          <p:cNvSpPr txBox="1"/>
          <p:nvPr/>
        </p:nvSpPr>
        <p:spPr>
          <a:xfrm>
            <a:off x="897731" y="773950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Retire os fios centrais da mandioca. Bata no liquidificador, em levas e com a tampa entreaberta coberta por um pano (o vapor empurra a tampa). Bata só até ficar liso.</a:t>
            </a:r>
            <a:endParaRPr lang="en-US" sz="1100" dirty="0"/>
          </a:p>
        </p:txBody>
      </p:sp>
      <p:sp>
        <p:nvSpPr>
          <p:cNvPr id="39" name="Text 37"/>
          <p:cNvSpPr txBox="1"/>
          <p:nvPr/>
        </p:nvSpPr>
        <p:spPr>
          <a:xfrm>
            <a:off x="611981" y="815860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0" name="Text 38"/>
          <p:cNvSpPr txBox="1"/>
          <p:nvPr/>
        </p:nvSpPr>
        <p:spPr>
          <a:xfrm>
            <a:off x="897731" y="81871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Volte à panela, ajuste a consistência com mais caldo, se precisar, e tempere com sal, pimenta e gotas de limão.</a:t>
            </a:r>
            <a:endParaRPr lang="en-US" sz="1100" dirty="0"/>
          </a:p>
        </p:txBody>
      </p:sp>
      <p:sp>
        <p:nvSpPr>
          <p:cNvPr id="41" name="Text 39"/>
          <p:cNvSpPr txBox="1"/>
          <p:nvPr/>
        </p:nvSpPr>
        <p:spPr>
          <a:xfrm>
            <a:off x="611981" y="860628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2" name="Text 40"/>
          <p:cNvSpPr txBox="1"/>
          <p:nvPr/>
        </p:nvSpPr>
        <p:spPr>
          <a:xfrm>
            <a:off x="897731" y="8629777"/>
            <a:ext cx="64156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Sirva com o bacon (ou os cogumelos) crocante por cima, cebolinha e um fio de azeite.</a:t>
            </a:r>
            <a:endParaRPr lang="en-US" sz="1100" dirty="0"/>
          </a:p>
        </p:txBody>
      </p:sp>
      <p:sp>
        <p:nvSpPr>
          <p:cNvPr id="43" name="Shape 41"/>
          <p:cNvSpPr/>
          <p:nvPr/>
        </p:nvSpPr>
        <p:spPr>
          <a:xfrm>
            <a:off x="611981" y="8930134"/>
            <a:ext cx="6335911" cy="982117"/>
          </a:xfrm>
          <a:prstGeom prst="roundRect">
            <a:avLst>
              <a:gd name="adj" fmla="val 9030"/>
            </a:avLst>
          </a:prstGeom>
          <a:solidFill>
            <a:srgbClr val="FFC926"/>
          </a:solidFill>
          <a:ln/>
        </p:spPr>
      </p:sp>
      <p:sp>
        <p:nvSpPr>
          <p:cNvPr id="44" name="Text 42"/>
          <p:cNvSpPr txBox="1"/>
          <p:nvPr/>
        </p:nvSpPr>
        <p:spPr>
          <a:xfrm>
            <a:off x="764381" y="903490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5" name="Text 43"/>
          <p:cNvSpPr txBox="1"/>
          <p:nvPr/>
        </p:nvSpPr>
        <p:spPr>
          <a:xfrm>
            <a:off x="764381" y="935027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gengibre e as gotas de limão no final são o que tiram o caldo do “pesado” e levam ao “aconchegante”. A crocância por cima faz contraste com o creme.</a:t>
            </a:r>
            <a:endParaRPr lang="en-US" sz="1100" dirty="0"/>
          </a:p>
        </p:txBody>
      </p:sp>
      <p:sp>
        <p:nvSpPr>
          <p:cNvPr id="46" name="Text 44"/>
          <p:cNvSpPr txBox="1"/>
          <p:nvPr/>
        </p:nvSpPr>
        <p:spPr>
          <a:xfrm>
            <a:off x="58871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7" name="Text 45"/>
          <p:cNvSpPr txBox="1"/>
          <p:nvPr/>
        </p:nvSpPr>
        <p:spPr>
          <a:xfrm>
            <a:off x="6820346" y="10253663"/>
            <a:ext cx="2799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40</a:t>
            </a:r>
            <a:endParaRPr lang="en-US" sz="83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11981" y="566440"/>
            <a:ext cx="26722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03</a:t>
            </a:r>
            <a:endParaRPr lang="en-US" sz="960" dirty="0"/>
          </a:p>
        </p:txBody>
      </p:sp>
      <p:sp>
        <p:nvSpPr>
          <p:cNvPr id="3" name="Text 1"/>
          <p:cNvSpPr txBox="1"/>
          <p:nvPr/>
        </p:nvSpPr>
        <p:spPr>
          <a:xfrm>
            <a:off x="611981" y="779960"/>
            <a:ext cx="308431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BISCOITO DE MANDIOCA</a:t>
            </a:r>
            <a:endParaRPr lang="en-US" sz="2420" dirty="0"/>
          </a:p>
        </p:txBody>
      </p:sp>
      <p:sp>
        <p:nvSpPr>
          <p:cNvPr id="4" name="Text 2"/>
          <p:cNvSpPr txBox="1"/>
          <p:nvPr/>
        </p:nvSpPr>
        <p:spPr>
          <a:xfrm>
            <a:off x="611981" y="1404171"/>
            <a:ext cx="335256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Biscoito de polvilho e mandioca de assadeira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47773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mandioca cozida, sem os fios, amassada ainda quente</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7696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120 g de polvilho azedo</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338060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80 g de queijo meia-cura ou parmesão ralado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189059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óleo</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189023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rasa de sal</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2756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Leite, se precisar</a:t>
            </a:r>
            <a:endParaRPr lang="en-US" sz="1100" dirty="0"/>
          </a:p>
        </p:txBody>
      </p:sp>
      <p:sp>
        <p:nvSpPr>
          <p:cNvPr id="20" name="Text 18"/>
          <p:cNvSpPr txBox="1"/>
          <p:nvPr/>
        </p:nvSpPr>
        <p:spPr>
          <a:xfrm>
            <a:off x="611981" y="41424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611981" y="566440"/>
            <a:ext cx="213383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03 · MANDIOCA</a:t>
            </a:r>
            <a:endParaRPr lang="en-US" sz="960" dirty="0"/>
          </a:p>
        </p:txBody>
      </p:sp>
      <p:sp>
        <p:nvSpPr>
          <p:cNvPr id="3" name="Text 1"/>
          <p:cNvSpPr txBox="1"/>
          <p:nvPr/>
        </p:nvSpPr>
        <p:spPr>
          <a:xfrm>
            <a:off x="611981" y="779960"/>
            <a:ext cx="6672798"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BISCOITO DE POLVILHO E MANDIOCA DE ASSADEIRA</a:t>
            </a:r>
            <a:endParaRPr lang="en-US" sz="2420" dirty="0"/>
          </a:p>
        </p:txBody>
      </p:sp>
      <p:sp>
        <p:nvSpPr>
          <p:cNvPr id="4" name="Text 2"/>
          <p:cNvSpPr txBox="1"/>
          <p:nvPr/>
        </p:nvSpPr>
        <p:spPr>
          <a:xfrm>
            <a:off x="611981" y="1275904"/>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SURPRESA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(rápido para o lanche da tarde)</a:t>
            </a:r>
            <a:endParaRPr lang="en-US" sz="1100" dirty="0"/>
          </a:p>
        </p:txBody>
      </p:sp>
      <p:sp>
        <p:nvSpPr>
          <p:cNvPr id="5" name="Shape 3"/>
          <p:cNvSpPr/>
          <p:nvPr/>
        </p:nvSpPr>
        <p:spPr>
          <a:xfrm>
            <a:off x="611981" y="1576239"/>
            <a:ext cx="6335911" cy="0"/>
          </a:xfrm>
          <a:prstGeom prst="line">
            <a:avLst/>
          </a:prstGeom>
          <a:noFill/>
          <a:ln w="19050">
            <a:solidFill>
              <a:srgbClr val="18542A"/>
            </a:solidFill>
            <a:prstDash val="solid"/>
          </a:ln>
        </p:spPr>
      </p:sp>
      <p:sp>
        <p:nvSpPr>
          <p:cNvPr id="6" name="Shape 4"/>
          <p:cNvSpPr/>
          <p:nvPr/>
        </p:nvSpPr>
        <p:spPr>
          <a:xfrm>
            <a:off x="611981" y="2101900"/>
            <a:ext cx="6335911" cy="0"/>
          </a:xfrm>
          <a:prstGeom prst="line">
            <a:avLst/>
          </a:prstGeom>
          <a:noFill/>
          <a:ln w="19050">
            <a:solidFill>
              <a:srgbClr val="18542A"/>
            </a:solidFill>
            <a:prstDash val="solid"/>
          </a:ln>
        </p:spPr>
      </p:sp>
      <p:sp>
        <p:nvSpPr>
          <p:cNvPr id="7" name="Text 5"/>
          <p:cNvSpPr txBox="1"/>
          <p:nvPr/>
        </p:nvSpPr>
        <p:spPr>
          <a:xfrm>
            <a:off x="611981" y="1661964"/>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1822527"/>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 min</a:t>
            </a:r>
            <a:endParaRPr lang="en-US" sz="1100" dirty="0"/>
          </a:p>
        </p:txBody>
      </p:sp>
      <p:sp>
        <p:nvSpPr>
          <p:cNvPr id="9" name="Text 7"/>
          <p:cNvSpPr txBox="1"/>
          <p:nvPr/>
        </p:nvSpPr>
        <p:spPr>
          <a:xfrm>
            <a:off x="2761952" y="1661964"/>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1822527"/>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 min</a:t>
            </a:r>
            <a:endParaRPr lang="en-US" sz="1100" dirty="0"/>
          </a:p>
        </p:txBody>
      </p:sp>
      <p:sp>
        <p:nvSpPr>
          <p:cNvPr id="11" name="Text 9"/>
          <p:cNvSpPr txBox="1"/>
          <p:nvPr/>
        </p:nvSpPr>
        <p:spPr>
          <a:xfrm>
            <a:off x="4912072" y="1661964"/>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1822527"/>
            <a:ext cx="157376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cerca de 30 biscoitos</a:t>
            </a:r>
            <a:endParaRPr lang="en-US" sz="1100" dirty="0"/>
          </a:p>
        </p:txBody>
      </p:sp>
      <p:sp>
        <p:nvSpPr>
          <p:cNvPr id="13" name="Text 11"/>
          <p:cNvSpPr txBox="1"/>
          <p:nvPr/>
        </p:nvSpPr>
        <p:spPr>
          <a:xfrm>
            <a:off x="611981" y="2365739"/>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2820886"/>
            <a:ext cx="66675" cy="66675"/>
          </a:xfrm>
          <a:prstGeom prst="ellipse">
            <a:avLst/>
          </a:prstGeom>
          <a:solidFill>
            <a:srgbClr val="F96015"/>
          </a:solidFill>
          <a:ln/>
        </p:spPr>
      </p:sp>
      <p:sp>
        <p:nvSpPr>
          <p:cNvPr id="15" name="Text 13"/>
          <p:cNvSpPr txBox="1"/>
          <p:nvPr/>
        </p:nvSpPr>
        <p:spPr>
          <a:xfrm>
            <a:off x="783431" y="2762845"/>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300 g de mandioca cozida, sem os fios, amassada ainda quente</a:t>
            </a:r>
            <a:endParaRPr lang="en-US" sz="1100" dirty="0"/>
          </a:p>
        </p:txBody>
      </p:sp>
      <p:sp>
        <p:nvSpPr>
          <p:cNvPr id="16" name="Shape 14"/>
          <p:cNvSpPr/>
          <p:nvPr/>
        </p:nvSpPr>
        <p:spPr>
          <a:xfrm>
            <a:off x="631031" y="3259036"/>
            <a:ext cx="66675" cy="66675"/>
          </a:xfrm>
          <a:prstGeom prst="ellipse">
            <a:avLst/>
          </a:prstGeom>
          <a:solidFill>
            <a:srgbClr val="F96015"/>
          </a:solidFill>
          <a:ln/>
        </p:spPr>
      </p:sp>
      <p:sp>
        <p:nvSpPr>
          <p:cNvPr id="17" name="Text 15"/>
          <p:cNvSpPr txBox="1"/>
          <p:nvPr/>
        </p:nvSpPr>
        <p:spPr>
          <a:xfrm>
            <a:off x="783431" y="3195913"/>
            <a:ext cx="176968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120 g de polvilho azedo</a:t>
            </a:r>
            <a:endParaRPr lang="en-US" sz="1100" dirty="0"/>
          </a:p>
        </p:txBody>
      </p:sp>
      <p:sp>
        <p:nvSpPr>
          <p:cNvPr id="18" name="Shape 16"/>
          <p:cNvSpPr/>
          <p:nvPr/>
        </p:nvSpPr>
        <p:spPr>
          <a:xfrm>
            <a:off x="631031" y="3487636"/>
            <a:ext cx="66675" cy="66675"/>
          </a:xfrm>
          <a:prstGeom prst="ellipse">
            <a:avLst/>
          </a:prstGeom>
          <a:solidFill>
            <a:srgbClr val="F96015"/>
          </a:solidFill>
          <a:ln/>
        </p:spPr>
      </p:sp>
      <p:sp>
        <p:nvSpPr>
          <p:cNvPr id="19" name="Text 17"/>
          <p:cNvSpPr txBox="1"/>
          <p:nvPr/>
        </p:nvSpPr>
        <p:spPr>
          <a:xfrm>
            <a:off x="783431" y="3424513"/>
            <a:ext cx="338060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80 g de queijo meia-cura ou parmesão ralado</a:t>
            </a:r>
            <a:endParaRPr lang="en-US" sz="1100" dirty="0"/>
          </a:p>
        </p:txBody>
      </p:sp>
      <p:sp>
        <p:nvSpPr>
          <p:cNvPr id="20" name="Shape 18"/>
          <p:cNvSpPr/>
          <p:nvPr/>
        </p:nvSpPr>
        <p:spPr>
          <a:xfrm>
            <a:off x="631031" y="3716236"/>
            <a:ext cx="66675" cy="66675"/>
          </a:xfrm>
          <a:prstGeom prst="ellipse">
            <a:avLst/>
          </a:prstGeom>
          <a:solidFill>
            <a:srgbClr val="F96015"/>
          </a:solidFill>
          <a:ln/>
        </p:spPr>
      </p:sp>
      <p:sp>
        <p:nvSpPr>
          <p:cNvPr id="21" name="Text 19"/>
          <p:cNvSpPr txBox="1"/>
          <p:nvPr/>
        </p:nvSpPr>
        <p:spPr>
          <a:xfrm>
            <a:off x="783431" y="3653113"/>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22" name="Shape 20"/>
          <p:cNvSpPr/>
          <p:nvPr/>
        </p:nvSpPr>
        <p:spPr>
          <a:xfrm>
            <a:off x="631031" y="3944836"/>
            <a:ext cx="66675" cy="66675"/>
          </a:xfrm>
          <a:prstGeom prst="ellipse">
            <a:avLst/>
          </a:prstGeom>
          <a:solidFill>
            <a:srgbClr val="F96015"/>
          </a:solidFill>
          <a:ln/>
        </p:spPr>
      </p:sp>
      <p:sp>
        <p:nvSpPr>
          <p:cNvPr id="23" name="Text 21"/>
          <p:cNvSpPr txBox="1"/>
          <p:nvPr/>
        </p:nvSpPr>
        <p:spPr>
          <a:xfrm>
            <a:off x="783431" y="3881713"/>
            <a:ext cx="189059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óleo</a:t>
            </a:r>
            <a:endParaRPr lang="en-US" sz="1100" dirty="0"/>
          </a:p>
        </p:txBody>
      </p:sp>
      <p:sp>
        <p:nvSpPr>
          <p:cNvPr id="24" name="Shape 22"/>
          <p:cNvSpPr/>
          <p:nvPr/>
        </p:nvSpPr>
        <p:spPr>
          <a:xfrm>
            <a:off x="631031" y="4173436"/>
            <a:ext cx="66675" cy="66675"/>
          </a:xfrm>
          <a:prstGeom prst="ellipse">
            <a:avLst/>
          </a:prstGeom>
          <a:solidFill>
            <a:srgbClr val="F96015"/>
          </a:solidFill>
          <a:ln/>
        </p:spPr>
      </p:sp>
      <p:sp>
        <p:nvSpPr>
          <p:cNvPr id="25" name="Text 23"/>
          <p:cNvSpPr txBox="1"/>
          <p:nvPr/>
        </p:nvSpPr>
        <p:spPr>
          <a:xfrm>
            <a:off x="783431" y="4110313"/>
            <a:ext cx="189023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rasa de sal</a:t>
            </a:r>
            <a:endParaRPr lang="en-US" sz="1100" dirty="0"/>
          </a:p>
        </p:txBody>
      </p:sp>
      <p:sp>
        <p:nvSpPr>
          <p:cNvPr id="26" name="Shape 24"/>
          <p:cNvSpPr/>
          <p:nvPr/>
        </p:nvSpPr>
        <p:spPr>
          <a:xfrm>
            <a:off x="631031" y="4402036"/>
            <a:ext cx="66675" cy="66675"/>
          </a:xfrm>
          <a:prstGeom prst="ellipse">
            <a:avLst/>
          </a:prstGeom>
          <a:solidFill>
            <a:srgbClr val="F96015"/>
          </a:solidFill>
          <a:ln/>
        </p:spPr>
      </p:sp>
      <p:sp>
        <p:nvSpPr>
          <p:cNvPr id="27" name="Text 25"/>
          <p:cNvSpPr txBox="1"/>
          <p:nvPr/>
        </p:nvSpPr>
        <p:spPr>
          <a:xfrm>
            <a:off x="783431" y="4338913"/>
            <a:ext cx="12756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Leite, se precisar</a:t>
            </a:r>
            <a:endParaRPr lang="en-US" sz="1100" dirty="0"/>
          </a:p>
        </p:txBody>
      </p:sp>
      <p:sp>
        <p:nvSpPr>
          <p:cNvPr id="28" name="Text 26"/>
          <p:cNvSpPr txBox="1"/>
          <p:nvPr/>
        </p:nvSpPr>
        <p:spPr>
          <a:xfrm>
            <a:off x="611981" y="4788810"/>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29" name="Text 27"/>
          <p:cNvSpPr txBox="1"/>
          <p:nvPr/>
        </p:nvSpPr>
        <p:spPr>
          <a:xfrm>
            <a:off x="611981" y="5157341"/>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0" name="Text 28"/>
          <p:cNvSpPr txBox="1"/>
          <p:nvPr/>
        </p:nvSpPr>
        <p:spPr>
          <a:xfrm>
            <a:off x="897731" y="5180834"/>
            <a:ext cx="536567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Preaqueça o forno a 200 °C e forre uma assadeira com papel-manteiga.</a:t>
            </a:r>
            <a:endParaRPr lang="en-US" sz="1100" dirty="0"/>
          </a:p>
        </p:txBody>
      </p:sp>
      <p:sp>
        <p:nvSpPr>
          <p:cNvPr id="31" name="Text 29"/>
          <p:cNvSpPr txBox="1"/>
          <p:nvPr/>
        </p:nvSpPr>
        <p:spPr>
          <a:xfrm>
            <a:off x="611981" y="5395466"/>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2" name="Text 30"/>
          <p:cNvSpPr txBox="1"/>
          <p:nvPr/>
        </p:nvSpPr>
        <p:spPr>
          <a:xfrm>
            <a:off x="897731" y="5418959"/>
            <a:ext cx="647188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Amasse a mandioca ainda quente até virar um purê liso. Junte o óleo e o sal e misture.</a:t>
            </a:r>
            <a:endParaRPr lang="en-US" sz="1100" dirty="0"/>
          </a:p>
        </p:txBody>
      </p:sp>
      <p:sp>
        <p:nvSpPr>
          <p:cNvPr id="33" name="Text 31"/>
          <p:cNvSpPr txBox="1"/>
          <p:nvPr/>
        </p:nvSpPr>
        <p:spPr>
          <a:xfrm>
            <a:off x="611981" y="5633591"/>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4" name="Text 32"/>
          <p:cNvSpPr txBox="1"/>
          <p:nvPr/>
        </p:nvSpPr>
        <p:spPr>
          <a:xfrm>
            <a:off x="897731" y="566216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Acrescente o polvilho e misture bem (o calor da mandioca escalda o polvilho e deixa a massa elástica).</a:t>
            </a:r>
            <a:endParaRPr lang="en-US" sz="1100" dirty="0"/>
          </a:p>
        </p:txBody>
      </p:sp>
      <p:sp>
        <p:nvSpPr>
          <p:cNvPr id="35" name="Text 33"/>
          <p:cNvSpPr txBox="1"/>
          <p:nvPr/>
        </p:nvSpPr>
        <p:spPr>
          <a:xfrm>
            <a:off x="611981" y="6081266"/>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6" name="Text 34"/>
          <p:cNvSpPr txBox="1"/>
          <p:nvPr/>
        </p:nvSpPr>
        <p:spPr>
          <a:xfrm>
            <a:off x="897731" y="610984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Junte o ovo e o queijo e amasse até formar uma massa macia que não grude nas mãos. Se ficar seca, pingue leite, uma colher por vez.</a:t>
            </a:r>
            <a:endParaRPr lang="en-US" sz="1100" dirty="0"/>
          </a:p>
        </p:txBody>
      </p:sp>
      <p:sp>
        <p:nvSpPr>
          <p:cNvPr id="37" name="Text 35"/>
          <p:cNvSpPr txBox="1"/>
          <p:nvPr/>
        </p:nvSpPr>
        <p:spPr>
          <a:xfrm>
            <a:off x="611981" y="6528941"/>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38" name="Text 36"/>
          <p:cNvSpPr txBox="1"/>
          <p:nvPr/>
        </p:nvSpPr>
        <p:spPr>
          <a:xfrm>
            <a:off x="897731" y="6552434"/>
            <a:ext cx="627667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Modele palitos de 8 cm ou bolinhas e disponha na assadeira com espaço entre eles.</a:t>
            </a:r>
            <a:endParaRPr lang="en-US" sz="1100" dirty="0"/>
          </a:p>
        </p:txBody>
      </p:sp>
      <p:sp>
        <p:nvSpPr>
          <p:cNvPr id="39" name="Text 37"/>
          <p:cNvSpPr txBox="1"/>
          <p:nvPr/>
        </p:nvSpPr>
        <p:spPr>
          <a:xfrm>
            <a:off x="611981" y="6767066"/>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0" name="Text 38"/>
          <p:cNvSpPr txBox="1"/>
          <p:nvPr/>
        </p:nvSpPr>
        <p:spPr>
          <a:xfrm>
            <a:off x="897731" y="6790559"/>
            <a:ext cx="630400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Asse por 25 a 30 minutos, até dourarem. Não abra o forno nos primeiros 15 minutos.</a:t>
            </a:r>
            <a:endParaRPr lang="en-US" sz="1100" dirty="0"/>
          </a:p>
        </p:txBody>
      </p:sp>
      <p:sp>
        <p:nvSpPr>
          <p:cNvPr id="41" name="Shape 39"/>
          <p:cNvSpPr/>
          <p:nvPr/>
        </p:nvSpPr>
        <p:spPr>
          <a:xfrm>
            <a:off x="611981" y="7090916"/>
            <a:ext cx="6335911" cy="982117"/>
          </a:xfrm>
          <a:prstGeom prst="roundRect">
            <a:avLst>
              <a:gd name="adj" fmla="val 9030"/>
            </a:avLst>
          </a:prstGeom>
          <a:solidFill>
            <a:srgbClr val="FFC926"/>
          </a:solidFill>
          <a:ln/>
        </p:spPr>
      </p:sp>
      <p:sp>
        <p:nvSpPr>
          <p:cNvPr id="42" name="Text 40"/>
          <p:cNvSpPr txBox="1"/>
          <p:nvPr/>
        </p:nvSpPr>
        <p:spPr>
          <a:xfrm>
            <a:off x="764381" y="7195691"/>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3" name="Text 41"/>
          <p:cNvSpPr txBox="1"/>
          <p:nvPr/>
        </p:nvSpPr>
        <p:spPr>
          <a:xfrm>
            <a:off x="764381" y="7511058"/>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É um ótimo destino para a mandioca que sobrou do almoço. A massa crua pode ser congelada já modelada e assada direto do freezer (acrescente 5 a 10 minutos).</a:t>
            </a:r>
            <a:endParaRPr lang="en-US" sz="1100" dirty="0"/>
          </a:p>
        </p:txBody>
      </p:sp>
      <p:sp>
        <p:nvSpPr>
          <p:cNvPr id="44" name="Text 42"/>
          <p:cNvSpPr txBox="1"/>
          <p:nvPr/>
        </p:nvSpPr>
        <p:spPr>
          <a:xfrm>
            <a:off x="5888682"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1835" y="10253663"/>
            <a:ext cx="27845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42</a:t>
            </a:r>
            <a:endParaRPr lang="en-US" sz="83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611981" y="566440"/>
            <a:ext cx="1906131"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PULO DO CHEF · MANDIOCA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MANDIOCA QUE NÃO COZINHA (OU QUE DESMANCHA O RÖSTI)</a:t>
            </a:r>
            <a:endParaRPr lang="en-US" sz="2420" dirty="0"/>
          </a:p>
        </p:txBody>
      </p:sp>
      <p:sp>
        <p:nvSpPr>
          <p:cNvPr id="4" name="Text 2"/>
          <p:cNvSpPr txBox="1"/>
          <p:nvPr/>
        </p:nvSpPr>
        <p:spPr>
          <a:xfrm>
            <a:off x="611981" y="1731136"/>
            <a:ext cx="67448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ERRO</a:t>
            </a:r>
            <a:endParaRPr lang="en-US" sz="1650" dirty="0"/>
          </a:p>
        </p:txBody>
      </p:sp>
      <p:sp>
        <p:nvSpPr>
          <p:cNvPr id="5" name="Text 3"/>
          <p:cNvSpPr txBox="1"/>
          <p:nvPr/>
        </p:nvSpPr>
        <p:spPr>
          <a:xfrm>
            <a:off x="611981" y="2128242"/>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Comprar sem critério, cortar em pedaços de tamanhos diferentes e insistir no fogo por horas. E, no rösti, ralar e levar direto para a frigideira, com toda a água da raiz.</a:t>
            </a:r>
            <a:endParaRPr lang="en-US" sz="1100" dirty="0"/>
          </a:p>
        </p:txBody>
      </p:sp>
      <p:sp>
        <p:nvSpPr>
          <p:cNvPr id="6" name="Text 4"/>
          <p:cNvSpPr txBox="1"/>
          <p:nvPr/>
        </p:nvSpPr>
        <p:spPr>
          <a:xfrm>
            <a:off x="611981" y="2782607"/>
            <a:ext cx="91440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 TÉCNICA</a:t>
            </a:r>
            <a:endParaRPr lang="en-US" sz="1650" dirty="0"/>
          </a:p>
        </p:txBody>
      </p:sp>
      <p:sp>
        <p:nvSpPr>
          <p:cNvPr id="7" name="Text 5"/>
          <p:cNvSpPr txBox="1"/>
          <p:nvPr/>
        </p:nvSpPr>
        <p:spPr>
          <a:xfrm>
            <a:off x="611981" y="3151138"/>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8" name="Text 6"/>
          <p:cNvSpPr txBox="1"/>
          <p:nvPr/>
        </p:nvSpPr>
        <p:spPr>
          <a:xfrm>
            <a:off x="897731" y="3179713"/>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Escolha bem: ponta que estala e polpa uniforme. Raiz velha ou fibrosa não amolece, não importa o tempo.</a:t>
            </a:r>
            <a:endParaRPr lang="en-US" sz="1100" dirty="0"/>
          </a:p>
        </p:txBody>
      </p:sp>
      <p:sp>
        <p:nvSpPr>
          <p:cNvPr id="9" name="Text 7"/>
          <p:cNvSpPr txBox="1"/>
          <p:nvPr/>
        </p:nvSpPr>
        <p:spPr>
          <a:xfrm>
            <a:off x="611981" y="3598813"/>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10" name="Text 8"/>
          <p:cNvSpPr txBox="1"/>
          <p:nvPr/>
        </p:nvSpPr>
        <p:spPr>
          <a:xfrm>
            <a:off x="897731" y="3622306"/>
            <a:ext cx="71042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Congele crua: os cristais de gelo rompem as fibras e ela cozinha mais rápido e fica mais macia.</a:t>
            </a:r>
            <a:endParaRPr lang="en-US" sz="1100" dirty="0"/>
          </a:p>
        </p:txBody>
      </p:sp>
      <p:sp>
        <p:nvSpPr>
          <p:cNvPr id="11" name="Text 9"/>
          <p:cNvSpPr txBox="1"/>
          <p:nvPr/>
        </p:nvSpPr>
        <p:spPr>
          <a:xfrm>
            <a:off x="611981" y="3836938"/>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2" name="Text 10"/>
          <p:cNvSpPr txBox="1"/>
          <p:nvPr/>
        </p:nvSpPr>
        <p:spPr>
          <a:xfrm>
            <a:off x="897731" y="3860431"/>
            <a:ext cx="44612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Pedaços iguais e panela de pressão quando a pressa bater.</a:t>
            </a:r>
            <a:endParaRPr lang="en-US" sz="1100" dirty="0"/>
          </a:p>
        </p:txBody>
      </p:sp>
      <p:sp>
        <p:nvSpPr>
          <p:cNvPr id="13" name="Text 11"/>
          <p:cNvSpPr txBox="1"/>
          <p:nvPr/>
        </p:nvSpPr>
        <p:spPr>
          <a:xfrm>
            <a:off x="611981" y="4075063"/>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4" name="Text 12"/>
          <p:cNvSpPr txBox="1"/>
          <p:nvPr/>
        </p:nvSpPr>
        <p:spPr>
          <a:xfrm>
            <a:off x="897731" y="4103638"/>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Esprema a mandioca ralada no pano: menos água, mais crocância e um rösti que não desmancha.</a:t>
            </a:r>
            <a:endParaRPr lang="en-US" sz="1100" dirty="0"/>
          </a:p>
        </p:txBody>
      </p:sp>
      <p:sp>
        <p:nvSpPr>
          <p:cNvPr id="15" name="Text 13"/>
          <p:cNvSpPr txBox="1"/>
          <p:nvPr/>
        </p:nvSpPr>
        <p:spPr>
          <a:xfrm>
            <a:off x="611981" y="4522738"/>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16" name="Text 14"/>
          <p:cNvSpPr txBox="1"/>
          <p:nvPr/>
        </p:nvSpPr>
        <p:spPr>
          <a:xfrm>
            <a:off x="897731" y="4546231"/>
            <a:ext cx="506634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Não amoleceu? Não jogue fora: ela ainda serve para o caldo batido.</a:t>
            </a:r>
            <a:endParaRPr lang="en-US" sz="1100" dirty="0"/>
          </a:p>
        </p:txBody>
      </p:sp>
      <p:sp>
        <p:nvSpPr>
          <p:cNvPr id="17" name="Text 15"/>
          <p:cNvSpPr txBox="1"/>
          <p:nvPr/>
        </p:nvSpPr>
        <p:spPr>
          <a:xfrm>
            <a:off x="611981" y="4996127"/>
            <a:ext cx="13105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NÃO TEM ISSO?</a:t>
            </a:r>
            <a:endParaRPr lang="en-US" sz="1650" dirty="0"/>
          </a:p>
        </p:txBody>
      </p:sp>
      <p:sp>
        <p:nvSpPr>
          <p:cNvPr id="18" name="Shape 16"/>
          <p:cNvSpPr/>
          <p:nvPr/>
        </p:nvSpPr>
        <p:spPr>
          <a:xfrm>
            <a:off x="611981" y="5364659"/>
            <a:ext cx="2280791" cy="298996"/>
          </a:xfrm>
          <a:prstGeom prst="rect">
            <a:avLst/>
          </a:prstGeom>
          <a:solidFill>
            <a:srgbClr val="18542A"/>
          </a:solidFill>
          <a:ln/>
        </p:spPr>
      </p:sp>
      <p:sp>
        <p:nvSpPr>
          <p:cNvPr id="19" name="Text 17"/>
          <p:cNvSpPr txBox="1"/>
          <p:nvPr/>
        </p:nvSpPr>
        <p:spPr>
          <a:xfrm>
            <a:off x="707231" y="5431334"/>
            <a:ext cx="10208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SE NÃO TIVER…</a:t>
            </a:r>
            <a:endParaRPr lang="en-US" sz="960" dirty="0"/>
          </a:p>
        </p:txBody>
      </p:sp>
      <p:sp>
        <p:nvSpPr>
          <p:cNvPr id="20" name="Shape 18"/>
          <p:cNvSpPr/>
          <p:nvPr/>
        </p:nvSpPr>
        <p:spPr>
          <a:xfrm>
            <a:off x="2892772" y="5364659"/>
            <a:ext cx="4055120" cy="298996"/>
          </a:xfrm>
          <a:prstGeom prst="rect">
            <a:avLst/>
          </a:prstGeom>
          <a:solidFill>
            <a:srgbClr val="18542A"/>
          </a:solidFill>
          <a:ln/>
        </p:spPr>
      </p:sp>
      <p:sp>
        <p:nvSpPr>
          <p:cNvPr id="21" name="Text 19"/>
          <p:cNvSpPr txBox="1"/>
          <p:nvPr/>
        </p:nvSpPr>
        <p:spPr>
          <a:xfrm>
            <a:off x="2988022" y="5431334"/>
            <a:ext cx="4582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USE…</a:t>
            </a:r>
            <a:endParaRPr lang="en-US" sz="960" dirty="0"/>
          </a:p>
        </p:txBody>
      </p:sp>
      <p:sp>
        <p:nvSpPr>
          <p:cNvPr id="22" name="Shape 20"/>
          <p:cNvSpPr/>
          <p:nvPr/>
        </p:nvSpPr>
        <p:spPr>
          <a:xfrm>
            <a:off x="611981" y="6220867"/>
            <a:ext cx="2280791" cy="0"/>
          </a:xfrm>
          <a:prstGeom prst="line">
            <a:avLst/>
          </a:prstGeom>
          <a:noFill/>
          <a:ln w="9525">
            <a:solidFill>
              <a:srgbClr val="EADCB8"/>
            </a:solidFill>
            <a:prstDash val="solid"/>
          </a:ln>
        </p:spPr>
      </p:sp>
      <p:sp>
        <p:nvSpPr>
          <p:cNvPr id="23" name="Text 21"/>
          <p:cNvSpPr txBox="1"/>
          <p:nvPr/>
        </p:nvSpPr>
        <p:spPr>
          <a:xfrm>
            <a:off x="707231" y="5739854"/>
            <a:ext cx="103780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Mandioca fresca</a:t>
            </a:r>
            <a:endParaRPr lang="en-US" sz="1170" dirty="0"/>
          </a:p>
        </p:txBody>
      </p:sp>
      <p:sp>
        <p:nvSpPr>
          <p:cNvPr id="24" name="Shape 22"/>
          <p:cNvSpPr/>
          <p:nvPr/>
        </p:nvSpPr>
        <p:spPr>
          <a:xfrm>
            <a:off x="2892772" y="6220867"/>
            <a:ext cx="4055120" cy="0"/>
          </a:xfrm>
          <a:prstGeom prst="line">
            <a:avLst/>
          </a:prstGeom>
          <a:noFill/>
          <a:ln w="9525">
            <a:solidFill>
              <a:srgbClr val="EADCB8"/>
            </a:solidFill>
            <a:prstDash val="solid"/>
          </a:ln>
        </p:spPr>
      </p:sp>
      <p:sp>
        <p:nvSpPr>
          <p:cNvPr id="25" name="Text 23"/>
          <p:cNvSpPr txBox="1"/>
          <p:nvPr/>
        </p:nvSpPr>
        <p:spPr>
          <a:xfrm>
            <a:off x="2988022" y="5758904"/>
            <a:ext cx="3864620"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Mandioca congelada já descascada (funciona muito bem nas três receitas).</a:t>
            </a:r>
            <a:endParaRPr lang="en-US" sz="1100" dirty="0"/>
          </a:p>
        </p:txBody>
      </p:sp>
      <p:sp>
        <p:nvSpPr>
          <p:cNvPr id="26" name="Shape 24"/>
          <p:cNvSpPr/>
          <p:nvPr/>
        </p:nvSpPr>
        <p:spPr>
          <a:xfrm>
            <a:off x="611981" y="6573292"/>
            <a:ext cx="2280791" cy="0"/>
          </a:xfrm>
          <a:prstGeom prst="line">
            <a:avLst/>
          </a:prstGeom>
          <a:noFill/>
          <a:ln w="9525">
            <a:solidFill>
              <a:srgbClr val="EADCB8"/>
            </a:solidFill>
            <a:prstDash val="solid"/>
          </a:ln>
        </p:spPr>
      </p:sp>
      <p:sp>
        <p:nvSpPr>
          <p:cNvPr id="27" name="Text 25"/>
          <p:cNvSpPr txBox="1"/>
          <p:nvPr/>
        </p:nvSpPr>
        <p:spPr>
          <a:xfrm>
            <a:off x="707231" y="6301829"/>
            <a:ext cx="477292"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Bacon</a:t>
            </a:r>
            <a:endParaRPr lang="en-US" sz="1170" dirty="0"/>
          </a:p>
        </p:txBody>
      </p:sp>
      <p:sp>
        <p:nvSpPr>
          <p:cNvPr id="28" name="Shape 26"/>
          <p:cNvSpPr/>
          <p:nvPr/>
        </p:nvSpPr>
        <p:spPr>
          <a:xfrm>
            <a:off x="2892772" y="6573292"/>
            <a:ext cx="4055120" cy="0"/>
          </a:xfrm>
          <a:prstGeom prst="line">
            <a:avLst/>
          </a:prstGeom>
          <a:noFill/>
          <a:ln w="9525">
            <a:solidFill>
              <a:srgbClr val="EADCB8"/>
            </a:solidFill>
            <a:prstDash val="solid"/>
          </a:ln>
        </p:spPr>
      </p:sp>
      <p:sp>
        <p:nvSpPr>
          <p:cNvPr id="29" name="Text 27"/>
          <p:cNvSpPr txBox="1"/>
          <p:nvPr/>
        </p:nvSpPr>
        <p:spPr>
          <a:xfrm>
            <a:off x="2988022" y="6315797"/>
            <a:ext cx="427464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Linguiça calabresa em cubinhos ou cogumelos dourados.</a:t>
            </a:r>
            <a:endParaRPr lang="en-US" sz="1100" dirty="0"/>
          </a:p>
        </p:txBody>
      </p:sp>
      <p:sp>
        <p:nvSpPr>
          <p:cNvPr id="30" name="Shape 28"/>
          <p:cNvSpPr/>
          <p:nvPr/>
        </p:nvSpPr>
        <p:spPr>
          <a:xfrm>
            <a:off x="611981" y="6925717"/>
            <a:ext cx="2280791" cy="0"/>
          </a:xfrm>
          <a:prstGeom prst="line">
            <a:avLst/>
          </a:prstGeom>
          <a:noFill/>
          <a:ln w="9525">
            <a:solidFill>
              <a:srgbClr val="EADCB8"/>
            </a:solidFill>
            <a:prstDash val="solid"/>
          </a:ln>
        </p:spPr>
      </p:sp>
      <p:sp>
        <p:nvSpPr>
          <p:cNvPr id="31" name="Text 29"/>
          <p:cNvSpPr txBox="1"/>
          <p:nvPr/>
        </p:nvSpPr>
        <p:spPr>
          <a:xfrm>
            <a:off x="707231" y="6654254"/>
            <a:ext cx="906959"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Polvilho azedo</a:t>
            </a:r>
            <a:endParaRPr lang="en-US" sz="1170" dirty="0"/>
          </a:p>
        </p:txBody>
      </p:sp>
      <p:sp>
        <p:nvSpPr>
          <p:cNvPr id="32" name="Shape 30"/>
          <p:cNvSpPr/>
          <p:nvPr/>
        </p:nvSpPr>
        <p:spPr>
          <a:xfrm>
            <a:off x="2892772" y="6925717"/>
            <a:ext cx="4055120" cy="0"/>
          </a:xfrm>
          <a:prstGeom prst="line">
            <a:avLst/>
          </a:prstGeom>
          <a:noFill/>
          <a:ln w="9525">
            <a:solidFill>
              <a:srgbClr val="EADCB8"/>
            </a:solidFill>
            <a:prstDash val="solid"/>
          </a:ln>
        </p:spPr>
      </p:sp>
      <p:sp>
        <p:nvSpPr>
          <p:cNvPr id="33" name="Text 31"/>
          <p:cNvSpPr txBox="1"/>
          <p:nvPr/>
        </p:nvSpPr>
        <p:spPr>
          <a:xfrm>
            <a:off x="2988022" y="6668222"/>
            <a:ext cx="436697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Polvilho doce (o biscoito fica menos aerado e mais macio).</a:t>
            </a:r>
            <a:endParaRPr lang="en-US" sz="1100" dirty="0"/>
          </a:p>
        </p:txBody>
      </p:sp>
      <p:sp>
        <p:nvSpPr>
          <p:cNvPr id="34" name="Shape 32"/>
          <p:cNvSpPr/>
          <p:nvPr/>
        </p:nvSpPr>
        <p:spPr>
          <a:xfrm>
            <a:off x="611981" y="7278142"/>
            <a:ext cx="2280791" cy="0"/>
          </a:xfrm>
          <a:prstGeom prst="line">
            <a:avLst/>
          </a:prstGeom>
          <a:noFill/>
          <a:ln w="9525">
            <a:solidFill>
              <a:srgbClr val="EADCB8"/>
            </a:solidFill>
            <a:prstDash val="solid"/>
          </a:ln>
        </p:spPr>
      </p:sp>
      <p:sp>
        <p:nvSpPr>
          <p:cNvPr id="35" name="Text 33"/>
          <p:cNvSpPr txBox="1"/>
          <p:nvPr/>
        </p:nvSpPr>
        <p:spPr>
          <a:xfrm>
            <a:off x="707231" y="7006679"/>
            <a:ext cx="1075313"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Queijo meia-cura</a:t>
            </a:r>
            <a:endParaRPr lang="en-US" sz="1170" dirty="0"/>
          </a:p>
        </p:txBody>
      </p:sp>
      <p:sp>
        <p:nvSpPr>
          <p:cNvPr id="36" name="Shape 34"/>
          <p:cNvSpPr/>
          <p:nvPr/>
        </p:nvSpPr>
        <p:spPr>
          <a:xfrm>
            <a:off x="2892772" y="7278142"/>
            <a:ext cx="4055120" cy="0"/>
          </a:xfrm>
          <a:prstGeom prst="line">
            <a:avLst/>
          </a:prstGeom>
          <a:noFill/>
          <a:ln w="9525">
            <a:solidFill>
              <a:srgbClr val="EADCB8"/>
            </a:solidFill>
            <a:prstDash val="solid"/>
          </a:ln>
        </p:spPr>
      </p:sp>
      <p:sp>
        <p:nvSpPr>
          <p:cNvPr id="37" name="Text 35"/>
          <p:cNvSpPr txBox="1"/>
          <p:nvPr/>
        </p:nvSpPr>
        <p:spPr>
          <a:xfrm>
            <a:off x="2988022" y="7020647"/>
            <a:ext cx="222563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Parmesão ou queijo canastra.</a:t>
            </a:r>
            <a:endParaRPr lang="en-US" sz="1100" dirty="0"/>
          </a:p>
        </p:txBody>
      </p:sp>
      <p:sp>
        <p:nvSpPr>
          <p:cNvPr id="38" name="Shape 36"/>
          <p:cNvSpPr/>
          <p:nvPr/>
        </p:nvSpPr>
        <p:spPr>
          <a:xfrm>
            <a:off x="611981" y="7630567"/>
            <a:ext cx="2280791" cy="0"/>
          </a:xfrm>
          <a:prstGeom prst="line">
            <a:avLst/>
          </a:prstGeom>
          <a:noFill/>
          <a:ln w="9525">
            <a:solidFill>
              <a:srgbClr val="EADCB8"/>
            </a:solidFill>
            <a:prstDash val="solid"/>
          </a:ln>
        </p:spPr>
      </p:sp>
      <p:sp>
        <p:nvSpPr>
          <p:cNvPr id="39" name="Text 37"/>
          <p:cNvSpPr txBox="1"/>
          <p:nvPr/>
        </p:nvSpPr>
        <p:spPr>
          <a:xfrm>
            <a:off x="707231" y="7359104"/>
            <a:ext cx="999946"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Gengibre fresco</a:t>
            </a:r>
            <a:endParaRPr lang="en-US" sz="1170" dirty="0"/>
          </a:p>
        </p:txBody>
      </p:sp>
      <p:sp>
        <p:nvSpPr>
          <p:cNvPr id="40" name="Shape 38"/>
          <p:cNvSpPr/>
          <p:nvPr/>
        </p:nvSpPr>
        <p:spPr>
          <a:xfrm>
            <a:off x="2892772" y="7630567"/>
            <a:ext cx="4055120" cy="0"/>
          </a:xfrm>
          <a:prstGeom prst="line">
            <a:avLst/>
          </a:prstGeom>
          <a:noFill/>
          <a:ln w="9525">
            <a:solidFill>
              <a:srgbClr val="EADCB8"/>
            </a:solidFill>
            <a:prstDash val="solid"/>
          </a:ln>
        </p:spPr>
      </p:sp>
      <p:sp>
        <p:nvSpPr>
          <p:cNvPr id="41" name="Text 39"/>
          <p:cNvSpPr txBox="1"/>
          <p:nvPr/>
        </p:nvSpPr>
        <p:spPr>
          <a:xfrm>
            <a:off x="2988022" y="7373072"/>
            <a:ext cx="382726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Pimenta-do-reino moída na hora e raspas de limão.</a:t>
            </a:r>
            <a:endParaRPr lang="en-US" sz="1100" dirty="0"/>
          </a:p>
        </p:txBody>
      </p:sp>
      <p:sp>
        <p:nvSpPr>
          <p:cNvPr id="42" name="Shape 40"/>
          <p:cNvSpPr/>
          <p:nvPr/>
        </p:nvSpPr>
        <p:spPr>
          <a:xfrm>
            <a:off x="611981" y="7982992"/>
            <a:ext cx="2280791" cy="0"/>
          </a:xfrm>
          <a:prstGeom prst="line">
            <a:avLst/>
          </a:prstGeom>
          <a:noFill/>
          <a:ln w="9525">
            <a:solidFill>
              <a:srgbClr val="EADCB8"/>
            </a:solidFill>
            <a:prstDash val="solid"/>
          </a:ln>
        </p:spPr>
      </p:sp>
      <p:sp>
        <p:nvSpPr>
          <p:cNvPr id="43" name="Text 41"/>
          <p:cNvSpPr txBox="1"/>
          <p:nvPr/>
        </p:nvSpPr>
        <p:spPr>
          <a:xfrm>
            <a:off x="707231" y="7711529"/>
            <a:ext cx="756940"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Carne-seca</a:t>
            </a:r>
            <a:endParaRPr lang="en-US" sz="1170" dirty="0"/>
          </a:p>
        </p:txBody>
      </p:sp>
      <p:sp>
        <p:nvSpPr>
          <p:cNvPr id="44" name="Shape 42"/>
          <p:cNvSpPr/>
          <p:nvPr/>
        </p:nvSpPr>
        <p:spPr>
          <a:xfrm>
            <a:off x="2892772" y="7982992"/>
            <a:ext cx="4055120" cy="0"/>
          </a:xfrm>
          <a:prstGeom prst="line">
            <a:avLst/>
          </a:prstGeom>
          <a:noFill/>
          <a:ln w="9525">
            <a:solidFill>
              <a:srgbClr val="EADCB8"/>
            </a:solidFill>
            <a:prstDash val="solid"/>
          </a:ln>
        </p:spPr>
      </p:sp>
      <p:sp>
        <p:nvSpPr>
          <p:cNvPr id="45" name="Text 43"/>
          <p:cNvSpPr txBox="1"/>
          <p:nvPr/>
        </p:nvSpPr>
        <p:spPr>
          <a:xfrm>
            <a:off x="2988022" y="7725497"/>
            <a:ext cx="369724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Frango desfiado (capítulo 3) ou linguiça refogada.</a:t>
            </a:r>
            <a:endParaRPr lang="en-US" sz="1100" dirty="0"/>
          </a:p>
        </p:txBody>
      </p:sp>
      <p:sp>
        <p:nvSpPr>
          <p:cNvPr id="46" name="Text 44"/>
          <p:cNvSpPr txBox="1"/>
          <p:nvPr/>
        </p:nvSpPr>
        <p:spPr>
          <a:xfrm>
            <a:off x="5888980"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7" name="Text 45"/>
          <p:cNvSpPr txBox="1"/>
          <p:nvPr/>
        </p:nvSpPr>
        <p:spPr>
          <a:xfrm>
            <a:off x="6822132" y="10253663"/>
            <a:ext cx="278160"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43</a:t>
            </a:r>
            <a:endParaRPr lang="en-US" sz="83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611981" y="566440"/>
            <a:ext cx="245387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APROVEITA ISSO TAMBÉM · MANDIOCA</a:t>
            </a:r>
            <a:endParaRPr lang="en-US" sz="960" dirty="0"/>
          </a:p>
        </p:txBody>
      </p:sp>
      <p:sp>
        <p:nvSpPr>
          <p:cNvPr id="3" name="Text 1"/>
          <p:cNvSpPr txBox="1"/>
          <p:nvPr/>
        </p:nvSpPr>
        <p:spPr>
          <a:xfrm>
            <a:off x="611981" y="779960"/>
            <a:ext cx="294965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NADA VAI PARA O LIXO</a:t>
            </a:r>
            <a:endParaRPr lang="en-US" sz="2420" dirty="0"/>
          </a:p>
        </p:txBody>
      </p:sp>
      <p:sp>
        <p:nvSpPr>
          <p:cNvPr id="4" name="Text 2"/>
          <p:cNvSpPr txBox="1"/>
          <p:nvPr/>
        </p:nvSpPr>
        <p:spPr>
          <a:xfrm>
            <a:off x="611981" y="1377818"/>
            <a:ext cx="3170575"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ÁGUA DO COZIMENTO, RICA EM AMIDO</a:t>
            </a:r>
            <a:endParaRPr lang="en-US" sz="1650" dirty="0"/>
          </a:p>
        </p:txBody>
      </p:sp>
      <p:sp>
        <p:nvSpPr>
          <p:cNvPr id="5" name="Text 3"/>
          <p:cNvSpPr txBox="1"/>
          <p:nvPr/>
        </p:nvSpPr>
        <p:spPr>
          <a:xfrm>
            <a:off x="611981" y="177492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água em que a mandioca cozinhou fica rica em amido. Guarde (na geladeira por até 2 dias) e use para dar ponto e cremosidade a molhos, ensopados e ao próprio caldo, no lugar da água ou de parte do creme de leite.</a:t>
            </a:r>
            <a:endParaRPr lang="en-US" sz="1100" dirty="0"/>
          </a:p>
        </p:txBody>
      </p:sp>
      <p:sp>
        <p:nvSpPr>
          <p:cNvPr id="6" name="Text 4"/>
          <p:cNvSpPr txBox="1"/>
          <p:nvPr/>
        </p:nvSpPr>
        <p:spPr>
          <a:xfrm>
            <a:off x="611981" y="2638839"/>
            <a:ext cx="445395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“FARIÑA” CROCANTE DE FRIGIDEIRA COM AS APARAS</a:t>
            </a:r>
            <a:endParaRPr lang="en-US" sz="1650" dirty="0"/>
          </a:p>
        </p:txBody>
      </p:sp>
      <p:sp>
        <p:nvSpPr>
          <p:cNvPr id="7" name="Text 5"/>
          <p:cNvSpPr txBox="1"/>
          <p:nvPr/>
        </p:nvSpPr>
        <p:spPr>
          <a:xfrm>
            <a:off x="611981" y="3035945"/>
            <a:ext cx="6335911" cy="8001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Pontas, pedaços quebrados e sobras de mandioca já cozida viram crocância. Rale fino e espalhe numa frigideira com 1 colher de manteiga. Toste em fogo médio, mexendo de vez em quando, até ficar dourada e soltinha. Tempere com sal e use como uma farofa fresca sobre o caldo, saladas, feijão ou ovos.</a:t>
            </a:r>
            <a:endParaRPr lang="en-US" sz="1100" dirty="0"/>
          </a:p>
        </p:txBody>
      </p:sp>
      <p:sp>
        <p:nvSpPr>
          <p:cNvPr id="8" name="Text 6"/>
          <p:cNvSpPr txBox="1"/>
          <p:nvPr/>
        </p:nvSpPr>
        <p:spPr>
          <a:xfrm>
            <a:off x="611981" y="4109409"/>
            <a:ext cx="11937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E AS CASCAS?</a:t>
            </a:r>
            <a:endParaRPr lang="en-US" sz="1650" dirty="0"/>
          </a:p>
        </p:txBody>
      </p:sp>
      <p:sp>
        <p:nvSpPr>
          <p:cNvPr id="9" name="Text 7"/>
          <p:cNvSpPr txBox="1"/>
          <p:nvPr/>
        </p:nvSpPr>
        <p:spPr>
          <a:xfrm>
            <a:off x="611981" y="4501434"/>
            <a:ext cx="56149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 cascas da mandioca não são comestíveis. Mande para a compostagem.</a:t>
            </a:r>
            <a:endParaRPr lang="en-US" sz="1100" dirty="0"/>
          </a:p>
        </p:txBody>
      </p:sp>
      <p:sp>
        <p:nvSpPr>
          <p:cNvPr id="10" name="Text 8"/>
          <p:cNvSpPr txBox="1"/>
          <p:nvPr/>
        </p:nvSpPr>
        <p:spPr>
          <a:xfrm>
            <a:off x="5883920"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11" name="Text 9"/>
          <p:cNvSpPr txBox="1"/>
          <p:nvPr/>
        </p:nvSpPr>
        <p:spPr>
          <a:xfrm>
            <a:off x="6817072" y="10253663"/>
            <a:ext cx="283220"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44</a:t>
            </a:r>
            <a:endParaRPr lang="en-US" sz="83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611981" y="566440"/>
            <a:ext cx="86766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05</a:t>
            </a:r>
            <a:endParaRPr lang="en-US" sz="960" dirty="0"/>
          </a:p>
        </p:txBody>
      </p:sp>
      <p:sp>
        <p:nvSpPr>
          <p:cNvPr id="3" name="Text 1"/>
          <p:cNvSpPr txBox="1"/>
          <p:nvPr/>
        </p:nvSpPr>
        <p:spPr>
          <a:xfrm>
            <a:off x="611981" y="779960"/>
            <a:ext cx="1247120"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CENOURA</a:t>
            </a:r>
            <a:endParaRPr lang="en-US" sz="2420" dirty="0"/>
          </a:p>
        </p:txBody>
      </p:sp>
      <p:sp>
        <p:nvSpPr>
          <p:cNvPr id="4" name="Text 2"/>
          <p:cNvSpPr txBox="1"/>
          <p:nvPr/>
        </p:nvSpPr>
        <p:spPr>
          <a:xfrm>
            <a:off x="611981" y="1263518"/>
            <a:ext cx="136749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DA RAIZ À RAMA</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Está em quase toda geladeira, mas costuma ficar presa à salada ralada ou ao bolo de sempre. Aqui ela vira protagonista.</a:t>
            </a:r>
            <a:endParaRPr lang="en-US" sz="1100" dirty="0"/>
          </a:p>
        </p:txBody>
      </p:sp>
      <p:sp>
        <p:nvSpPr>
          <p:cNvPr id="6" name="Text 4"/>
          <p:cNvSpPr txBox="1"/>
          <p:nvPr/>
        </p:nvSpPr>
        <p:spPr>
          <a:xfrm>
            <a:off x="611981" y="2429289"/>
            <a:ext cx="1773972"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3 TRANSFORMAÇÕES</a:t>
            </a:r>
            <a:endParaRPr lang="en-US" sz="1650" dirty="0"/>
          </a:p>
        </p:txBody>
      </p:sp>
      <p:sp>
        <p:nvSpPr>
          <p:cNvPr id="7" name="Text 5"/>
          <p:cNvSpPr txBox="1"/>
          <p:nvPr/>
        </p:nvSpPr>
        <p:spPr>
          <a:xfrm>
            <a:off x="611981" y="2775909"/>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8" name="Text 6"/>
          <p:cNvSpPr txBox="1"/>
          <p:nvPr/>
        </p:nvSpPr>
        <p:spPr>
          <a:xfrm>
            <a:off x="1031081" y="2797820"/>
            <a:ext cx="156626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ASSADO INTENSO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47</a:t>
            </a:r>
            <a:endParaRPr lang="en-US" sz="1320" dirty="0"/>
          </a:p>
        </p:txBody>
      </p:sp>
      <p:sp>
        <p:nvSpPr>
          <p:cNvPr id="9" name="Text 7"/>
          <p:cNvSpPr txBox="1"/>
          <p:nvPr/>
        </p:nvSpPr>
        <p:spPr>
          <a:xfrm>
            <a:off x="1031081" y="3108105"/>
            <a:ext cx="610826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Cenouras assadas inteiras, caramelizadas no mel ou melaço com azeite e tomilho</a:t>
            </a:r>
            <a:endParaRPr lang="en-US" sz="1100" dirty="0"/>
          </a:p>
        </p:txBody>
      </p:sp>
      <p:sp>
        <p:nvSpPr>
          <p:cNvPr id="10" name="Text 8"/>
          <p:cNvSpPr txBox="1"/>
          <p:nvPr/>
        </p:nvSpPr>
        <p:spPr>
          <a:xfrm>
            <a:off x="611981" y="3424651"/>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11" name="Text 9"/>
          <p:cNvSpPr txBox="1"/>
          <p:nvPr/>
        </p:nvSpPr>
        <p:spPr>
          <a:xfrm>
            <a:off x="1031081" y="3446562"/>
            <a:ext cx="1607880"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PRATO PRINCIPAL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49</a:t>
            </a:r>
            <a:endParaRPr lang="en-US" sz="1320" dirty="0"/>
          </a:p>
        </p:txBody>
      </p:sp>
      <p:sp>
        <p:nvSpPr>
          <p:cNvPr id="12" name="Text 10"/>
          <p:cNvSpPr txBox="1"/>
          <p:nvPr/>
        </p:nvSpPr>
        <p:spPr>
          <a:xfrm>
            <a:off x="1031081" y="3756846"/>
            <a:ext cx="501919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Hambúrguer rústico ou bolinho de cenoura com aveia e especiarias</a:t>
            </a:r>
            <a:endParaRPr lang="en-US" sz="1100" dirty="0"/>
          </a:p>
        </p:txBody>
      </p:sp>
      <p:sp>
        <p:nvSpPr>
          <p:cNvPr id="13" name="Text 11"/>
          <p:cNvSpPr txBox="1"/>
          <p:nvPr/>
        </p:nvSpPr>
        <p:spPr>
          <a:xfrm>
            <a:off x="611981" y="4073393"/>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4" name="Text 12"/>
          <p:cNvSpPr txBox="1"/>
          <p:nvPr/>
        </p:nvSpPr>
        <p:spPr>
          <a:xfrm>
            <a:off x="1031081" y="4095304"/>
            <a:ext cx="211312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 SOBREMESA DE RESPEITO </a:t>
            </a:r>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51</a:t>
            </a:r>
            <a:endParaRPr lang="en-US" sz="1320" dirty="0"/>
          </a:p>
        </p:txBody>
      </p:sp>
      <p:sp>
        <p:nvSpPr>
          <p:cNvPr id="15" name="Text 13"/>
          <p:cNvSpPr txBox="1"/>
          <p:nvPr/>
        </p:nvSpPr>
        <p:spPr>
          <a:xfrm>
            <a:off x="1031081" y="4405588"/>
            <a:ext cx="579286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Bolo de cenoura da vovó com técnica de chef e calda de chocolate espelhada</a:t>
            </a:r>
            <a:endParaRPr lang="en-US" sz="1100" dirty="0"/>
          </a:p>
        </p:txBody>
      </p:sp>
      <p:sp>
        <p:nvSpPr>
          <p:cNvPr id="16" name="Text 14"/>
          <p:cNvSpPr txBox="1"/>
          <p:nvPr/>
        </p:nvSpPr>
        <p:spPr>
          <a:xfrm>
            <a:off x="5888682"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17" name="Text 15"/>
          <p:cNvSpPr txBox="1"/>
          <p:nvPr/>
        </p:nvSpPr>
        <p:spPr>
          <a:xfrm>
            <a:off x="6821835" y="10253663"/>
            <a:ext cx="27845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45</a:t>
            </a:r>
            <a:endParaRPr lang="en-US" sz="83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611981" y="566440"/>
            <a:ext cx="1615202"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CAPÍTULO 05 · CENOURA</a:t>
            </a:r>
            <a:endParaRPr lang="en-US" sz="960" dirty="0"/>
          </a:p>
        </p:txBody>
      </p:sp>
      <p:sp>
        <p:nvSpPr>
          <p:cNvPr id="3" name="Text 1"/>
          <p:cNvSpPr txBox="1"/>
          <p:nvPr/>
        </p:nvSpPr>
        <p:spPr>
          <a:xfrm>
            <a:off x="611981" y="779960"/>
            <a:ext cx="200346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 INGREDIENTE</a:t>
            </a:r>
            <a:endParaRPr lang="en-US" sz="2420" dirty="0"/>
          </a:p>
        </p:txBody>
      </p:sp>
      <p:sp>
        <p:nvSpPr>
          <p:cNvPr id="4" name="Text 2"/>
          <p:cNvSpPr txBox="1"/>
          <p:nvPr/>
        </p:nvSpPr>
        <p:spPr>
          <a:xfrm>
            <a:off x="611981" y="140925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 cenoura está em quase todo refogado, quase toda salada e quase todo lanche da tarde. E quase sempre como coadjuvante.</a:t>
            </a:r>
            <a:endParaRPr lang="en-US" sz="1100" dirty="0"/>
          </a:p>
        </p:txBody>
      </p:sp>
      <p:sp>
        <p:nvSpPr>
          <p:cNvPr id="5" name="Text 3"/>
          <p:cNvSpPr txBox="1"/>
          <p:nvPr/>
        </p:nvSpPr>
        <p:spPr>
          <a:xfrm>
            <a:off x="611981" y="194265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Ela tem açúcar natural de sobra e, quando encontra calor seco, carameliza e ganha um sabor profundo, quase de castanha. Ralada e bem refogada, vira a base de um hambúrguer. E, num bolo, ela é que garante a umidade.</a:t>
            </a:r>
            <a:endParaRPr lang="en-US" sz="1100" dirty="0"/>
          </a:p>
        </p:txBody>
      </p:sp>
      <p:sp>
        <p:nvSpPr>
          <p:cNvPr id="6" name="Text 4"/>
          <p:cNvSpPr txBox="1"/>
          <p:nvPr/>
        </p:nvSpPr>
        <p:spPr>
          <a:xfrm>
            <a:off x="611981" y="268560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Nada se perde: a casca é fina e comestível, e a rama, aquelas folhas que quase sempre vão para o lixo, é um tempero fresco e potente.</a:t>
            </a:r>
            <a:endParaRPr lang="en-US" sz="1100" dirty="0"/>
          </a:p>
        </p:txBody>
      </p:sp>
      <p:sp>
        <p:nvSpPr>
          <p:cNvPr id="7" name="Text 5"/>
          <p:cNvSpPr txBox="1"/>
          <p:nvPr/>
        </p:nvSpPr>
        <p:spPr>
          <a:xfrm>
            <a:off x="611981" y="3339968"/>
            <a:ext cx="158752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ANTES DA PANELA</a:t>
            </a:r>
            <a:endParaRPr lang="en-US" sz="1650" dirty="0"/>
          </a:p>
        </p:txBody>
      </p:sp>
      <p:sp>
        <p:nvSpPr>
          <p:cNvPr id="8" name="Text 6"/>
          <p:cNvSpPr txBox="1"/>
          <p:nvPr/>
        </p:nvSpPr>
        <p:spPr>
          <a:xfrm>
            <a:off x="611981" y="3698974"/>
            <a:ext cx="159109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NA HORA DE ESCOLHER</a:t>
            </a:r>
            <a:endParaRPr lang="en-US" sz="1320" dirty="0"/>
          </a:p>
        </p:txBody>
      </p:sp>
      <p:sp>
        <p:nvSpPr>
          <p:cNvPr id="9" name="Shape 7"/>
          <p:cNvSpPr/>
          <p:nvPr/>
        </p:nvSpPr>
        <p:spPr>
          <a:xfrm>
            <a:off x="631031" y="4072382"/>
            <a:ext cx="66675" cy="66675"/>
          </a:xfrm>
          <a:prstGeom prst="ellipse">
            <a:avLst/>
          </a:prstGeom>
          <a:solidFill>
            <a:srgbClr val="F96015"/>
          </a:solidFill>
          <a:ln/>
        </p:spPr>
      </p:sp>
      <p:sp>
        <p:nvSpPr>
          <p:cNvPr id="10" name="Text 8"/>
          <p:cNvSpPr txBox="1"/>
          <p:nvPr/>
        </p:nvSpPr>
        <p:spPr>
          <a:xfrm>
            <a:off x="783431" y="4009259"/>
            <a:ext cx="469272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Firme, lisa, de cor laranja intensa, sem rachaduras nem brotos.</a:t>
            </a:r>
            <a:endParaRPr lang="en-US" sz="1100" dirty="0"/>
          </a:p>
        </p:txBody>
      </p:sp>
      <p:sp>
        <p:nvSpPr>
          <p:cNvPr id="11" name="Shape 9"/>
          <p:cNvSpPr/>
          <p:nvPr/>
        </p:nvSpPr>
        <p:spPr>
          <a:xfrm>
            <a:off x="631031" y="4339082"/>
            <a:ext cx="66675" cy="66675"/>
          </a:xfrm>
          <a:prstGeom prst="ellipse">
            <a:avLst/>
          </a:prstGeom>
          <a:solidFill>
            <a:srgbClr val="F96015"/>
          </a:solidFill>
          <a:ln/>
        </p:spPr>
      </p:sp>
      <p:sp>
        <p:nvSpPr>
          <p:cNvPr id="12" name="Text 10"/>
          <p:cNvSpPr txBox="1"/>
          <p:nvPr/>
        </p:nvSpPr>
        <p:spPr>
          <a:xfrm>
            <a:off x="783431" y="4275959"/>
            <a:ext cx="436733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Evite cenouras moles ou com a parte de cima esverdeada.</a:t>
            </a:r>
            <a:endParaRPr lang="en-US" sz="1100" dirty="0"/>
          </a:p>
        </p:txBody>
      </p:sp>
      <p:sp>
        <p:nvSpPr>
          <p:cNvPr id="13" name="Shape 11"/>
          <p:cNvSpPr/>
          <p:nvPr/>
        </p:nvSpPr>
        <p:spPr>
          <a:xfrm>
            <a:off x="631031" y="4605782"/>
            <a:ext cx="66675" cy="66675"/>
          </a:xfrm>
          <a:prstGeom prst="ellipse">
            <a:avLst/>
          </a:prstGeom>
          <a:solidFill>
            <a:srgbClr val="F96015"/>
          </a:solidFill>
          <a:ln/>
        </p:spPr>
      </p:sp>
      <p:sp>
        <p:nvSpPr>
          <p:cNvPr id="14" name="Text 12"/>
          <p:cNvSpPr txBox="1"/>
          <p:nvPr/>
        </p:nvSpPr>
        <p:spPr>
          <a:xfrm>
            <a:off x="783431" y="4542659"/>
            <a:ext cx="738395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Se encontrar com rama, compre: rama verde e viçosa é sinal de cenoura fresca, e ainda vira pesto.</a:t>
            </a:r>
            <a:endParaRPr lang="en-US" sz="1100" dirty="0"/>
          </a:p>
        </p:txBody>
      </p:sp>
      <p:sp>
        <p:nvSpPr>
          <p:cNvPr id="15" name="Text 13"/>
          <p:cNvSpPr txBox="1"/>
          <p:nvPr/>
        </p:nvSpPr>
        <p:spPr>
          <a:xfrm>
            <a:off x="611981" y="4909691"/>
            <a:ext cx="1074777"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COMO GUARDAR</a:t>
            </a:r>
            <a:endParaRPr lang="en-US" sz="1320" dirty="0"/>
          </a:p>
        </p:txBody>
      </p:sp>
      <p:sp>
        <p:nvSpPr>
          <p:cNvPr id="16" name="Shape 14"/>
          <p:cNvSpPr/>
          <p:nvPr/>
        </p:nvSpPr>
        <p:spPr>
          <a:xfrm>
            <a:off x="631031" y="5283099"/>
            <a:ext cx="66675" cy="66675"/>
          </a:xfrm>
          <a:prstGeom prst="ellipse">
            <a:avLst/>
          </a:prstGeom>
          <a:solidFill>
            <a:srgbClr val="F96015"/>
          </a:solidFill>
          <a:ln/>
        </p:spPr>
      </p:sp>
      <p:sp>
        <p:nvSpPr>
          <p:cNvPr id="17" name="Text 15"/>
          <p:cNvSpPr txBox="1"/>
          <p:nvPr/>
        </p:nvSpPr>
        <p:spPr>
          <a:xfrm>
            <a:off x="783431" y="5219976"/>
            <a:ext cx="530780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Separe a rama assim que chegar em casa: ela puxa a umidade da raiz.</a:t>
            </a:r>
            <a:endParaRPr lang="en-US" sz="1100" dirty="0"/>
          </a:p>
        </p:txBody>
      </p:sp>
      <p:sp>
        <p:nvSpPr>
          <p:cNvPr id="18" name="Shape 16"/>
          <p:cNvSpPr/>
          <p:nvPr/>
        </p:nvSpPr>
        <p:spPr>
          <a:xfrm>
            <a:off x="631031" y="5549799"/>
            <a:ext cx="66675" cy="66675"/>
          </a:xfrm>
          <a:prstGeom prst="ellipse">
            <a:avLst/>
          </a:prstGeom>
          <a:solidFill>
            <a:srgbClr val="F96015"/>
          </a:solidFill>
          <a:ln/>
        </p:spPr>
      </p:sp>
      <p:sp>
        <p:nvSpPr>
          <p:cNvPr id="19" name="Text 17"/>
          <p:cNvSpPr txBox="1"/>
          <p:nvPr/>
        </p:nvSpPr>
        <p:spPr>
          <a:xfrm>
            <a:off x="783431" y="5486676"/>
            <a:ext cx="555033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Raiz: em pote fechado com papel-toalha, na geladeira, por 3 a 4 semanas.</a:t>
            </a:r>
            <a:endParaRPr lang="en-US" sz="1100" dirty="0"/>
          </a:p>
        </p:txBody>
      </p:sp>
      <p:sp>
        <p:nvSpPr>
          <p:cNvPr id="20" name="Shape 18"/>
          <p:cNvSpPr/>
          <p:nvPr/>
        </p:nvSpPr>
        <p:spPr>
          <a:xfrm>
            <a:off x="631031" y="5816499"/>
            <a:ext cx="66675" cy="66675"/>
          </a:xfrm>
          <a:prstGeom prst="ellipse">
            <a:avLst/>
          </a:prstGeom>
          <a:solidFill>
            <a:srgbClr val="F96015"/>
          </a:solidFill>
          <a:ln/>
        </p:spPr>
      </p:sp>
      <p:sp>
        <p:nvSpPr>
          <p:cNvPr id="21" name="Text 19"/>
          <p:cNvSpPr txBox="1"/>
          <p:nvPr/>
        </p:nvSpPr>
        <p:spPr>
          <a:xfrm>
            <a:off x="783431" y="5753376"/>
            <a:ext cx="50938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Rama: lavada, bem seca e enrolada em papel-toalha, por 3 a 4 dias.</a:t>
            </a:r>
            <a:endParaRPr lang="en-US" sz="1100" dirty="0"/>
          </a:p>
        </p:txBody>
      </p:sp>
      <p:sp>
        <p:nvSpPr>
          <p:cNvPr id="22" name="Text 20"/>
          <p:cNvSpPr txBox="1"/>
          <p:nvPr/>
        </p:nvSpPr>
        <p:spPr>
          <a:xfrm>
            <a:off x="611981" y="6120408"/>
            <a:ext cx="168574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PRÉ-PREPARO E CORTES</a:t>
            </a:r>
            <a:endParaRPr lang="en-US" sz="1320" dirty="0"/>
          </a:p>
        </p:txBody>
      </p:sp>
      <p:sp>
        <p:nvSpPr>
          <p:cNvPr id="23" name="Shape 21"/>
          <p:cNvSpPr/>
          <p:nvPr/>
        </p:nvSpPr>
        <p:spPr>
          <a:xfrm>
            <a:off x="631031" y="6493816"/>
            <a:ext cx="66675" cy="66675"/>
          </a:xfrm>
          <a:prstGeom prst="ellipse">
            <a:avLst/>
          </a:prstGeom>
          <a:solidFill>
            <a:srgbClr val="F96015"/>
          </a:solidFill>
          <a:ln/>
        </p:spPr>
      </p:sp>
      <p:sp>
        <p:nvSpPr>
          <p:cNvPr id="24" name="Text 22"/>
          <p:cNvSpPr txBox="1"/>
          <p:nvPr/>
        </p:nvSpPr>
        <p:spPr>
          <a:xfrm>
            <a:off x="783431" y="6430693"/>
            <a:ext cx="66486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Não precisa descascar: escove bem sob água corrente. Se descascar, guarde as cascas.</a:t>
            </a:r>
            <a:endParaRPr lang="en-US" sz="1100" dirty="0"/>
          </a:p>
        </p:txBody>
      </p:sp>
      <p:sp>
        <p:nvSpPr>
          <p:cNvPr id="25" name="Shape 23"/>
          <p:cNvSpPr/>
          <p:nvPr/>
        </p:nvSpPr>
        <p:spPr>
          <a:xfrm>
            <a:off x="631031" y="6760516"/>
            <a:ext cx="66675" cy="66675"/>
          </a:xfrm>
          <a:prstGeom prst="ellipse">
            <a:avLst/>
          </a:prstGeom>
          <a:solidFill>
            <a:srgbClr val="F96015"/>
          </a:solidFill>
          <a:ln/>
        </p:spPr>
      </p:sp>
      <p:sp>
        <p:nvSpPr>
          <p:cNvPr id="26" name="Text 24"/>
          <p:cNvSpPr txBox="1"/>
          <p:nvPr/>
        </p:nvSpPr>
        <p:spPr>
          <a:xfrm>
            <a:off x="783431" y="6697393"/>
            <a:ext cx="465540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Rodelas em diagonal têm mais superfície e caramelizam mais.</a:t>
            </a:r>
            <a:endParaRPr lang="en-US" sz="1100" dirty="0"/>
          </a:p>
        </p:txBody>
      </p:sp>
      <p:sp>
        <p:nvSpPr>
          <p:cNvPr id="27" name="Shape 25"/>
          <p:cNvSpPr/>
          <p:nvPr/>
        </p:nvSpPr>
        <p:spPr>
          <a:xfrm>
            <a:off x="631031" y="7027216"/>
            <a:ext cx="66675" cy="66675"/>
          </a:xfrm>
          <a:prstGeom prst="ellipse">
            <a:avLst/>
          </a:prstGeom>
          <a:solidFill>
            <a:srgbClr val="F96015"/>
          </a:solidFill>
          <a:ln/>
        </p:spPr>
      </p:sp>
      <p:sp>
        <p:nvSpPr>
          <p:cNvPr id="28" name="Text 26"/>
          <p:cNvSpPr txBox="1"/>
          <p:nvPr/>
        </p:nvSpPr>
        <p:spPr>
          <a:xfrm>
            <a:off x="783431" y="6969175"/>
            <a:ext cx="61644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Palitos e meia-lua para assar; ralada fina para bolinhos; em fitas (com o descascador) para saladas cruas.</a:t>
            </a:r>
            <a:endParaRPr lang="en-US" sz="1100" dirty="0"/>
          </a:p>
        </p:txBody>
      </p:sp>
      <p:sp>
        <p:nvSpPr>
          <p:cNvPr id="29" name="Text 27"/>
          <p:cNvSpPr txBox="1"/>
          <p:nvPr/>
        </p:nvSpPr>
        <p:spPr>
          <a:xfrm>
            <a:off x="588853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30" name="Text 28"/>
          <p:cNvSpPr txBox="1"/>
          <p:nvPr/>
        </p:nvSpPr>
        <p:spPr>
          <a:xfrm>
            <a:off x="6821686" y="10253663"/>
            <a:ext cx="27860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46</a:t>
            </a:r>
            <a:endParaRPr lang="en-US" sz="83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611981" y="566440"/>
            <a:ext cx="264997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01</a:t>
            </a:r>
            <a:endParaRPr lang="en-US" sz="960" dirty="0"/>
          </a:p>
        </p:txBody>
      </p:sp>
      <p:sp>
        <p:nvSpPr>
          <p:cNvPr id="3" name="Text 1"/>
          <p:cNvSpPr txBox="1"/>
          <p:nvPr/>
        </p:nvSpPr>
        <p:spPr>
          <a:xfrm>
            <a:off x="611981" y="779960"/>
            <a:ext cx="3739039"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CENOURAS ASSADAS NO MEL</a:t>
            </a:r>
            <a:endParaRPr lang="en-US" sz="2420" dirty="0"/>
          </a:p>
        </p:txBody>
      </p:sp>
      <p:sp>
        <p:nvSpPr>
          <p:cNvPr id="4" name="Text 2"/>
          <p:cNvSpPr txBox="1"/>
          <p:nvPr/>
        </p:nvSpPr>
        <p:spPr>
          <a:xfrm>
            <a:off x="611981" y="1404171"/>
            <a:ext cx="610826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Cenouras assadas inteiras, caramelizadas no mel ou melaço com azeite e tomilho</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268194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 cenouras médias (cerca de 600 g)</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20207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azeite</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27748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mel (ou melaço)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92738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ramos de tomilho fresco</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24420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grosso e pimenta-do-reino</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394835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vinagre de maçã ou suco de limão</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487936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Opcional: iogurte temperado com sal e limão, e amendoim picado</a:t>
            </a:r>
            <a:endParaRPr lang="en-US" sz="1100" dirty="0"/>
          </a:p>
        </p:txBody>
      </p:sp>
      <p:sp>
        <p:nvSpPr>
          <p:cNvPr id="20" name="Text 18"/>
          <p:cNvSpPr txBox="1"/>
          <p:nvPr/>
        </p:nvSpPr>
        <p:spPr>
          <a:xfrm>
            <a:off x="611981" y="41424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611981" y="566440"/>
            <a:ext cx="2054900"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01 · CENOURA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CENOURAS ASSADAS INTEIRAS, CARAMELIZADAS NO MEL OU MELAÇO COM AZEITE E TOMILHO</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ASSADO INTENSO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(doçura natural levada ao máximo)</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49381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76557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porções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268194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8 cenouras médias (cerca de 600 g)</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39681"/>
            <a:ext cx="202078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colheres (sopa) de azeite</a:t>
            </a:r>
            <a:endParaRPr lang="en-US" sz="1100" dirty="0"/>
          </a:p>
        </p:txBody>
      </p:sp>
      <p:sp>
        <p:nvSpPr>
          <p:cNvPr id="18" name="Shape 16"/>
          <p:cNvSpPr/>
          <p:nvPr/>
        </p:nvSpPr>
        <p:spPr>
          <a:xfrm>
            <a:off x="631031" y="3631404"/>
            <a:ext cx="66675" cy="66675"/>
          </a:xfrm>
          <a:prstGeom prst="ellipse">
            <a:avLst/>
          </a:prstGeom>
          <a:solidFill>
            <a:srgbClr val="F96015"/>
          </a:solidFill>
          <a:ln/>
        </p:spPr>
      </p:sp>
      <p:sp>
        <p:nvSpPr>
          <p:cNvPr id="19" name="Text 17"/>
          <p:cNvSpPr txBox="1"/>
          <p:nvPr/>
        </p:nvSpPr>
        <p:spPr>
          <a:xfrm>
            <a:off x="783431" y="3568281"/>
            <a:ext cx="27748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mel (ou melaço)</a:t>
            </a:r>
            <a:endParaRPr lang="en-US" sz="1100" dirty="0"/>
          </a:p>
        </p:txBody>
      </p:sp>
      <p:sp>
        <p:nvSpPr>
          <p:cNvPr id="20" name="Shape 18"/>
          <p:cNvSpPr/>
          <p:nvPr/>
        </p:nvSpPr>
        <p:spPr>
          <a:xfrm>
            <a:off x="631031" y="3860004"/>
            <a:ext cx="66675" cy="66675"/>
          </a:xfrm>
          <a:prstGeom prst="ellipse">
            <a:avLst/>
          </a:prstGeom>
          <a:solidFill>
            <a:srgbClr val="F96015"/>
          </a:solidFill>
          <a:ln/>
        </p:spPr>
      </p:sp>
      <p:sp>
        <p:nvSpPr>
          <p:cNvPr id="21" name="Text 19"/>
          <p:cNvSpPr txBox="1"/>
          <p:nvPr/>
        </p:nvSpPr>
        <p:spPr>
          <a:xfrm>
            <a:off x="783431" y="3796881"/>
            <a:ext cx="192738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ramos de tomilho fresco</a:t>
            </a:r>
            <a:endParaRPr lang="en-US" sz="1100" dirty="0"/>
          </a:p>
        </p:txBody>
      </p:sp>
      <p:sp>
        <p:nvSpPr>
          <p:cNvPr id="22" name="Shape 20"/>
          <p:cNvSpPr/>
          <p:nvPr/>
        </p:nvSpPr>
        <p:spPr>
          <a:xfrm>
            <a:off x="631031" y="4088604"/>
            <a:ext cx="66675" cy="66675"/>
          </a:xfrm>
          <a:prstGeom prst="ellipse">
            <a:avLst/>
          </a:prstGeom>
          <a:solidFill>
            <a:srgbClr val="F96015"/>
          </a:solidFill>
          <a:ln/>
        </p:spPr>
      </p:sp>
      <p:sp>
        <p:nvSpPr>
          <p:cNvPr id="23" name="Text 21"/>
          <p:cNvSpPr txBox="1"/>
          <p:nvPr/>
        </p:nvSpPr>
        <p:spPr>
          <a:xfrm>
            <a:off x="783431" y="4025481"/>
            <a:ext cx="224420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grosso e pimenta-do-reino</a:t>
            </a:r>
            <a:endParaRPr lang="en-US" sz="1100" dirty="0"/>
          </a:p>
        </p:txBody>
      </p:sp>
      <p:sp>
        <p:nvSpPr>
          <p:cNvPr id="24" name="Shape 22"/>
          <p:cNvSpPr/>
          <p:nvPr/>
        </p:nvSpPr>
        <p:spPr>
          <a:xfrm>
            <a:off x="631031" y="4317204"/>
            <a:ext cx="66675" cy="66675"/>
          </a:xfrm>
          <a:prstGeom prst="ellipse">
            <a:avLst/>
          </a:prstGeom>
          <a:solidFill>
            <a:srgbClr val="F96015"/>
          </a:solidFill>
          <a:ln/>
        </p:spPr>
      </p:sp>
      <p:sp>
        <p:nvSpPr>
          <p:cNvPr id="25" name="Text 23"/>
          <p:cNvSpPr txBox="1"/>
          <p:nvPr/>
        </p:nvSpPr>
        <p:spPr>
          <a:xfrm>
            <a:off x="783431" y="425916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1 colher (sopa) de vinagre de maçã ou suco de limão</a:t>
            </a:r>
            <a:endParaRPr lang="en-US" sz="1100" dirty="0"/>
          </a:p>
        </p:txBody>
      </p:sp>
      <p:sp>
        <p:nvSpPr>
          <p:cNvPr id="26" name="Shape 24"/>
          <p:cNvSpPr/>
          <p:nvPr/>
        </p:nvSpPr>
        <p:spPr>
          <a:xfrm>
            <a:off x="631031" y="4755354"/>
            <a:ext cx="66675" cy="66675"/>
          </a:xfrm>
          <a:prstGeom prst="ellipse">
            <a:avLst/>
          </a:prstGeom>
          <a:solidFill>
            <a:srgbClr val="F96015"/>
          </a:solidFill>
          <a:ln/>
        </p:spPr>
      </p:sp>
      <p:sp>
        <p:nvSpPr>
          <p:cNvPr id="27" name="Text 25"/>
          <p:cNvSpPr txBox="1"/>
          <p:nvPr/>
        </p:nvSpPr>
        <p:spPr>
          <a:xfrm>
            <a:off x="783431" y="4697313"/>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Opcional: iogurte temperado com sal e limão, e amendoim picado</a:t>
            </a:r>
            <a:endParaRPr lang="en-US" sz="1100" dirty="0"/>
          </a:p>
        </p:txBody>
      </p:sp>
      <p:sp>
        <p:nvSpPr>
          <p:cNvPr id="28" name="Text 26"/>
          <p:cNvSpPr txBox="1"/>
          <p:nvPr/>
        </p:nvSpPr>
        <p:spPr>
          <a:xfrm>
            <a:off x="611981" y="53516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29" name="Text 27"/>
          <p:cNvSpPr txBox="1"/>
          <p:nvPr/>
        </p:nvSpPr>
        <p:spPr>
          <a:xfrm>
            <a:off x="611981" y="57202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0" name="Text 28"/>
          <p:cNvSpPr txBox="1"/>
          <p:nvPr/>
        </p:nvSpPr>
        <p:spPr>
          <a:xfrm>
            <a:off x="897731" y="57487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Preaqueça o forno a 220 °C. Escove bem as cenouras. Se forem grossas, corte ao meio no sentido do comprimento.</a:t>
            </a:r>
            <a:endParaRPr lang="en-US" sz="1100" dirty="0"/>
          </a:p>
        </p:txBody>
      </p:sp>
      <p:sp>
        <p:nvSpPr>
          <p:cNvPr id="31" name="Text 29"/>
          <p:cNvSpPr txBox="1"/>
          <p:nvPr/>
        </p:nvSpPr>
        <p:spPr>
          <a:xfrm>
            <a:off x="611981" y="61678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2" name="Text 30"/>
          <p:cNvSpPr txBox="1"/>
          <p:nvPr/>
        </p:nvSpPr>
        <p:spPr>
          <a:xfrm>
            <a:off x="897731" y="61964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assadeira grande, envolva as cenouras com o azeite, sal e pimenta. Deixe espaço entre elas: amontoadas, cozinham no vapor e não caramelizam.</a:t>
            </a:r>
            <a:endParaRPr lang="en-US" sz="1100" dirty="0"/>
          </a:p>
        </p:txBody>
      </p:sp>
      <p:sp>
        <p:nvSpPr>
          <p:cNvPr id="33" name="Text 31"/>
          <p:cNvSpPr txBox="1"/>
          <p:nvPr/>
        </p:nvSpPr>
        <p:spPr>
          <a:xfrm>
            <a:off x="611981" y="661555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34" name="Text 32"/>
          <p:cNvSpPr txBox="1"/>
          <p:nvPr/>
        </p:nvSpPr>
        <p:spPr>
          <a:xfrm>
            <a:off x="897731" y="6639052"/>
            <a:ext cx="348257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Asse por 25 minutos, até começarem a dourar.</a:t>
            </a:r>
            <a:endParaRPr lang="en-US" sz="1100" dirty="0"/>
          </a:p>
        </p:txBody>
      </p:sp>
      <p:sp>
        <p:nvSpPr>
          <p:cNvPr id="35" name="Text 33"/>
          <p:cNvSpPr txBox="1"/>
          <p:nvPr/>
        </p:nvSpPr>
        <p:spPr>
          <a:xfrm>
            <a:off x="611981" y="685368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36" name="Text 34"/>
          <p:cNvSpPr txBox="1"/>
          <p:nvPr/>
        </p:nvSpPr>
        <p:spPr>
          <a:xfrm>
            <a:off x="897731" y="68822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Regue com o mel, junte o tomilho, chacoalhe a assadeira e volte ao forno por mais 10 a 15 minutos, até as pontas tostarem e o mel virar uma camada brilhante.</a:t>
            </a:r>
            <a:endParaRPr lang="en-US" sz="1100" dirty="0"/>
          </a:p>
        </p:txBody>
      </p:sp>
      <p:sp>
        <p:nvSpPr>
          <p:cNvPr id="37" name="Text 35"/>
          <p:cNvSpPr txBox="1"/>
          <p:nvPr/>
        </p:nvSpPr>
        <p:spPr>
          <a:xfrm>
            <a:off x="611981" y="730135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38" name="Text 36"/>
          <p:cNvSpPr txBox="1"/>
          <p:nvPr/>
        </p:nvSpPr>
        <p:spPr>
          <a:xfrm>
            <a:off x="897731" y="7324852"/>
            <a:ext cx="45632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Retire do forno e regue com o vinagre ou limão ainda quente.</a:t>
            </a:r>
            <a:endParaRPr lang="en-US" sz="1100" dirty="0"/>
          </a:p>
        </p:txBody>
      </p:sp>
      <p:sp>
        <p:nvSpPr>
          <p:cNvPr id="39" name="Text 37"/>
          <p:cNvSpPr txBox="1"/>
          <p:nvPr/>
        </p:nvSpPr>
        <p:spPr>
          <a:xfrm>
            <a:off x="611981" y="753948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0" name="Text 38"/>
          <p:cNvSpPr txBox="1"/>
          <p:nvPr/>
        </p:nvSpPr>
        <p:spPr>
          <a:xfrm>
            <a:off x="897731" y="7562977"/>
            <a:ext cx="40596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Sirva sobre o iogurte, com amendoim picado por cima.</a:t>
            </a:r>
            <a:endParaRPr lang="en-US" sz="1100" dirty="0"/>
          </a:p>
        </p:txBody>
      </p:sp>
      <p:sp>
        <p:nvSpPr>
          <p:cNvPr id="41" name="Shape 39"/>
          <p:cNvSpPr/>
          <p:nvPr/>
        </p:nvSpPr>
        <p:spPr>
          <a:xfrm>
            <a:off x="611981" y="7863334"/>
            <a:ext cx="6335911" cy="982117"/>
          </a:xfrm>
          <a:prstGeom prst="roundRect">
            <a:avLst>
              <a:gd name="adj" fmla="val 9030"/>
            </a:avLst>
          </a:prstGeom>
          <a:solidFill>
            <a:srgbClr val="FFC926"/>
          </a:solidFill>
          <a:ln/>
        </p:spPr>
      </p:sp>
      <p:sp>
        <p:nvSpPr>
          <p:cNvPr id="42" name="Text 40"/>
          <p:cNvSpPr txBox="1"/>
          <p:nvPr/>
        </p:nvSpPr>
        <p:spPr>
          <a:xfrm>
            <a:off x="764381" y="796810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3" name="Text 41"/>
          <p:cNvSpPr txBox="1"/>
          <p:nvPr/>
        </p:nvSpPr>
        <p:spPr>
          <a:xfrm>
            <a:off x="764381" y="828347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O mel entra só no final: se for desde o início, queima antes de a cenoura ficar macia. O toque ácido no final equilibra o doce e acende todos os sabores.</a:t>
            </a:r>
            <a:endParaRPr lang="en-US" sz="1100" dirty="0"/>
          </a:p>
        </p:txBody>
      </p:sp>
      <p:sp>
        <p:nvSpPr>
          <p:cNvPr id="44" name="Text 42"/>
          <p:cNvSpPr txBox="1"/>
          <p:nvPr/>
        </p:nvSpPr>
        <p:spPr>
          <a:xfrm>
            <a:off x="588853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1686" y="10253663"/>
            <a:ext cx="27860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48</a:t>
            </a:r>
            <a:endParaRPr lang="en-US" sz="83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611981" y="566440"/>
            <a:ext cx="2671405"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02</a:t>
            </a:r>
            <a:endParaRPr lang="en-US" sz="960" dirty="0"/>
          </a:p>
        </p:txBody>
      </p:sp>
      <p:sp>
        <p:nvSpPr>
          <p:cNvPr id="3" name="Text 1"/>
          <p:cNvSpPr txBox="1"/>
          <p:nvPr/>
        </p:nvSpPr>
        <p:spPr>
          <a:xfrm>
            <a:off x="611981" y="779960"/>
            <a:ext cx="352472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HAMBÚRGUER DE CENOURA</a:t>
            </a:r>
            <a:endParaRPr lang="en-US" sz="2420" dirty="0"/>
          </a:p>
        </p:txBody>
      </p:sp>
      <p:sp>
        <p:nvSpPr>
          <p:cNvPr id="4" name="Text 2"/>
          <p:cNvSpPr txBox="1"/>
          <p:nvPr/>
        </p:nvSpPr>
        <p:spPr>
          <a:xfrm>
            <a:off x="611981" y="1404171"/>
            <a:ext cx="501919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Hambúrguer rústico ou bolinho de cenoura com aveia e especiarias</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27791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cenouras médias raladas (cerca de 300 g)</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187237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pequena picada</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dentes de alho picados</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69122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colher (chá) de páprica defumada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252353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xícara (90 g) de aveia em flocos</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3470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queijo ralado (opcional)</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30450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cheiro-verde picado</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15644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 e azeite</a:t>
            </a:r>
            <a:endParaRPr lang="en-US" sz="1100" dirty="0"/>
          </a:p>
        </p:txBody>
      </p:sp>
      <p:sp>
        <p:nvSpPr>
          <p:cNvPr id="26" name="Text 24"/>
          <p:cNvSpPr txBox="1"/>
          <p:nvPr/>
        </p:nvSpPr>
        <p:spPr>
          <a:xfrm>
            <a:off x="611981" y="49425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611981" y="566440"/>
            <a:ext cx="2076331"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02 · CENOURA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HAMBÚRGUER RÚSTICO OU BOLINHO DE CENOURA COM AVEIA E ESPECIARIAS</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O PRATO PRINCIPAL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(saboroso e nutritivo)</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216527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25 min + 20 min de geladeira</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21997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6 hambúrgueres</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Shape 12"/>
          <p:cNvSpPr/>
          <p:nvPr/>
        </p:nvSpPr>
        <p:spPr>
          <a:xfrm>
            <a:off x="631031" y="3174204"/>
            <a:ext cx="66675" cy="66675"/>
          </a:xfrm>
          <a:prstGeom prst="ellipse">
            <a:avLst/>
          </a:prstGeom>
          <a:solidFill>
            <a:srgbClr val="F96015"/>
          </a:solidFill>
          <a:ln/>
        </p:spPr>
      </p:sp>
      <p:sp>
        <p:nvSpPr>
          <p:cNvPr id="15" name="Text 13"/>
          <p:cNvSpPr txBox="1"/>
          <p:nvPr/>
        </p:nvSpPr>
        <p:spPr>
          <a:xfrm>
            <a:off x="783431" y="3111081"/>
            <a:ext cx="327791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cenouras médias raladas (cerca de 300 g)</a:t>
            </a:r>
            <a:endParaRPr lang="en-US" sz="1100" dirty="0"/>
          </a:p>
        </p:txBody>
      </p:sp>
      <p:sp>
        <p:nvSpPr>
          <p:cNvPr id="16" name="Shape 14"/>
          <p:cNvSpPr/>
          <p:nvPr/>
        </p:nvSpPr>
        <p:spPr>
          <a:xfrm>
            <a:off x="631031" y="3402804"/>
            <a:ext cx="66675" cy="66675"/>
          </a:xfrm>
          <a:prstGeom prst="ellipse">
            <a:avLst/>
          </a:prstGeom>
          <a:solidFill>
            <a:srgbClr val="F96015"/>
          </a:solidFill>
          <a:ln/>
        </p:spPr>
      </p:sp>
      <p:sp>
        <p:nvSpPr>
          <p:cNvPr id="17" name="Text 15"/>
          <p:cNvSpPr txBox="1"/>
          <p:nvPr/>
        </p:nvSpPr>
        <p:spPr>
          <a:xfrm>
            <a:off x="783431" y="3339681"/>
            <a:ext cx="187237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cebola pequena picada</a:t>
            </a:r>
            <a:endParaRPr lang="en-US" sz="1100" dirty="0"/>
          </a:p>
        </p:txBody>
      </p:sp>
      <p:sp>
        <p:nvSpPr>
          <p:cNvPr id="18" name="Shape 16"/>
          <p:cNvSpPr/>
          <p:nvPr/>
        </p:nvSpPr>
        <p:spPr>
          <a:xfrm>
            <a:off x="631031" y="3631404"/>
            <a:ext cx="66675" cy="66675"/>
          </a:xfrm>
          <a:prstGeom prst="ellipse">
            <a:avLst/>
          </a:prstGeom>
          <a:solidFill>
            <a:srgbClr val="F96015"/>
          </a:solidFill>
          <a:ln/>
        </p:spPr>
      </p:sp>
      <p:sp>
        <p:nvSpPr>
          <p:cNvPr id="19" name="Text 17"/>
          <p:cNvSpPr txBox="1"/>
          <p:nvPr/>
        </p:nvSpPr>
        <p:spPr>
          <a:xfrm>
            <a:off x="783431" y="3568281"/>
            <a:ext cx="186291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dentes de alho picados</a:t>
            </a:r>
            <a:endParaRPr lang="en-US" sz="1100" dirty="0"/>
          </a:p>
        </p:txBody>
      </p:sp>
      <p:sp>
        <p:nvSpPr>
          <p:cNvPr id="20" name="Shape 18"/>
          <p:cNvSpPr/>
          <p:nvPr/>
        </p:nvSpPr>
        <p:spPr>
          <a:xfrm>
            <a:off x="631031" y="3860004"/>
            <a:ext cx="66675" cy="66675"/>
          </a:xfrm>
          <a:prstGeom prst="ellipse">
            <a:avLst/>
          </a:prstGeom>
          <a:solidFill>
            <a:srgbClr val="F96015"/>
          </a:solidFill>
          <a:ln/>
        </p:spPr>
      </p:sp>
      <p:sp>
        <p:nvSpPr>
          <p:cNvPr id="21" name="Text 19"/>
          <p:cNvSpPr txBox="1"/>
          <p:nvPr/>
        </p:nvSpPr>
        <p:spPr>
          <a:xfrm>
            <a:off x="783431" y="3796881"/>
            <a:ext cx="244905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(chá) de cominho em pó</a:t>
            </a:r>
            <a:endParaRPr lang="en-US" sz="1100" dirty="0"/>
          </a:p>
        </p:txBody>
      </p:sp>
      <p:sp>
        <p:nvSpPr>
          <p:cNvPr id="22" name="Shape 20"/>
          <p:cNvSpPr/>
          <p:nvPr/>
        </p:nvSpPr>
        <p:spPr>
          <a:xfrm>
            <a:off x="631031" y="4088604"/>
            <a:ext cx="66675" cy="66675"/>
          </a:xfrm>
          <a:prstGeom prst="ellipse">
            <a:avLst/>
          </a:prstGeom>
          <a:solidFill>
            <a:srgbClr val="F96015"/>
          </a:solidFill>
          <a:ln/>
        </p:spPr>
      </p:sp>
      <p:sp>
        <p:nvSpPr>
          <p:cNvPr id="23" name="Text 21"/>
          <p:cNvSpPr txBox="1"/>
          <p:nvPr/>
        </p:nvSpPr>
        <p:spPr>
          <a:xfrm>
            <a:off x="783431" y="4025481"/>
            <a:ext cx="269122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½ colher (chá) de páprica defumada</a:t>
            </a:r>
            <a:endParaRPr lang="en-US" sz="1100" dirty="0"/>
          </a:p>
        </p:txBody>
      </p:sp>
      <p:sp>
        <p:nvSpPr>
          <p:cNvPr id="24" name="Shape 22"/>
          <p:cNvSpPr/>
          <p:nvPr/>
        </p:nvSpPr>
        <p:spPr>
          <a:xfrm>
            <a:off x="631031" y="4317204"/>
            <a:ext cx="66675" cy="66675"/>
          </a:xfrm>
          <a:prstGeom prst="ellipse">
            <a:avLst/>
          </a:prstGeom>
          <a:solidFill>
            <a:srgbClr val="F96015"/>
          </a:solidFill>
          <a:ln/>
        </p:spPr>
      </p:sp>
      <p:sp>
        <p:nvSpPr>
          <p:cNvPr id="25" name="Text 23"/>
          <p:cNvSpPr txBox="1"/>
          <p:nvPr/>
        </p:nvSpPr>
        <p:spPr>
          <a:xfrm>
            <a:off x="783431" y="4254081"/>
            <a:ext cx="252353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xícara (90 g) de aveia em flocos</a:t>
            </a:r>
            <a:endParaRPr lang="en-US" sz="1100" dirty="0"/>
          </a:p>
        </p:txBody>
      </p:sp>
      <p:sp>
        <p:nvSpPr>
          <p:cNvPr id="26" name="Shape 24"/>
          <p:cNvSpPr/>
          <p:nvPr/>
        </p:nvSpPr>
        <p:spPr>
          <a:xfrm>
            <a:off x="631031" y="4545804"/>
            <a:ext cx="66675" cy="66675"/>
          </a:xfrm>
          <a:prstGeom prst="ellipse">
            <a:avLst/>
          </a:prstGeom>
          <a:solidFill>
            <a:srgbClr val="F96015"/>
          </a:solidFill>
          <a:ln/>
        </p:spPr>
      </p:sp>
      <p:sp>
        <p:nvSpPr>
          <p:cNvPr id="27" name="Text 25"/>
          <p:cNvSpPr txBox="1"/>
          <p:nvPr/>
        </p:nvSpPr>
        <p:spPr>
          <a:xfrm>
            <a:off x="783431" y="4482681"/>
            <a:ext cx="4939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ovo</a:t>
            </a:r>
            <a:endParaRPr lang="en-US" sz="1100" dirty="0"/>
          </a:p>
        </p:txBody>
      </p:sp>
      <p:sp>
        <p:nvSpPr>
          <p:cNvPr id="28" name="Shape 26"/>
          <p:cNvSpPr/>
          <p:nvPr/>
        </p:nvSpPr>
        <p:spPr>
          <a:xfrm>
            <a:off x="631031" y="4774404"/>
            <a:ext cx="66675" cy="66675"/>
          </a:xfrm>
          <a:prstGeom prst="ellipse">
            <a:avLst/>
          </a:prstGeom>
          <a:solidFill>
            <a:srgbClr val="F96015"/>
          </a:solidFill>
          <a:ln/>
        </p:spPr>
      </p:sp>
      <p:sp>
        <p:nvSpPr>
          <p:cNvPr id="29" name="Text 27"/>
          <p:cNvSpPr txBox="1"/>
          <p:nvPr/>
        </p:nvSpPr>
        <p:spPr>
          <a:xfrm>
            <a:off x="783431" y="4711281"/>
            <a:ext cx="23470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g de queijo ralado (opcional)</a:t>
            </a:r>
            <a:endParaRPr lang="en-US" sz="1100" dirty="0"/>
          </a:p>
        </p:txBody>
      </p:sp>
      <p:sp>
        <p:nvSpPr>
          <p:cNvPr id="30" name="Shape 28"/>
          <p:cNvSpPr/>
          <p:nvPr/>
        </p:nvSpPr>
        <p:spPr>
          <a:xfrm>
            <a:off x="631031" y="5003004"/>
            <a:ext cx="66675" cy="66675"/>
          </a:xfrm>
          <a:prstGeom prst="ellipse">
            <a:avLst/>
          </a:prstGeom>
          <a:solidFill>
            <a:srgbClr val="F96015"/>
          </a:solidFill>
          <a:ln/>
        </p:spPr>
      </p:sp>
      <p:sp>
        <p:nvSpPr>
          <p:cNvPr id="31" name="Text 29"/>
          <p:cNvSpPr txBox="1"/>
          <p:nvPr/>
        </p:nvSpPr>
        <p:spPr>
          <a:xfrm>
            <a:off x="783431" y="4939881"/>
            <a:ext cx="304502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 colheres (sopa) de cheiro-verde picado</a:t>
            </a:r>
            <a:endParaRPr lang="en-US" sz="1100" dirty="0"/>
          </a:p>
        </p:txBody>
      </p:sp>
      <p:sp>
        <p:nvSpPr>
          <p:cNvPr id="32" name="Shape 30"/>
          <p:cNvSpPr/>
          <p:nvPr/>
        </p:nvSpPr>
        <p:spPr>
          <a:xfrm>
            <a:off x="631031" y="5231604"/>
            <a:ext cx="66675" cy="66675"/>
          </a:xfrm>
          <a:prstGeom prst="ellipse">
            <a:avLst/>
          </a:prstGeom>
          <a:solidFill>
            <a:srgbClr val="F96015"/>
          </a:solidFill>
          <a:ln/>
        </p:spPr>
      </p:sp>
      <p:sp>
        <p:nvSpPr>
          <p:cNvPr id="33" name="Text 31"/>
          <p:cNvSpPr txBox="1"/>
          <p:nvPr/>
        </p:nvSpPr>
        <p:spPr>
          <a:xfrm>
            <a:off x="783431" y="5168481"/>
            <a:ext cx="156448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Sal, pimenta e azeite</a:t>
            </a:r>
            <a:endParaRPr lang="en-US" sz="1100" dirty="0"/>
          </a:p>
        </p:txBody>
      </p:sp>
      <p:sp>
        <p:nvSpPr>
          <p:cNvPr id="34" name="Text 32"/>
          <p:cNvSpPr txBox="1"/>
          <p:nvPr/>
        </p:nvSpPr>
        <p:spPr>
          <a:xfrm>
            <a:off x="611981" y="5618378"/>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5" name="Text 33"/>
          <p:cNvSpPr txBox="1"/>
          <p:nvPr/>
        </p:nvSpPr>
        <p:spPr>
          <a:xfrm>
            <a:off x="611981" y="5986909"/>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36" name="Text 34"/>
          <p:cNvSpPr txBox="1"/>
          <p:nvPr/>
        </p:nvSpPr>
        <p:spPr>
          <a:xfrm>
            <a:off x="897731" y="6015484"/>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Numa frigideira com um fio de azeite, refogue a cebola e o alho. Junte a cenoura ralada, o cominho e a páprica e refogue por cerca de 8 minutos, até a cenoura murchar e perder a água.</a:t>
            </a:r>
            <a:endParaRPr lang="en-US" sz="1100" dirty="0"/>
          </a:p>
        </p:txBody>
      </p:sp>
      <p:sp>
        <p:nvSpPr>
          <p:cNvPr id="37" name="Text 35"/>
          <p:cNvSpPr txBox="1"/>
          <p:nvPr/>
        </p:nvSpPr>
        <p:spPr>
          <a:xfrm>
            <a:off x="611981" y="6434584"/>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38" name="Text 36"/>
          <p:cNvSpPr txBox="1"/>
          <p:nvPr/>
        </p:nvSpPr>
        <p:spPr>
          <a:xfrm>
            <a:off x="897731" y="6458077"/>
            <a:ext cx="31503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Transfira para uma tigela e deixe amornar.</a:t>
            </a:r>
            <a:endParaRPr lang="en-US" sz="1100" dirty="0"/>
          </a:p>
        </p:txBody>
      </p:sp>
      <p:sp>
        <p:nvSpPr>
          <p:cNvPr id="39" name="Text 37"/>
          <p:cNvSpPr txBox="1"/>
          <p:nvPr/>
        </p:nvSpPr>
        <p:spPr>
          <a:xfrm>
            <a:off x="611981" y="6672709"/>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0" name="Text 38"/>
          <p:cNvSpPr txBox="1"/>
          <p:nvPr/>
        </p:nvSpPr>
        <p:spPr>
          <a:xfrm>
            <a:off x="897731" y="6696202"/>
            <a:ext cx="673869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Junte a aveia, o ovo, o queijo e o cheiro-verde. Tempere com sal e pimenta e misture bem.</a:t>
            </a:r>
            <a:endParaRPr lang="en-US" sz="1100" dirty="0"/>
          </a:p>
        </p:txBody>
      </p:sp>
      <p:sp>
        <p:nvSpPr>
          <p:cNvPr id="41" name="Text 39"/>
          <p:cNvSpPr txBox="1"/>
          <p:nvPr/>
        </p:nvSpPr>
        <p:spPr>
          <a:xfrm>
            <a:off x="611981" y="6910834"/>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2" name="Text 40"/>
          <p:cNvSpPr txBox="1"/>
          <p:nvPr/>
        </p:nvSpPr>
        <p:spPr>
          <a:xfrm>
            <a:off x="897731" y="6934327"/>
            <a:ext cx="549408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Deixe a massa descansar por 15 minutos, para a aveia hidratar e dar liga.</a:t>
            </a:r>
            <a:endParaRPr lang="en-US" sz="1100" dirty="0"/>
          </a:p>
        </p:txBody>
      </p:sp>
      <p:sp>
        <p:nvSpPr>
          <p:cNvPr id="43" name="Text 41"/>
          <p:cNvSpPr txBox="1"/>
          <p:nvPr/>
        </p:nvSpPr>
        <p:spPr>
          <a:xfrm>
            <a:off x="611981" y="7148959"/>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4" name="Text 42"/>
          <p:cNvSpPr txBox="1"/>
          <p:nvPr/>
        </p:nvSpPr>
        <p:spPr>
          <a:xfrm>
            <a:off x="897731" y="7172452"/>
            <a:ext cx="601539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Modele 6 hambúrgueres com as mãos úmidas e leve à geladeira por 20 minutos.</a:t>
            </a:r>
            <a:endParaRPr lang="en-US" sz="1100" dirty="0"/>
          </a:p>
        </p:txBody>
      </p:sp>
      <p:sp>
        <p:nvSpPr>
          <p:cNvPr id="45" name="Text 43"/>
          <p:cNvSpPr txBox="1"/>
          <p:nvPr/>
        </p:nvSpPr>
        <p:spPr>
          <a:xfrm>
            <a:off x="611981" y="7387084"/>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46" name="Text 44"/>
          <p:cNvSpPr txBox="1"/>
          <p:nvPr/>
        </p:nvSpPr>
        <p:spPr>
          <a:xfrm>
            <a:off x="897731" y="7415659"/>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Doure numa frigideira com azeite, em fogo médio, por 4 minutos de cada lado, virando com cuidado. Ou asse a 200 °C por 20 minutos, virando na metade.</a:t>
            </a:r>
            <a:endParaRPr lang="en-US" sz="1100" dirty="0"/>
          </a:p>
        </p:txBody>
      </p:sp>
      <p:sp>
        <p:nvSpPr>
          <p:cNvPr id="47" name="Shape 45"/>
          <p:cNvSpPr/>
          <p:nvPr/>
        </p:nvSpPr>
        <p:spPr>
          <a:xfrm>
            <a:off x="611981" y="7920484"/>
            <a:ext cx="6335911" cy="982117"/>
          </a:xfrm>
          <a:prstGeom prst="roundRect">
            <a:avLst>
              <a:gd name="adj" fmla="val 9030"/>
            </a:avLst>
          </a:prstGeom>
          <a:solidFill>
            <a:srgbClr val="FFC926"/>
          </a:solidFill>
          <a:ln/>
        </p:spPr>
      </p:sp>
      <p:sp>
        <p:nvSpPr>
          <p:cNvPr id="48" name="Text 46"/>
          <p:cNvSpPr txBox="1"/>
          <p:nvPr/>
        </p:nvSpPr>
        <p:spPr>
          <a:xfrm>
            <a:off x="764381" y="8025259"/>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49" name="Text 47"/>
          <p:cNvSpPr txBox="1"/>
          <p:nvPr/>
        </p:nvSpPr>
        <p:spPr>
          <a:xfrm>
            <a:off x="764381" y="8340626"/>
            <a:ext cx="60311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Refogar a cenoura antes é o passo que separa um hambúrguer firme e saboroso de um que desmancha na frigideira. Sirva no pão com o pesto de rama (página “Aproveita Isso Também”).</a:t>
            </a:r>
            <a:endParaRPr lang="en-US" sz="1100" dirty="0"/>
          </a:p>
        </p:txBody>
      </p:sp>
      <p:sp>
        <p:nvSpPr>
          <p:cNvPr id="50" name="Text 48"/>
          <p:cNvSpPr txBox="1"/>
          <p:nvPr/>
        </p:nvSpPr>
        <p:spPr>
          <a:xfrm>
            <a:off x="5891808"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1" name="Text 49"/>
          <p:cNvSpPr txBox="1"/>
          <p:nvPr/>
        </p:nvSpPr>
        <p:spPr>
          <a:xfrm>
            <a:off x="6824960" y="10253663"/>
            <a:ext cx="275332"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50</a:t>
            </a:r>
            <a:endParaRPr lang="en-US" sz="83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611981" y="566440"/>
            <a:ext cx="267229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#COZINHAMAMEDE · TRANSFORMAÇÃO 03</a:t>
            </a:r>
            <a:endParaRPr lang="en-US" sz="960" dirty="0"/>
          </a:p>
        </p:txBody>
      </p:sp>
      <p:sp>
        <p:nvSpPr>
          <p:cNvPr id="3" name="Text 1"/>
          <p:cNvSpPr txBox="1"/>
          <p:nvPr/>
        </p:nvSpPr>
        <p:spPr>
          <a:xfrm>
            <a:off x="611981" y="779960"/>
            <a:ext cx="2422267"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BOLO DE CENOURA</a:t>
            </a:r>
            <a:endParaRPr lang="en-US" sz="2420" dirty="0"/>
          </a:p>
        </p:txBody>
      </p:sp>
      <p:sp>
        <p:nvSpPr>
          <p:cNvPr id="4" name="Text 2"/>
          <p:cNvSpPr txBox="1"/>
          <p:nvPr/>
        </p:nvSpPr>
        <p:spPr>
          <a:xfrm>
            <a:off x="611981" y="1404171"/>
            <a:ext cx="579286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Bolo de cenoura da vovó com técnica de chef e calda de chocolate espelhada</a:t>
            </a:r>
            <a:endParaRPr lang="en-US" sz="1100" dirty="0"/>
          </a:p>
        </p:txBody>
      </p:sp>
      <p:sp>
        <p:nvSpPr>
          <p:cNvPr id="5" name="Text 3"/>
          <p:cNvSpPr txBox="1"/>
          <p:nvPr/>
        </p:nvSpPr>
        <p:spPr>
          <a:xfrm>
            <a:off x="611981" y="1854068"/>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6" name="Shape 4"/>
          <p:cNvSpPr/>
          <p:nvPr/>
        </p:nvSpPr>
        <p:spPr>
          <a:xfrm>
            <a:off x="631031" y="2309215"/>
            <a:ext cx="66675" cy="66675"/>
          </a:xfrm>
          <a:prstGeom prst="ellipse">
            <a:avLst/>
          </a:prstGeom>
          <a:solidFill>
            <a:srgbClr val="F96015"/>
          </a:solidFill>
          <a:ln/>
        </p:spPr>
      </p:sp>
      <p:sp>
        <p:nvSpPr>
          <p:cNvPr id="7" name="Text 5"/>
          <p:cNvSpPr txBox="1"/>
          <p:nvPr/>
        </p:nvSpPr>
        <p:spPr>
          <a:xfrm>
            <a:off x="783431" y="2246092"/>
            <a:ext cx="360366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 cenouras médias (cerca de 300 g), em rodelas</a:t>
            </a:r>
            <a:endParaRPr lang="en-US" sz="1100" dirty="0"/>
          </a:p>
        </p:txBody>
      </p:sp>
      <p:sp>
        <p:nvSpPr>
          <p:cNvPr id="8" name="Shape 6"/>
          <p:cNvSpPr/>
          <p:nvPr/>
        </p:nvSpPr>
        <p:spPr>
          <a:xfrm>
            <a:off x="631031" y="2575915"/>
            <a:ext cx="66675" cy="66675"/>
          </a:xfrm>
          <a:prstGeom prst="ellipse">
            <a:avLst/>
          </a:prstGeom>
          <a:solidFill>
            <a:srgbClr val="F96015"/>
          </a:solidFill>
          <a:ln/>
        </p:spPr>
      </p:sp>
      <p:sp>
        <p:nvSpPr>
          <p:cNvPr id="9" name="Text 7"/>
          <p:cNvSpPr txBox="1"/>
          <p:nvPr/>
        </p:nvSpPr>
        <p:spPr>
          <a:xfrm>
            <a:off x="783431" y="2512792"/>
            <a:ext cx="5637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ovos</a:t>
            </a:r>
            <a:endParaRPr lang="en-US" sz="1100" dirty="0"/>
          </a:p>
        </p:txBody>
      </p:sp>
      <p:sp>
        <p:nvSpPr>
          <p:cNvPr id="10" name="Shape 8"/>
          <p:cNvSpPr/>
          <p:nvPr/>
        </p:nvSpPr>
        <p:spPr>
          <a:xfrm>
            <a:off x="631031" y="2842615"/>
            <a:ext cx="66675" cy="66675"/>
          </a:xfrm>
          <a:prstGeom prst="ellipse">
            <a:avLst/>
          </a:prstGeom>
          <a:solidFill>
            <a:srgbClr val="F96015"/>
          </a:solidFill>
          <a:ln/>
        </p:spPr>
      </p:sp>
      <p:sp>
        <p:nvSpPr>
          <p:cNvPr id="11" name="Text 9"/>
          <p:cNvSpPr txBox="1"/>
          <p:nvPr/>
        </p:nvSpPr>
        <p:spPr>
          <a:xfrm>
            <a:off x="783431" y="2779492"/>
            <a:ext cx="10990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240 ml de óleo</a:t>
            </a:r>
            <a:endParaRPr lang="en-US" sz="1100" dirty="0"/>
          </a:p>
        </p:txBody>
      </p:sp>
      <p:sp>
        <p:nvSpPr>
          <p:cNvPr id="12" name="Shape 10"/>
          <p:cNvSpPr/>
          <p:nvPr/>
        </p:nvSpPr>
        <p:spPr>
          <a:xfrm>
            <a:off x="631031" y="3109315"/>
            <a:ext cx="66675" cy="66675"/>
          </a:xfrm>
          <a:prstGeom prst="ellipse">
            <a:avLst/>
          </a:prstGeom>
          <a:solidFill>
            <a:srgbClr val="F96015"/>
          </a:solidFill>
          <a:ln/>
        </p:spPr>
      </p:sp>
      <p:sp>
        <p:nvSpPr>
          <p:cNvPr id="13" name="Text 11"/>
          <p:cNvSpPr txBox="1"/>
          <p:nvPr/>
        </p:nvSpPr>
        <p:spPr>
          <a:xfrm>
            <a:off x="783431" y="3046192"/>
            <a:ext cx="12015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açúcar</a:t>
            </a:r>
            <a:endParaRPr lang="en-US" sz="1100" dirty="0"/>
          </a:p>
        </p:txBody>
      </p:sp>
      <p:sp>
        <p:nvSpPr>
          <p:cNvPr id="14" name="Shape 12"/>
          <p:cNvSpPr/>
          <p:nvPr/>
        </p:nvSpPr>
        <p:spPr>
          <a:xfrm>
            <a:off x="631031" y="3376015"/>
            <a:ext cx="66675" cy="66675"/>
          </a:xfrm>
          <a:prstGeom prst="ellipse">
            <a:avLst/>
          </a:prstGeom>
          <a:solidFill>
            <a:srgbClr val="F96015"/>
          </a:solidFill>
          <a:ln/>
        </p:spPr>
      </p:sp>
      <p:sp>
        <p:nvSpPr>
          <p:cNvPr id="15" name="Text 13"/>
          <p:cNvSpPr txBox="1"/>
          <p:nvPr/>
        </p:nvSpPr>
        <p:spPr>
          <a:xfrm>
            <a:off x="783431" y="3312892"/>
            <a:ext cx="26544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farinha de trigo, peneirada</a:t>
            </a:r>
            <a:endParaRPr lang="en-US" sz="1100" dirty="0"/>
          </a:p>
        </p:txBody>
      </p:sp>
      <p:sp>
        <p:nvSpPr>
          <p:cNvPr id="16" name="Shape 14"/>
          <p:cNvSpPr/>
          <p:nvPr/>
        </p:nvSpPr>
        <p:spPr>
          <a:xfrm>
            <a:off x="631031" y="3642715"/>
            <a:ext cx="66675" cy="66675"/>
          </a:xfrm>
          <a:prstGeom prst="ellipse">
            <a:avLst/>
          </a:prstGeom>
          <a:solidFill>
            <a:srgbClr val="F96015"/>
          </a:solidFill>
          <a:ln/>
        </p:spPr>
      </p:sp>
      <p:sp>
        <p:nvSpPr>
          <p:cNvPr id="17" name="Text 15"/>
          <p:cNvSpPr txBox="1"/>
          <p:nvPr/>
        </p:nvSpPr>
        <p:spPr>
          <a:xfrm>
            <a:off x="783431" y="3579592"/>
            <a:ext cx="32032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fermento químico em pó</a:t>
            </a:r>
            <a:endParaRPr lang="en-US" sz="1100" dirty="0"/>
          </a:p>
        </p:txBody>
      </p:sp>
      <p:sp>
        <p:nvSpPr>
          <p:cNvPr id="18" name="Shape 16"/>
          <p:cNvSpPr/>
          <p:nvPr/>
        </p:nvSpPr>
        <p:spPr>
          <a:xfrm>
            <a:off x="631031" y="3909415"/>
            <a:ext cx="66675" cy="66675"/>
          </a:xfrm>
          <a:prstGeom prst="ellipse">
            <a:avLst/>
          </a:prstGeom>
          <a:solidFill>
            <a:srgbClr val="F96015"/>
          </a:solidFill>
          <a:ln/>
        </p:spPr>
      </p:sp>
      <p:sp>
        <p:nvSpPr>
          <p:cNvPr id="19" name="Text 17"/>
          <p:cNvSpPr txBox="1"/>
          <p:nvPr/>
        </p:nvSpPr>
        <p:spPr>
          <a:xfrm>
            <a:off x="783431" y="3846292"/>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20" name="Shape 18"/>
          <p:cNvSpPr/>
          <p:nvPr/>
        </p:nvSpPr>
        <p:spPr>
          <a:xfrm>
            <a:off x="631031" y="4176115"/>
            <a:ext cx="66675" cy="66675"/>
          </a:xfrm>
          <a:prstGeom prst="ellipse">
            <a:avLst/>
          </a:prstGeom>
          <a:solidFill>
            <a:srgbClr val="F96015"/>
          </a:solidFill>
          <a:ln/>
        </p:spPr>
      </p:sp>
      <p:sp>
        <p:nvSpPr>
          <p:cNvPr id="21" name="Text 19"/>
          <p:cNvSpPr txBox="1"/>
          <p:nvPr/>
        </p:nvSpPr>
        <p:spPr>
          <a:xfrm>
            <a:off x="783431" y="4112992"/>
            <a:ext cx="29801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chocolate meio amargo picado</a:t>
            </a:r>
            <a:endParaRPr lang="en-US" sz="1100" dirty="0"/>
          </a:p>
        </p:txBody>
      </p:sp>
      <p:sp>
        <p:nvSpPr>
          <p:cNvPr id="22" name="Shape 20"/>
          <p:cNvSpPr/>
          <p:nvPr/>
        </p:nvSpPr>
        <p:spPr>
          <a:xfrm>
            <a:off x="631031" y="4442815"/>
            <a:ext cx="66675" cy="66675"/>
          </a:xfrm>
          <a:prstGeom prst="ellipse">
            <a:avLst/>
          </a:prstGeom>
          <a:solidFill>
            <a:srgbClr val="F96015"/>
          </a:solidFill>
          <a:ln/>
        </p:spPr>
      </p:sp>
      <p:sp>
        <p:nvSpPr>
          <p:cNvPr id="23" name="Text 21"/>
          <p:cNvSpPr txBox="1"/>
          <p:nvPr/>
        </p:nvSpPr>
        <p:spPr>
          <a:xfrm>
            <a:off x="783431" y="4379692"/>
            <a:ext cx="266336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caixinha (200 g) de creme de leite</a:t>
            </a:r>
            <a:endParaRPr lang="en-US" sz="1100" dirty="0"/>
          </a:p>
        </p:txBody>
      </p:sp>
      <p:sp>
        <p:nvSpPr>
          <p:cNvPr id="24" name="Shape 22"/>
          <p:cNvSpPr/>
          <p:nvPr/>
        </p:nvSpPr>
        <p:spPr>
          <a:xfrm>
            <a:off x="631031" y="4709515"/>
            <a:ext cx="66675" cy="66675"/>
          </a:xfrm>
          <a:prstGeom prst="ellipse">
            <a:avLst/>
          </a:prstGeom>
          <a:solidFill>
            <a:srgbClr val="F96015"/>
          </a:solidFill>
          <a:ln/>
        </p:spPr>
      </p:sp>
      <p:sp>
        <p:nvSpPr>
          <p:cNvPr id="25" name="Text 23"/>
          <p:cNvSpPr txBox="1"/>
          <p:nvPr/>
        </p:nvSpPr>
        <p:spPr>
          <a:xfrm>
            <a:off x="783431" y="4646392"/>
            <a:ext cx="16668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mel</a:t>
            </a:r>
            <a:endParaRPr lang="en-US" sz="1100" dirty="0"/>
          </a:p>
        </p:txBody>
      </p:sp>
      <p:sp>
        <p:nvSpPr>
          <p:cNvPr id="26" name="Shape 24"/>
          <p:cNvSpPr/>
          <p:nvPr/>
        </p:nvSpPr>
        <p:spPr>
          <a:xfrm>
            <a:off x="631031" y="4976215"/>
            <a:ext cx="66675" cy="66675"/>
          </a:xfrm>
          <a:prstGeom prst="ellipse">
            <a:avLst/>
          </a:prstGeom>
          <a:solidFill>
            <a:srgbClr val="F96015"/>
          </a:solidFill>
          <a:ln/>
        </p:spPr>
      </p:sp>
      <p:sp>
        <p:nvSpPr>
          <p:cNvPr id="27" name="Text 25"/>
          <p:cNvSpPr txBox="1"/>
          <p:nvPr/>
        </p:nvSpPr>
        <p:spPr>
          <a:xfrm>
            <a:off x="783431" y="4913092"/>
            <a:ext cx="208597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manteiga</a:t>
            </a:r>
            <a:endParaRPr lang="en-US" sz="1100" dirty="0"/>
          </a:p>
        </p:txBody>
      </p:sp>
      <p:sp>
        <p:nvSpPr>
          <p:cNvPr id="28" name="Text 26"/>
          <p:cNvSpPr txBox="1"/>
          <p:nvPr/>
        </p:nvSpPr>
        <p:spPr>
          <a:xfrm>
            <a:off x="611981" y="5209256"/>
            <a:ext cx="3274516"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receitas por CHEF ALLAN MAMEDE</a:t>
            </a:r>
            <a:endParaRPr lang="en-US" sz="132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611981" y="566440"/>
            <a:ext cx="207722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TRANSFORMAÇÃO 03 · CENOURA</a:t>
            </a:r>
            <a:endParaRPr lang="en-US" sz="960" dirty="0"/>
          </a:p>
        </p:txBody>
      </p:sp>
      <p:sp>
        <p:nvSpPr>
          <p:cNvPr id="3" name="Text 1"/>
          <p:cNvSpPr txBox="1"/>
          <p:nvPr/>
        </p:nvSpPr>
        <p:spPr>
          <a:xfrm>
            <a:off x="611981" y="796919"/>
            <a:ext cx="6335911" cy="742002"/>
          </a:xfrm>
          <a:prstGeom prst="rect">
            <a:avLst/>
          </a:prstGeom>
          <a:noFill/>
          <a:ln/>
        </p:spPr>
        <p:txBody>
          <a:bodyPr wrap="square" lIns="0" tIns="0" rIns="0" bIns="0" rtlCol="0" anchor="t"/>
          <a:lstStyle/>
          <a:p>
            <a:pPr algn="l" indent="0" marL="0">
              <a:lnSpc>
                <a:spcPts val="2780"/>
              </a:lnSpc>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BOLO DE CENOURA DA VOVÓ COM TÉCNICA DE CHEF E CALDA DE CHOCOLATE ESPELHADA</a:t>
            </a:r>
            <a:endParaRPr lang="en-US" sz="2420" dirty="0"/>
          </a:p>
        </p:txBody>
      </p:sp>
      <p:sp>
        <p:nvSpPr>
          <p:cNvPr id="4" name="Text 2"/>
          <p:cNvSpPr txBox="1"/>
          <p:nvPr/>
        </p:nvSpPr>
        <p:spPr>
          <a:xfrm>
            <a:off x="611981" y="1629221"/>
            <a:ext cx="6335911" cy="190500"/>
          </a:xfrm>
          <a:prstGeom prst="rect">
            <a:avLst/>
          </a:prstGeom>
          <a:noFill/>
          <a:ln/>
        </p:spPr>
        <p:txBody>
          <a:bodyPr wrap="square" lIns="0" tIns="0" rIns="0" bIns="0" rtlCol="0" anchor="t"/>
          <a:lstStyle/>
          <a:p>
            <a:pPr algn="l" indent="0" marL="0">
              <a:lnSpc>
                <a:spcPts val="1540"/>
              </a:lnSpc>
              <a:buNone/>
            </a:pPr>
            <a:r>
              <a:rPr lang="en-US" sz="1100" spc="88" kern="0" dirty="0">
                <a:solidFill>
                  <a:srgbClr val="F96015"/>
                </a:solidFill>
                <a:latin typeface="Barlow Condensed SemiBold" pitchFamily="34" charset="0"/>
                <a:ea typeface="Barlow Condensed SemiBold" pitchFamily="34" charset="-122"/>
                <a:cs typeface="Barlow Condensed SemiBold" pitchFamily="34" charset="-120"/>
              </a:rPr>
              <a:t>A SOBREMESA DE RESPEITO </a:t>
            </a:r>
            <a:pPr algn="l" indent="0" marL="0">
              <a:lnSpc>
                <a:spcPts val="1540"/>
              </a:lnSpc>
              <a:buNone/>
            </a:pPr>
            <a:r>
              <a:rPr lang="en-US" sz="1100" dirty="0">
                <a:solidFill>
                  <a:srgbClr val="18542A"/>
                </a:solidFill>
                <a:latin typeface="Arimo" pitchFamily="34" charset="0"/>
                <a:ea typeface="Arimo" pitchFamily="34" charset="-122"/>
                <a:cs typeface="Arimo" pitchFamily="34" charset="-120"/>
              </a:rPr>
              <a:t>(massa fofíssima que não sola)</a:t>
            </a:r>
            <a:endParaRPr lang="en-US" sz="1100" dirty="0"/>
          </a:p>
        </p:txBody>
      </p:sp>
      <p:sp>
        <p:nvSpPr>
          <p:cNvPr id="5" name="Shape 3"/>
          <p:cNvSpPr/>
          <p:nvPr/>
        </p:nvSpPr>
        <p:spPr>
          <a:xfrm>
            <a:off x="611981" y="1929557"/>
            <a:ext cx="6335911" cy="0"/>
          </a:xfrm>
          <a:prstGeom prst="line">
            <a:avLst/>
          </a:prstGeom>
          <a:noFill/>
          <a:ln w="19050">
            <a:solidFill>
              <a:srgbClr val="18542A"/>
            </a:solidFill>
            <a:prstDash val="solid"/>
          </a:ln>
        </p:spPr>
      </p:sp>
      <p:sp>
        <p:nvSpPr>
          <p:cNvPr id="6" name="Shape 4"/>
          <p:cNvSpPr/>
          <p:nvPr/>
        </p:nvSpPr>
        <p:spPr>
          <a:xfrm>
            <a:off x="611981" y="2455218"/>
            <a:ext cx="6335911" cy="0"/>
          </a:xfrm>
          <a:prstGeom prst="line">
            <a:avLst/>
          </a:prstGeom>
          <a:noFill/>
          <a:ln w="19050">
            <a:solidFill>
              <a:srgbClr val="18542A"/>
            </a:solidFill>
            <a:prstDash val="solid"/>
          </a:ln>
        </p:spPr>
      </p:sp>
      <p:sp>
        <p:nvSpPr>
          <p:cNvPr id="7" name="Text 5"/>
          <p:cNvSpPr txBox="1"/>
          <p:nvPr/>
        </p:nvSpPr>
        <p:spPr>
          <a:xfrm>
            <a:off x="611981" y="2015282"/>
            <a:ext cx="687139"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PREPARO:</a:t>
            </a:r>
            <a:endParaRPr lang="en-US" sz="960" dirty="0"/>
          </a:p>
        </p:txBody>
      </p:sp>
      <p:sp>
        <p:nvSpPr>
          <p:cNvPr id="8" name="Text 6"/>
          <p:cNvSpPr txBox="1"/>
          <p:nvPr/>
        </p:nvSpPr>
        <p:spPr>
          <a:xfrm>
            <a:off x="611981"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20 min</a:t>
            </a:r>
            <a:endParaRPr lang="en-US" sz="1100" dirty="0"/>
          </a:p>
        </p:txBody>
      </p:sp>
      <p:sp>
        <p:nvSpPr>
          <p:cNvPr id="9" name="Text 7"/>
          <p:cNvSpPr txBox="1"/>
          <p:nvPr/>
        </p:nvSpPr>
        <p:spPr>
          <a:xfrm>
            <a:off x="2761952" y="2015282"/>
            <a:ext cx="810071"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COZIMENTO:</a:t>
            </a:r>
            <a:endParaRPr lang="en-US" sz="960" dirty="0"/>
          </a:p>
        </p:txBody>
      </p:sp>
      <p:sp>
        <p:nvSpPr>
          <p:cNvPr id="10" name="Text 8"/>
          <p:cNvSpPr txBox="1"/>
          <p:nvPr/>
        </p:nvSpPr>
        <p:spPr>
          <a:xfrm>
            <a:off x="2761952" y="2175845"/>
            <a:ext cx="571500"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50 min</a:t>
            </a:r>
            <a:endParaRPr lang="en-US" sz="1100" dirty="0"/>
          </a:p>
        </p:txBody>
      </p:sp>
      <p:sp>
        <p:nvSpPr>
          <p:cNvPr id="11" name="Text 9"/>
          <p:cNvSpPr txBox="1"/>
          <p:nvPr/>
        </p:nvSpPr>
        <p:spPr>
          <a:xfrm>
            <a:off x="4912072" y="2015282"/>
            <a:ext cx="553045" cy="171450"/>
          </a:xfrm>
          <a:prstGeom prst="rect">
            <a:avLst/>
          </a:prstGeom>
          <a:noFill/>
          <a:ln/>
        </p:spPr>
        <p:txBody>
          <a:bodyPr wrap="square" lIns="0" tIns="0" rIns="0" bIns="0" rtlCol="0" anchor="ctr"/>
          <a:lstStyle/>
          <a:p>
            <a:pPr algn="l" indent="0" marL="0">
              <a:buNone/>
            </a:pPr>
            <a:r>
              <a:rPr lang="en-US" sz="960" spc="116" kern="0" dirty="0">
                <a:solidFill>
                  <a:srgbClr val="D52518"/>
                </a:solidFill>
                <a:latin typeface="Barlow Condensed SemiBold" pitchFamily="34" charset="0"/>
                <a:ea typeface="Barlow Condensed SemiBold" pitchFamily="34" charset="-122"/>
                <a:cs typeface="Barlow Condensed SemiBold" pitchFamily="34" charset="-120"/>
              </a:rPr>
              <a:t>RENDE:</a:t>
            </a:r>
            <a:endParaRPr lang="en-US" sz="960" dirty="0"/>
          </a:p>
        </p:txBody>
      </p:sp>
      <p:sp>
        <p:nvSpPr>
          <p:cNvPr id="12" name="Text 10"/>
          <p:cNvSpPr txBox="1"/>
          <p:nvPr/>
        </p:nvSpPr>
        <p:spPr>
          <a:xfrm>
            <a:off x="4912072" y="2175845"/>
            <a:ext cx="197899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assadeira de 20 × 30 cm</a:t>
            </a:r>
            <a:endParaRPr lang="en-US" sz="1100" dirty="0"/>
          </a:p>
        </p:txBody>
      </p:sp>
      <p:sp>
        <p:nvSpPr>
          <p:cNvPr id="13" name="Text 11"/>
          <p:cNvSpPr txBox="1"/>
          <p:nvPr/>
        </p:nvSpPr>
        <p:spPr>
          <a:xfrm>
            <a:off x="611981" y="2719057"/>
            <a:ext cx="1269444"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INGREDIENTES</a:t>
            </a:r>
            <a:endParaRPr lang="en-US" sz="1650" dirty="0"/>
          </a:p>
        </p:txBody>
      </p:sp>
      <p:sp>
        <p:nvSpPr>
          <p:cNvPr id="14" name="Text 12"/>
          <p:cNvSpPr txBox="1"/>
          <p:nvPr/>
        </p:nvSpPr>
        <p:spPr>
          <a:xfrm>
            <a:off x="611981" y="3078063"/>
            <a:ext cx="537121"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MASSA</a:t>
            </a:r>
            <a:endParaRPr lang="en-US" sz="1320" dirty="0"/>
          </a:p>
        </p:txBody>
      </p:sp>
      <p:sp>
        <p:nvSpPr>
          <p:cNvPr id="15" name="Shape 13"/>
          <p:cNvSpPr/>
          <p:nvPr/>
        </p:nvSpPr>
        <p:spPr>
          <a:xfrm>
            <a:off x="631031" y="3451471"/>
            <a:ext cx="66675" cy="66675"/>
          </a:xfrm>
          <a:prstGeom prst="ellipse">
            <a:avLst/>
          </a:prstGeom>
          <a:solidFill>
            <a:srgbClr val="F96015"/>
          </a:solidFill>
          <a:ln/>
        </p:spPr>
      </p:sp>
      <p:sp>
        <p:nvSpPr>
          <p:cNvPr id="16" name="Text 14"/>
          <p:cNvSpPr txBox="1"/>
          <p:nvPr/>
        </p:nvSpPr>
        <p:spPr>
          <a:xfrm>
            <a:off x="783431" y="3393430"/>
            <a:ext cx="2882205"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3 cenouras médias (cerca de 300 g), em rodelas</a:t>
            </a:r>
            <a:endParaRPr lang="en-US" sz="1100" dirty="0"/>
          </a:p>
        </p:txBody>
      </p:sp>
      <p:sp>
        <p:nvSpPr>
          <p:cNvPr id="17" name="Shape 15"/>
          <p:cNvSpPr/>
          <p:nvPr/>
        </p:nvSpPr>
        <p:spPr>
          <a:xfrm>
            <a:off x="631031" y="3889621"/>
            <a:ext cx="66675" cy="66675"/>
          </a:xfrm>
          <a:prstGeom prst="ellipse">
            <a:avLst/>
          </a:prstGeom>
          <a:solidFill>
            <a:srgbClr val="F96015"/>
          </a:solidFill>
          <a:ln/>
        </p:spPr>
      </p:sp>
      <p:sp>
        <p:nvSpPr>
          <p:cNvPr id="18" name="Text 16"/>
          <p:cNvSpPr txBox="1"/>
          <p:nvPr/>
        </p:nvSpPr>
        <p:spPr>
          <a:xfrm>
            <a:off x="783431" y="3826498"/>
            <a:ext cx="563761"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4 ovos</a:t>
            </a:r>
            <a:endParaRPr lang="en-US" sz="1100" dirty="0"/>
          </a:p>
        </p:txBody>
      </p:sp>
      <p:sp>
        <p:nvSpPr>
          <p:cNvPr id="19" name="Shape 17"/>
          <p:cNvSpPr/>
          <p:nvPr/>
        </p:nvSpPr>
        <p:spPr>
          <a:xfrm>
            <a:off x="631031" y="4118221"/>
            <a:ext cx="66675" cy="66675"/>
          </a:xfrm>
          <a:prstGeom prst="ellipse">
            <a:avLst/>
          </a:prstGeom>
          <a:solidFill>
            <a:srgbClr val="F96015"/>
          </a:solidFill>
          <a:ln/>
        </p:spPr>
      </p:sp>
      <p:sp>
        <p:nvSpPr>
          <p:cNvPr id="20" name="Text 18"/>
          <p:cNvSpPr txBox="1"/>
          <p:nvPr/>
        </p:nvSpPr>
        <p:spPr>
          <a:xfrm>
            <a:off x="783431" y="4055098"/>
            <a:ext cx="1099066"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240 ml de óleo</a:t>
            </a:r>
            <a:endParaRPr lang="en-US" sz="1100" dirty="0"/>
          </a:p>
        </p:txBody>
      </p:sp>
      <p:sp>
        <p:nvSpPr>
          <p:cNvPr id="21" name="Shape 19"/>
          <p:cNvSpPr/>
          <p:nvPr/>
        </p:nvSpPr>
        <p:spPr>
          <a:xfrm>
            <a:off x="631031" y="4346821"/>
            <a:ext cx="66675" cy="66675"/>
          </a:xfrm>
          <a:prstGeom prst="ellipse">
            <a:avLst/>
          </a:prstGeom>
          <a:solidFill>
            <a:srgbClr val="F96015"/>
          </a:solidFill>
          <a:ln/>
        </p:spPr>
      </p:sp>
      <p:sp>
        <p:nvSpPr>
          <p:cNvPr id="22" name="Text 20"/>
          <p:cNvSpPr txBox="1"/>
          <p:nvPr/>
        </p:nvSpPr>
        <p:spPr>
          <a:xfrm>
            <a:off x="783431" y="4283698"/>
            <a:ext cx="12015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açúcar</a:t>
            </a:r>
            <a:endParaRPr lang="en-US" sz="1100" dirty="0"/>
          </a:p>
        </p:txBody>
      </p:sp>
      <p:sp>
        <p:nvSpPr>
          <p:cNvPr id="23" name="Shape 21"/>
          <p:cNvSpPr/>
          <p:nvPr/>
        </p:nvSpPr>
        <p:spPr>
          <a:xfrm>
            <a:off x="631031" y="4575421"/>
            <a:ext cx="66675" cy="66675"/>
          </a:xfrm>
          <a:prstGeom prst="ellipse">
            <a:avLst/>
          </a:prstGeom>
          <a:solidFill>
            <a:srgbClr val="F96015"/>
          </a:solidFill>
          <a:ln/>
        </p:spPr>
      </p:sp>
      <p:sp>
        <p:nvSpPr>
          <p:cNvPr id="24" name="Text 22"/>
          <p:cNvSpPr txBox="1"/>
          <p:nvPr/>
        </p:nvSpPr>
        <p:spPr>
          <a:xfrm>
            <a:off x="783431" y="4512298"/>
            <a:ext cx="265443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300 g de farinha de trigo, peneirada</a:t>
            </a:r>
            <a:endParaRPr lang="en-US" sz="1100" dirty="0"/>
          </a:p>
        </p:txBody>
      </p:sp>
      <p:sp>
        <p:nvSpPr>
          <p:cNvPr id="25" name="Shape 23"/>
          <p:cNvSpPr/>
          <p:nvPr/>
        </p:nvSpPr>
        <p:spPr>
          <a:xfrm>
            <a:off x="631031" y="4804021"/>
            <a:ext cx="66675" cy="66675"/>
          </a:xfrm>
          <a:prstGeom prst="ellipse">
            <a:avLst/>
          </a:prstGeom>
          <a:solidFill>
            <a:srgbClr val="F96015"/>
          </a:solidFill>
          <a:ln/>
        </p:spPr>
      </p:sp>
      <p:sp>
        <p:nvSpPr>
          <p:cNvPr id="26" name="Text 24"/>
          <p:cNvSpPr txBox="1"/>
          <p:nvPr/>
        </p:nvSpPr>
        <p:spPr>
          <a:xfrm>
            <a:off x="783431" y="4740898"/>
            <a:ext cx="32032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fermento químico em pó</a:t>
            </a:r>
            <a:endParaRPr lang="en-US" sz="1100" dirty="0"/>
          </a:p>
        </p:txBody>
      </p:sp>
      <p:sp>
        <p:nvSpPr>
          <p:cNvPr id="27" name="Shape 25"/>
          <p:cNvSpPr/>
          <p:nvPr/>
        </p:nvSpPr>
        <p:spPr>
          <a:xfrm>
            <a:off x="631031" y="5032621"/>
            <a:ext cx="66675" cy="66675"/>
          </a:xfrm>
          <a:prstGeom prst="ellipse">
            <a:avLst/>
          </a:prstGeom>
          <a:solidFill>
            <a:srgbClr val="F96015"/>
          </a:solidFill>
          <a:ln/>
        </p:spPr>
      </p:sp>
      <p:sp>
        <p:nvSpPr>
          <p:cNvPr id="28" name="Text 26"/>
          <p:cNvSpPr txBox="1"/>
          <p:nvPr/>
        </p:nvSpPr>
        <p:spPr>
          <a:xfrm>
            <a:off x="783431" y="4969498"/>
            <a:ext cx="108977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pitada de sal</a:t>
            </a:r>
            <a:endParaRPr lang="en-US" sz="1100" dirty="0"/>
          </a:p>
        </p:txBody>
      </p:sp>
      <p:sp>
        <p:nvSpPr>
          <p:cNvPr id="29" name="Text 27"/>
          <p:cNvSpPr txBox="1"/>
          <p:nvPr/>
        </p:nvSpPr>
        <p:spPr>
          <a:xfrm>
            <a:off x="3894237" y="3078063"/>
            <a:ext cx="1295340"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CALDA ESPELHADA</a:t>
            </a:r>
            <a:endParaRPr lang="en-US" sz="1320" dirty="0"/>
          </a:p>
        </p:txBody>
      </p:sp>
      <p:sp>
        <p:nvSpPr>
          <p:cNvPr id="30" name="Shape 28"/>
          <p:cNvSpPr/>
          <p:nvPr/>
        </p:nvSpPr>
        <p:spPr>
          <a:xfrm>
            <a:off x="3913287" y="3451471"/>
            <a:ext cx="66675" cy="66675"/>
          </a:xfrm>
          <a:prstGeom prst="ellipse">
            <a:avLst/>
          </a:prstGeom>
          <a:solidFill>
            <a:srgbClr val="F96015"/>
          </a:solidFill>
          <a:ln/>
        </p:spPr>
      </p:sp>
      <p:sp>
        <p:nvSpPr>
          <p:cNvPr id="31" name="Text 29"/>
          <p:cNvSpPr txBox="1"/>
          <p:nvPr/>
        </p:nvSpPr>
        <p:spPr>
          <a:xfrm>
            <a:off x="4065687" y="3388348"/>
            <a:ext cx="298019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150 g de chocolate meio amargo picado</a:t>
            </a:r>
            <a:endParaRPr lang="en-US" sz="1100" dirty="0"/>
          </a:p>
        </p:txBody>
      </p:sp>
      <p:sp>
        <p:nvSpPr>
          <p:cNvPr id="32" name="Shape 30"/>
          <p:cNvSpPr/>
          <p:nvPr/>
        </p:nvSpPr>
        <p:spPr>
          <a:xfrm>
            <a:off x="3913287" y="3680071"/>
            <a:ext cx="66675" cy="66675"/>
          </a:xfrm>
          <a:prstGeom prst="ellipse">
            <a:avLst/>
          </a:prstGeom>
          <a:solidFill>
            <a:srgbClr val="F96015"/>
          </a:solidFill>
          <a:ln/>
        </p:spPr>
      </p:sp>
      <p:sp>
        <p:nvSpPr>
          <p:cNvPr id="33" name="Text 31"/>
          <p:cNvSpPr txBox="1"/>
          <p:nvPr/>
        </p:nvSpPr>
        <p:spPr>
          <a:xfrm>
            <a:off x="4065687" y="3616948"/>
            <a:ext cx="266336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caixinha (200 g) de creme de leite</a:t>
            </a:r>
            <a:endParaRPr lang="en-US" sz="1100" dirty="0"/>
          </a:p>
        </p:txBody>
      </p:sp>
      <p:sp>
        <p:nvSpPr>
          <p:cNvPr id="34" name="Shape 32"/>
          <p:cNvSpPr/>
          <p:nvPr/>
        </p:nvSpPr>
        <p:spPr>
          <a:xfrm>
            <a:off x="3913287" y="3908671"/>
            <a:ext cx="66675" cy="66675"/>
          </a:xfrm>
          <a:prstGeom prst="ellipse">
            <a:avLst/>
          </a:prstGeom>
          <a:solidFill>
            <a:srgbClr val="F96015"/>
          </a:solidFill>
          <a:ln/>
        </p:spPr>
      </p:sp>
      <p:sp>
        <p:nvSpPr>
          <p:cNvPr id="35" name="Text 33"/>
          <p:cNvSpPr txBox="1"/>
          <p:nvPr/>
        </p:nvSpPr>
        <p:spPr>
          <a:xfrm>
            <a:off x="4065687" y="3845548"/>
            <a:ext cx="166681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mel</a:t>
            </a:r>
            <a:endParaRPr lang="en-US" sz="1100" dirty="0"/>
          </a:p>
        </p:txBody>
      </p:sp>
      <p:sp>
        <p:nvSpPr>
          <p:cNvPr id="36" name="Shape 34"/>
          <p:cNvSpPr/>
          <p:nvPr/>
        </p:nvSpPr>
        <p:spPr>
          <a:xfrm>
            <a:off x="3913287" y="4137271"/>
            <a:ext cx="66675" cy="66675"/>
          </a:xfrm>
          <a:prstGeom prst="ellipse">
            <a:avLst/>
          </a:prstGeom>
          <a:solidFill>
            <a:srgbClr val="F96015"/>
          </a:solidFill>
          <a:ln/>
        </p:spPr>
      </p:sp>
      <p:sp>
        <p:nvSpPr>
          <p:cNvPr id="37" name="Text 35"/>
          <p:cNvSpPr txBox="1"/>
          <p:nvPr/>
        </p:nvSpPr>
        <p:spPr>
          <a:xfrm>
            <a:off x="4065687" y="4074148"/>
            <a:ext cx="2085975"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1 colher (sopa) de manteiga</a:t>
            </a:r>
            <a:endParaRPr lang="en-US" sz="1100" dirty="0"/>
          </a:p>
        </p:txBody>
      </p:sp>
      <p:sp>
        <p:nvSpPr>
          <p:cNvPr id="38" name="Text 36"/>
          <p:cNvSpPr txBox="1"/>
          <p:nvPr/>
        </p:nvSpPr>
        <p:spPr>
          <a:xfrm>
            <a:off x="611981" y="5419394"/>
            <a:ext cx="1611987"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MODO DE PREPARO</a:t>
            </a:r>
            <a:endParaRPr lang="en-US" sz="1650" dirty="0"/>
          </a:p>
        </p:txBody>
      </p:sp>
      <p:sp>
        <p:nvSpPr>
          <p:cNvPr id="39" name="Text 37"/>
          <p:cNvSpPr txBox="1"/>
          <p:nvPr/>
        </p:nvSpPr>
        <p:spPr>
          <a:xfrm>
            <a:off x="611981" y="5787926"/>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40" name="Text 38"/>
          <p:cNvSpPr txBox="1"/>
          <p:nvPr/>
        </p:nvSpPr>
        <p:spPr>
          <a:xfrm>
            <a:off x="897731" y="5811419"/>
            <a:ext cx="443501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Preaqueça o forno a 180 °C e unte e enfarinhe a assadeira.</a:t>
            </a:r>
            <a:endParaRPr lang="en-US" sz="1100" dirty="0"/>
          </a:p>
        </p:txBody>
      </p:sp>
      <p:sp>
        <p:nvSpPr>
          <p:cNvPr id="41" name="Text 39"/>
          <p:cNvSpPr txBox="1"/>
          <p:nvPr/>
        </p:nvSpPr>
        <p:spPr>
          <a:xfrm>
            <a:off x="611981" y="6026051"/>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42" name="Text 40"/>
          <p:cNvSpPr txBox="1"/>
          <p:nvPr/>
        </p:nvSpPr>
        <p:spPr>
          <a:xfrm>
            <a:off x="897731" y="605462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No liquidificador, bata a cenoura, os ovos, o óleo, o açúcar e o sal por 3 a 4 minutos, até ficar um creme bem liso e claro.</a:t>
            </a:r>
            <a:endParaRPr lang="en-US" sz="1100" dirty="0"/>
          </a:p>
        </p:txBody>
      </p:sp>
      <p:sp>
        <p:nvSpPr>
          <p:cNvPr id="43" name="Text 41"/>
          <p:cNvSpPr txBox="1"/>
          <p:nvPr/>
        </p:nvSpPr>
        <p:spPr>
          <a:xfrm>
            <a:off x="611981" y="6473726"/>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44" name="Text 42"/>
          <p:cNvSpPr txBox="1"/>
          <p:nvPr/>
        </p:nvSpPr>
        <p:spPr>
          <a:xfrm>
            <a:off x="897731" y="650230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Despeje numa tigela. Junte a farinha peneirada em três partes, misturando com um fouet ou espátula só até sumir. Por último, incorpore o fermento delicadamente.</a:t>
            </a:r>
            <a:endParaRPr lang="en-US" sz="1100" dirty="0"/>
          </a:p>
        </p:txBody>
      </p:sp>
      <p:sp>
        <p:nvSpPr>
          <p:cNvPr id="45" name="Text 43"/>
          <p:cNvSpPr txBox="1"/>
          <p:nvPr/>
        </p:nvSpPr>
        <p:spPr>
          <a:xfrm>
            <a:off x="611981" y="6921401"/>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46" name="Text 44"/>
          <p:cNvSpPr txBox="1"/>
          <p:nvPr/>
        </p:nvSpPr>
        <p:spPr>
          <a:xfrm>
            <a:off x="897731" y="6944894"/>
            <a:ext cx="6890683"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Asse por 35 a 40 minutos, até o palito sair limpo. Não abra o forno nos primeiros 25 minutos.</a:t>
            </a:r>
            <a:endParaRPr lang="en-US" sz="1100" dirty="0"/>
          </a:p>
        </p:txBody>
      </p:sp>
      <p:sp>
        <p:nvSpPr>
          <p:cNvPr id="47" name="Text 45"/>
          <p:cNvSpPr txBox="1"/>
          <p:nvPr/>
        </p:nvSpPr>
        <p:spPr>
          <a:xfrm>
            <a:off x="611981" y="7159526"/>
            <a:ext cx="226070"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5</a:t>
            </a:r>
            <a:endParaRPr lang="en-US" sz="1320" dirty="0"/>
          </a:p>
        </p:txBody>
      </p:sp>
      <p:sp>
        <p:nvSpPr>
          <p:cNvPr id="48" name="Text 46"/>
          <p:cNvSpPr txBox="1"/>
          <p:nvPr/>
        </p:nvSpPr>
        <p:spPr>
          <a:xfrm>
            <a:off x="897731" y="7188101"/>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Calda: aqueça o creme de leite até quase ferver e despeje sobre o chocolate picado. Espere 1 minuto e mexa do centro para fora até ficar liso. Junte o mel e a manteiga.</a:t>
            </a:r>
            <a:endParaRPr lang="en-US" sz="1100" dirty="0"/>
          </a:p>
        </p:txBody>
      </p:sp>
      <p:sp>
        <p:nvSpPr>
          <p:cNvPr id="49" name="Text 47"/>
          <p:cNvSpPr txBox="1"/>
          <p:nvPr/>
        </p:nvSpPr>
        <p:spPr>
          <a:xfrm>
            <a:off x="611981" y="7607201"/>
            <a:ext cx="226219"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6</a:t>
            </a:r>
            <a:endParaRPr lang="en-US" sz="1320" dirty="0"/>
          </a:p>
        </p:txBody>
      </p:sp>
      <p:sp>
        <p:nvSpPr>
          <p:cNvPr id="50" name="Text 48"/>
          <p:cNvSpPr txBox="1"/>
          <p:nvPr/>
        </p:nvSpPr>
        <p:spPr>
          <a:xfrm>
            <a:off x="897731" y="7635776"/>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Com o bolo morno, despeje a calda de uma vez no centro e deixe que ela escorra sozinha, espalhando o mínimo possível, para manter o brilho.</a:t>
            </a:r>
            <a:endParaRPr lang="en-US" sz="1100" dirty="0"/>
          </a:p>
        </p:txBody>
      </p:sp>
      <p:sp>
        <p:nvSpPr>
          <p:cNvPr id="51" name="Shape 49"/>
          <p:cNvSpPr/>
          <p:nvPr/>
        </p:nvSpPr>
        <p:spPr>
          <a:xfrm>
            <a:off x="611981" y="8140601"/>
            <a:ext cx="6335911" cy="1401217"/>
          </a:xfrm>
          <a:prstGeom prst="roundRect">
            <a:avLst>
              <a:gd name="adj" fmla="val 4436"/>
            </a:avLst>
          </a:prstGeom>
          <a:solidFill>
            <a:srgbClr val="FFC926"/>
          </a:solidFill>
          <a:ln/>
        </p:spPr>
      </p:sp>
      <p:sp>
        <p:nvSpPr>
          <p:cNvPr id="52" name="Text 50"/>
          <p:cNvSpPr txBox="1"/>
          <p:nvPr/>
        </p:nvSpPr>
        <p:spPr>
          <a:xfrm>
            <a:off x="764381" y="8245376"/>
            <a:ext cx="1255871" cy="228600"/>
          </a:xfrm>
          <a:prstGeom prst="rect">
            <a:avLst/>
          </a:prstGeom>
          <a:noFill/>
          <a:ln/>
        </p:spPr>
        <p:txBody>
          <a:bodyPr wrap="square" lIns="0" tIns="0" rIns="0" bIns="0" rtlCol="0" anchor="ctr"/>
          <a:lstStyle/>
          <a:p>
            <a:pPr algn="l" indent="0" marL="0">
              <a:buNone/>
            </a:pPr>
            <a:r>
              <a:rPr lang="en-US" sz="1320" dirty="0">
                <a:solidFill>
                  <a:srgbClr val="D52518"/>
                </a:solidFill>
                <a:latin typeface="Barlow Condensed SemiBold" pitchFamily="34" charset="0"/>
                <a:ea typeface="Barlow Condensed SemiBold" pitchFamily="34" charset="-122"/>
                <a:cs typeface="Barlow Condensed SemiBold" pitchFamily="34" charset="-120"/>
              </a:rPr>
              <a:t>SEGREDO DE CHEF</a:t>
            </a:r>
            <a:endParaRPr lang="en-US" sz="1320" dirty="0"/>
          </a:p>
        </p:txBody>
      </p:sp>
      <p:sp>
        <p:nvSpPr>
          <p:cNvPr id="53" name="Text 51"/>
          <p:cNvSpPr txBox="1"/>
          <p:nvPr/>
        </p:nvSpPr>
        <p:spPr>
          <a:xfrm>
            <a:off x="764381" y="8560743"/>
            <a:ext cx="6031111" cy="8001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Bolo que sola tem três culpados: farinha batida demais, fermento misturado com força e forno aberto cedo. Por isso o liquidificador cuida só da emulsão (cenoura, ovos e óleo), a farinha entra à mão, o fermento vai por último e o forno fica fechado nos primeiros 25 minutos. O mel na calda é o que dá o efeito espelhado.</a:t>
            </a:r>
            <a:endParaRPr lang="en-US" sz="1100" dirty="0"/>
          </a:p>
        </p:txBody>
      </p:sp>
      <p:sp>
        <p:nvSpPr>
          <p:cNvPr id="54" name="Text 52"/>
          <p:cNvSpPr txBox="1"/>
          <p:nvPr/>
        </p:nvSpPr>
        <p:spPr>
          <a:xfrm>
            <a:off x="5893445"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55" name="Text 53"/>
          <p:cNvSpPr txBox="1"/>
          <p:nvPr/>
        </p:nvSpPr>
        <p:spPr>
          <a:xfrm>
            <a:off x="6826597" y="10253663"/>
            <a:ext cx="273695"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52</a:t>
            </a:r>
            <a:endParaRPr lang="en-US" sz="83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611981" y="566440"/>
            <a:ext cx="1849517"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O PULO DO CHEF · CENOURA</a:t>
            </a:r>
            <a:endParaRPr lang="en-US" sz="960" dirty="0"/>
          </a:p>
        </p:txBody>
      </p:sp>
      <p:sp>
        <p:nvSpPr>
          <p:cNvPr id="3" name="Text 1"/>
          <p:cNvSpPr txBox="1"/>
          <p:nvPr/>
        </p:nvSpPr>
        <p:spPr>
          <a:xfrm>
            <a:off x="611981" y="779960"/>
            <a:ext cx="5160645"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CENOURA COZIDA NA ÁGUA, SEM GRAÇA</a:t>
            </a:r>
            <a:endParaRPr lang="en-US" sz="2420" dirty="0"/>
          </a:p>
        </p:txBody>
      </p:sp>
      <p:sp>
        <p:nvSpPr>
          <p:cNvPr id="4" name="Text 2"/>
          <p:cNvSpPr txBox="1"/>
          <p:nvPr/>
        </p:nvSpPr>
        <p:spPr>
          <a:xfrm>
            <a:off x="611981" y="1377818"/>
            <a:ext cx="674489"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O ERRO</a:t>
            </a:r>
            <a:endParaRPr lang="en-US" sz="1650" dirty="0"/>
          </a:p>
        </p:txBody>
      </p:sp>
      <p:sp>
        <p:nvSpPr>
          <p:cNvPr id="5" name="Text 3"/>
          <p:cNvSpPr txBox="1"/>
          <p:nvPr/>
        </p:nvSpPr>
        <p:spPr>
          <a:xfrm>
            <a:off x="611981" y="1774924"/>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Cozinhar a cenoura em muita água e escorrer. O açúcar e o sabor dela vão embora pelo ralo da pia, junto com a água.</a:t>
            </a:r>
            <a:endParaRPr lang="en-US" sz="1100" dirty="0"/>
          </a:p>
        </p:txBody>
      </p:sp>
      <p:sp>
        <p:nvSpPr>
          <p:cNvPr id="6" name="Text 4"/>
          <p:cNvSpPr txBox="1"/>
          <p:nvPr/>
        </p:nvSpPr>
        <p:spPr>
          <a:xfrm>
            <a:off x="611981" y="2429289"/>
            <a:ext cx="914400"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A TÉCNICA</a:t>
            </a:r>
            <a:endParaRPr lang="en-US" sz="1650" dirty="0"/>
          </a:p>
        </p:txBody>
      </p:sp>
      <p:sp>
        <p:nvSpPr>
          <p:cNvPr id="7" name="Text 5"/>
          <p:cNvSpPr txBox="1"/>
          <p:nvPr/>
        </p:nvSpPr>
        <p:spPr>
          <a:xfrm>
            <a:off x="611981" y="2797820"/>
            <a:ext cx="20002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1</a:t>
            </a:r>
            <a:endParaRPr lang="en-US" sz="1320" dirty="0"/>
          </a:p>
        </p:txBody>
      </p:sp>
      <p:sp>
        <p:nvSpPr>
          <p:cNvPr id="8" name="Text 6"/>
          <p:cNvSpPr txBox="1"/>
          <p:nvPr/>
        </p:nvSpPr>
        <p:spPr>
          <a:xfrm>
            <a:off x="897731" y="2826395"/>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Glaçagem, a técnica do chef: cenoura em rodelas numa frigideira, água só até a metade da altura, 1 colher de manteiga, 1 pitada de açúcar e outra de sal.</a:t>
            </a:r>
            <a:endParaRPr lang="en-US" sz="1100" dirty="0"/>
          </a:p>
        </p:txBody>
      </p:sp>
      <p:sp>
        <p:nvSpPr>
          <p:cNvPr id="9" name="Text 7"/>
          <p:cNvSpPr txBox="1"/>
          <p:nvPr/>
        </p:nvSpPr>
        <p:spPr>
          <a:xfrm>
            <a:off x="611981" y="3245495"/>
            <a:ext cx="22592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2</a:t>
            </a:r>
            <a:endParaRPr lang="en-US" sz="1320" dirty="0"/>
          </a:p>
        </p:txBody>
      </p:sp>
      <p:sp>
        <p:nvSpPr>
          <p:cNvPr id="10" name="Text 8"/>
          <p:cNvSpPr txBox="1"/>
          <p:nvPr/>
        </p:nvSpPr>
        <p:spPr>
          <a:xfrm>
            <a:off x="897731" y="3268988"/>
            <a:ext cx="60073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Fogo médio e panela destampada: a cenoura cozinha enquanto a água evapora.</a:t>
            </a:r>
            <a:endParaRPr lang="en-US" sz="1100" dirty="0"/>
          </a:p>
        </p:txBody>
      </p:sp>
      <p:sp>
        <p:nvSpPr>
          <p:cNvPr id="11" name="Text 9"/>
          <p:cNvSpPr txBox="1"/>
          <p:nvPr/>
        </p:nvSpPr>
        <p:spPr>
          <a:xfrm>
            <a:off x="611981" y="3483620"/>
            <a:ext cx="225475"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3</a:t>
            </a:r>
            <a:endParaRPr lang="en-US" sz="1320" dirty="0"/>
          </a:p>
        </p:txBody>
      </p:sp>
      <p:sp>
        <p:nvSpPr>
          <p:cNvPr id="12" name="Text 10"/>
          <p:cNvSpPr txBox="1"/>
          <p:nvPr/>
        </p:nvSpPr>
        <p:spPr>
          <a:xfrm>
            <a:off x="897731" y="3512195"/>
            <a:ext cx="605016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Quando a água secar, a manteiga e o açúcar viram uma película brilhante que envolve cada rodela. Mexa por 1 minuto e pronto.</a:t>
            </a:r>
            <a:endParaRPr lang="en-US" sz="1100" dirty="0"/>
          </a:p>
        </p:txBody>
      </p:sp>
      <p:sp>
        <p:nvSpPr>
          <p:cNvPr id="13" name="Text 11"/>
          <p:cNvSpPr txBox="1"/>
          <p:nvPr/>
        </p:nvSpPr>
        <p:spPr>
          <a:xfrm>
            <a:off x="611981" y="3931295"/>
            <a:ext cx="233511" cy="228600"/>
          </a:xfrm>
          <a:prstGeom prst="rect">
            <a:avLst/>
          </a:prstGeom>
          <a:noFill/>
          <a:ln/>
        </p:spPr>
        <p:txBody>
          <a:bodyPr wrap="square" lIns="0" tIns="0" rIns="0" bIns="0" rtlCol="0" anchor="ctr"/>
          <a:lstStyle/>
          <a:p>
            <a:pPr algn="l" indent="0" marL="0">
              <a:buNone/>
            </a:pPr>
            <a:r>
              <a:rPr lang="en-US" sz="1320" b="1" dirty="0">
                <a:solidFill>
                  <a:srgbClr val="D52518"/>
                </a:solidFill>
                <a:latin typeface="Barlow Condensed" pitchFamily="34" charset="0"/>
                <a:ea typeface="Barlow Condensed" pitchFamily="34" charset="-122"/>
                <a:cs typeface="Barlow Condensed" pitchFamily="34" charset="-120"/>
              </a:rPr>
              <a:t>4</a:t>
            </a:r>
            <a:endParaRPr lang="en-US" sz="1320" dirty="0"/>
          </a:p>
        </p:txBody>
      </p:sp>
      <p:sp>
        <p:nvSpPr>
          <p:cNvPr id="14" name="Text 12"/>
          <p:cNvSpPr txBox="1"/>
          <p:nvPr/>
        </p:nvSpPr>
        <p:spPr>
          <a:xfrm>
            <a:off x="897731" y="3954788"/>
            <a:ext cx="611862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Resultado: cenoura macia, brilhante e com todo o sabor dentro dela, não na água.</a:t>
            </a:r>
            <a:endParaRPr lang="en-US" sz="1100" dirty="0"/>
          </a:p>
        </p:txBody>
      </p:sp>
      <p:sp>
        <p:nvSpPr>
          <p:cNvPr id="15" name="Text 13"/>
          <p:cNvSpPr txBox="1"/>
          <p:nvPr/>
        </p:nvSpPr>
        <p:spPr>
          <a:xfrm>
            <a:off x="611981" y="4404684"/>
            <a:ext cx="1310521"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NÃO TEM ISSO?</a:t>
            </a:r>
            <a:endParaRPr lang="en-US" sz="1650" dirty="0"/>
          </a:p>
        </p:txBody>
      </p:sp>
      <p:sp>
        <p:nvSpPr>
          <p:cNvPr id="16" name="Shape 14"/>
          <p:cNvSpPr/>
          <p:nvPr/>
        </p:nvSpPr>
        <p:spPr>
          <a:xfrm>
            <a:off x="611981" y="4773216"/>
            <a:ext cx="2280791" cy="298996"/>
          </a:xfrm>
          <a:prstGeom prst="rect">
            <a:avLst/>
          </a:prstGeom>
          <a:solidFill>
            <a:srgbClr val="18542A"/>
          </a:solidFill>
          <a:ln/>
        </p:spPr>
      </p:sp>
      <p:sp>
        <p:nvSpPr>
          <p:cNvPr id="17" name="Text 15"/>
          <p:cNvSpPr txBox="1"/>
          <p:nvPr/>
        </p:nvSpPr>
        <p:spPr>
          <a:xfrm>
            <a:off x="707231" y="4839891"/>
            <a:ext cx="10208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SE NÃO TIVER…</a:t>
            </a:r>
            <a:endParaRPr lang="en-US" sz="960" dirty="0"/>
          </a:p>
        </p:txBody>
      </p:sp>
      <p:sp>
        <p:nvSpPr>
          <p:cNvPr id="18" name="Shape 16"/>
          <p:cNvSpPr/>
          <p:nvPr/>
        </p:nvSpPr>
        <p:spPr>
          <a:xfrm>
            <a:off x="2892772" y="4773216"/>
            <a:ext cx="4055120" cy="298996"/>
          </a:xfrm>
          <a:prstGeom prst="rect">
            <a:avLst/>
          </a:prstGeom>
          <a:solidFill>
            <a:srgbClr val="18542A"/>
          </a:solidFill>
          <a:ln/>
        </p:spPr>
      </p:sp>
      <p:sp>
        <p:nvSpPr>
          <p:cNvPr id="19" name="Text 17"/>
          <p:cNvSpPr txBox="1"/>
          <p:nvPr/>
        </p:nvSpPr>
        <p:spPr>
          <a:xfrm>
            <a:off x="2988022" y="4839891"/>
            <a:ext cx="458242" cy="171450"/>
          </a:xfrm>
          <a:prstGeom prst="rect">
            <a:avLst/>
          </a:prstGeom>
          <a:noFill/>
          <a:ln/>
        </p:spPr>
        <p:txBody>
          <a:bodyPr wrap="square" lIns="0" tIns="0" rIns="0" bIns="0" rtlCol="0" anchor="ctr"/>
          <a:lstStyle/>
          <a:p>
            <a:pPr algn="l" indent="0" marL="0">
              <a:buNone/>
            </a:pPr>
            <a:r>
              <a:rPr lang="en-US" sz="960" spc="116" kern="0" dirty="0">
                <a:solidFill>
                  <a:srgbClr val="F6EBCE"/>
                </a:solidFill>
                <a:latin typeface="Barlow Condensed SemiBold" pitchFamily="34" charset="0"/>
                <a:ea typeface="Barlow Condensed SemiBold" pitchFamily="34" charset="-122"/>
                <a:cs typeface="Barlow Condensed SemiBold" pitchFamily="34" charset="-120"/>
              </a:rPr>
              <a:t>USE…</a:t>
            </a:r>
            <a:endParaRPr lang="en-US" sz="960" dirty="0"/>
          </a:p>
        </p:txBody>
      </p:sp>
      <p:sp>
        <p:nvSpPr>
          <p:cNvPr id="20" name="Shape 18"/>
          <p:cNvSpPr/>
          <p:nvPr/>
        </p:nvSpPr>
        <p:spPr>
          <a:xfrm>
            <a:off x="611981" y="5419874"/>
            <a:ext cx="2280791" cy="0"/>
          </a:xfrm>
          <a:prstGeom prst="line">
            <a:avLst/>
          </a:prstGeom>
          <a:noFill/>
          <a:ln w="9525">
            <a:solidFill>
              <a:srgbClr val="EADCB8"/>
            </a:solidFill>
            <a:prstDash val="solid"/>
          </a:ln>
        </p:spPr>
      </p:sp>
      <p:sp>
        <p:nvSpPr>
          <p:cNvPr id="21" name="Text 19"/>
          <p:cNvSpPr txBox="1"/>
          <p:nvPr/>
        </p:nvSpPr>
        <p:spPr>
          <a:xfrm>
            <a:off x="707231" y="5148411"/>
            <a:ext cx="325041"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Mel</a:t>
            </a:r>
            <a:endParaRPr lang="en-US" sz="1170" dirty="0"/>
          </a:p>
        </p:txBody>
      </p:sp>
      <p:sp>
        <p:nvSpPr>
          <p:cNvPr id="22" name="Shape 20"/>
          <p:cNvSpPr/>
          <p:nvPr/>
        </p:nvSpPr>
        <p:spPr>
          <a:xfrm>
            <a:off x="2892772" y="5419874"/>
            <a:ext cx="4055120" cy="0"/>
          </a:xfrm>
          <a:prstGeom prst="line">
            <a:avLst/>
          </a:prstGeom>
          <a:noFill/>
          <a:ln w="9525">
            <a:solidFill>
              <a:srgbClr val="EADCB8"/>
            </a:solidFill>
            <a:prstDash val="solid"/>
          </a:ln>
        </p:spPr>
      </p:sp>
      <p:sp>
        <p:nvSpPr>
          <p:cNvPr id="23" name="Text 21"/>
          <p:cNvSpPr txBox="1"/>
          <p:nvPr/>
        </p:nvSpPr>
        <p:spPr>
          <a:xfrm>
            <a:off x="2988022" y="5162379"/>
            <a:ext cx="427428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Melaço, xarope de bordo ou 1 colher de açúcar mascavo.</a:t>
            </a:r>
            <a:endParaRPr lang="en-US" sz="1100" dirty="0"/>
          </a:p>
        </p:txBody>
      </p:sp>
      <p:sp>
        <p:nvSpPr>
          <p:cNvPr id="24" name="Shape 22"/>
          <p:cNvSpPr/>
          <p:nvPr/>
        </p:nvSpPr>
        <p:spPr>
          <a:xfrm>
            <a:off x="611981" y="5772299"/>
            <a:ext cx="2280791" cy="0"/>
          </a:xfrm>
          <a:prstGeom prst="line">
            <a:avLst/>
          </a:prstGeom>
          <a:noFill/>
          <a:ln w="9525">
            <a:solidFill>
              <a:srgbClr val="EADCB8"/>
            </a:solidFill>
            <a:prstDash val="solid"/>
          </a:ln>
        </p:spPr>
      </p:sp>
      <p:sp>
        <p:nvSpPr>
          <p:cNvPr id="25" name="Text 23"/>
          <p:cNvSpPr txBox="1"/>
          <p:nvPr/>
        </p:nvSpPr>
        <p:spPr>
          <a:xfrm>
            <a:off x="707231" y="5500836"/>
            <a:ext cx="934224"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Tomilho fresco</a:t>
            </a:r>
            <a:endParaRPr lang="en-US" sz="1170" dirty="0"/>
          </a:p>
        </p:txBody>
      </p:sp>
      <p:sp>
        <p:nvSpPr>
          <p:cNvPr id="26" name="Shape 24"/>
          <p:cNvSpPr/>
          <p:nvPr/>
        </p:nvSpPr>
        <p:spPr>
          <a:xfrm>
            <a:off x="2892772" y="5772299"/>
            <a:ext cx="4055120" cy="0"/>
          </a:xfrm>
          <a:prstGeom prst="line">
            <a:avLst/>
          </a:prstGeom>
          <a:noFill/>
          <a:ln w="9525">
            <a:solidFill>
              <a:srgbClr val="EADCB8"/>
            </a:solidFill>
            <a:prstDash val="solid"/>
          </a:ln>
        </p:spPr>
      </p:sp>
      <p:sp>
        <p:nvSpPr>
          <p:cNvPr id="27" name="Text 25"/>
          <p:cNvSpPr txBox="1"/>
          <p:nvPr/>
        </p:nvSpPr>
        <p:spPr>
          <a:xfrm>
            <a:off x="2988022" y="5514804"/>
            <a:ext cx="4385727"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Alecrim, orégano fresco ou ½ colher (chá) de tomilho seco.</a:t>
            </a:r>
            <a:endParaRPr lang="en-US" sz="1100" dirty="0"/>
          </a:p>
        </p:txBody>
      </p:sp>
      <p:sp>
        <p:nvSpPr>
          <p:cNvPr id="28" name="Shape 26"/>
          <p:cNvSpPr/>
          <p:nvPr/>
        </p:nvSpPr>
        <p:spPr>
          <a:xfrm>
            <a:off x="611981" y="6124724"/>
            <a:ext cx="2280791" cy="0"/>
          </a:xfrm>
          <a:prstGeom prst="line">
            <a:avLst/>
          </a:prstGeom>
          <a:noFill/>
          <a:ln w="9525">
            <a:solidFill>
              <a:srgbClr val="EADCB8"/>
            </a:solidFill>
            <a:prstDash val="solid"/>
          </a:ln>
        </p:spPr>
      </p:sp>
      <p:sp>
        <p:nvSpPr>
          <p:cNvPr id="29" name="Text 27"/>
          <p:cNvSpPr txBox="1"/>
          <p:nvPr/>
        </p:nvSpPr>
        <p:spPr>
          <a:xfrm>
            <a:off x="707231" y="5853261"/>
            <a:ext cx="990838"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Aveia em flocos</a:t>
            </a:r>
            <a:endParaRPr lang="en-US" sz="1170" dirty="0"/>
          </a:p>
        </p:txBody>
      </p:sp>
      <p:sp>
        <p:nvSpPr>
          <p:cNvPr id="30" name="Shape 28"/>
          <p:cNvSpPr/>
          <p:nvPr/>
        </p:nvSpPr>
        <p:spPr>
          <a:xfrm>
            <a:off x="2892772" y="6124724"/>
            <a:ext cx="4055120" cy="0"/>
          </a:xfrm>
          <a:prstGeom prst="line">
            <a:avLst/>
          </a:prstGeom>
          <a:noFill/>
          <a:ln w="9525">
            <a:solidFill>
              <a:srgbClr val="EADCB8"/>
            </a:solidFill>
            <a:prstDash val="solid"/>
          </a:ln>
        </p:spPr>
      </p:sp>
      <p:sp>
        <p:nvSpPr>
          <p:cNvPr id="31" name="Text 29"/>
          <p:cNvSpPr txBox="1"/>
          <p:nvPr/>
        </p:nvSpPr>
        <p:spPr>
          <a:xfrm>
            <a:off x="2988022" y="5867229"/>
            <a:ext cx="3417749"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Farinha de rosca ou farinha de mandioca fina.</a:t>
            </a:r>
            <a:endParaRPr lang="en-US" sz="1100" dirty="0"/>
          </a:p>
        </p:txBody>
      </p:sp>
      <p:sp>
        <p:nvSpPr>
          <p:cNvPr id="32" name="Shape 30"/>
          <p:cNvSpPr/>
          <p:nvPr/>
        </p:nvSpPr>
        <p:spPr>
          <a:xfrm>
            <a:off x="611981" y="6477149"/>
            <a:ext cx="2280791" cy="0"/>
          </a:xfrm>
          <a:prstGeom prst="line">
            <a:avLst/>
          </a:prstGeom>
          <a:noFill/>
          <a:ln w="9525">
            <a:solidFill>
              <a:srgbClr val="EADCB8"/>
            </a:solidFill>
            <a:prstDash val="solid"/>
          </a:ln>
        </p:spPr>
      </p:sp>
      <p:sp>
        <p:nvSpPr>
          <p:cNvPr id="33" name="Text 31"/>
          <p:cNvSpPr txBox="1"/>
          <p:nvPr/>
        </p:nvSpPr>
        <p:spPr>
          <a:xfrm>
            <a:off x="707231" y="6205686"/>
            <a:ext cx="1488579"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Chocolate meio amargo</a:t>
            </a:r>
            <a:endParaRPr lang="en-US" sz="1170" dirty="0"/>
          </a:p>
        </p:txBody>
      </p:sp>
      <p:sp>
        <p:nvSpPr>
          <p:cNvPr id="34" name="Shape 32"/>
          <p:cNvSpPr/>
          <p:nvPr/>
        </p:nvSpPr>
        <p:spPr>
          <a:xfrm>
            <a:off x="2892772" y="6477149"/>
            <a:ext cx="4055120" cy="0"/>
          </a:xfrm>
          <a:prstGeom prst="line">
            <a:avLst/>
          </a:prstGeom>
          <a:noFill/>
          <a:ln w="9525">
            <a:solidFill>
              <a:srgbClr val="EADCB8"/>
            </a:solidFill>
            <a:prstDash val="solid"/>
          </a:ln>
        </p:spPr>
      </p:sp>
      <p:sp>
        <p:nvSpPr>
          <p:cNvPr id="35" name="Text 33"/>
          <p:cNvSpPr txBox="1"/>
          <p:nvPr/>
        </p:nvSpPr>
        <p:spPr>
          <a:xfrm>
            <a:off x="2988022" y="6219654"/>
            <a:ext cx="415319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Chocolate ao leite com 1 colher (sopa) de cacau em pó.</a:t>
            </a:r>
            <a:endParaRPr lang="en-US" sz="1100" dirty="0"/>
          </a:p>
        </p:txBody>
      </p:sp>
      <p:sp>
        <p:nvSpPr>
          <p:cNvPr id="36" name="Shape 34"/>
          <p:cNvSpPr/>
          <p:nvPr/>
        </p:nvSpPr>
        <p:spPr>
          <a:xfrm>
            <a:off x="611981" y="6829574"/>
            <a:ext cx="2280791" cy="0"/>
          </a:xfrm>
          <a:prstGeom prst="line">
            <a:avLst/>
          </a:prstGeom>
          <a:noFill/>
          <a:ln w="9525">
            <a:solidFill>
              <a:srgbClr val="EADCB8"/>
            </a:solidFill>
            <a:prstDash val="solid"/>
          </a:ln>
        </p:spPr>
      </p:sp>
      <p:sp>
        <p:nvSpPr>
          <p:cNvPr id="37" name="Text 35"/>
          <p:cNvSpPr txBox="1"/>
          <p:nvPr/>
        </p:nvSpPr>
        <p:spPr>
          <a:xfrm>
            <a:off x="707231" y="6558111"/>
            <a:ext cx="908000"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Creme de leite</a:t>
            </a:r>
            <a:endParaRPr lang="en-US" sz="1170" dirty="0"/>
          </a:p>
        </p:txBody>
      </p:sp>
      <p:sp>
        <p:nvSpPr>
          <p:cNvPr id="38" name="Shape 36"/>
          <p:cNvSpPr/>
          <p:nvPr/>
        </p:nvSpPr>
        <p:spPr>
          <a:xfrm>
            <a:off x="2892772" y="6829574"/>
            <a:ext cx="4055120" cy="0"/>
          </a:xfrm>
          <a:prstGeom prst="line">
            <a:avLst/>
          </a:prstGeom>
          <a:noFill/>
          <a:ln w="9525">
            <a:solidFill>
              <a:srgbClr val="EADCB8"/>
            </a:solidFill>
            <a:prstDash val="solid"/>
          </a:ln>
        </p:spPr>
      </p:sp>
      <p:sp>
        <p:nvSpPr>
          <p:cNvPr id="39" name="Text 37"/>
          <p:cNvSpPr txBox="1"/>
          <p:nvPr/>
        </p:nvSpPr>
        <p:spPr>
          <a:xfrm>
            <a:off x="2988022" y="6572079"/>
            <a:ext cx="272819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Leite integral (a calda fica mais fina).</a:t>
            </a:r>
            <a:endParaRPr lang="en-US" sz="1100" dirty="0"/>
          </a:p>
        </p:txBody>
      </p:sp>
      <p:sp>
        <p:nvSpPr>
          <p:cNvPr id="40" name="Shape 38"/>
          <p:cNvSpPr/>
          <p:nvPr/>
        </p:nvSpPr>
        <p:spPr>
          <a:xfrm>
            <a:off x="611981" y="7181999"/>
            <a:ext cx="2280791" cy="0"/>
          </a:xfrm>
          <a:prstGeom prst="line">
            <a:avLst/>
          </a:prstGeom>
          <a:noFill/>
          <a:ln w="9525">
            <a:solidFill>
              <a:srgbClr val="EADCB8"/>
            </a:solidFill>
            <a:prstDash val="solid"/>
          </a:ln>
        </p:spPr>
      </p:sp>
      <p:sp>
        <p:nvSpPr>
          <p:cNvPr id="41" name="Text 39"/>
          <p:cNvSpPr txBox="1"/>
          <p:nvPr/>
        </p:nvSpPr>
        <p:spPr>
          <a:xfrm>
            <a:off x="707231" y="6910536"/>
            <a:ext cx="1343025" cy="200025"/>
          </a:xfrm>
          <a:prstGeom prst="rect">
            <a:avLst/>
          </a:prstGeom>
          <a:noFill/>
          <a:ln/>
        </p:spPr>
        <p:txBody>
          <a:bodyPr wrap="square" lIns="0" tIns="0" rIns="0" bIns="0" rtlCol="0" anchor="ctr"/>
          <a:lstStyle/>
          <a:p>
            <a:pPr algn="l" indent="0" marL="0">
              <a:buNone/>
            </a:pPr>
            <a:r>
              <a:rPr lang="en-US" sz="1170" dirty="0">
                <a:solidFill>
                  <a:srgbClr val="D52518"/>
                </a:solidFill>
                <a:latin typeface="Barlow Condensed SemiBold" pitchFamily="34" charset="0"/>
                <a:ea typeface="Barlow Condensed SemiBold" pitchFamily="34" charset="-122"/>
                <a:cs typeface="Barlow Condensed SemiBold" pitchFamily="34" charset="-120"/>
              </a:rPr>
              <a:t>Amendoim (no pesto)</a:t>
            </a:r>
            <a:endParaRPr lang="en-US" sz="1170" dirty="0"/>
          </a:p>
        </p:txBody>
      </p:sp>
      <p:sp>
        <p:nvSpPr>
          <p:cNvPr id="42" name="Shape 40"/>
          <p:cNvSpPr/>
          <p:nvPr/>
        </p:nvSpPr>
        <p:spPr>
          <a:xfrm>
            <a:off x="2892772" y="7181999"/>
            <a:ext cx="4055120" cy="0"/>
          </a:xfrm>
          <a:prstGeom prst="line">
            <a:avLst/>
          </a:prstGeom>
          <a:noFill/>
          <a:ln w="9525">
            <a:solidFill>
              <a:srgbClr val="EADCB8"/>
            </a:solidFill>
            <a:prstDash val="solid"/>
          </a:ln>
        </p:spPr>
      </p:sp>
      <p:sp>
        <p:nvSpPr>
          <p:cNvPr id="43" name="Text 41"/>
          <p:cNvSpPr txBox="1"/>
          <p:nvPr/>
        </p:nvSpPr>
        <p:spPr>
          <a:xfrm>
            <a:off x="2988022" y="6924504"/>
            <a:ext cx="4637544"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Castanha-de-caju, castanha-do-pará ou sementes de girassol.</a:t>
            </a:r>
            <a:endParaRPr lang="en-US" sz="1100" dirty="0"/>
          </a:p>
        </p:txBody>
      </p:sp>
      <p:sp>
        <p:nvSpPr>
          <p:cNvPr id="44" name="Text 42"/>
          <p:cNvSpPr txBox="1"/>
          <p:nvPr/>
        </p:nvSpPr>
        <p:spPr>
          <a:xfrm>
            <a:off x="5893594"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45" name="Text 43"/>
          <p:cNvSpPr txBox="1"/>
          <p:nvPr/>
        </p:nvSpPr>
        <p:spPr>
          <a:xfrm>
            <a:off x="6826746" y="10253663"/>
            <a:ext cx="273546"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53</a:t>
            </a:r>
            <a:endParaRPr lang="en-US" sz="83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611981" y="566440"/>
            <a:ext cx="2397264"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APROVEITA ISSO TAMBÉM · CENOURA</a:t>
            </a:r>
            <a:endParaRPr lang="en-US" sz="960" dirty="0"/>
          </a:p>
        </p:txBody>
      </p:sp>
      <p:sp>
        <p:nvSpPr>
          <p:cNvPr id="3" name="Text 1"/>
          <p:cNvSpPr txBox="1"/>
          <p:nvPr/>
        </p:nvSpPr>
        <p:spPr>
          <a:xfrm>
            <a:off x="611981" y="779960"/>
            <a:ext cx="2949654"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NADA VAI PARA O LIXO</a:t>
            </a:r>
            <a:endParaRPr lang="en-US" sz="2420" dirty="0"/>
          </a:p>
        </p:txBody>
      </p:sp>
      <p:sp>
        <p:nvSpPr>
          <p:cNvPr id="4" name="Text 2"/>
          <p:cNvSpPr txBox="1"/>
          <p:nvPr/>
        </p:nvSpPr>
        <p:spPr>
          <a:xfrm>
            <a:off x="611981" y="1377818"/>
            <a:ext cx="2128123"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CASCAS: CHIPS ASSADOS</a:t>
            </a:r>
            <a:endParaRPr lang="en-US" sz="1650" dirty="0"/>
          </a:p>
        </p:txBody>
      </p:sp>
      <p:sp>
        <p:nvSpPr>
          <p:cNvPr id="5" name="Text 3"/>
          <p:cNvSpPr txBox="1"/>
          <p:nvPr/>
        </p:nvSpPr>
        <p:spPr>
          <a:xfrm>
            <a:off x="611981" y="1774924"/>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 descascar as cenouras, guarde as cascas. Seque bem, misture com um fio de azeite, sal e uma pitada de cominho e espalhe sem amontoar. Leve à airfryer a 170 °C por 6 a 8 minutos ou ao forno a 150 °C por 15 a 20 minutos, de olho: elas são finas e passam do ponto rápido.</a:t>
            </a:r>
            <a:endParaRPr lang="en-US" sz="1100" dirty="0"/>
          </a:p>
        </p:txBody>
      </p:sp>
      <p:sp>
        <p:nvSpPr>
          <p:cNvPr id="6" name="Text 4"/>
          <p:cNvSpPr txBox="1"/>
          <p:nvPr/>
        </p:nvSpPr>
        <p:spPr>
          <a:xfrm>
            <a:off x="611981" y="2638839"/>
            <a:ext cx="4738628" cy="272421"/>
          </a:xfrm>
          <a:prstGeom prst="rect">
            <a:avLst/>
          </a:prstGeom>
          <a:noFill/>
          <a:ln/>
        </p:spPr>
        <p:txBody>
          <a:bodyPr wrap="square" lIns="0" tIns="0" rIns="0" bIns="0" rtlCol="0" anchor="ctr"/>
          <a:lstStyle/>
          <a:p>
            <a:pPr algn="l" indent="0" marL="0">
              <a:buNone/>
            </a:pPr>
            <a:r>
              <a:rPr lang="en-US" sz="1650" dirty="0">
                <a:solidFill>
                  <a:srgbClr val="18542A"/>
                </a:solidFill>
                <a:latin typeface="Barlow Condensed SemiBold" pitchFamily="34" charset="0"/>
                <a:ea typeface="Barlow Condensed SemiBold" pitchFamily="34" charset="-122"/>
                <a:cs typeface="Barlow Condensed SemiBold" pitchFamily="34" charset="-120"/>
              </a:rPr>
              <a:t>RAMAS (FOLHAS): PESTO COM AMENDOIM OU CASTANHA</a:t>
            </a:r>
            <a:endParaRPr lang="en-US" sz="1650" dirty="0"/>
          </a:p>
        </p:txBody>
      </p:sp>
      <p:sp>
        <p:nvSpPr>
          <p:cNvPr id="7" name="Text 5"/>
          <p:cNvSpPr txBox="1"/>
          <p:nvPr/>
        </p:nvSpPr>
        <p:spPr>
          <a:xfrm>
            <a:off x="611981" y="3035945"/>
            <a:ext cx="6335911" cy="12192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Separe as folhas e os talos finos de 1 maço de rama (cerca de 60 g). Mergulhe por 10 segundos em água fervente e depois em água com gelo: isso fixa a cor e suaviza o amargor. Esprema bem. Bata no processador ou pilão com 50 g de amendoim torrado sem sal, 1 dente de alho, 40 g de parmesão, suco de ½ limão e sal, acrescentando cerca de 120 ml de azeite aos poucos. Use em massas, no hambúrguer de cenoura, sobre as cenouras assadas ou no pão. Dura 5 dias na geladeira, coberto por uma camada de azeite.</a:t>
            </a:r>
            <a:endParaRPr lang="en-US" sz="1100" dirty="0"/>
          </a:p>
        </p:txBody>
      </p:sp>
      <p:sp>
        <p:nvSpPr>
          <p:cNvPr id="8" name="Text 6"/>
          <p:cNvSpPr txBox="1"/>
          <p:nvPr/>
        </p:nvSpPr>
        <p:spPr>
          <a:xfrm>
            <a:off x="5888682"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9" name="Text 7"/>
          <p:cNvSpPr txBox="1"/>
          <p:nvPr/>
        </p:nvSpPr>
        <p:spPr>
          <a:xfrm>
            <a:off x="6821835" y="10253663"/>
            <a:ext cx="278457"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54</a:t>
            </a:r>
            <a:endParaRPr lang="en-US" sz="83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611981" y="566440"/>
            <a:ext cx="517922"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BÔNUS</a:t>
            </a:r>
            <a:endParaRPr lang="en-US" sz="960" dirty="0"/>
          </a:p>
        </p:txBody>
      </p:sp>
      <p:sp>
        <p:nvSpPr>
          <p:cNvPr id="3" name="Text 1"/>
          <p:cNvSpPr txBox="1"/>
          <p:nvPr/>
        </p:nvSpPr>
        <p:spPr>
          <a:xfrm>
            <a:off x="611981" y="779960"/>
            <a:ext cx="3224332"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OS 10 PULOS DO MAMEDE</a:t>
            </a:r>
            <a:endParaRPr lang="en-US" sz="2420" dirty="0"/>
          </a:p>
        </p:txBody>
      </p:sp>
      <p:sp>
        <p:nvSpPr>
          <p:cNvPr id="4" name="Text 2"/>
          <p:cNvSpPr txBox="1"/>
          <p:nvPr/>
        </p:nvSpPr>
        <p:spPr>
          <a:xfrm>
            <a:off x="611981" y="1404171"/>
            <a:ext cx="6919258"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Dez decisões universais de cozinha, que valem para qualquer ingrediente e qualquer receita.</a:t>
            </a:r>
            <a:endParaRPr lang="en-US" sz="1100" dirty="0"/>
          </a:p>
        </p:txBody>
      </p:sp>
      <p:sp>
        <p:nvSpPr>
          <p:cNvPr id="5" name="Text 3"/>
          <p:cNvSpPr txBox="1"/>
          <p:nvPr/>
        </p:nvSpPr>
        <p:spPr>
          <a:xfrm>
            <a:off x="611981" y="1682618"/>
            <a:ext cx="21193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a:t>
            </a:r>
            <a:endParaRPr lang="en-US" sz="1650" dirty="0"/>
          </a:p>
        </p:txBody>
      </p:sp>
      <p:sp>
        <p:nvSpPr>
          <p:cNvPr id="6" name="Text 4"/>
          <p:cNvSpPr txBox="1"/>
          <p:nvPr/>
        </p:nvSpPr>
        <p:spPr>
          <a:xfrm>
            <a:off x="1031081" y="1695004"/>
            <a:ext cx="1772543"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SEQUE ANTES DE DOURAR</a:t>
            </a:r>
            <a:endParaRPr lang="en-US" sz="1320" dirty="0"/>
          </a:p>
        </p:txBody>
      </p:sp>
      <p:sp>
        <p:nvSpPr>
          <p:cNvPr id="7" name="Text 5"/>
          <p:cNvSpPr txBox="1"/>
          <p:nvPr/>
        </p:nvSpPr>
        <p:spPr>
          <a:xfrm>
            <a:off x="1031081" y="2010370"/>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Umidade é inimiga da crosta. Carne, frango, legumes: tudo passa pelo papel-toalha antes de ir para a frigideira. Enquanto houver água, a comida cozinha no vapor em vez de dourar.</a:t>
            </a:r>
            <a:endParaRPr lang="en-US" sz="1100" dirty="0"/>
          </a:p>
        </p:txBody>
      </p:sp>
      <p:sp>
        <p:nvSpPr>
          <p:cNvPr id="8" name="Text 6"/>
          <p:cNvSpPr txBox="1"/>
          <p:nvPr/>
        </p:nvSpPr>
        <p:spPr>
          <a:xfrm>
            <a:off x="611981" y="2531385"/>
            <a:ext cx="2442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2</a:t>
            </a:r>
            <a:endParaRPr lang="en-US" sz="1650" dirty="0"/>
          </a:p>
        </p:txBody>
      </p:sp>
      <p:sp>
        <p:nvSpPr>
          <p:cNvPr id="9" name="Text 7"/>
          <p:cNvSpPr txBox="1"/>
          <p:nvPr/>
        </p:nvSpPr>
        <p:spPr>
          <a:xfrm>
            <a:off x="1031081" y="2543770"/>
            <a:ext cx="2266890"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FRIGIDEIRA QUENTE DE VERDADE</a:t>
            </a:r>
            <a:endParaRPr lang="en-US" sz="1320" dirty="0"/>
          </a:p>
        </p:txBody>
      </p:sp>
      <p:sp>
        <p:nvSpPr>
          <p:cNvPr id="10" name="Text 8"/>
          <p:cNvSpPr txBox="1"/>
          <p:nvPr/>
        </p:nvSpPr>
        <p:spPr>
          <a:xfrm>
            <a:off x="1031081" y="2859137"/>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Espere a frigideira aquecer antes de colocar a gordura e a gordura brilhar antes de colocar o alimento. Uma gota de água deve chiar e evaporar na hora.</a:t>
            </a:r>
            <a:endParaRPr lang="en-US" sz="1100" dirty="0"/>
          </a:p>
        </p:txBody>
      </p:sp>
      <p:sp>
        <p:nvSpPr>
          <p:cNvPr id="11" name="Text 9"/>
          <p:cNvSpPr txBox="1"/>
          <p:nvPr/>
        </p:nvSpPr>
        <p:spPr>
          <a:xfrm>
            <a:off x="611981" y="3380152"/>
            <a:ext cx="243780"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3</a:t>
            </a:r>
            <a:endParaRPr lang="en-US" sz="1650" dirty="0"/>
          </a:p>
        </p:txBody>
      </p:sp>
      <p:sp>
        <p:nvSpPr>
          <p:cNvPr id="12" name="Text 10"/>
          <p:cNvSpPr txBox="1"/>
          <p:nvPr/>
        </p:nvSpPr>
        <p:spPr>
          <a:xfrm>
            <a:off x="1031081" y="3392537"/>
            <a:ext cx="1399103"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NÃO LOTE A PANELA</a:t>
            </a:r>
            <a:endParaRPr lang="en-US" sz="1320" dirty="0"/>
          </a:p>
        </p:txBody>
      </p:sp>
      <p:sp>
        <p:nvSpPr>
          <p:cNvPr id="13" name="Text 11"/>
          <p:cNvSpPr txBox="1"/>
          <p:nvPr/>
        </p:nvSpPr>
        <p:spPr>
          <a:xfrm>
            <a:off x="1031081" y="3707904"/>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Comida amontoada solta líquido e esfria a panela. Deixe espaço entre os pedaços e, se precisar, trabalhe em levas. É mais rápido do que parece.</a:t>
            </a:r>
            <a:endParaRPr lang="en-US" sz="1100" dirty="0"/>
          </a:p>
        </p:txBody>
      </p:sp>
      <p:sp>
        <p:nvSpPr>
          <p:cNvPr id="14" name="Text 12"/>
          <p:cNvSpPr txBox="1"/>
          <p:nvPr/>
        </p:nvSpPr>
        <p:spPr>
          <a:xfrm>
            <a:off x="611981" y="4228918"/>
            <a:ext cx="253901"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4</a:t>
            </a:r>
            <a:endParaRPr lang="en-US" sz="1650" dirty="0"/>
          </a:p>
        </p:txBody>
      </p:sp>
      <p:sp>
        <p:nvSpPr>
          <p:cNvPr id="15" name="Text 13"/>
          <p:cNvSpPr txBox="1"/>
          <p:nvPr/>
        </p:nvSpPr>
        <p:spPr>
          <a:xfrm>
            <a:off x="1031081" y="4241304"/>
            <a:ext cx="2728913"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NÃO MEXA: DEIXE A CROSTA SE FORMAR</a:t>
            </a:r>
            <a:endParaRPr lang="en-US" sz="1320" dirty="0"/>
          </a:p>
        </p:txBody>
      </p:sp>
      <p:sp>
        <p:nvSpPr>
          <p:cNvPr id="16" name="Text 14"/>
          <p:cNvSpPr txBox="1"/>
          <p:nvPr/>
        </p:nvSpPr>
        <p:spPr>
          <a:xfrm>
            <a:off x="1031081" y="4556671"/>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Selar não “fecha os sucos”, como se dizia. Selar cria sabor. E a crosta só se forma se você deixar o alimento quieto. Quando estiver pronto para virar, ele solta sozinho da frigideira.</a:t>
            </a:r>
            <a:endParaRPr lang="en-US" sz="1100" dirty="0"/>
          </a:p>
        </p:txBody>
      </p:sp>
      <p:sp>
        <p:nvSpPr>
          <p:cNvPr id="17" name="Text 15"/>
          <p:cNvSpPr txBox="1"/>
          <p:nvPr/>
        </p:nvSpPr>
        <p:spPr>
          <a:xfrm>
            <a:off x="611981" y="5077685"/>
            <a:ext cx="244525"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5</a:t>
            </a:r>
            <a:endParaRPr lang="en-US" sz="1650" dirty="0"/>
          </a:p>
        </p:txBody>
      </p:sp>
      <p:sp>
        <p:nvSpPr>
          <p:cNvPr id="18" name="Text 16"/>
          <p:cNvSpPr txBox="1"/>
          <p:nvPr/>
        </p:nvSpPr>
        <p:spPr>
          <a:xfrm>
            <a:off x="1031081" y="5090071"/>
            <a:ext cx="2751594"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SAL COM ANTECEDÊNCIA E EM CAMADAS</a:t>
            </a:r>
            <a:endParaRPr lang="en-US" sz="1320" dirty="0"/>
          </a:p>
        </p:txBody>
      </p:sp>
      <p:sp>
        <p:nvSpPr>
          <p:cNvPr id="19" name="Text 17"/>
          <p:cNvSpPr txBox="1"/>
          <p:nvPr/>
        </p:nvSpPr>
        <p:spPr>
          <a:xfrm>
            <a:off x="1031081" y="5405438"/>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Salgar carnes com horas de antecedência tempera por dentro. Nas preparações, tempere um pouco em cada etapa, em vez de tudo no final. E sempre prove antes de acrescentar mais.</a:t>
            </a:r>
            <a:endParaRPr lang="en-US" sz="1100" dirty="0"/>
          </a:p>
        </p:txBody>
      </p:sp>
      <p:sp>
        <p:nvSpPr>
          <p:cNvPr id="20" name="Text 18"/>
          <p:cNvSpPr txBox="1"/>
          <p:nvPr/>
        </p:nvSpPr>
        <p:spPr>
          <a:xfrm>
            <a:off x="5893296"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21" name="Text 19"/>
          <p:cNvSpPr txBox="1"/>
          <p:nvPr/>
        </p:nvSpPr>
        <p:spPr>
          <a:xfrm>
            <a:off x="6826448" y="10253663"/>
            <a:ext cx="273844"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55</a:t>
            </a:r>
            <a:endParaRPr lang="en-US" sz="83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611981" y="566440"/>
            <a:ext cx="1501438" cy="171450"/>
          </a:xfrm>
          <a:prstGeom prst="rect">
            <a:avLst/>
          </a:prstGeom>
          <a:noFill/>
          <a:ln/>
        </p:spPr>
        <p:txBody>
          <a:bodyPr wrap="square" lIns="0" tIns="0" rIns="0" bIns="0" rtlCol="0" anchor="ctr"/>
          <a:lstStyle/>
          <a:p>
            <a:pPr algn="l" indent="0" marL="0">
              <a:buNone/>
            </a:pPr>
            <a:r>
              <a:rPr lang="en-US" sz="960" spc="135" kern="0" dirty="0">
                <a:solidFill>
                  <a:srgbClr val="F96015"/>
                </a:solidFill>
                <a:latin typeface="Barlow Condensed" pitchFamily="34" charset="0"/>
                <a:ea typeface="Barlow Condensed" pitchFamily="34" charset="-122"/>
                <a:cs typeface="Barlow Condensed" pitchFamily="34" charset="-120"/>
              </a:rPr>
              <a:t>BÔNUS · CONTINUAÇÃO</a:t>
            </a:r>
            <a:endParaRPr lang="en-US" sz="960" dirty="0"/>
          </a:p>
        </p:txBody>
      </p:sp>
      <p:sp>
        <p:nvSpPr>
          <p:cNvPr id="3" name="Text 1"/>
          <p:cNvSpPr txBox="1"/>
          <p:nvPr/>
        </p:nvSpPr>
        <p:spPr>
          <a:xfrm>
            <a:off x="611981" y="779960"/>
            <a:ext cx="3416856"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MAIS 5 PULOS DO MAMEDE</a:t>
            </a:r>
            <a:endParaRPr lang="en-US" sz="2420" dirty="0"/>
          </a:p>
        </p:txBody>
      </p:sp>
      <p:sp>
        <p:nvSpPr>
          <p:cNvPr id="4" name="Text 2"/>
          <p:cNvSpPr txBox="1"/>
          <p:nvPr/>
        </p:nvSpPr>
        <p:spPr>
          <a:xfrm>
            <a:off x="611981" y="1358768"/>
            <a:ext cx="244673"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6</a:t>
            </a:r>
            <a:endParaRPr lang="en-US" sz="1650" dirty="0"/>
          </a:p>
        </p:txBody>
      </p:sp>
      <p:sp>
        <p:nvSpPr>
          <p:cNvPr id="5" name="Text 3"/>
          <p:cNvSpPr txBox="1"/>
          <p:nvPr/>
        </p:nvSpPr>
        <p:spPr>
          <a:xfrm>
            <a:off x="1031081" y="1371154"/>
            <a:ext cx="1170682"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ACIDEZ NO FINAL</a:t>
            </a:r>
            <a:endParaRPr lang="en-US" sz="1320" dirty="0"/>
          </a:p>
        </p:txBody>
      </p:sp>
      <p:sp>
        <p:nvSpPr>
          <p:cNvPr id="6" name="Text 4"/>
          <p:cNvSpPr txBox="1"/>
          <p:nvPr/>
        </p:nvSpPr>
        <p:spPr>
          <a:xfrm>
            <a:off x="1031081" y="1686520"/>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Algumas gotas de limão ou vinagre no final acordam um prato “sem graça” muitas vezes melhor do que mais sal. Antes de salgar de novo, experimente acidez.</a:t>
            </a:r>
            <a:endParaRPr lang="en-US" sz="1100" dirty="0"/>
          </a:p>
        </p:txBody>
      </p:sp>
      <p:sp>
        <p:nvSpPr>
          <p:cNvPr id="7" name="Text 5"/>
          <p:cNvSpPr txBox="1"/>
          <p:nvPr/>
        </p:nvSpPr>
        <p:spPr>
          <a:xfrm>
            <a:off x="611981" y="2207535"/>
            <a:ext cx="237827"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7</a:t>
            </a:r>
            <a:endParaRPr lang="en-US" sz="1650" dirty="0"/>
          </a:p>
        </p:txBody>
      </p:sp>
      <p:sp>
        <p:nvSpPr>
          <p:cNvPr id="8" name="Text 6"/>
          <p:cNvSpPr txBox="1"/>
          <p:nvPr/>
        </p:nvSpPr>
        <p:spPr>
          <a:xfrm>
            <a:off x="1031081" y="2219920"/>
            <a:ext cx="157787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RESPEITE O DESCANSO</a:t>
            </a:r>
            <a:endParaRPr lang="en-US" sz="1320" dirty="0"/>
          </a:p>
        </p:txBody>
      </p:sp>
      <p:sp>
        <p:nvSpPr>
          <p:cNvPr id="9" name="Text 7"/>
          <p:cNvSpPr txBox="1"/>
          <p:nvPr/>
        </p:nvSpPr>
        <p:spPr>
          <a:xfrm>
            <a:off x="1031081" y="2535287"/>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Carnes descansam antes de cortar; massas descansam antes de modelar; bolos descansam antes de desenformar. Esperar 5 minutos também é técnica.</a:t>
            </a:r>
            <a:endParaRPr lang="en-US" sz="1100" dirty="0"/>
          </a:p>
        </p:txBody>
      </p:sp>
      <p:sp>
        <p:nvSpPr>
          <p:cNvPr id="10" name="Text 8"/>
          <p:cNvSpPr txBox="1"/>
          <p:nvPr/>
        </p:nvSpPr>
        <p:spPr>
          <a:xfrm>
            <a:off x="611981" y="3056302"/>
            <a:ext cx="244673"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8</a:t>
            </a:r>
            <a:endParaRPr lang="en-US" sz="1650" dirty="0"/>
          </a:p>
        </p:txBody>
      </p:sp>
      <p:sp>
        <p:nvSpPr>
          <p:cNvPr id="11" name="Text 9"/>
          <p:cNvSpPr txBox="1"/>
          <p:nvPr/>
        </p:nvSpPr>
        <p:spPr>
          <a:xfrm>
            <a:off x="1031081" y="3068687"/>
            <a:ext cx="1957566"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 FUNDO DA PANELA É OURO</a:t>
            </a:r>
            <a:endParaRPr lang="en-US" sz="1320" dirty="0"/>
          </a:p>
        </p:txBody>
      </p:sp>
      <p:sp>
        <p:nvSpPr>
          <p:cNvPr id="12" name="Text 10"/>
          <p:cNvSpPr txBox="1"/>
          <p:nvPr/>
        </p:nvSpPr>
        <p:spPr>
          <a:xfrm>
            <a:off x="1031081" y="3384054"/>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Aquele grudado escuro no fundo da frigideira é sabor concentrado. Solte com um pouco de água, caldo ou vinho (deglaçar) e você terá um molho em 2 minutos.</a:t>
            </a:r>
            <a:endParaRPr lang="en-US" sz="1100" dirty="0"/>
          </a:p>
        </p:txBody>
      </p:sp>
      <p:sp>
        <p:nvSpPr>
          <p:cNvPr id="13" name="Text 11"/>
          <p:cNvSpPr txBox="1"/>
          <p:nvPr/>
        </p:nvSpPr>
        <p:spPr>
          <a:xfrm>
            <a:off x="611981" y="3905068"/>
            <a:ext cx="243632"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9</a:t>
            </a:r>
            <a:endParaRPr lang="en-US" sz="1650" dirty="0"/>
          </a:p>
        </p:txBody>
      </p:sp>
      <p:sp>
        <p:nvSpPr>
          <p:cNvPr id="14" name="Text 12"/>
          <p:cNvSpPr txBox="1"/>
          <p:nvPr/>
        </p:nvSpPr>
        <p:spPr>
          <a:xfrm>
            <a:off x="1031081" y="3917454"/>
            <a:ext cx="1812548"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CONTRASTE DE TEXTURAS</a:t>
            </a:r>
            <a:endParaRPr lang="en-US" sz="1320" dirty="0"/>
          </a:p>
        </p:txBody>
      </p:sp>
      <p:sp>
        <p:nvSpPr>
          <p:cNvPr id="15" name="Text 13"/>
          <p:cNvSpPr txBox="1"/>
          <p:nvPr/>
        </p:nvSpPr>
        <p:spPr>
          <a:xfrm>
            <a:off x="1031081" y="4232821"/>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Todo prato memorável tem algo cremoso e algo crocante. Sementes tostadas, farofa, chips de casca e pele crocante existem para isso.</a:t>
            </a:r>
            <a:endParaRPr lang="en-US" sz="1100" dirty="0"/>
          </a:p>
        </p:txBody>
      </p:sp>
      <p:sp>
        <p:nvSpPr>
          <p:cNvPr id="16" name="Text 14"/>
          <p:cNvSpPr txBox="1"/>
          <p:nvPr/>
        </p:nvSpPr>
        <p:spPr>
          <a:xfrm>
            <a:off x="611981" y="4753835"/>
            <a:ext cx="306884" cy="272421"/>
          </a:xfrm>
          <a:prstGeom prst="rect">
            <a:avLst/>
          </a:prstGeom>
          <a:noFill/>
          <a:ln/>
        </p:spPr>
        <p:txBody>
          <a:bodyPr wrap="square" lIns="0" tIns="0" rIns="0" bIns="0" rtlCol="0" anchor="ctr"/>
          <a:lstStyle/>
          <a:p>
            <a:pPr algn="l" indent="0" marL="0">
              <a:buNone/>
            </a:pPr>
            <a:r>
              <a:rPr lang="en-US" sz="1650" b="1" dirty="0">
                <a:solidFill>
                  <a:srgbClr val="D52518"/>
                </a:solidFill>
                <a:latin typeface="Barlow Condensed" pitchFamily="34" charset="0"/>
                <a:ea typeface="Barlow Condensed" pitchFamily="34" charset="-122"/>
                <a:cs typeface="Barlow Condensed" pitchFamily="34" charset="-120"/>
              </a:rPr>
              <a:t>10</a:t>
            </a:r>
            <a:endParaRPr lang="en-US" sz="1650" dirty="0"/>
          </a:p>
        </p:txBody>
      </p:sp>
      <p:sp>
        <p:nvSpPr>
          <p:cNvPr id="17" name="Text 15"/>
          <p:cNvSpPr txBox="1"/>
          <p:nvPr/>
        </p:nvSpPr>
        <p:spPr>
          <a:xfrm>
            <a:off x="1031081" y="4766221"/>
            <a:ext cx="2390120" cy="228600"/>
          </a:xfrm>
          <a:prstGeom prst="rect">
            <a:avLst/>
          </a:prstGeom>
          <a:noFill/>
          <a:ln/>
        </p:spPr>
        <p:txBody>
          <a:bodyPr wrap="square" lIns="0" tIns="0" rIns="0" bIns="0" rtlCol="0" anchor="ctr"/>
          <a:lstStyle/>
          <a:p>
            <a:pPr algn="l" indent="0" marL="0">
              <a:buNone/>
            </a:pPr>
            <a:r>
              <a:rPr lang="en-US" sz="1320" dirty="0">
                <a:solidFill>
                  <a:srgbClr val="F96015"/>
                </a:solidFill>
                <a:latin typeface="Barlow Condensed SemiBold" pitchFamily="34" charset="0"/>
                <a:ea typeface="Barlow Condensed SemiBold" pitchFamily="34" charset="-122"/>
                <a:cs typeface="Barlow Condensed SemiBold" pitchFamily="34" charset="-120"/>
              </a:rPr>
              <a:t>ORGANIZE ANTES DE LIGAR O FOGO</a:t>
            </a:r>
            <a:endParaRPr lang="en-US" sz="1320" dirty="0"/>
          </a:p>
        </p:txBody>
      </p:sp>
      <p:sp>
        <p:nvSpPr>
          <p:cNvPr id="18" name="Text 16"/>
          <p:cNvSpPr txBox="1"/>
          <p:nvPr/>
        </p:nvSpPr>
        <p:spPr>
          <a:xfrm>
            <a:off x="1031081" y="5081587"/>
            <a:ext cx="59168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Leia a receita inteira, separe, corte e meça tudo antes de começar (é o que os chefs chamam de mise en place). Cozinhar fica mais calmo, e o fogo nunca espera por você.</a:t>
            </a:r>
            <a:endParaRPr lang="en-US" sz="1100" dirty="0"/>
          </a:p>
        </p:txBody>
      </p:sp>
      <p:sp>
        <p:nvSpPr>
          <p:cNvPr id="19" name="Shape 17"/>
          <p:cNvSpPr/>
          <p:nvPr/>
        </p:nvSpPr>
        <p:spPr>
          <a:xfrm>
            <a:off x="611981" y="5853112"/>
            <a:ext cx="0" cy="251371"/>
          </a:xfrm>
          <a:prstGeom prst="line">
            <a:avLst/>
          </a:prstGeom>
          <a:noFill/>
          <a:ln w="38100">
            <a:solidFill>
              <a:srgbClr val="FFC926"/>
            </a:solidFill>
            <a:prstDash val="solid"/>
          </a:ln>
        </p:spPr>
      </p:sp>
      <p:sp>
        <p:nvSpPr>
          <p:cNvPr id="20" name="Text 18"/>
          <p:cNvSpPr txBox="1"/>
          <p:nvPr/>
        </p:nvSpPr>
        <p:spPr>
          <a:xfrm>
            <a:off x="783431" y="5850252"/>
            <a:ext cx="5612487" cy="272421"/>
          </a:xfrm>
          <a:prstGeom prst="rect">
            <a:avLst/>
          </a:prstGeom>
          <a:noFill/>
          <a:ln/>
        </p:spPr>
        <p:txBody>
          <a:bodyPr wrap="square" lIns="0" tIns="0" rIns="0" bIns="0" rtlCol="0" anchor="ctr"/>
          <a:lstStyle/>
          <a:p>
            <a:pPr algn="l" indent="0" marL="0">
              <a:buNone/>
            </a:pPr>
            <a:r>
              <a:rPr lang="en-US" sz="1650" b="1" dirty="0">
                <a:solidFill>
                  <a:srgbClr val="18542A"/>
                </a:solidFill>
                <a:latin typeface="Barlow Condensed" pitchFamily="34" charset="0"/>
                <a:ea typeface="Barlow Condensed" pitchFamily="34" charset="-122"/>
                <a:cs typeface="Barlow Condensed" pitchFamily="34" charset="-120"/>
              </a:rPr>
              <a:t>CHEF É QUEM OLHA PARA O BÁSICO E ENXERGA POSSIBILIDADES.</a:t>
            </a:r>
            <a:endParaRPr lang="en-US" sz="1650" dirty="0"/>
          </a:p>
        </p:txBody>
      </p:sp>
      <p:sp>
        <p:nvSpPr>
          <p:cNvPr id="21" name="Text 19"/>
          <p:cNvSpPr txBox="1"/>
          <p:nvPr/>
        </p:nvSpPr>
        <p:spPr>
          <a:xfrm>
            <a:off x="5893296" y="10253663"/>
            <a:ext cx="982623" cy="142875"/>
          </a:xfrm>
          <a:prstGeom prst="rect">
            <a:avLst/>
          </a:prstGeom>
          <a:noFill/>
          <a:ln/>
        </p:spPr>
        <p:txBody>
          <a:bodyPr wrap="square" lIns="0" tIns="0" rIns="0" bIns="0" rtlCol="0" anchor="ctr"/>
          <a:lstStyle/>
          <a:p>
            <a:pPr algn="l" indent="0" marL="0">
              <a:buNone/>
            </a:pPr>
            <a:r>
              <a:rPr lang="en-US" sz="830" spc="116" kern="0" dirty="0">
                <a:solidFill>
                  <a:srgbClr val="18542A"/>
                </a:solidFill>
                <a:latin typeface="Barlow Condensed" pitchFamily="34" charset="0"/>
                <a:ea typeface="Barlow Condensed" pitchFamily="34" charset="-122"/>
                <a:cs typeface="Barlow Condensed" pitchFamily="34" charset="-120"/>
              </a:rPr>
              <a:t>COZINHA MAMEDE</a:t>
            </a:r>
            <a:endParaRPr lang="en-US" sz="830" dirty="0"/>
          </a:p>
        </p:txBody>
      </p:sp>
      <p:sp>
        <p:nvSpPr>
          <p:cNvPr id="22" name="Text 20"/>
          <p:cNvSpPr txBox="1"/>
          <p:nvPr/>
        </p:nvSpPr>
        <p:spPr>
          <a:xfrm>
            <a:off x="6826448" y="10253663"/>
            <a:ext cx="273844" cy="142875"/>
          </a:xfrm>
          <a:prstGeom prst="rect">
            <a:avLst/>
          </a:prstGeom>
          <a:noFill/>
          <a:ln/>
        </p:spPr>
        <p:txBody>
          <a:bodyPr wrap="square" lIns="0" tIns="0" rIns="0" bIns="0" rtlCol="0" anchor="ctr"/>
          <a:lstStyle/>
          <a:p>
            <a:pPr algn="l" indent="0" marL="0">
              <a:buNone/>
            </a:pPr>
            <a:r>
              <a:rPr lang="en-US" sz="830" b="1" spc="116" kern="0" dirty="0">
                <a:solidFill>
                  <a:srgbClr val="D52518"/>
                </a:solidFill>
                <a:latin typeface="Barlow Condensed" pitchFamily="34" charset="0"/>
                <a:ea typeface="Barlow Condensed" pitchFamily="34" charset="-122"/>
                <a:cs typeface="Barlow Condensed" pitchFamily="34" charset="-120"/>
              </a:rPr>
              <a:t>56</a:t>
            </a:r>
            <a:endParaRPr lang="en-US" sz="83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611981" y="557164"/>
            <a:ext cx="2322790" cy="399551"/>
          </a:xfrm>
          <a:prstGeom prst="rect">
            <a:avLst/>
          </a:prstGeom>
          <a:noFill/>
          <a:ln/>
        </p:spPr>
        <p:txBody>
          <a:bodyPr wrap="square" lIns="0" tIns="0" rIns="0" bIns="0" rtlCol="0" anchor="ctr"/>
          <a:lstStyle/>
          <a:p>
            <a:pPr algn="l" indent="0" marL="0">
              <a:buNone/>
            </a:pPr>
            <a:r>
              <a:rPr lang="en-US" sz="2420" dirty="0">
                <a:solidFill>
                  <a:srgbClr val="D52518"/>
                </a:solidFill>
                <a:latin typeface="Barlow Condensed ExtraBold" pitchFamily="34" charset="0"/>
                <a:ea typeface="Barlow Condensed ExtraBold" pitchFamily="34" charset="-122"/>
                <a:cs typeface="Barlow Condensed ExtraBold" pitchFamily="34" charset="-120"/>
              </a:rPr>
              <a:t>COZINHA MAMEDE</a:t>
            </a:r>
            <a:endParaRPr lang="en-US" sz="2420" dirty="0"/>
          </a:p>
        </p:txBody>
      </p:sp>
      <p:sp>
        <p:nvSpPr>
          <p:cNvPr id="3" name="Text 1"/>
          <p:cNvSpPr txBox="1"/>
          <p:nvPr/>
        </p:nvSpPr>
        <p:spPr>
          <a:xfrm>
            <a:off x="611981" y="1186458"/>
            <a:ext cx="6335911" cy="38100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Se você chegou até aqui, já percebeu: não foram 15 receitas novas. Foram 5 ingredientes que você já conhecia, olhados de outro jeito.</a:t>
            </a:r>
            <a:endParaRPr lang="en-US" sz="1100" dirty="0"/>
          </a:p>
        </p:txBody>
      </p:sp>
      <p:sp>
        <p:nvSpPr>
          <p:cNvPr id="4" name="Text 2"/>
          <p:cNvSpPr txBox="1"/>
          <p:nvPr/>
        </p:nvSpPr>
        <p:spPr>
          <a:xfrm>
            <a:off x="611981" y="1719858"/>
            <a:ext cx="6335911" cy="590550"/>
          </a:xfrm>
          <a:prstGeom prst="rect">
            <a:avLst/>
          </a:prstGeom>
          <a:noFill/>
          <a:ln/>
        </p:spPr>
        <p:txBody>
          <a:bodyPr wrap="square" lIns="0" tIns="0" rIns="0" bIns="0" rtlCol="0" anchor="t"/>
          <a:lstStyle/>
          <a:p>
            <a:pPr algn="l" indent="0" marL="0">
              <a:lnSpc>
                <a:spcPts val="1650"/>
              </a:lnSpc>
              <a:buNone/>
            </a:pPr>
            <a:r>
              <a:rPr lang="en-US" sz="1100" dirty="0">
                <a:solidFill>
                  <a:srgbClr val="18542A"/>
                </a:solidFill>
                <a:latin typeface="Arimo" pitchFamily="34" charset="0"/>
                <a:ea typeface="Arimo" pitchFamily="34" charset="-122"/>
                <a:cs typeface="Arimo" pitchFamily="34" charset="-120"/>
              </a:rPr>
              <a:t>Agora o convite é levar esse olhar para o resto da sua cozinha. Antes de cozinhar qualquer coisa, pergunte: como escolher, como guardar, como cortar? Que técnica muda o resultado? E o que dá para aproveitar da casca, do talo, do osso?</a:t>
            </a:r>
            <a:endParaRPr lang="en-US" sz="1100" dirty="0"/>
          </a:p>
        </p:txBody>
      </p:sp>
      <p:sp>
        <p:nvSpPr>
          <p:cNvPr id="5" name="Text 3"/>
          <p:cNvSpPr txBox="1"/>
          <p:nvPr/>
        </p:nvSpPr>
        <p:spPr>
          <a:xfrm>
            <a:off x="611981" y="2457726"/>
            <a:ext cx="5689282" cy="181614"/>
          </a:xfrm>
          <a:prstGeom prst="rect">
            <a:avLst/>
          </a:prstGeom>
          <a:noFill/>
          <a:ln/>
        </p:spPr>
        <p:txBody>
          <a:bodyPr wrap="square" lIns="0" tIns="0" rIns="0" bIns="0" rtlCol="0" anchor="ctr"/>
          <a:lstStyle/>
          <a:p>
            <a:pPr algn="l" indent="0" marL="0">
              <a:buNone/>
            </a:pPr>
            <a:r>
              <a:rPr lang="en-US" sz="1100" dirty="0">
                <a:solidFill>
                  <a:srgbClr val="18542A"/>
                </a:solidFill>
                <a:latin typeface="Arimo" pitchFamily="34" charset="0"/>
                <a:ea typeface="Arimo" pitchFamily="34" charset="-122"/>
                <a:cs typeface="Arimo" pitchFamily="34" charset="-120"/>
              </a:rPr>
              <a:t>Cozinhe com afeto, com técnica e sem desperdício. Esse é o Jeito Mamede.</a:t>
            </a:r>
            <a:endParaRPr lang="en-US" sz="1100" dirty="0"/>
          </a:p>
        </p:txBody>
      </p:sp>
      <p:sp>
        <p:nvSpPr>
          <p:cNvPr id="6" name="Text 4"/>
          <p:cNvSpPr txBox="1"/>
          <p:nvPr/>
        </p:nvSpPr>
        <p:spPr>
          <a:xfrm>
            <a:off x="611981" y="2753889"/>
            <a:ext cx="3475613" cy="217937"/>
          </a:xfrm>
          <a:prstGeom prst="rect">
            <a:avLst/>
          </a:prstGeom>
          <a:noFill/>
          <a:ln/>
        </p:spPr>
        <p:txBody>
          <a:bodyPr wrap="square" lIns="0" tIns="0" rIns="0" bIns="0" rtlCol="0" anchor="ctr"/>
          <a:lstStyle/>
          <a:p>
            <a:pPr algn="l" indent="0" marL="0">
              <a:buNone/>
            </a:pPr>
            <a:r>
              <a:rPr lang="en-US" sz="1320" dirty="0">
                <a:solidFill>
                  <a:srgbClr val="D52518"/>
                </a:solidFill>
                <a:latin typeface="A Day Without Sun" pitchFamily="34" charset="0"/>
                <a:ea typeface="A Day Without Sun" pitchFamily="34" charset="-122"/>
                <a:cs typeface="A Day Without Sun" pitchFamily="34" charset="-120"/>
              </a:rPr>
              <a:t>Bom apetite! · CHEF ALLAN MAMEDE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Cozinha Mamede</dc:title>
  <dc:subject>PptxGenJS Presentation</dc:subject>
  <dc:creator>Chef Allan Mamede</dc:creator>
  <cp:lastModifiedBy>Chef Allan Mamede</cp:lastModifiedBy>
  <cp:revision>1</cp:revision>
  <dcterms:created xsi:type="dcterms:W3CDTF">2026-10-14T00:24:14Z</dcterms:created>
  <dcterms:modified xsi:type="dcterms:W3CDTF">2026-10-14T00:24:14Z</dcterms:modified>
</cp:coreProperties>
</file>