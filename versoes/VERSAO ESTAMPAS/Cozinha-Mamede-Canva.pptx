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7560000" cy="10692000"/>
  <p:notesSz cx="10692000" cy="756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jp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jp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jp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jp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jp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jp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jp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image" Target="../media/image-37-2.jp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image" Target="../media/image-40-2.jp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image" Target="../media/image-41-2.jp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image" Target="../media/image-43-2.jp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image" Target="../media/image-45-2.jp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image" Target="../media/image-47-2.jp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image" Target="../media/image-50-2.jp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image" Target="../media/image-51-2.jp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image" Target="../media/image-53-2.jp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image" Target="../media/image-55-2.jp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image" Target="../media/image-57-2.jp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image" Target="../media/image-60-2.jp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image" Target="../media/image-63-2.jp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3226445"/>
            <a:ext cx="6407944" cy="4239071"/>
          </a:xfrm>
          <a:prstGeom prst="roundRect">
            <a:avLst>
              <a:gd name="adj" fmla="val 1099"/>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3608503"/>
            <a:ext cx="5184481" cy="528307"/>
          </a:xfrm>
          <a:prstGeom prst="rect">
            <a:avLst/>
          </a:prstGeom>
          <a:noFill/>
          <a:ln/>
        </p:spPr>
        <p:txBody>
          <a:bodyPr wrap="square" lIns="0" tIns="0" rIns="0" bIns="0" rtlCol="0" anchor="ctr"/>
          <a:lstStyle/>
          <a:p>
            <a:pPr algn="l" indent="0" marL="0">
              <a:buNone/>
            </a:pPr>
            <a:r>
              <a:rPr lang="en-US" sz="3200" spc="-32" kern="0" dirty="0">
                <a:solidFill>
                  <a:srgbClr val="F8EED9"/>
                </a:solidFill>
                <a:latin typeface="Fraunces SemiBold" pitchFamily="34" charset="0"/>
                <a:ea typeface="Fraunces SemiBold" pitchFamily="34" charset="-122"/>
                <a:cs typeface="Fraunces SemiBold" pitchFamily="34" charset="-120"/>
              </a:rPr>
              <a:t>CINCO INGREDIENTES</a:t>
            </a:r>
            <a:endParaRPr lang="en-US" sz="3200" dirty="0"/>
          </a:p>
        </p:txBody>
      </p:sp>
      <p:sp>
        <p:nvSpPr>
          <p:cNvPr id="4" name="Shape 2"/>
          <p:cNvSpPr/>
          <p:nvPr/>
        </p:nvSpPr>
        <p:spPr>
          <a:xfrm>
            <a:off x="1043880" y="4244280"/>
            <a:ext cx="1355527" cy="266700"/>
          </a:xfrm>
          <a:prstGeom prst="ellipse">
            <a:avLst/>
          </a:prstGeom>
          <a:ln w="9525">
            <a:solidFill>
              <a:srgbClr val="F8EED9"/>
            </a:solidFill>
            <a:prstDash val="solid"/>
          </a:ln>
        </p:spPr>
      </p:sp>
      <p:sp>
        <p:nvSpPr>
          <p:cNvPr id="5" name="Text 3"/>
          <p:cNvSpPr txBox="1"/>
          <p:nvPr/>
        </p:nvSpPr>
        <p:spPr>
          <a:xfrm>
            <a:off x="1167705" y="4310955"/>
            <a:ext cx="1240822" cy="142875"/>
          </a:xfrm>
          <a:prstGeom prst="rect">
            <a:avLst/>
          </a:prstGeom>
          <a:noFill/>
          <a:ln/>
        </p:spPr>
        <p:txBody>
          <a:bodyPr wrap="square" lIns="0" tIns="0" rIns="0" bIns="0" rtlCol="0" anchor="ctr"/>
          <a:lstStyle/>
          <a:p>
            <a:pPr algn="l" indent="0" marL="0">
              <a:buNone/>
            </a:pPr>
            <a:r>
              <a:rPr lang="en-US" sz="750" b="1" spc="105" kern="0" dirty="0">
                <a:solidFill>
                  <a:srgbClr val="F8EED9"/>
                </a:solidFill>
                <a:latin typeface="DM Sans" pitchFamily="34" charset="0"/>
                <a:ea typeface="DM Sans" pitchFamily="34" charset="-122"/>
                <a:cs typeface="DM Sans" pitchFamily="34" charset="-120"/>
              </a:rPr>
              <a:t>ABÓBORA CABOTIÁ</a:t>
            </a:r>
            <a:endParaRPr lang="en-US" sz="750" dirty="0"/>
          </a:p>
        </p:txBody>
      </p:sp>
      <p:sp>
        <p:nvSpPr>
          <p:cNvPr id="6" name="Shape 4"/>
          <p:cNvSpPr/>
          <p:nvPr/>
        </p:nvSpPr>
        <p:spPr>
          <a:xfrm>
            <a:off x="2475607" y="4244280"/>
            <a:ext cx="803225" cy="266700"/>
          </a:xfrm>
          <a:prstGeom prst="ellipse">
            <a:avLst/>
          </a:prstGeom>
          <a:ln w="9525">
            <a:solidFill>
              <a:srgbClr val="F8EED9"/>
            </a:solidFill>
            <a:prstDash val="solid"/>
          </a:ln>
        </p:spPr>
      </p:sp>
      <p:sp>
        <p:nvSpPr>
          <p:cNvPr id="7" name="Text 5"/>
          <p:cNvSpPr txBox="1"/>
          <p:nvPr/>
        </p:nvSpPr>
        <p:spPr>
          <a:xfrm>
            <a:off x="2599432" y="4310955"/>
            <a:ext cx="669875" cy="142875"/>
          </a:xfrm>
          <a:prstGeom prst="rect">
            <a:avLst/>
          </a:prstGeom>
          <a:noFill/>
          <a:ln/>
        </p:spPr>
        <p:txBody>
          <a:bodyPr wrap="square" lIns="0" tIns="0" rIns="0" bIns="0" rtlCol="0" anchor="ctr"/>
          <a:lstStyle/>
          <a:p>
            <a:pPr algn="l" indent="0" marL="0">
              <a:buNone/>
            </a:pPr>
            <a:r>
              <a:rPr lang="en-US" sz="750" b="1" spc="105" kern="0" dirty="0">
                <a:solidFill>
                  <a:srgbClr val="F8EED9"/>
                </a:solidFill>
                <a:latin typeface="DM Sans" pitchFamily="34" charset="0"/>
                <a:ea typeface="DM Sans" pitchFamily="34" charset="-122"/>
                <a:cs typeface="DM Sans" pitchFamily="34" charset="-120"/>
              </a:rPr>
              <a:t>CENOURA</a:t>
            </a:r>
            <a:endParaRPr lang="en-US" sz="750" dirty="0"/>
          </a:p>
        </p:txBody>
      </p:sp>
      <p:sp>
        <p:nvSpPr>
          <p:cNvPr id="8" name="Shape 6"/>
          <p:cNvSpPr/>
          <p:nvPr/>
        </p:nvSpPr>
        <p:spPr>
          <a:xfrm>
            <a:off x="3355032" y="4244280"/>
            <a:ext cx="880021" cy="266700"/>
          </a:xfrm>
          <a:prstGeom prst="ellipse">
            <a:avLst/>
          </a:prstGeom>
          <a:ln w="9525">
            <a:solidFill>
              <a:srgbClr val="F8EED9"/>
            </a:solidFill>
            <a:prstDash val="solid"/>
          </a:ln>
        </p:spPr>
      </p:sp>
      <p:sp>
        <p:nvSpPr>
          <p:cNvPr id="9" name="Text 7"/>
          <p:cNvSpPr txBox="1"/>
          <p:nvPr/>
        </p:nvSpPr>
        <p:spPr>
          <a:xfrm>
            <a:off x="3478857" y="4310955"/>
            <a:ext cx="746671" cy="142875"/>
          </a:xfrm>
          <a:prstGeom prst="rect">
            <a:avLst/>
          </a:prstGeom>
          <a:noFill/>
          <a:ln/>
        </p:spPr>
        <p:txBody>
          <a:bodyPr wrap="square" lIns="0" tIns="0" rIns="0" bIns="0" rtlCol="0" anchor="ctr"/>
          <a:lstStyle/>
          <a:p>
            <a:pPr algn="l" indent="0" marL="0">
              <a:buNone/>
            </a:pPr>
            <a:r>
              <a:rPr lang="en-US" sz="750" b="1" spc="105" kern="0" dirty="0">
                <a:solidFill>
                  <a:srgbClr val="F8EED9"/>
                </a:solidFill>
                <a:latin typeface="DM Sans" pitchFamily="34" charset="0"/>
                <a:ea typeface="DM Sans" pitchFamily="34" charset="-122"/>
                <a:cs typeface="DM Sans" pitchFamily="34" charset="-120"/>
              </a:rPr>
              <a:t>MANDIOCA</a:t>
            </a:r>
            <a:endParaRPr lang="en-US" sz="750" dirty="0"/>
          </a:p>
        </p:txBody>
      </p:sp>
      <p:sp>
        <p:nvSpPr>
          <p:cNvPr id="10" name="Shape 8"/>
          <p:cNvSpPr/>
          <p:nvPr/>
        </p:nvSpPr>
        <p:spPr>
          <a:xfrm>
            <a:off x="4311253" y="4244280"/>
            <a:ext cx="1645890" cy="266700"/>
          </a:xfrm>
          <a:prstGeom prst="ellipse">
            <a:avLst/>
          </a:prstGeom>
          <a:ln w="9525">
            <a:solidFill>
              <a:srgbClr val="F8EED9"/>
            </a:solidFill>
            <a:prstDash val="solid"/>
          </a:ln>
        </p:spPr>
      </p:sp>
      <p:sp>
        <p:nvSpPr>
          <p:cNvPr id="11" name="Text 9"/>
          <p:cNvSpPr txBox="1"/>
          <p:nvPr/>
        </p:nvSpPr>
        <p:spPr>
          <a:xfrm>
            <a:off x="4435078" y="4310955"/>
            <a:ext cx="1566029" cy="142875"/>
          </a:xfrm>
          <a:prstGeom prst="rect">
            <a:avLst/>
          </a:prstGeom>
          <a:noFill/>
          <a:ln/>
        </p:spPr>
        <p:txBody>
          <a:bodyPr wrap="square" lIns="0" tIns="0" rIns="0" bIns="0" rtlCol="0" anchor="ctr"/>
          <a:lstStyle/>
          <a:p>
            <a:pPr algn="l" indent="0" marL="0">
              <a:buNone/>
            </a:pPr>
            <a:r>
              <a:rPr lang="en-US" sz="750" b="1" spc="105" kern="0" dirty="0">
                <a:solidFill>
                  <a:srgbClr val="F8EED9"/>
                </a:solidFill>
                <a:latin typeface="DM Sans" pitchFamily="34" charset="0"/>
                <a:ea typeface="DM Sans" pitchFamily="34" charset="-122"/>
                <a:cs typeface="DM Sans" pitchFamily="34" charset="-120"/>
              </a:rPr>
              <a:t>SOBRECOXA DE FRANGO</a:t>
            </a:r>
            <a:endParaRPr lang="en-US" sz="750" dirty="0"/>
          </a:p>
        </p:txBody>
      </p:sp>
      <p:sp>
        <p:nvSpPr>
          <p:cNvPr id="12" name="Shape 10"/>
          <p:cNvSpPr/>
          <p:nvPr/>
        </p:nvSpPr>
        <p:spPr>
          <a:xfrm>
            <a:off x="1043880" y="4587180"/>
            <a:ext cx="1378148" cy="266700"/>
          </a:xfrm>
          <a:prstGeom prst="ellipse">
            <a:avLst/>
          </a:prstGeom>
          <a:ln w="9525">
            <a:solidFill>
              <a:srgbClr val="F8EED9"/>
            </a:solidFill>
            <a:prstDash val="solid"/>
          </a:ln>
        </p:spPr>
      </p:sp>
      <p:sp>
        <p:nvSpPr>
          <p:cNvPr id="13" name="Text 11"/>
          <p:cNvSpPr txBox="1"/>
          <p:nvPr/>
        </p:nvSpPr>
        <p:spPr>
          <a:xfrm>
            <a:off x="1167705" y="4653855"/>
            <a:ext cx="1266158" cy="142875"/>
          </a:xfrm>
          <a:prstGeom prst="rect">
            <a:avLst/>
          </a:prstGeom>
          <a:noFill/>
          <a:ln/>
        </p:spPr>
        <p:txBody>
          <a:bodyPr wrap="square" lIns="0" tIns="0" rIns="0" bIns="0" rtlCol="0" anchor="ctr"/>
          <a:lstStyle/>
          <a:p>
            <a:pPr algn="l" indent="0" marL="0">
              <a:buNone/>
            </a:pPr>
            <a:r>
              <a:rPr lang="en-US" sz="750" b="1" spc="105" kern="0" dirty="0">
                <a:solidFill>
                  <a:srgbClr val="F8EED9"/>
                </a:solidFill>
                <a:latin typeface="DM Sans" pitchFamily="34" charset="0"/>
                <a:ea typeface="DM Sans" pitchFamily="34" charset="-122"/>
                <a:cs typeface="DM Sans" pitchFamily="34" charset="-120"/>
              </a:rPr>
              <a:t>BANANA-DA-TERRA</a:t>
            </a:r>
            <a:endParaRPr lang="en-US" sz="750" dirty="0"/>
          </a:p>
        </p:txBody>
      </p:sp>
      <p:sp>
        <p:nvSpPr>
          <p:cNvPr id="14" name="Text 12"/>
          <p:cNvSpPr txBox="1"/>
          <p:nvPr/>
        </p:nvSpPr>
        <p:spPr>
          <a:xfrm>
            <a:off x="1043880" y="5090481"/>
            <a:ext cx="5472113"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QUINZE TRANSFORMAÇÕES</a:t>
            </a:r>
            <a:endParaRPr lang="en-US" sz="3200" dirty="0"/>
          </a:p>
        </p:txBody>
      </p:sp>
      <p:sp>
        <p:nvSpPr>
          <p:cNvPr id="15" name="Shape 13"/>
          <p:cNvSpPr/>
          <p:nvPr/>
        </p:nvSpPr>
        <p:spPr>
          <a:xfrm>
            <a:off x="1043880" y="6101953"/>
            <a:ext cx="533400" cy="28575"/>
          </a:xfrm>
          <a:prstGeom prst="rect">
            <a:avLst/>
          </a:prstGeom>
          <a:solidFill>
            <a:srgbClr val="E5A82E"/>
          </a:solidFill>
          <a:ln/>
        </p:spPr>
      </p:sp>
      <p:sp>
        <p:nvSpPr>
          <p:cNvPr id="16" name="Text 14"/>
          <p:cNvSpPr txBox="1"/>
          <p:nvPr/>
        </p:nvSpPr>
        <p:spPr>
          <a:xfrm>
            <a:off x="1043880" y="6330553"/>
            <a:ext cx="5479018"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UM NOVO JEITO DE OLHAR PARA A SUA COZINHA.</a:t>
            </a:r>
            <a:endParaRPr lang="en-US" sz="1500" dirty="0"/>
          </a:p>
        </p:txBody>
      </p:sp>
      <p:sp>
        <p:nvSpPr>
          <p:cNvPr id="17" name="Text 15"/>
          <p:cNvSpPr txBox="1"/>
          <p:nvPr/>
        </p:nvSpPr>
        <p:spPr>
          <a:xfrm>
            <a:off x="1043880" y="6673453"/>
            <a:ext cx="5472113"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Técnica de chef, sabor afetivo e aproveitamento integral, da casca à semente, com o que você já compra toda semana.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3209330"/>
            <a:ext cx="6696075" cy="4273153"/>
          </a:xfrm>
          <a:prstGeom prst="roundRect">
            <a:avLst>
              <a:gd name="adj" fmla="val 901"/>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585532"/>
            <a:ext cx="5002292"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QUEM É CHEF ALLAN MAMEDE?</a:t>
            </a:r>
            <a:endParaRPr lang="en-US" sz="2200" dirty="0"/>
          </a:p>
        </p:txBody>
      </p:sp>
      <p:sp>
        <p:nvSpPr>
          <p:cNvPr id="4" name="Text 2"/>
          <p:cNvSpPr txBox="1"/>
          <p:nvPr/>
        </p:nvSpPr>
        <p:spPr>
          <a:xfrm>
            <a:off x="863798" y="4099024"/>
            <a:ext cx="5832277" cy="942380"/>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txBox="1"/>
          <p:nvPr/>
        </p:nvSpPr>
        <p:spPr>
          <a:xfrm>
            <a:off x="863798" y="5146030"/>
            <a:ext cx="5832277" cy="942380"/>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txBox="1"/>
          <p:nvPr/>
        </p:nvSpPr>
        <p:spPr>
          <a:xfrm>
            <a:off x="863798" y="6193036"/>
            <a:ext cx="5832277" cy="942380"/>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4582120"/>
            <a:ext cx="6407944" cy="1527572"/>
          </a:xfrm>
          <a:prstGeom prst="roundRect">
            <a:avLst>
              <a:gd name="adj" fmla="val 8464"/>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4920049"/>
            <a:ext cx="3262074" cy="759441"/>
          </a:xfrm>
          <a:prstGeom prst="rect">
            <a:avLst/>
          </a:prstGeom>
          <a:noFill/>
          <a:ln/>
        </p:spPr>
        <p:txBody>
          <a:bodyPr wrap="square" lIns="0" tIns="0" rIns="0" bIns="0" rtlCol="0" anchor="ctr"/>
          <a:lstStyle/>
          <a:p>
            <a:pPr algn="l" indent="0" marL="0">
              <a:buNone/>
            </a:pPr>
            <a:r>
              <a:rPr lang="en-US" sz="4600" b="1" spc="-92" kern="0" dirty="0">
                <a:solidFill>
                  <a:srgbClr val="F8EED9"/>
                </a:solidFill>
                <a:latin typeface="Fraunces" pitchFamily="34" charset="0"/>
                <a:ea typeface="Fraunces" pitchFamily="34" charset="-122"/>
                <a:cs typeface="Fraunces" pitchFamily="34" charset="-120"/>
              </a:rPr>
              <a:t>SUMÁRIO</a:t>
            </a:r>
            <a:endParaRPr lang="en-US" sz="4600" dirty="0"/>
          </a:p>
        </p:txBody>
      </p:sp>
      <p:sp>
        <p:nvSpPr>
          <p:cNvPr id="4" name="Shape 2"/>
          <p:cNvSpPr/>
          <p:nvPr/>
        </p:nvSpPr>
        <p:spPr>
          <a:xfrm>
            <a:off x="1043880" y="5721251"/>
            <a:ext cx="533400" cy="28575"/>
          </a:xfrm>
          <a:prstGeom prst="rect">
            <a:avLst/>
          </a:prstGeom>
          <a:solidFill>
            <a:srgbClr val="E5A82E"/>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054150"/>
            <a:ext cx="6696075" cy="858351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430352"/>
            <a:ext cx="1535859"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SUMÁRIO</a:t>
            </a:r>
            <a:endParaRPr lang="en-US" sz="2200" dirty="0"/>
          </a:p>
        </p:txBody>
      </p:sp>
      <p:sp>
        <p:nvSpPr>
          <p:cNvPr id="4" name="Text 2"/>
          <p:cNvSpPr txBox="1"/>
          <p:nvPr/>
        </p:nvSpPr>
        <p:spPr>
          <a:xfrm>
            <a:off x="863798" y="2010519"/>
            <a:ext cx="182761"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1</a:t>
            </a:r>
            <a:endParaRPr lang="en-US" sz="1150" dirty="0"/>
          </a:p>
        </p:txBody>
      </p:sp>
      <p:sp>
        <p:nvSpPr>
          <p:cNvPr id="5" name="Text 3"/>
          <p:cNvSpPr txBox="1"/>
          <p:nvPr/>
        </p:nvSpPr>
        <p:spPr>
          <a:xfrm>
            <a:off x="1187648" y="2029569"/>
            <a:ext cx="800844"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Introdução</a:t>
            </a:r>
            <a:endParaRPr lang="en-US" sz="1000" dirty="0"/>
          </a:p>
        </p:txBody>
      </p:sp>
      <p:sp>
        <p:nvSpPr>
          <p:cNvPr id="6" name="Text 4"/>
          <p:cNvSpPr txBox="1"/>
          <p:nvPr/>
        </p:nvSpPr>
        <p:spPr>
          <a:xfrm>
            <a:off x="6538615" y="2029569"/>
            <a:ext cx="271760"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03</a:t>
            </a:r>
            <a:endParaRPr lang="en-US" sz="1000" dirty="0"/>
          </a:p>
        </p:txBody>
      </p:sp>
      <p:sp>
        <p:nvSpPr>
          <p:cNvPr id="7" name="Shape 5"/>
          <p:cNvSpPr/>
          <p:nvPr/>
        </p:nvSpPr>
        <p:spPr>
          <a:xfrm>
            <a:off x="863798" y="2315170"/>
            <a:ext cx="5832277" cy="0"/>
          </a:xfrm>
          <a:prstGeom prst="line">
            <a:avLst/>
          </a:prstGeom>
          <a:noFill/>
          <a:ln w="9525">
            <a:solidFill>
              <a:srgbClr val="EADFC6"/>
            </a:solidFill>
            <a:prstDash val="solid"/>
          </a:ln>
        </p:spPr>
      </p:sp>
      <p:sp>
        <p:nvSpPr>
          <p:cNvPr id="8" name="Text 6"/>
          <p:cNvSpPr txBox="1"/>
          <p:nvPr/>
        </p:nvSpPr>
        <p:spPr>
          <a:xfrm>
            <a:off x="863798" y="2400895"/>
            <a:ext cx="204639"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2</a:t>
            </a:r>
            <a:endParaRPr lang="en-US" sz="1150" dirty="0"/>
          </a:p>
        </p:txBody>
      </p:sp>
      <p:sp>
        <p:nvSpPr>
          <p:cNvPr id="9" name="Text 7"/>
          <p:cNvSpPr txBox="1"/>
          <p:nvPr/>
        </p:nvSpPr>
        <p:spPr>
          <a:xfrm>
            <a:off x="1187648" y="2419945"/>
            <a:ext cx="1940076"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O jeito Mamede de cozinhar</a:t>
            </a:r>
            <a:endParaRPr lang="en-US" sz="1000" dirty="0"/>
          </a:p>
        </p:txBody>
      </p:sp>
      <p:sp>
        <p:nvSpPr>
          <p:cNvPr id="10" name="Text 8"/>
          <p:cNvSpPr txBox="1"/>
          <p:nvPr/>
        </p:nvSpPr>
        <p:spPr>
          <a:xfrm>
            <a:off x="6530578" y="2419945"/>
            <a:ext cx="279797"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04</a:t>
            </a:r>
            <a:endParaRPr lang="en-US" sz="1000" dirty="0"/>
          </a:p>
        </p:txBody>
      </p:sp>
      <p:sp>
        <p:nvSpPr>
          <p:cNvPr id="11" name="Shape 9"/>
          <p:cNvSpPr/>
          <p:nvPr/>
        </p:nvSpPr>
        <p:spPr>
          <a:xfrm>
            <a:off x="863798" y="2705546"/>
            <a:ext cx="5832277" cy="0"/>
          </a:xfrm>
          <a:prstGeom prst="line">
            <a:avLst/>
          </a:prstGeom>
          <a:noFill/>
          <a:ln w="9525">
            <a:solidFill>
              <a:srgbClr val="EADFC6"/>
            </a:solidFill>
            <a:prstDash val="solid"/>
          </a:ln>
        </p:spPr>
      </p:sp>
      <p:sp>
        <p:nvSpPr>
          <p:cNvPr id="12" name="Text 10"/>
          <p:cNvSpPr txBox="1"/>
          <p:nvPr/>
        </p:nvSpPr>
        <p:spPr>
          <a:xfrm>
            <a:off x="863798" y="2791271"/>
            <a:ext cx="196900"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3</a:t>
            </a:r>
            <a:endParaRPr lang="en-US" sz="1150" dirty="0"/>
          </a:p>
        </p:txBody>
      </p:sp>
      <p:sp>
        <p:nvSpPr>
          <p:cNvPr id="13" name="Text 11"/>
          <p:cNvSpPr txBox="1"/>
          <p:nvPr/>
        </p:nvSpPr>
        <p:spPr>
          <a:xfrm>
            <a:off x="1187648" y="2810321"/>
            <a:ext cx="1184648"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Abóbora Cabotiá</a:t>
            </a:r>
            <a:endParaRPr lang="en-US" sz="1000" dirty="0"/>
          </a:p>
        </p:txBody>
      </p:sp>
      <p:sp>
        <p:nvSpPr>
          <p:cNvPr id="14" name="Text 12"/>
          <p:cNvSpPr txBox="1"/>
          <p:nvPr/>
        </p:nvSpPr>
        <p:spPr>
          <a:xfrm>
            <a:off x="6535787" y="2810321"/>
            <a:ext cx="274588"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05</a:t>
            </a:r>
            <a:endParaRPr lang="en-US" sz="1000" dirty="0"/>
          </a:p>
        </p:txBody>
      </p:sp>
      <p:sp>
        <p:nvSpPr>
          <p:cNvPr id="15" name="Text 13"/>
          <p:cNvSpPr txBox="1"/>
          <p:nvPr/>
        </p:nvSpPr>
        <p:spPr>
          <a:xfrm>
            <a:off x="1263848" y="3057823"/>
            <a:ext cx="3942493"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Nhoque de abóbora tostado na manteiga de garrafa e sálvia</a:t>
            </a:r>
            <a:endParaRPr lang="en-US" sz="1000" dirty="0"/>
          </a:p>
        </p:txBody>
      </p:sp>
      <p:sp>
        <p:nvSpPr>
          <p:cNvPr id="16" name="Text 14"/>
          <p:cNvSpPr txBox="1"/>
          <p:nvPr/>
        </p:nvSpPr>
        <p:spPr>
          <a:xfrm>
            <a:off x="6543377" y="3057823"/>
            <a:ext cx="266998"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07</a:t>
            </a:r>
            <a:endParaRPr lang="en-US" sz="1000" dirty="0"/>
          </a:p>
        </p:txBody>
      </p:sp>
      <p:sp>
        <p:nvSpPr>
          <p:cNvPr id="17" name="Text 15"/>
          <p:cNvSpPr txBox="1"/>
          <p:nvPr/>
        </p:nvSpPr>
        <p:spPr>
          <a:xfrm>
            <a:off x="1263848" y="3305324"/>
            <a:ext cx="5627037"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Hambúrguer ou bolinho cremoso assado de abóbora com especiarias e queijo coalho</a:t>
            </a:r>
            <a:endParaRPr lang="en-US" sz="1000" dirty="0"/>
          </a:p>
        </p:txBody>
      </p:sp>
      <p:sp>
        <p:nvSpPr>
          <p:cNvPr id="18" name="Text 16"/>
          <p:cNvSpPr txBox="1"/>
          <p:nvPr/>
        </p:nvSpPr>
        <p:spPr>
          <a:xfrm>
            <a:off x="6531471" y="3305324"/>
            <a:ext cx="27890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09</a:t>
            </a:r>
            <a:endParaRPr lang="en-US" sz="1000" dirty="0"/>
          </a:p>
        </p:txBody>
      </p:sp>
      <p:sp>
        <p:nvSpPr>
          <p:cNvPr id="19" name="Text 17"/>
          <p:cNvSpPr txBox="1"/>
          <p:nvPr/>
        </p:nvSpPr>
        <p:spPr>
          <a:xfrm>
            <a:off x="1263848" y="3552825"/>
            <a:ext cx="5202317"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Crepúsculo: doce de abóbora cremoso de colher com coco e raspas de laranja</a:t>
            </a:r>
            <a:endParaRPr lang="en-US" sz="1000" dirty="0"/>
          </a:p>
        </p:txBody>
      </p:sp>
      <p:sp>
        <p:nvSpPr>
          <p:cNvPr id="20" name="Text 18"/>
          <p:cNvSpPr txBox="1"/>
          <p:nvPr/>
        </p:nvSpPr>
        <p:spPr>
          <a:xfrm>
            <a:off x="6577013" y="3552825"/>
            <a:ext cx="233362"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11</a:t>
            </a:r>
            <a:endParaRPr lang="en-US" sz="1000" dirty="0"/>
          </a:p>
        </p:txBody>
      </p:sp>
      <p:sp>
        <p:nvSpPr>
          <p:cNvPr id="21" name="Shape 19"/>
          <p:cNvSpPr/>
          <p:nvPr/>
        </p:nvSpPr>
        <p:spPr>
          <a:xfrm>
            <a:off x="863798" y="3838426"/>
            <a:ext cx="5832277" cy="0"/>
          </a:xfrm>
          <a:prstGeom prst="line">
            <a:avLst/>
          </a:prstGeom>
          <a:noFill/>
          <a:ln w="9525">
            <a:solidFill>
              <a:srgbClr val="EADFC6"/>
            </a:solidFill>
            <a:prstDash val="solid"/>
          </a:ln>
        </p:spPr>
      </p:sp>
      <p:sp>
        <p:nvSpPr>
          <p:cNvPr id="22" name="Text 20"/>
          <p:cNvSpPr txBox="1"/>
          <p:nvPr/>
        </p:nvSpPr>
        <p:spPr>
          <a:xfrm>
            <a:off x="863798" y="3924151"/>
            <a:ext cx="206127"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4</a:t>
            </a:r>
            <a:endParaRPr lang="en-US" sz="1150" dirty="0"/>
          </a:p>
        </p:txBody>
      </p:sp>
      <p:sp>
        <p:nvSpPr>
          <p:cNvPr id="23" name="Text 21"/>
          <p:cNvSpPr txBox="1"/>
          <p:nvPr/>
        </p:nvSpPr>
        <p:spPr>
          <a:xfrm>
            <a:off x="1187648" y="3943201"/>
            <a:ext cx="1206651"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Banana-da-Terra</a:t>
            </a:r>
            <a:endParaRPr lang="en-US" sz="1000" dirty="0"/>
          </a:p>
        </p:txBody>
      </p:sp>
      <p:sp>
        <p:nvSpPr>
          <p:cNvPr id="24" name="Text 22"/>
          <p:cNvSpPr txBox="1"/>
          <p:nvPr/>
        </p:nvSpPr>
        <p:spPr>
          <a:xfrm>
            <a:off x="6561981" y="3943201"/>
            <a:ext cx="24839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15</a:t>
            </a:r>
            <a:endParaRPr lang="en-US" sz="1000" dirty="0"/>
          </a:p>
        </p:txBody>
      </p:sp>
      <p:sp>
        <p:nvSpPr>
          <p:cNvPr id="25" name="Text 23"/>
          <p:cNvSpPr txBox="1"/>
          <p:nvPr/>
        </p:nvSpPr>
        <p:spPr>
          <a:xfrm>
            <a:off x="1263848" y="4190702"/>
            <a:ext cx="4543235"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Moqueca expressa de frigideira com banana, leite de coco e pimenta</a:t>
            </a:r>
            <a:endParaRPr lang="en-US" sz="1000" dirty="0"/>
          </a:p>
        </p:txBody>
      </p:sp>
      <p:sp>
        <p:nvSpPr>
          <p:cNvPr id="26" name="Text 24"/>
          <p:cNvSpPr txBox="1"/>
          <p:nvPr/>
        </p:nvSpPr>
        <p:spPr>
          <a:xfrm>
            <a:off x="6569571" y="4190702"/>
            <a:ext cx="24080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17</a:t>
            </a:r>
            <a:endParaRPr lang="en-US" sz="1000" dirty="0"/>
          </a:p>
        </p:txBody>
      </p:sp>
      <p:sp>
        <p:nvSpPr>
          <p:cNvPr id="27" name="Text 25"/>
          <p:cNvSpPr txBox="1"/>
          <p:nvPr/>
        </p:nvSpPr>
        <p:spPr>
          <a:xfrm>
            <a:off x="1263848" y="4438204"/>
            <a:ext cx="3630954"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Purê aveludado de banana grelhada com noz-moscada</a:t>
            </a:r>
            <a:endParaRPr lang="en-US" sz="1000" dirty="0"/>
          </a:p>
        </p:txBody>
      </p:sp>
      <p:sp>
        <p:nvSpPr>
          <p:cNvPr id="28" name="Text 26"/>
          <p:cNvSpPr txBox="1"/>
          <p:nvPr/>
        </p:nvSpPr>
        <p:spPr>
          <a:xfrm>
            <a:off x="6557665" y="4438204"/>
            <a:ext cx="252710"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19</a:t>
            </a:r>
            <a:endParaRPr lang="en-US" sz="1000" dirty="0"/>
          </a:p>
        </p:txBody>
      </p:sp>
      <p:sp>
        <p:nvSpPr>
          <p:cNvPr id="29" name="Text 27"/>
          <p:cNvSpPr txBox="1"/>
          <p:nvPr/>
        </p:nvSpPr>
        <p:spPr>
          <a:xfrm>
            <a:off x="1263848" y="4685705"/>
            <a:ext cx="5470184"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Bananas flambadas no rum ou na cachaça com crosta de açúcar mascavo e canela</a:t>
            </a:r>
            <a:endParaRPr lang="en-US" sz="1000" dirty="0"/>
          </a:p>
        </p:txBody>
      </p:sp>
      <p:sp>
        <p:nvSpPr>
          <p:cNvPr id="30" name="Text 28"/>
          <p:cNvSpPr txBox="1"/>
          <p:nvPr/>
        </p:nvSpPr>
        <p:spPr>
          <a:xfrm>
            <a:off x="6558111" y="4685705"/>
            <a:ext cx="25226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21</a:t>
            </a:r>
            <a:endParaRPr lang="en-US" sz="1000" dirty="0"/>
          </a:p>
        </p:txBody>
      </p:sp>
      <p:sp>
        <p:nvSpPr>
          <p:cNvPr id="31" name="Shape 29"/>
          <p:cNvSpPr/>
          <p:nvPr/>
        </p:nvSpPr>
        <p:spPr>
          <a:xfrm>
            <a:off x="863798" y="4971306"/>
            <a:ext cx="5832277" cy="0"/>
          </a:xfrm>
          <a:prstGeom prst="line">
            <a:avLst/>
          </a:prstGeom>
          <a:noFill/>
          <a:ln w="9525">
            <a:solidFill>
              <a:srgbClr val="EADFC6"/>
            </a:solidFill>
            <a:prstDash val="solid"/>
          </a:ln>
        </p:spPr>
      </p:sp>
      <p:sp>
        <p:nvSpPr>
          <p:cNvPr id="32" name="Text 30"/>
          <p:cNvSpPr txBox="1"/>
          <p:nvPr/>
        </p:nvSpPr>
        <p:spPr>
          <a:xfrm>
            <a:off x="863798" y="5057031"/>
            <a:ext cx="200174"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5</a:t>
            </a:r>
            <a:endParaRPr lang="en-US" sz="1150" dirty="0"/>
          </a:p>
        </p:txBody>
      </p:sp>
      <p:sp>
        <p:nvSpPr>
          <p:cNvPr id="33" name="Text 31"/>
          <p:cNvSpPr txBox="1"/>
          <p:nvPr/>
        </p:nvSpPr>
        <p:spPr>
          <a:xfrm>
            <a:off x="1187648" y="5076081"/>
            <a:ext cx="1462849"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Sobrecoxa de Frango</a:t>
            </a:r>
            <a:endParaRPr lang="en-US" sz="1000" dirty="0"/>
          </a:p>
        </p:txBody>
      </p:sp>
      <p:sp>
        <p:nvSpPr>
          <p:cNvPr id="34" name="Text 32"/>
          <p:cNvSpPr txBox="1"/>
          <p:nvPr/>
        </p:nvSpPr>
        <p:spPr>
          <a:xfrm>
            <a:off x="6542931" y="5076081"/>
            <a:ext cx="26744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25</a:t>
            </a:r>
            <a:endParaRPr lang="en-US" sz="1000" dirty="0"/>
          </a:p>
        </p:txBody>
      </p:sp>
      <p:sp>
        <p:nvSpPr>
          <p:cNvPr id="35" name="Text 33"/>
          <p:cNvSpPr txBox="1"/>
          <p:nvPr/>
        </p:nvSpPr>
        <p:spPr>
          <a:xfrm>
            <a:off x="1263848" y="5323582"/>
            <a:ext cx="5196983"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Sobrecoxa desossada com pele ultracrocante ao molho rústico de limão e alho</a:t>
            </a:r>
            <a:endParaRPr lang="en-US" sz="1000" dirty="0"/>
          </a:p>
        </p:txBody>
      </p:sp>
      <p:sp>
        <p:nvSpPr>
          <p:cNvPr id="36" name="Text 34"/>
          <p:cNvSpPr txBox="1"/>
          <p:nvPr/>
        </p:nvSpPr>
        <p:spPr>
          <a:xfrm>
            <a:off x="6550521" y="5323582"/>
            <a:ext cx="25985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27</a:t>
            </a:r>
            <a:endParaRPr lang="en-US" sz="1000" dirty="0"/>
          </a:p>
        </p:txBody>
      </p:sp>
      <p:sp>
        <p:nvSpPr>
          <p:cNvPr id="37" name="Text 35"/>
          <p:cNvSpPr txBox="1"/>
          <p:nvPr/>
        </p:nvSpPr>
        <p:spPr>
          <a:xfrm>
            <a:off x="1263848" y="5571083"/>
            <a:ext cx="4137184"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Frango desfiado suculento ao molho de tomate caseiro e ervas</a:t>
            </a:r>
            <a:endParaRPr lang="en-US" sz="1000" dirty="0"/>
          </a:p>
        </p:txBody>
      </p:sp>
      <p:sp>
        <p:nvSpPr>
          <p:cNvPr id="38" name="Text 36"/>
          <p:cNvSpPr txBox="1"/>
          <p:nvPr/>
        </p:nvSpPr>
        <p:spPr>
          <a:xfrm>
            <a:off x="6538615" y="5571083"/>
            <a:ext cx="271760"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29</a:t>
            </a:r>
            <a:endParaRPr lang="en-US" sz="1000" dirty="0"/>
          </a:p>
        </p:txBody>
      </p:sp>
      <p:sp>
        <p:nvSpPr>
          <p:cNvPr id="39" name="Text 37"/>
          <p:cNvSpPr txBox="1"/>
          <p:nvPr/>
        </p:nvSpPr>
        <p:spPr>
          <a:xfrm>
            <a:off x="1263848" y="5818584"/>
            <a:ext cx="4424386"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Sobrecoxa marinada no iogurte com especiarias, assada até dourar</a:t>
            </a:r>
            <a:endParaRPr lang="en-US" sz="1000" dirty="0"/>
          </a:p>
        </p:txBody>
      </p:sp>
      <p:sp>
        <p:nvSpPr>
          <p:cNvPr id="40" name="Text 38"/>
          <p:cNvSpPr txBox="1"/>
          <p:nvPr/>
        </p:nvSpPr>
        <p:spPr>
          <a:xfrm>
            <a:off x="6564809" y="5818584"/>
            <a:ext cx="245566"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31</a:t>
            </a:r>
            <a:endParaRPr lang="en-US" sz="1000" dirty="0"/>
          </a:p>
        </p:txBody>
      </p:sp>
      <p:sp>
        <p:nvSpPr>
          <p:cNvPr id="41" name="Shape 39"/>
          <p:cNvSpPr/>
          <p:nvPr/>
        </p:nvSpPr>
        <p:spPr>
          <a:xfrm>
            <a:off x="863798" y="6104186"/>
            <a:ext cx="5832277" cy="0"/>
          </a:xfrm>
          <a:prstGeom prst="line">
            <a:avLst/>
          </a:prstGeom>
          <a:noFill/>
          <a:ln w="9525">
            <a:solidFill>
              <a:srgbClr val="EADFC6"/>
            </a:solidFill>
            <a:prstDash val="solid"/>
          </a:ln>
        </p:spPr>
      </p:sp>
      <p:sp>
        <p:nvSpPr>
          <p:cNvPr id="42" name="Text 40"/>
          <p:cNvSpPr txBox="1"/>
          <p:nvPr/>
        </p:nvSpPr>
        <p:spPr>
          <a:xfrm>
            <a:off x="863798" y="6189911"/>
            <a:ext cx="204639"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6</a:t>
            </a:r>
            <a:endParaRPr lang="en-US" sz="1150" dirty="0"/>
          </a:p>
        </p:txBody>
      </p:sp>
      <p:sp>
        <p:nvSpPr>
          <p:cNvPr id="43" name="Text 41"/>
          <p:cNvSpPr txBox="1"/>
          <p:nvPr/>
        </p:nvSpPr>
        <p:spPr>
          <a:xfrm>
            <a:off x="1187648" y="6208961"/>
            <a:ext cx="726430"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Mandioca</a:t>
            </a:r>
            <a:endParaRPr lang="en-US" sz="1000" dirty="0"/>
          </a:p>
        </p:txBody>
      </p:sp>
      <p:sp>
        <p:nvSpPr>
          <p:cNvPr id="44" name="Text 42"/>
          <p:cNvSpPr txBox="1"/>
          <p:nvPr/>
        </p:nvSpPr>
        <p:spPr>
          <a:xfrm>
            <a:off x="6549628" y="6208961"/>
            <a:ext cx="260747"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35</a:t>
            </a:r>
            <a:endParaRPr lang="en-US" sz="1000" dirty="0"/>
          </a:p>
        </p:txBody>
      </p:sp>
      <p:sp>
        <p:nvSpPr>
          <p:cNvPr id="45" name="Text 43"/>
          <p:cNvSpPr txBox="1"/>
          <p:nvPr/>
        </p:nvSpPr>
        <p:spPr>
          <a:xfrm>
            <a:off x="1263848" y="6456462"/>
            <a:ext cx="2700504"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Rösti de mandioca recheado na frigideira</a:t>
            </a:r>
            <a:endParaRPr lang="en-US" sz="1000" dirty="0"/>
          </a:p>
        </p:txBody>
      </p:sp>
      <p:sp>
        <p:nvSpPr>
          <p:cNvPr id="46" name="Text 44"/>
          <p:cNvSpPr txBox="1"/>
          <p:nvPr/>
        </p:nvSpPr>
        <p:spPr>
          <a:xfrm>
            <a:off x="6557367" y="6456462"/>
            <a:ext cx="253008"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37</a:t>
            </a:r>
            <a:endParaRPr lang="en-US" sz="1000" dirty="0"/>
          </a:p>
        </p:txBody>
      </p:sp>
      <p:sp>
        <p:nvSpPr>
          <p:cNvPr id="47" name="Text 45"/>
          <p:cNvSpPr txBox="1"/>
          <p:nvPr/>
        </p:nvSpPr>
        <p:spPr>
          <a:xfrm>
            <a:off x="1263848" y="6703963"/>
            <a:ext cx="4569238"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Caldo aveludado de mandioca com gengibre e bacon (ou cogumelos)</a:t>
            </a:r>
            <a:endParaRPr lang="en-US" sz="1000" dirty="0"/>
          </a:p>
        </p:txBody>
      </p:sp>
      <p:sp>
        <p:nvSpPr>
          <p:cNvPr id="48" name="Text 46"/>
          <p:cNvSpPr txBox="1"/>
          <p:nvPr/>
        </p:nvSpPr>
        <p:spPr>
          <a:xfrm>
            <a:off x="6545312" y="6703963"/>
            <a:ext cx="265063"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39</a:t>
            </a:r>
            <a:endParaRPr lang="en-US" sz="1000" dirty="0"/>
          </a:p>
        </p:txBody>
      </p:sp>
      <p:sp>
        <p:nvSpPr>
          <p:cNvPr id="49" name="Text 47"/>
          <p:cNvSpPr txBox="1"/>
          <p:nvPr/>
        </p:nvSpPr>
        <p:spPr>
          <a:xfrm>
            <a:off x="1263848" y="6951464"/>
            <a:ext cx="2971871"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Biscoito de polvilho e mandioca de assadeira</a:t>
            </a:r>
            <a:endParaRPr lang="en-US" sz="1000" dirty="0"/>
          </a:p>
        </p:txBody>
      </p:sp>
      <p:sp>
        <p:nvSpPr>
          <p:cNvPr id="50" name="Text 48"/>
          <p:cNvSpPr txBox="1"/>
          <p:nvPr/>
        </p:nvSpPr>
        <p:spPr>
          <a:xfrm>
            <a:off x="6556772" y="6951464"/>
            <a:ext cx="253603"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41</a:t>
            </a:r>
            <a:endParaRPr lang="en-US" sz="1000" dirty="0"/>
          </a:p>
        </p:txBody>
      </p:sp>
      <p:sp>
        <p:nvSpPr>
          <p:cNvPr id="51" name="Shape 49"/>
          <p:cNvSpPr/>
          <p:nvPr/>
        </p:nvSpPr>
        <p:spPr>
          <a:xfrm>
            <a:off x="863798" y="7237065"/>
            <a:ext cx="5832277" cy="0"/>
          </a:xfrm>
          <a:prstGeom prst="line">
            <a:avLst/>
          </a:prstGeom>
          <a:noFill/>
          <a:ln w="9525">
            <a:solidFill>
              <a:srgbClr val="EADFC6"/>
            </a:solidFill>
            <a:prstDash val="solid"/>
          </a:ln>
        </p:spPr>
      </p:sp>
      <p:sp>
        <p:nvSpPr>
          <p:cNvPr id="52" name="Text 50"/>
          <p:cNvSpPr txBox="1"/>
          <p:nvPr/>
        </p:nvSpPr>
        <p:spPr>
          <a:xfrm>
            <a:off x="863798" y="7322790"/>
            <a:ext cx="191393"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7</a:t>
            </a:r>
            <a:endParaRPr lang="en-US" sz="1150" dirty="0"/>
          </a:p>
        </p:txBody>
      </p:sp>
      <p:sp>
        <p:nvSpPr>
          <p:cNvPr id="53" name="Text 51"/>
          <p:cNvSpPr txBox="1"/>
          <p:nvPr/>
        </p:nvSpPr>
        <p:spPr>
          <a:xfrm>
            <a:off x="1187648" y="7341840"/>
            <a:ext cx="644723"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Cenoura</a:t>
            </a:r>
            <a:endParaRPr lang="en-US" sz="1000" dirty="0"/>
          </a:p>
        </p:txBody>
      </p:sp>
      <p:sp>
        <p:nvSpPr>
          <p:cNvPr id="54" name="Text 52"/>
          <p:cNvSpPr txBox="1"/>
          <p:nvPr/>
        </p:nvSpPr>
        <p:spPr>
          <a:xfrm>
            <a:off x="6541591" y="7341840"/>
            <a:ext cx="26878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45</a:t>
            </a:r>
            <a:endParaRPr lang="en-US" sz="1000" dirty="0"/>
          </a:p>
        </p:txBody>
      </p:sp>
      <p:sp>
        <p:nvSpPr>
          <p:cNvPr id="55" name="Text 53"/>
          <p:cNvSpPr txBox="1"/>
          <p:nvPr/>
        </p:nvSpPr>
        <p:spPr>
          <a:xfrm>
            <a:off x="1263848" y="7589341"/>
            <a:ext cx="5351336"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Cenouras assadas inteiras, caramelizadas no mel ou melaço com azeite e tomilho</a:t>
            </a:r>
            <a:endParaRPr lang="en-US" sz="1000" dirty="0"/>
          </a:p>
        </p:txBody>
      </p:sp>
      <p:sp>
        <p:nvSpPr>
          <p:cNvPr id="56" name="Text 54"/>
          <p:cNvSpPr txBox="1"/>
          <p:nvPr/>
        </p:nvSpPr>
        <p:spPr>
          <a:xfrm>
            <a:off x="6552158" y="7589341"/>
            <a:ext cx="258217"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47</a:t>
            </a:r>
            <a:endParaRPr lang="en-US" sz="1000" dirty="0"/>
          </a:p>
        </p:txBody>
      </p:sp>
      <p:sp>
        <p:nvSpPr>
          <p:cNvPr id="57" name="Text 55"/>
          <p:cNvSpPr txBox="1"/>
          <p:nvPr/>
        </p:nvSpPr>
        <p:spPr>
          <a:xfrm>
            <a:off x="1263848" y="7836843"/>
            <a:ext cx="4438221"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Hambúrguer rústico ou bolinho de cenoura com aveia e especiarias</a:t>
            </a:r>
            <a:endParaRPr lang="en-US" sz="1000" dirty="0"/>
          </a:p>
        </p:txBody>
      </p:sp>
      <p:sp>
        <p:nvSpPr>
          <p:cNvPr id="58" name="Text 56"/>
          <p:cNvSpPr txBox="1"/>
          <p:nvPr/>
        </p:nvSpPr>
        <p:spPr>
          <a:xfrm>
            <a:off x="6537275" y="7836843"/>
            <a:ext cx="273100"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49</a:t>
            </a:r>
            <a:endParaRPr lang="en-US" sz="1000" dirty="0"/>
          </a:p>
        </p:txBody>
      </p:sp>
      <p:sp>
        <p:nvSpPr>
          <p:cNvPr id="59" name="Text 57"/>
          <p:cNvSpPr txBox="1"/>
          <p:nvPr/>
        </p:nvSpPr>
        <p:spPr>
          <a:xfrm>
            <a:off x="1263848" y="8084344"/>
            <a:ext cx="5147643"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Bolo de cenoura da vovó com técnica de chef e calda de chocolate espelhada</a:t>
            </a:r>
            <a:endParaRPr lang="en-US" sz="1000" dirty="0"/>
          </a:p>
        </p:txBody>
      </p:sp>
      <p:sp>
        <p:nvSpPr>
          <p:cNvPr id="60" name="Text 58"/>
          <p:cNvSpPr txBox="1"/>
          <p:nvPr/>
        </p:nvSpPr>
        <p:spPr>
          <a:xfrm>
            <a:off x="6561981" y="8084344"/>
            <a:ext cx="24839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51</a:t>
            </a:r>
            <a:endParaRPr lang="en-US" sz="1000" dirty="0"/>
          </a:p>
        </p:txBody>
      </p:sp>
      <p:sp>
        <p:nvSpPr>
          <p:cNvPr id="61" name="Shape 59"/>
          <p:cNvSpPr/>
          <p:nvPr/>
        </p:nvSpPr>
        <p:spPr>
          <a:xfrm>
            <a:off x="863798" y="8369945"/>
            <a:ext cx="5832277" cy="0"/>
          </a:xfrm>
          <a:prstGeom prst="line">
            <a:avLst/>
          </a:prstGeom>
          <a:noFill/>
          <a:ln w="9525">
            <a:solidFill>
              <a:srgbClr val="EADFC6"/>
            </a:solidFill>
            <a:prstDash val="solid"/>
          </a:ln>
        </p:spPr>
      </p:sp>
      <p:sp>
        <p:nvSpPr>
          <p:cNvPr id="62" name="Text 60"/>
          <p:cNvSpPr txBox="1"/>
          <p:nvPr/>
        </p:nvSpPr>
        <p:spPr>
          <a:xfrm>
            <a:off x="863798" y="8455670"/>
            <a:ext cx="204490"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8</a:t>
            </a:r>
            <a:endParaRPr lang="en-US" sz="1150" dirty="0"/>
          </a:p>
        </p:txBody>
      </p:sp>
      <p:sp>
        <p:nvSpPr>
          <p:cNvPr id="63" name="Text 61"/>
          <p:cNvSpPr txBox="1"/>
          <p:nvPr/>
        </p:nvSpPr>
        <p:spPr>
          <a:xfrm>
            <a:off x="1187648" y="8474720"/>
            <a:ext cx="2114264"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Bônus: os 10 pulos do Mamede</a:t>
            </a:r>
            <a:endParaRPr lang="en-US" sz="1000" dirty="0"/>
          </a:p>
        </p:txBody>
      </p:sp>
      <p:sp>
        <p:nvSpPr>
          <p:cNvPr id="64" name="Text 62"/>
          <p:cNvSpPr txBox="1"/>
          <p:nvPr/>
        </p:nvSpPr>
        <p:spPr>
          <a:xfrm>
            <a:off x="6546800" y="8474720"/>
            <a:ext cx="263575"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55</a:t>
            </a:r>
            <a:endParaRPr lang="en-US" sz="1000" dirty="0"/>
          </a:p>
        </p:txBody>
      </p:sp>
      <p:sp>
        <p:nvSpPr>
          <p:cNvPr id="65" name="Shape 63"/>
          <p:cNvSpPr/>
          <p:nvPr/>
        </p:nvSpPr>
        <p:spPr>
          <a:xfrm>
            <a:off x="863798" y="8760321"/>
            <a:ext cx="5832277" cy="0"/>
          </a:xfrm>
          <a:prstGeom prst="line">
            <a:avLst/>
          </a:prstGeom>
          <a:noFill/>
          <a:ln w="9525">
            <a:solidFill>
              <a:srgbClr val="EADFC6"/>
            </a:solidFill>
            <a:prstDash val="solid"/>
          </a:ln>
        </p:spPr>
      </p:sp>
      <p:sp>
        <p:nvSpPr>
          <p:cNvPr id="66" name="Text 64"/>
          <p:cNvSpPr txBox="1"/>
          <p:nvPr/>
        </p:nvSpPr>
        <p:spPr>
          <a:xfrm>
            <a:off x="863798" y="8846046"/>
            <a:ext cx="205085"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9</a:t>
            </a:r>
            <a:endParaRPr lang="en-US" sz="1150" dirty="0"/>
          </a:p>
        </p:txBody>
      </p:sp>
      <p:sp>
        <p:nvSpPr>
          <p:cNvPr id="67" name="Text 65"/>
          <p:cNvSpPr txBox="1"/>
          <p:nvPr/>
        </p:nvSpPr>
        <p:spPr>
          <a:xfrm>
            <a:off x="1187648" y="8865096"/>
            <a:ext cx="1611368"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Para seguir cozinhando</a:t>
            </a:r>
            <a:endParaRPr lang="en-US" sz="1000" dirty="0"/>
          </a:p>
        </p:txBody>
      </p:sp>
      <p:sp>
        <p:nvSpPr>
          <p:cNvPr id="68" name="Text 66"/>
          <p:cNvSpPr txBox="1"/>
          <p:nvPr/>
        </p:nvSpPr>
        <p:spPr>
          <a:xfrm>
            <a:off x="6554391" y="8865096"/>
            <a:ext cx="25598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57</a:t>
            </a:r>
            <a:endParaRPr lang="en-US" sz="1000" dirty="0"/>
          </a:p>
        </p:txBody>
      </p:sp>
      <p:sp>
        <p:nvSpPr>
          <p:cNvPr id="69" name="Text 67"/>
          <p:cNvSpPr txBox="1"/>
          <p:nvPr/>
        </p:nvSpPr>
        <p:spPr>
          <a:xfrm>
            <a:off x="863798" y="927139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70" name="Text 68"/>
          <p:cNvSpPr txBox="1"/>
          <p:nvPr/>
        </p:nvSpPr>
        <p:spPr>
          <a:xfrm>
            <a:off x="6547842" y="9271397"/>
            <a:ext cx="26253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02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2656136"/>
            <a:ext cx="6696075" cy="5379690"/>
          </a:xfrm>
          <a:prstGeom prst="roundRect">
            <a:avLst>
              <a:gd name="adj" fmla="val 569"/>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042493"/>
            <a:ext cx="931515"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INTRODUÇÃO</a:t>
            </a:r>
            <a:endParaRPr lang="en-US" sz="750" dirty="0"/>
          </a:p>
        </p:txBody>
      </p:sp>
      <p:sp>
        <p:nvSpPr>
          <p:cNvPr id="4" name="Text 2"/>
          <p:cNvSpPr txBox="1"/>
          <p:nvPr/>
        </p:nvSpPr>
        <p:spPr>
          <a:xfrm>
            <a:off x="863798" y="3234644"/>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UM NOVO JEITO DE OLHAR A SUA COZINHA</a:t>
            </a:r>
            <a:endParaRPr lang="en-US" sz="2200" dirty="0"/>
          </a:p>
        </p:txBody>
      </p:sp>
      <p:sp>
        <p:nvSpPr>
          <p:cNvPr id="5" name="Shape 3"/>
          <p:cNvSpPr/>
          <p:nvPr/>
        </p:nvSpPr>
        <p:spPr>
          <a:xfrm>
            <a:off x="4896148" y="4039642"/>
            <a:ext cx="1799927" cy="1799927"/>
          </a:xfrm>
          <a:prstGeom prst="ellipse">
            <a:avLst/>
          </a:prstGeom>
          <a:solidFill>
            <a:srgbClr val="FFFFFF"/>
          </a:solidFill>
          <a:ln/>
        </p:spPr>
      </p:sp>
      <p:pic>
        <p:nvPicPr>
          <p:cNvPr id="6" name="Image 0" descr="/home/user/ebook-receitas/versoes/VERSAO ESTAMPAS/fotos/boas-vindas.jpg">    </p:cNvPr>
          <p:cNvPicPr>
            <a:picLocks noChangeAspect="1"/>
          </p:cNvPicPr>
          <p:nvPr/>
        </p:nvPicPr>
        <p:blipFill>
          <a:blip r:embed="rId2"/>
          <a:srcRect l="0" r="0" t="0" b="0"/>
          <a:stretch/>
        </p:blipFill>
        <p:spPr>
          <a:xfrm>
            <a:off x="4972348" y="4115842"/>
            <a:ext cx="1647527" cy="1647527"/>
          </a:xfrm>
          <a:prstGeom prst="ellipse">
            <a:avLst/>
          </a:prstGeom>
        </p:spPr>
      </p:pic>
      <p:sp>
        <p:nvSpPr>
          <p:cNvPr id="7" name="Text 4"/>
          <p:cNvSpPr txBox="1"/>
          <p:nvPr/>
        </p:nvSpPr>
        <p:spPr>
          <a:xfrm>
            <a:off x="863798" y="4049167"/>
            <a:ext cx="5832277" cy="2274838"/>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Pare de fazer sempre a mesma comida do mesmo jeito. Você não precisa encher o carrinho com ingredientes caros ou exóticos para sair da rotina: o segredo está em aprender a enxergar novas possibilidades com aquilo que já compra toda semana. Este é um guia prático para transformar 5 ingredientes cotidianos em 15 preparações completamente diferentes, unindo técnica profissional, sabor afetivo e aproveitamento integral. Aqui você não vai encontrar receitas soltas. Cada capítulo é dedicado a um ingrediente e mostra o caminho inteiro: como escolher no mercado, como guardar, como cortar, como cozinhar de três jeitos que você talvez nunca tenha imaginado e, no fim, o que fazer com a casca, a rama, o osso e a sobra.</a:t>
            </a:r>
            <a:endParaRPr lang="en-US" sz="1000" dirty="0"/>
          </a:p>
        </p:txBody>
      </p:sp>
      <p:sp>
        <p:nvSpPr>
          <p:cNvPr id="8" name="Text 5"/>
          <p:cNvSpPr txBox="1"/>
          <p:nvPr/>
        </p:nvSpPr>
        <p:spPr>
          <a:xfrm>
            <a:off x="863798" y="6428631"/>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Leia com calma, cozinhe com tempo e, principalmente, prove tudo pelo caminho. É assim que a gente aprende a cozinhar de verdade.</a:t>
            </a:r>
            <a:endParaRPr lang="en-US" sz="1000" dirty="0"/>
          </a:p>
        </p:txBody>
      </p:sp>
      <p:sp>
        <p:nvSpPr>
          <p:cNvPr id="9" name="Shape 6"/>
          <p:cNvSpPr/>
          <p:nvPr/>
        </p:nvSpPr>
        <p:spPr>
          <a:xfrm>
            <a:off x="863798" y="6971258"/>
            <a:ext cx="0" cy="413296"/>
          </a:xfrm>
          <a:prstGeom prst="line">
            <a:avLst/>
          </a:prstGeom>
          <a:noFill/>
          <a:ln w="38100">
            <a:solidFill>
              <a:srgbClr val="E5A82E"/>
            </a:solidFill>
            <a:prstDash val="solid"/>
          </a:ln>
        </p:spPr>
      </p:sp>
      <p:sp>
        <p:nvSpPr>
          <p:cNvPr id="10" name="Text 7"/>
          <p:cNvSpPr txBox="1"/>
          <p:nvPr/>
        </p:nvSpPr>
        <p:spPr>
          <a:xfrm>
            <a:off x="1054298" y="7066508"/>
            <a:ext cx="6084427" cy="238125"/>
          </a:xfrm>
          <a:prstGeom prst="rect">
            <a:avLst/>
          </a:prstGeom>
          <a:noFill/>
          <a:ln/>
        </p:spPr>
        <p:txBody>
          <a:bodyPr wrap="square" lIns="0" tIns="0" rIns="0" bIns="0" rtlCol="0" anchor="ctr"/>
          <a:lstStyle/>
          <a:p>
            <a:pPr algn="l" indent="0" marL="0">
              <a:buNone/>
            </a:pPr>
            <a:r>
              <a:rPr lang="en-US" sz="1350" dirty="0">
                <a:solidFill>
                  <a:srgbClr val="2F4A22"/>
                </a:solidFill>
                <a:latin typeface="Fraunces SemiBold" pitchFamily="34" charset="0"/>
                <a:ea typeface="Fraunces SemiBold" pitchFamily="34" charset="-122"/>
                <a:cs typeface="Fraunces SemiBold" pitchFamily="34" charset="-120"/>
              </a:rPr>
              <a:t>PARE DE FAZER SEMPRE A MESMA COMIDA DO MESMO JEITO.</a:t>
            </a:r>
            <a:endParaRPr lang="en-US" sz="1350" dirty="0"/>
          </a:p>
        </p:txBody>
      </p:sp>
      <p:sp>
        <p:nvSpPr>
          <p:cNvPr id="11" name="Text 8"/>
          <p:cNvSpPr txBox="1"/>
          <p:nvPr/>
        </p:nvSpPr>
        <p:spPr>
          <a:xfrm>
            <a:off x="863798" y="7498854"/>
            <a:ext cx="1718048"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CHEF ALLAN MAMEDE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869156"/>
            <a:ext cx="6696075" cy="8953649"/>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255514"/>
            <a:ext cx="774353"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O MÉTODO</a:t>
            </a:r>
            <a:endParaRPr lang="en-US" sz="750" dirty="0"/>
          </a:p>
        </p:txBody>
      </p:sp>
      <p:sp>
        <p:nvSpPr>
          <p:cNvPr id="4" name="Text 2"/>
          <p:cNvSpPr txBox="1"/>
          <p:nvPr/>
        </p:nvSpPr>
        <p:spPr>
          <a:xfrm>
            <a:off x="863798" y="1435859"/>
            <a:ext cx="5105805"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 JEITO MAMEDE DE COZINHAR</a:t>
            </a:r>
            <a:endParaRPr lang="en-US" sz="2200" dirty="0"/>
          </a:p>
        </p:txBody>
      </p:sp>
      <p:sp>
        <p:nvSpPr>
          <p:cNvPr id="5" name="Text 3"/>
          <p:cNvSpPr txBox="1"/>
          <p:nvPr/>
        </p:nvSpPr>
        <p:spPr>
          <a:xfrm>
            <a:off x="863798" y="1949351"/>
            <a:ext cx="437871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O método que guia todo o material se apoia em três fundamentos.</a:t>
            </a:r>
            <a:endParaRPr lang="en-US" sz="1000" dirty="0"/>
          </a:p>
        </p:txBody>
      </p:sp>
      <p:sp>
        <p:nvSpPr>
          <p:cNvPr id="6" name="Text 4"/>
          <p:cNvSpPr txBox="1"/>
          <p:nvPr/>
        </p:nvSpPr>
        <p:spPr>
          <a:xfrm>
            <a:off x="863798" y="2196852"/>
            <a:ext cx="209550"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1</a:t>
            </a:r>
            <a:endParaRPr lang="en-US" sz="1600" dirty="0"/>
          </a:p>
        </p:txBody>
      </p:sp>
      <p:sp>
        <p:nvSpPr>
          <p:cNvPr id="7" name="Text 5"/>
          <p:cNvSpPr txBox="1"/>
          <p:nvPr/>
        </p:nvSpPr>
        <p:spPr>
          <a:xfrm>
            <a:off x="1225748" y="2234952"/>
            <a:ext cx="525810"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AFETO</a:t>
            </a:r>
            <a:endParaRPr lang="en-US" sz="870" dirty="0"/>
          </a:p>
        </p:txBody>
      </p:sp>
      <p:sp>
        <p:nvSpPr>
          <p:cNvPr id="8" name="Text 6"/>
          <p:cNvSpPr txBox="1"/>
          <p:nvPr/>
        </p:nvSpPr>
        <p:spPr>
          <a:xfrm>
            <a:off x="1225748" y="2436614"/>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Comida acolhedora, generosa e com memória de casa, sem afetações desnecessárias nem gastronomia distante da realidade.</a:t>
            </a:r>
            <a:endParaRPr lang="en-US" sz="1000" dirty="0"/>
          </a:p>
        </p:txBody>
      </p:sp>
      <p:sp>
        <p:nvSpPr>
          <p:cNvPr id="9" name="Text 7"/>
          <p:cNvSpPr txBox="1"/>
          <p:nvPr/>
        </p:nvSpPr>
        <p:spPr>
          <a:xfrm>
            <a:off x="863798" y="2864941"/>
            <a:ext cx="239911"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2</a:t>
            </a:r>
            <a:endParaRPr lang="en-US" sz="1600" dirty="0"/>
          </a:p>
        </p:txBody>
      </p:sp>
      <p:sp>
        <p:nvSpPr>
          <p:cNvPr id="10" name="Text 8"/>
          <p:cNvSpPr txBox="1"/>
          <p:nvPr/>
        </p:nvSpPr>
        <p:spPr>
          <a:xfrm>
            <a:off x="1225748" y="2903041"/>
            <a:ext cx="676126"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TÉCNICA</a:t>
            </a:r>
            <a:endParaRPr lang="en-US" sz="870" dirty="0"/>
          </a:p>
        </p:txBody>
      </p:sp>
      <p:sp>
        <p:nvSpPr>
          <p:cNvPr id="11" name="Text 9"/>
          <p:cNvSpPr txBox="1"/>
          <p:nvPr/>
        </p:nvSpPr>
        <p:spPr>
          <a:xfrm>
            <a:off x="1225748" y="3104704"/>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Decisões simples de chef (ponto de frigideira, cortes, descanso da carne, acidez e texturas) que mudam radicalmente o resultado final.</a:t>
            </a:r>
            <a:endParaRPr lang="en-US" sz="1000" dirty="0"/>
          </a:p>
        </p:txBody>
      </p:sp>
      <p:sp>
        <p:nvSpPr>
          <p:cNvPr id="12" name="Text 10"/>
          <p:cNvSpPr txBox="1"/>
          <p:nvPr/>
        </p:nvSpPr>
        <p:spPr>
          <a:xfrm>
            <a:off x="863798" y="3533031"/>
            <a:ext cx="229195"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3</a:t>
            </a:r>
            <a:endParaRPr lang="en-US" sz="1600" dirty="0"/>
          </a:p>
        </p:txBody>
      </p:sp>
      <p:sp>
        <p:nvSpPr>
          <p:cNvPr id="13" name="Text 11"/>
          <p:cNvSpPr txBox="1"/>
          <p:nvPr/>
        </p:nvSpPr>
        <p:spPr>
          <a:xfrm>
            <a:off x="1225748" y="3571131"/>
            <a:ext cx="1301496"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APROVEITAMENTO</a:t>
            </a:r>
            <a:endParaRPr lang="en-US" sz="870" dirty="0"/>
          </a:p>
        </p:txBody>
      </p:sp>
      <p:sp>
        <p:nvSpPr>
          <p:cNvPr id="14" name="Text 12"/>
          <p:cNvSpPr txBox="1"/>
          <p:nvPr/>
        </p:nvSpPr>
        <p:spPr>
          <a:xfrm>
            <a:off x="1225748" y="3772793"/>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Um olhar inteligente para cascas, talos, ramas e ossos, transformando o que iria para o lixo em sabor e textura.</a:t>
            </a:r>
            <a:endParaRPr lang="en-US" sz="1000" dirty="0"/>
          </a:p>
        </p:txBody>
      </p:sp>
      <p:sp>
        <p:nvSpPr>
          <p:cNvPr id="15" name="Shape 13"/>
          <p:cNvSpPr/>
          <p:nvPr/>
        </p:nvSpPr>
        <p:spPr>
          <a:xfrm>
            <a:off x="863798" y="4401145"/>
            <a:ext cx="0" cy="636091"/>
          </a:xfrm>
          <a:prstGeom prst="line">
            <a:avLst/>
          </a:prstGeom>
          <a:noFill/>
          <a:ln w="38100">
            <a:solidFill>
              <a:srgbClr val="E5A82E"/>
            </a:solidFill>
            <a:prstDash val="solid"/>
          </a:ln>
        </p:spPr>
      </p:sp>
      <p:sp>
        <p:nvSpPr>
          <p:cNvPr id="16" name="Text 14"/>
          <p:cNvSpPr txBox="1"/>
          <p:nvPr/>
        </p:nvSpPr>
        <p:spPr>
          <a:xfrm>
            <a:off x="1016198" y="4496395"/>
            <a:ext cx="5679877" cy="460921"/>
          </a:xfrm>
          <a:prstGeom prst="rect">
            <a:avLst/>
          </a:prstGeom>
          <a:noFill/>
          <a:ln/>
        </p:spPr>
        <p:txBody>
          <a:bodyPr wrap="square" lIns="0" tIns="0" rIns="0" bIns="0" rtlCol="0" anchor="t"/>
          <a:lstStyle/>
          <a:p>
            <a:pPr algn="l" indent="0" marL="0">
              <a:lnSpc>
                <a:spcPts val="1750"/>
              </a:lnSpc>
              <a:buNone/>
            </a:pPr>
            <a:r>
              <a:rPr lang="en-US" sz="1350" dirty="0">
                <a:solidFill>
                  <a:srgbClr val="2F4A22"/>
                </a:solidFill>
                <a:latin typeface="Fraunces SemiBold" pitchFamily="34" charset="0"/>
                <a:ea typeface="Fraunces SemiBold" pitchFamily="34" charset="-122"/>
                <a:cs typeface="Fraunces SemiBold" pitchFamily="34" charset="-120"/>
              </a:rPr>
              <a:t>AFETO, TÉCNICA E APROVEITAMENTO. NESSA ORDEM, EM TODO PRATO.</a:t>
            </a:r>
            <a:endParaRPr lang="en-US" sz="1350" dirty="0"/>
          </a:p>
        </p:txBody>
      </p:sp>
      <p:sp>
        <p:nvSpPr>
          <p:cNvPr id="17" name="Text 15"/>
          <p:cNvSpPr txBox="1"/>
          <p:nvPr/>
        </p:nvSpPr>
        <p:spPr>
          <a:xfrm>
            <a:off x="863798" y="5237262"/>
            <a:ext cx="255832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COMO USAR ESTE GUIA</a:t>
            </a:r>
            <a:endParaRPr lang="en-US" sz="1500" dirty="0"/>
          </a:p>
        </p:txBody>
      </p:sp>
      <p:sp>
        <p:nvSpPr>
          <p:cNvPr id="18" name="Text 16"/>
          <p:cNvSpPr txBox="1"/>
          <p:nvPr/>
        </p:nvSpPr>
        <p:spPr>
          <a:xfrm>
            <a:off x="863798" y="5580162"/>
            <a:ext cx="531649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Cada um dos 5 capítulos é dedicado a um ingrediente e segue a mesma jornada:</a:t>
            </a:r>
            <a:endParaRPr lang="en-US" sz="1000" dirty="0"/>
          </a:p>
        </p:txBody>
      </p:sp>
      <p:sp>
        <p:nvSpPr>
          <p:cNvPr id="19" name="Shape 17"/>
          <p:cNvSpPr/>
          <p:nvPr/>
        </p:nvSpPr>
        <p:spPr>
          <a:xfrm>
            <a:off x="863798" y="5856238"/>
            <a:ext cx="5832277" cy="2927449"/>
          </a:xfrm>
          <a:prstGeom prst="roundRect">
            <a:avLst>
              <a:gd name="adj" fmla="val 1152"/>
            </a:avLst>
          </a:prstGeom>
          <a:ln w="9525">
            <a:solidFill>
              <a:srgbClr val="EADFC6"/>
            </a:solidFill>
            <a:prstDash val="solid"/>
          </a:ln>
        </p:spPr>
      </p:sp>
      <p:sp>
        <p:nvSpPr>
          <p:cNvPr id="20" name="Shape 18"/>
          <p:cNvSpPr/>
          <p:nvPr/>
        </p:nvSpPr>
        <p:spPr>
          <a:xfrm>
            <a:off x="873323" y="5865763"/>
            <a:ext cx="1976437" cy="261937"/>
          </a:xfrm>
          <a:prstGeom prst="rect">
            <a:avLst/>
          </a:prstGeom>
          <a:solidFill>
            <a:srgbClr val="2F4A22"/>
          </a:solidFill>
          <a:ln/>
        </p:spPr>
      </p:sp>
      <p:sp>
        <p:nvSpPr>
          <p:cNvPr id="21" name="Text 19"/>
          <p:cNvSpPr txBox="1"/>
          <p:nvPr/>
        </p:nvSpPr>
        <p:spPr>
          <a:xfrm>
            <a:off x="978098" y="5932438"/>
            <a:ext cx="457944"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ETAPA</a:t>
            </a:r>
            <a:endParaRPr lang="en-US" sz="720" dirty="0"/>
          </a:p>
        </p:txBody>
      </p:sp>
      <p:sp>
        <p:nvSpPr>
          <p:cNvPr id="22" name="Shape 20"/>
          <p:cNvSpPr/>
          <p:nvPr/>
        </p:nvSpPr>
        <p:spPr>
          <a:xfrm>
            <a:off x="2849761" y="5865763"/>
            <a:ext cx="3836789" cy="261937"/>
          </a:xfrm>
          <a:prstGeom prst="rect">
            <a:avLst/>
          </a:prstGeom>
          <a:solidFill>
            <a:srgbClr val="2F4A22"/>
          </a:solidFill>
          <a:ln/>
        </p:spPr>
      </p:sp>
      <p:sp>
        <p:nvSpPr>
          <p:cNvPr id="23" name="Text 21"/>
          <p:cNvSpPr txBox="1"/>
          <p:nvPr/>
        </p:nvSpPr>
        <p:spPr>
          <a:xfrm>
            <a:off x="2954536" y="5932438"/>
            <a:ext cx="1481185"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O QUE VOCÊ ENCONTRA</a:t>
            </a:r>
            <a:endParaRPr lang="en-US" sz="720" dirty="0"/>
          </a:p>
        </p:txBody>
      </p:sp>
      <p:sp>
        <p:nvSpPr>
          <p:cNvPr id="24" name="Shape 22"/>
          <p:cNvSpPr/>
          <p:nvPr/>
        </p:nvSpPr>
        <p:spPr>
          <a:xfrm>
            <a:off x="873323" y="6127700"/>
            <a:ext cx="1976437" cy="0"/>
          </a:xfrm>
          <a:prstGeom prst="line">
            <a:avLst/>
          </a:prstGeom>
          <a:noFill/>
          <a:ln w="9525">
            <a:solidFill>
              <a:srgbClr val="EADFC6"/>
            </a:solidFill>
            <a:prstDash val="solid"/>
          </a:ln>
        </p:spPr>
      </p:sp>
      <p:sp>
        <p:nvSpPr>
          <p:cNvPr id="25" name="Text 23"/>
          <p:cNvSpPr txBox="1"/>
          <p:nvPr/>
        </p:nvSpPr>
        <p:spPr>
          <a:xfrm>
            <a:off x="978098" y="6194375"/>
            <a:ext cx="1005185"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O Ingrediente</a:t>
            </a:r>
            <a:endParaRPr lang="en-US" sz="1050" dirty="0"/>
          </a:p>
        </p:txBody>
      </p:sp>
      <p:sp>
        <p:nvSpPr>
          <p:cNvPr id="26" name="Shape 24"/>
          <p:cNvSpPr/>
          <p:nvPr/>
        </p:nvSpPr>
        <p:spPr>
          <a:xfrm>
            <a:off x="2849761" y="6127700"/>
            <a:ext cx="3836789" cy="0"/>
          </a:xfrm>
          <a:prstGeom prst="line">
            <a:avLst/>
          </a:prstGeom>
          <a:noFill/>
          <a:ln w="9525">
            <a:solidFill>
              <a:srgbClr val="EADFC6"/>
            </a:solidFill>
            <a:prstDash val="solid"/>
          </a:ln>
        </p:spPr>
      </p:sp>
      <p:sp>
        <p:nvSpPr>
          <p:cNvPr id="27" name="Text 25"/>
          <p:cNvSpPr txBox="1"/>
          <p:nvPr/>
        </p:nvSpPr>
        <p:spPr>
          <a:xfrm>
            <a:off x="2954536" y="6203900"/>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 olhar do chef para expandir as possibilidades de uso daquele insumo.</a:t>
            </a:r>
            <a:endParaRPr lang="en-US" sz="1000" dirty="0"/>
          </a:p>
        </p:txBody>
      </p:sp>
      <p:sp>
        <p:nvSpPr>
          <p:cNvPr id="28" name="Shape 26"/>
          <p:cNvSpPr/>
          <p:nvPr/>
        </p:nvSpPr>
        <p:spPr>
          <a:xfrm>
            <a:off x="873323" y="6632228"/>
            <a:ext cx="1976437" cy="314176"/>
          </a:xfrm>
          <a:prstGeom prst="rect">
            <a:avLst/>
          </a:prstGeom>
          <a:solidFill>
            <a:srgbClr val="FBF4E4"/>
          </a:solidFill>
          <a:ln/>
        </p:spPr>
      </p:sp>
      <p:sp>
        <p:nvSpPr>
          <p:cNvPr id="29" name="Shape 27"/>
          <p:cNvSpPr/>
          <p:nvPr/>
        </p:nvSpPr>
        <p:spPr>
          <a:xfrm>
            <a:off x="873323" y="6632228"/>
            <a:ext cx="1976437" cy="0"/>
          </a:xfrm>
          <a:prstGeom prst="line">
            <a:avLst/>
          </a:prstGeom>
          <a:noFill/>
          <a:ln w="9525">
            <a:solidFill>
              <a:srgbClr val="EADFC6"/>
            </a:solidFill>
            <a:prstDash val="solid"/>
          </a:ln>
        </p:spPr>
      </p:sp>
      <p:sp>
        <p:nvSpPr>
          <p:cNvPr id="30" name="Text 28"/>
          <p:cNvSpPr txBox="1"/>
          <p:nvPr/>
        </p:nvSpPr>
        <p:spPr>
          <a:xfrm>
            <a:off x="978098" y="6698903"/>
            <a:ext cx="1150144"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Antes da Panela</a:t>
            </a:r>
            <a:endParaRPr lang="en-US" sz="1050" dirty="0"/>
          </a:p>
        </p:txBody>
      </p:sp>
      <p:sp>
        <p:nvSpPr>
          <p:cNvPr id="31" name="Shape 29"/>
          <p:cNvSpPr/>
          <p:nvPr/>
        </p:nvSpPr>
        <p:spPr>
          <a:xfrm>
            <a:off x="2849761" y="6632228"/>
            <a:ext cx="3836789" cy="314176"/>
          </a:xfrm>
          <a:prstGeom prst="rect">
            <a:avLst/>
          </a:prstGeom>
          <a:solidFill>
            <a:srgbClr val="FBF4E4"/>
          </a:solidFill>
          <a:ln/>
        </p:spPr>
      </p:sp>
      <p:sp>
        <p:nvSpPr>
          <p:cNvPr id="32" name="Shape 30"/>
          <p:cNvSpPr/>
          <p:nvPr/>
        </p:nvSpPr>
        <p:spPr>
          <a:xfrm>
            <a:off x="2849761" y="6632228"/>
            <a:ext cx="3836789" cy="0"/>
          </a:xfrm>
          <a:prstGeom prst="line">
            <a:avLst/>
          </a:prstGeom>
          <a:noFill/>
          <a:ln w="9525">
            <a:solidFill>
              <a:srgbClr val="EADFC6"/>
            </a:solidFill>
            <a:prstDash val="solid"/>
          </a:ln>
        </p:spPr>
      </p:sp>
      <p:sp>
        <p:nvSpPr>
          <p:cNvPr id="33" name="Text 31"/>
          <p:cNvSpPr txBox="1"/>
          <p:nvPr/>
        </p:nvSpPr>
        <p:spPr>
          <a:xfrm>
            <a:off x="2954536" y="6708428"/>
            <a:ext cx="399766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Como escolher no mercado, como armazenar e como cortar.</a:t>
            </a:r>
            <a:endParaRPr lang="en-US" sz="1000" dirty="0"/>
          </a:p>
        </p:txBody>
      </p:sp>
      <p:sp>
        <p:nvSpPr>
          <p:cNvPr id="34" name="Shape 32"/>
          <p:cNvSpPr/>
          <p:nvPr/>
        </p:nvSpPr>
        <p:spPr>
          <a:xfrm>
            <a:off x="873323" y="6946404"/>
            <a:ext cx="1976437" cy="0"/>
          </a:xfrm>
          <a:prstGeom prst="line">
            <a:avLst/>
          </a:prstGeom>
          <a:noFill/>
          <a:ln w="9525">
            <a:solidFill>
              <a:srgbClr val="EADFC6"/>
            </a:solidFill>
            <a:prstDash val="solid"/>
          </a:ln>
        </p:spPr>
      </p:sp>
      <p:sp>
        <p:nvSpPr>
          <p:cNvPr id="35" name="Text 33"/>
          <p:cNvSpPr txBox="1"/>
          <p:nvPr/>
        </p:nvSpPr>
        <p:spPr>
          <a:xfrm>
            <a:off x="978098" y="7013079"/>
            <a:ext cx="1305830"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3 Transformações</a:t>
            </a:r>
            <a:endParaRPr lang="en-US" sz="1050" dirty="0"/>
          </a:p>
        </p:txBody>
      </p:sp>
      <p:sp>
        <p:nvSpPr>
          <p:cNvPr id="36" name="Shape 34"/>
          <p:cNvSpPr/>
          <p:nvPr/>
        </p:nvSpPr>
        <p:spPr>
          <a:xfrm>
            <a:off x="2849761" y="6946404"/>
            <a:ext cx="3836789" cy="0"/>
          </a:xfrm>
          <a:prstGeom prst="line">
            <a:avLst/>
          </a:prstGeom>
          <a:noFill/>
          <a:ln w="9525">
            <a:solidFill>
              <a:srgbClr val="EADFC6"/>
            </a:solidFill>
            <a:prstDash val="solid"/>
          </a:ln>
        </p:spPr>
      </p:sp>
      <p:sp>
        <p:nvSpPr>
          <p:cNvPr id="37" name="Text 35"/>
          <p:cNvSpPr txBox="1"/>
          <p:nvPr/>
        </p:nvSpPr>
        <p:spPr>
          <a:xfrm>
            <a:off x="2954536" y="7022604"/>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Três caminhos culinários completamente distintos para aquela sensação de “nunca pensei nisso”.</a:t>
            </a:r>
            <a:endParaRPr lang="en-US" sz="1000" dirty="0"/>
          </a:p>
        </p:txBody>
      </p:sp>
      <p:sp>
        <p:nvSpPr>
          <p:cNvPr id="38" name="Shape 36"/>
          <p:cNvSpPr/>
          <p:nvPr/>
        </p:nvSpPr>
        <p:spPr>
          <a:xfrm>
            <a:off x="873323" y="7450931"/>
            <a:ext cx="1976437" cy="504527"/>
          </a:xfrm>
          <a:prstGeom prst="rect">
            <a:avLst/>
          </a:prstGeom>
          <a:solidFill>
            <a:srgbClr val="FBF4E4"/>
          </a:solidFill>
          <a:ln/>
        </p:spPr>
      </p:sp>
      <p:sp>
        <p:nvSpPr>
          <p:cNvPr id="39" name="Shape 37"/>
          <p:cNvSpPr/>
          <p:nvPr/>
        </p:nvSpPr>
        <p:spPr>
          <a:xfrm>
            <a:off x="873323" y="7450931"/>
            <a:ext cx="1976437" cy="0"/>
          </a:xfrm>
          <a:prstGeom prst="line">
            <a:avLst/>
          </a:prstGeom>
          <a:noFill/>
          <a:ln w="9525">
            <a:solidFill>
              <a:srgbClr val="EADFC6"/>
            </a:solidFill>
            <a:prstDash val="solid"/>
          </a:ln>
        </p:spPr>
      </p:sp>
      <p:sp>
        <p:nvSpPr>
          <p:cNvPr id="40" name="Text 38"/>
          <p:cNvSpPr txBox="1"/>
          <p:nvPr/>
        </p:nvSpPr>
        <p:spPr>
          <a:xfrm>
            <a:off x="978098" y="7517606"/>
            <a:ext cx="1071467"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O Pulo do Chef</a:t>
            </a:r>
            <a:endParaRPr lang="en-US" sz="1050" dirty="0"/>
          </a:p>
        </p:txBody>
      </p:sp>
      <p:sp>
        <p:nvSpPr>
          <p:cNvPr id="41" name="Shape 39"/>
          <p:cNvSpPr/>
          <p:nvPr/>
        </p:nvSpPr>
        <p:spPr>
          <a:xfrm>
            <a:off x="2849761" y="7450931"/>
            <a:ext cx="3836789" cy="504527"/>
          </a:xfrm>
          <a:prstGeom prst="rect">
            <a:avLst/>
          </a:prstGeom>
          <a:solidFill>
            <a:srgbClr val="FBF4E4"/>
          </a:solidFill>
          <a:ln/>
        </p:spPr>
      </p:sp>
      <p:sp>
        <p:nvSpPr>
          <p:cNvPr id="42" name="Shape 40"/>
          <p:cNvSpPr/>
          <p:nvPr/>
        </p:nvSpPr>
        <p:spPr>
          <a:xfrm>
            <a:off x="2849761" y="7450931"/>
            <a:ext cx="3836789" cy="0"/>
          </a:xfrm>
          <a:prstGeom prst="line">
            <a:avLst/>
          </a:prstGeom>
          <a:noFill/>
          <a:ln w="9525">
            <a:solidFill>
              <a:srgbClr val="EADFC6"/>
            </a:solidFill>
            <a:prstDash val="solid"/>
          </a:ln>
        </p:spPr>
      </p:sp>
      <p:sp>
        <p:nvSpPr>
          <p:cNvPr id="43" name="Text 41"/>
          <p:cNvSpPr txBox="1"/>
          <p:nvPr/>
        </p:nvSpPr>
        <p:spPr>
          <a:xfrm>
            <a:off x="2954536" y="7527131"/>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Um erro frequente, desmistificado, com a técnica exata para corrigi-lo.</a:t>
            </a:r>
            <a:endParaRPr lang="en-US" sz="1000" dirty="0"/>
          </a:p>
        </p:txBody>
      </p:sp>
      <p:sp>
        <p:nvSpPr>
          <p:cNvPr id="44" name="Shape 42"/>
          <p:cNvSpPr/>
          <p:nvPr/>
        </p:nvSpPr>
        <p:spPr>
          <a:xfrm>
            <a:off x="873323" y="7955459"/>
            <a:ext cx="1976437" cy="0"/>
          </a:xfrm>
          <a:prstGeom prst="line">
            <a:avLst/>
          </a:prstGeom>
          <a:noFill/>
          <a:ln w="9525">
            <a:solidFill>
              <a:srgbClr val="EADFC6"/>
            </a:solidFill>
            <a:prstDash val="solid"/>
          </a:ln>
        </p:spPr>
      </p:sp>
      <p:sp>
        <p:nvSpPr>
          <p:cNvPr id="45" name="Text 43"/>
          <p:cNvSpPr txBox="1"/>
          <p:nvPr/>
        </p:nvSpPr>
        <p:spPr>
          <a:xfrm>
            <a:off x="978098" y="8022134"/>
            <a:ext cx="1048941"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Não Tem Isso?</a:t>
            </a:r>
            <a:endParaRPr lang="en-US" sz="1050" dirty="0"/>
          </a:p>
        </p:txBody>
      </p:sp>
      <p:sp>
        <p:nvSpPr>
          <p:cNvPr id="46" name="Shape 44"/>
          <p:cNvSpPr/>
          <p:nvPr/>
        </p:nvSpPr>
        <p:spPr>
          <a:xfrm>
            <a:off x="2849761" y="7955459"/>
            <a:ext cx="3836789" cy="0"/>
          </a:xfrm>
          <a:prstGeom prst="line">
            <a:avLst/>
          </a:prstGeom>
          <a:noFill/>
          <a:ln w="9525">
            <a:solidFill>
              <a:srgbClr val="EADFC6"/>
            </a:solidFill>
            <a:prstDash val="solid"/>
          </a:ln>
        </p:spPr>
      </p:sp>
      <p:sp>
        <p:nvSpPr>
          <p:cNvPr id="47" name="Text 45"/>
          <p:cNvSpPr txBox="1"/>
          <p:nvPr/>
        </p:nvSpPr>
        <p:spPr>
          <a:xfrm>
            <a:off x="2954536" y="8031659"/>
            <a:ext cx="374596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Substituições inteligentes para você cozinhar sem travar.</a:t>
            </a:r>
            <a:endParaRPr lang="en-US" sz="1000" dirty="0"/>
          </a:p>
        </p:txBody>
      </p:sp>
      <p:sp>
        <p:nvSpPr>
          <p:cNvPr id="48" name="Shape 46"/>
          <p:cNvSpPr/>
          <p:nvPr/>
        </p:nvSpPr>
        <p:spPr>
          <a:xfrm>
            <a:off x="873323" y="8269635"/>
            <a:ext cx="1976437" cy="504527"/>
          </a:xfrm>
          <a:prstGeom prst="rect">
            <a:avLst/>
          </a:prstGeom>
          <a:solidFill>
            <a:srgbClr val="FBF4E4"/>
          </a:solidFill>
          <a:ln/>
        </p:spPr>
      </p:sp>
      <p:sp>
        <p:nvSpPr>
          <p:cNvPr id="49" name="Shape 47"/>
          <p:cNvSpPr/>
          <p:nvPr/>
        </p:nvSpPr>
        <p:spPr>
          <a:xfrm>
            <a:off x="873323" y="8269635"/>
            <a:ext cx="1976437" cy="0"/>
          </a:xfrm>
          <a:prstGeom prst="line">
            <a:avLst/>
          </a:prstGeom>
          <a:noFill/>
          <a:ln w="9525">
            <a:solidFill>
              <a:srgbClr val="EADFC6"/>
            </a:solidFill>
            <a:prstDash val="solid"/>
          </a:ln>
        </p:spPr>
      </p:sp>
      <p:sp>
        <p:nvSpPr>
          <p:cNvPr id="50" name="Text 48"/>
          <p:cNvSpPr txBox="1"/>
          <p:nvPr/>
        </p:nvSpPr>
        <p:spPr>
          <a:xfrm>
            <a:off x="978098" y="8336310"/>
            <a:ext cx="1709547"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Aproveita Isso Também</a:t>
            </a:r>
            <a:endParaRPr lang="en-US" sz="1050" dirty="0"/>
          </a:p>
        </p:txBody>
      </p:sp>
      <p:sp>
        <p:nvSpPr>
          <p:cNvPr id="51" name="Shape 49"/>
          <p:cNvSpPr/>
          <p:nvPr/>
        </p:nvSpPr>
        <p:spPr>
          <a:xfrm>
            <a:off x="2849761" y="8269635"/>
            <a:ext cx="3836789" cy="504527"/>
          </a:xfrm>
          <a:prstGeom prst="rect">
            <a:avLst/>
          </a:prstGeom>
          <a:solidFill>
            <a:srgbClr val="FBF4E4"/>
          </a:solidFill>
          <a:ln/>
        </p:spPr>
      </p:sp>
      <p:sp>
        <p:nvSpPr>
          <p:cNvPr id="52" name="Shape 50"/>
          <p:cNvSpPr/>
          <p:nvPr/>
        </p:nvSpPr>
        <p:spPr>
          <a:xfrm>
            <a:off x="2849761" y="8269635"/>
            <a:ext cx="3836789" cy="0"/>
          </a:xfrm>
          <a:prstGeom prst="line">
            <a:avLst/>
          </a:prstGeom>
          <a:noFill/>
          <a:ln w="9525">
            <a:solidFill>
              <a:srgbClr val="EADFC6"/>
            </a:solidFill>
            <a:prstDash val="solid"/>
          </a:ln>
        </p:spPr>
      </p:sp>
      <p:sp>
        <p:nvSpPr>
          <p:cNvPr id="53" name="Text 51"/>
          <p:cNvSpPr txBox="1"/>
          <p:nvPr/>
        </p:nvSpPr>
        <p:spPr>
          <a:xfrm>
            <a:off x="2954536" y="8345835"/>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Cascas, talos, ramas e aparas transformados em preparações saborosas.</a:t>
            </a:r>
            <a:endParaRPr lang="en-US" sz="1000" dirty="0"/>
          </a:p>
        </p:txBody>
      </p:sp>
      <p:sp>
        <p:nvSpPr>
          <p:cNvPr id="54" name="Text 52"/>
          <p:cNvSpPr txBox="1"/>
          <p:nvPr/>
        </p:nvSpPr>
        <p:spPr>
          <a:xfrm>
            <a:off x="863798" y="8888462"/>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MEDIDAS: 1 xícara = 240 ml · 1 colher (sopa) = 15 ml · 1 colher (chá) = 5 ml · forno sempre preaquecido.</a:t>
            </a:r>
            <a:endParaRPr lang="en-US" sz="1000" dirty="0"/>
          </a:p>
        </p:txBody>
      </p:sp>
      <p:sp>
        <p:nvSpPr>
          <p:cNvPr id="55" name="Text 53"/>
          <p:cNvSpPr txBox="1"/>
          <p:nvPr/>
        </p:nvSpPr>
        <p:spPr>
          <a:xfrm>
            <a:off x="863798" y="9456539"/>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6" name="Text 54"/>
          <p:cNvSpPr txBox="1"/>
          <p:nvPr/>
        </p:nvSpPr>
        <p:spPr>
          <a:xfrm>
            <a:off x="6540550" y="9456539"/>
            <a:ext cx="26982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04</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2711053"/>
          </a:xfrm>
          <a:prstGeom prst="roundRect">
            <a:avLst>
              <a:gd name="adj" fmla="val 2687"/>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142256"/>
            <a:ext cx="826740"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CAPÍTULO 1</a:t>
            </a:r>
            <a:endParaRPr lang="en-US" sz="750" dirty="0"/>
          </a:p>
        </p:txBody>
      </p:sp>
      <p:sp>
        <p:nvSpPr>
          <p:cNvPr id="4" name="Text 2"/>
          <p:cNvSpPr txBox="1"/>
          <p:nvPr/>
        </p:nvSpPr>
        <p:spPr>
          <a:xfrm>
            <a:off x="1043880" y="1329579"/>
            <a:ext cx="5472113" cy="1370804"/>
          </a:xfrm>
          <a:prstGeom prst="rect">
            <a:avLst/>
          </a:prstGeom>
          <a:noFill/>
          <a:ln/>
        </p:spPr>
        <p:txBody>
          <a:bodyPr wrap="square" lIns="0" tIns="0" rIns="0" bIns="0" rtlCol="0" anchor="t"/>
          <a:lstStyle/>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ABÓBORA CABOTIÁ</a:t>
            </a:r>
            <a:endParaRPr lang="en-US" sz="4600" dirty="0"/>
          </a:p>
        </p:txBody>
      </p:sp>
      <p:sp>
        <p:nvSpPr>
          <p:cNvPr id="5" name="Shape 3"/>
          <p:cNvSpPr/>
          <p:nvPr/>
        </p:nvSpPr>
        <p:spPr>
          <a:xfrm>
            <a:off x="1043880" y="2604343"/>
            <a:ext cx="533400" cy="28575"/>
          </a:xfrm>
          <a:prstGeom prst="rect">
            <a:avLst/>
          </a:prstGeom>
          <a:solidFill>
            <a:srgbClr val="E5A82E"/>
          </a:solidFill>
          <a:ln/>
        </p:spPr>
      </p:sp>
      <p:sp>
        <p:nvSpPr>
          <p:cNvPr id="6" name="Text 4"/>
          <p:cNvSpPr txBox="1"/>
          <p:nvPr/>
        </p:nvSpPr>
        <p:spPr>
          <a:xfrm>
            <a:off x="1043880" y="2832943"/>
            <a:ext cx="2716006"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OU ABÓBORA JAPONESA</a:t>
            </a:r>
            <a:endParaRPr lang="en-US" sz="1500" dirty="0"/>
          </a:p>
        </p:txBody>
      </p:sp>
      <p:sp>
        <p:nvSpPr>
          <p:cNvPr id="7" name="Shape 5"/>
          <p:cNvSpPr/>
          <p:nvPr/>
        </p:nvSpPr>
        <p:spPr>
          <a:xfrm>
            <a:off x="2267992" y="7092107"/>
            <a:ext cx="3023890" cy="3023890"/>
          </a:xfrm>
          <a:prstGeom prst="ellipse">
            <a:avLst/>
          </a:prstGeom>
          <a:solidFill>
            <a:srgbClr val="F8EED9"/>
          </a:solidFill>
          <a:ln/>
        </p:spPr>
      </p:sp>
      <p:pic>
        <p:nvPicPr>
          <p:cNvPr id="8" name="Image 0" descr="/home/user/ebook-receitas/versoes/VERSAO ESTAMPAS/fotos/cap1.jpg">    </p:cNvPr>
          <p:cNvPicPr>
            <a:picLocks noChangeAspect="1"/>
          </p:cNvPicPr>
          <p:nvPr/>
        </p:nvPicPr>
        <p:blipFill>
          <a:blip r:embed="rId2"/>
          <a:srcRect l="0" r="0" t="0" b="0"/>
          <a:stretch/>
        </p:blipFill>
        <p:spPr>
          <a:xfrm>
            <a:off x="2344192" y="7168307"/>
            <a:ext cx="2871490" cy="2871490"/>
          </a:xfrm>
          <a:prstGeom prst="ellipse">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3123009"/>
            <a:ext cx="6407944" cy="4445794"/>
          </a:xfrm>
          <a:prstGeom prst="roundRect">
            <a:avLst>
              <a:gd name="adj" fmla="val 999"/>
            </a:avLst>
          </a:prstGeom>
          <a:solidFill>
            <a:srgbClr val="1E4A2B"/>
          </a:solidFill>
          <a:ln/>
          <a:effectLst>
            <a:outerShdw sx="100000" sy="100000" kx="0" ky="0" algn="bl" rotWithShape="0" blurRad="177800" dist="76200" dir="5400000">
              <a:srgbClr val="50401E">
                <a:alpha val="18000"/>
              </a:srgbClr>
            </a:outerShdw>
          </a:effectLst>
        </p:spPr>
      </p:sp>
      <p:sp>
        <p:nvSpPr>
          <p:cNvPr id="3" name="Shape 1"/>
          <p:cNvSpPr/>
          <p:nvPr/>
        </p:nvSpPr>
        <p:spPr>
          <a:xfrm>
            <a:off x="1043880" y="3726359"/>
            <a:ext cx="0" cy="858887"/>
          </a:xfrm>
          <a:prstGeom prst="line">
            <a:avLst/>
          </a:prstGeom>
          <a:noFill/>
          <a:ln w="38100">
            <a:solidFill>
              <a:srgbClr val="E5A82E"/>
            </a:solidFill>
            <a:prstDash val="solid"/>
          </a:ln>
        </p:spPr>
      </p:sp>
      <p:sp>
        <p:nvSpPr>
          <p:cNvPr id="4" name="Text 2"/>
          <p:cNvSpPr txBox="1"/>
          <p:nvPr/>
        </p:nvSpPr>
        <p:spPr>
          <a:xfrm>
            <a:off x="1196280" y="3821609"/>
            <a:ext cx="5319713" cy="683716"/>
          </a:xfrm>
          <a:prstGeom prst="rect">
            <a:avLst/>
          </a:prstGeom>
          <a:noFill/>
          <a:ln/>
        </p:spPr>
        <p:txBody>
          <a:bodyPr wrap="square" lIns="0" tIns="0" rIns="0" bIns="0" rtlCol="0" anchor="t"/>
          <a:lstStyle/>
          <a:p>
            <a:pPr algn="l" indent="0" marL="0">
              <a:lnSpc>
                <a:spcPts val="1750"/>
              </a:lnSpc>
              <a:buNone/>
            </a:pPr>
            <a:r>
              <a:rPr lang="en-US" sz="1350" dirty="0">
                <a:solidFill>
                  <a:srgbClr val="F8EED9"/>
                </a:solidFill>
                <a:latin typeface="Fraunces SemiBold" pitchFamily="34" charset="0"/>
                <a:ea typeface="Fraunces SemiBold" pitchFamily="34" charset="-122"/>
                <a:cs typeface="Fraunces SemiBold" pitchFamily="34" charset="-120"/>
              </a:rPr>
              <a:t>VERSÁTIL, BARATA E SÍMBOLO DE COMIDA AFETIVA. E 100% APROVEITÁVEL, DA CASCA À SEMENTE: EXATAMENTE O QUE PEDE O CONSUMO CONSCIENTE.</a:t>
            </a:r>
            <a:endParaRPr lang="en-US" sz="1350" dirty="0"/>
          </a:p>
        </p:txBody>
      </p:sp>
      <p:sp>
        <p:nvSpPr>
          <p:cNvPr id="5" name="Text 3"/>
          <p:cNvSpPr txBox="1"/>
          <p:nvPr/>
        </p:nvSpPr>
        <p:spPr>
          <a:xfrm>
            <a:off x="1043880" y="4785271"/>
            <a:ext cx="233312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3 TRANSFORMAÇÕES</a:t>
            </a:r>
            <a:endParaRPr lang="en-US" sz="1500" dirty="0"/>
          </a:p>
        </p:txBody>
      </p:sp>
      <p:sp>
        <p:nvSpPr>
          <p:cNvPr id="6" name="Shape 4"/>
          <p:cNvSpPr/>
          <p:nvPr/>
        </p:nvSpPr>
        <p:spPr>
          <a:xfrm>
            <a:off x="1043880" y="5118646"/>
            <a:ext cx="5472113" cy="0"/>
          </a:xfrm>
          <a:prstGeom prst="line">
            <a:avLst/>
          </a:prstGeom>
          <a:noFill/>
          <a:ln w="9525">
            <a:solidFill>
              <a:srgbClr val="F8EED9"/>
            </a:solidFill>
            <a:prstDash val="solid"/>
          </a:ln>
        </p:spPr>
      </p:sp>
      <p:sp>
        <p:nvSpPr>
          <p:cNvPr id="7" name="Text 5"/>
          <p:cNvSpPr txBox="1"/>
          <p:nvPr/>
        </p:nvSpPr>
        <p:spPr>
          <a:xfrm>
            <a:off x="1043880" y="5213896"/>
            <a:ext cx="227409"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1</a:t>
            </a:r>
            <a:endParaRPr lang="en-US" sz="1900" dirty="0"/>
          </a:p>
        </p:txBody>
      </p:sp>
      <p:sp>
        <p:nvSpPr>
          <p:cNvPr id="8" name="Text 6"/>
          <p:cNvSpPr txBox="1"/>
          <p:nvPr/>
        </p:nvSpPr>
        <p:spPr>
          <a:xfrm>
            <a:off x="1539180" y="5251996"/>
            <a:ext cx="152285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CLÁSSICO AFETIVO</a:t>
            </a:r>
            <a:endParaRPr lang="en-US" sz="870" dirty="0"/>
          </a:p>
        </p:txBody>
      </p:sp>
      <p:sp>
        <p:nvSpPr>
          <p:cNvPr id="9" name="Text 7"/>
          <p:cNvSpPr txBox="1"/>
          <p:nvPr/>
        </p:nvSpPr>
        <p:spPr>
          <a:xfrm>
            <a:off x="1539180" y="5453658"/>
            <a:ext cx="3942493"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Nhoque de abóbora tostado na manteiga de garrafa e sálvia</a:t>
            </a:r>
            <a:endParaRPr lang="en-US" sz="1000" dirty="0"/>
          </a:p>
        </p:txBody>
      </p:sp>
      <p:sp>
        <p:nvSpPr>
          <p:cNvPr id="10" name="Shape 8"/>
          <p:cNvSpPr/>
          <p:nvPr/>
        </p:nvSpPr>
        <p:spPr>
          <a:xfrm>
            <a:off x="1043880" y="5748784"/>
            <a:ext cx="5472113" cy="0"/>
          </a:xfrm>
          <a:prstGeom prst="line">
            <a:avLst/>
          </a:prstGeom>
          <a:noFill/>
          <a:ln w="9525">
            <a:solidFill>
              <a:srgbClr val="F8EED9"/>
            </a:solidFill>
            <a:prstDash val="solid"/>
          </a:ln>
        </p:spPr>
      </p:sp>
      <p:sp>
        <p:nvSpPr>
          <p:cNvPr id="11" name="Text 9"/>
          <p:cNvSpPr txBox="1"/>
          <p:nvPr/>
        </p:nvSpPr>
        <p:spPr>
          <a:xfrm>
            <a:off x="1043880" y="5844034"/>
            <a:ext cx="263426"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2</a:t>
            </a:r>
            <a:endParaRPr lang="en-US" sz="1900" dirty="0"/>
          </a:p>
        </p:txBody>
      </p:sp>
      <p:sp>
        <p:nvSpPr>
          <p:cNvPr id="12" name="Text 10"/>
          <p:cNvSpPr txBox="1"/>
          <p:nvPr/>
        </p:nvSpPr>
        <p:spPr>
          <a:xfrm>
            <a:off x="1539180" y="5882134"/>
            <a:ext cx="936575"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INUSITADO</a:t>
            </a:r>
            <a:endParaRPr lang="en-US" sz="870" dirty="0"/>
          </a:p>
        </p:txBody>
      </p:sp>
      <p:sp>
        <p:nvSpPr>
          <p:cNvPr id="13" name="Text 11"/>
          <p:cNvSpPr txBox="1"/>
          <p:nvPr/>
        </p:nvSpPr>
        <p:spPr>
          <a:xfrm>
            <a:off x="1539180" y="6083796"/>
            <a:ext cx="4976813" cy="371326"/>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Hambúrguer ou bolinho cremoso assado de abóbora com especiarias e queijo coalho</a:t>
            </a:r>
            <a:endParaRPr lang="en-US" sz="1000" dirty="0"/>
          </a:p>
        </p:txBody>
      </p:sp>
      <p:sp>
        <p:nvSpPr>
          <p:cNvPr id="14" name="Shape 12"/>
          <p:cNvSpPr/>
          <p:nvPr/>
        </p:nvSpPr>
        <p:spPr>
          <a:xfrm>
            <a:off x="1043880" y="6569273"/>
            <a:ext cx="5472113" cy="0"/>
          </a:xfrm>
          <a:prstGeom prst="line">
            <a:avLst/>
          </a:prstGeom>
          <a:noFill/>
          <a:ln w="9525">
            <a:solidFill>
              <a:srgbClr val="F8EED9"/>
            </a:solidFill>
            <a:prstDash val="solid"/>
          </a:ln>
        </p:spPr>
      </p:sp>
      <p:sp>
        <p:nvSpPr>
          <p:cNvPr id="15" name="Shape 13"/>
          <p:cNvSpPr/>
          <p:nvPr/>
        </p:nvSpPr>
        <p:spPr>
          <a:xfrm>
            <a:off x="1043880" y="7208937"/>
            <a:ext cx="5472113" cy="0"/>
          </a:xfrm>
          <a:prstGeom prst="line">
            <a:avLst/>
          </a:prstGeom>
          <a:noFill/>
          <a:ln w="9525">
            <a:solidFill>
              <a:srgbClr val="F8EED9"/>
            </a:solidFill>
            <a:prstDash val="solid"/>
          </a:ln>
        </p:spPr>
      </p:sp>
      <p:sp>
        <p:nvSpPr>
          <p:cNvPr id="16" name="Text 14"/>
          <p:cNvSpPr txBox="1"/>
          <p:nvPr/>
        </p:nvSpPr>
        <p:spPr>
          <a:xfrm>
            <a:off x="1043880" y="6664523"/>
            <a:ext cx="250627"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3</a:t>
            </a:r>
            <a:endParaRPr lang="en-US" sz="1900" dirty="0"/>
          </a:p>
        </p:txBody>
      </p:sp>
      <p:sp>
        <p:nvSpPr>
          <p:cNvPr id="17" name="Text 15"/>
          <p:cNvSpPr txBox="1"/>
          <p:nvPr/>
        </p:nvSpPr>
        <p:spPr>
          <a:xfrm>
            <a:off x="1539180" y="6702623"/>
            <a:ext cx="994321"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LADO DOCE</a:t>
            </a:r>
            <a:endParaRPr lang="en-US" sz="870" dirty="0"/>
          </a:p>
        </p:txBody>
      </p:sp>
      <p:sp>
        <p:nvSpPr>
          <p:cNvPr id="18" name="Text 16"/>
          <p:cNvSpPr txBox="1"/>
          <p:nvPr/>
        </p:nvSpPr>
        <p:spPr>
          <a:xfrm>
            <a:off x="1539180" y="6904286"/>
            <a:ext cx="5202317"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Crepúsculo: doce de abóbora cremoso de colher com coco e raspas de laranja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3123009"/>
            <a:ext cx="6407944" cy="4445794"/>
          </a:xfrm>
          <a:prstGeom prst="roundRect">
            <a:avLst>
              <a:gd name="adj" fmla="val 999"/>
            </a:avLst>
          </a:prstGeom>
          <a:solidFill>
            <a:srgbClr val="1E4A2B"/>
          </a:solidFill>
          <a:ln/>
          <a:effectLst>
            <a:outerShdw sx="100000" sy="100000" kx="0" ky="0" algn="bl" rotWithShape="0" blurRad="177800" dist="76200" dir="5400000">
              <a:srgbClr val="50401E">
                <a:alpha val="18000"/>
              </a:srgbClr>
            </a:outerShdw>
          </a:effectLst>
        </p:spPr>
      </p:sp>
      <p:sp>
        <p:nvSpPr>
          <p:cNvPr id="3" name="Shape 1"/>
          <p:cNvSpPr/>
          <p:nvPr/>
        </p:nvSpPr>
        <p:spPr>
          <a:xfrm>
            <a:off x="1043880" y="3726359"/>
            <a:ext cx="0" cy="858887"/>
          </a:xfrm>
          <a:prstGeom prst="line">
            <a:avLst/>
          </a:prstGeom>
          <a:noFill/>
          <a:ln w="38100">
            <a:solidFill>
              <a:srgbClr val="E5A82E"/>
            </a:solidFill>
            <a:prstDash val="solid"/>
          </a:ln>
        </p:spPr>
      </p:sp>
      <p:sp>
        <p:nvSpPr>
          <p:cNvPr id="4" name="Text 2"/>
          <p:cNvSpPr txBox="1"/>
          <p:nvPr/>
        </p:nvSpPr>
        <p:spPr>
          <a:xfrm>
            <a:off x="1196280" y="3821609"/>
            <a:ext cx="5319713" cy="683716"/>
          </a:xfrm>
          <a:prstGeom prst="rect">
            <a:avLst/>
          </a:prstGeom>
          <a:noFill/>
          <a:ln/>
        </p:spPr>
        <p:txBody>
          <a:bodyPr wrap="square" lIns="0" tIns="0" rIns="0" bIns="0" rtlCol="0" anchor="t"/>
          <a:lstStyle/>
          <a:p>
            <a:pPr algn="l" indent="0" marL="0">
              <a:lnSpc>
                <a:spcPts val="1750"/>
              </a:lnSpc>
              <a:buNone/>
            </a:pPr>
            <a:r>
              <a:rPr lang="en-US" sz="1350" dirty="0">
                <a:solidFill>
                  <a:srgbClr val="F8EED9"/>
                </a:solidFill>
                <a:latin typeface="Fraunces SemiBold" pitchFamily="34" charset="0"/>
                <a:ea typeface="Fraunces SemiBold" pitchFamily="34" charset="-122"/>
                <a:cs typeface="Fraunces SemiBold" pitchFamily="34" charset="-120"/>
              </a:rPr>
              <a:t>VERSÁTIL, BARATA E SÍMBOLO DE COMIDA AFETIVA. E 100% APROVEITÁVEL, DA CASCA À SEMENTE: EXATAMENTE O QUE PEDE O CONSUMO CONSCIENTE.</a:t>
            </a:r>
            <a:endParaRPr lang="en-US" sz="1350" dirty="0"/>
          </a:p>
        </p:txBody>
      </p:sp>
      <p:sp>
        <p:nvSpPr>
          <p:cNvPr id="5" name="Text 3"/>
          <p:cNvSpPr txBox="1"/>
          <p:nvPr/>
        </p:nvSpPr>
        <p:spPr>
          <a:xfrm>
            <a:off x="1043880" y="4785271"/>
            <a:ext cx="233312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3 TRANSFORMAÇÕES</a:t>
            </a:r>
            <a:endParaRPr lang="en-US" sz="1500" dirty="0"/>
          </a:p>
        </p:txBody>
      </p:sp>
      <p:sp>
        <p:nvSpPr>
          <p:cNvPr id="6" name="Shape 4"/>
          <p:cNvSpPr/>
          <p:nvPr/>
        </p:nvSpPr>
        <p:spPr>
          <a:xfrm>
            <a:off x="1043880" y="5118646"/>
            <a:ext cx="5472113" cy="0"/>
          </a:xfrm>
          <a:prstGeom prst="line">
            <a:avLst/>
          </a:prstGeom>
          <a:noFill/>
          <a:ln w="9525">
            <a:solidFill>
              <a:srgbClr val="F8EED9"/>
            </a:solidFill>
            <a:prstDash val="solid"/>
          </a:ln>
        </p:spPr>
      </p:sp>
      <p:sp>
        <p:nvSpPr>
          <p:cNvPr id="7" name="Text 5"/>
          <p:cNvSpPr txBox="1"/>
          <p:nvPr/>
        </p:nvSpPr>
        <p:spPr>
          <a:xfrm>
            <a:off x="1043880" y="5213896"/>
            <a:ext cx="227409"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1</a:t>
            </a:r>
            <a:endParaRPr lang="en-US" sz="1900" dirty="0"/>
          </a:p>
        </p:txBody>
      </p:sp>
      <p:sp>
        <p:nvSpPr>
          <p:cNvPr id="8" name="Text 6"/>
          <p:cNvSpPr txBox="1"/>
          <p:nvPr/>
        </p:nvSpPr>
        <p:spPr>
          <a:xfrm>
            <a:off x="1539180" y="5251996"/>
            <a:ext cx="152285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CLÁSSICO AFETIVO</a:t>
            </a:r>
            <a:endParaRPr lang="en-US" sz="870" dirty="0"/>
          </a:p>
        </p:txBody>
      </p:sp>
      <p:sp>
        <p:nvSpPr>
          <p:cNvPr id="9" name="Text 7"/>
          <p:cNvSpPr txBox="1"/>
          <p:nvPr/>
        </p:nvSpPr>
        <p:spPr>
          <a:xfrm>
            <a:off x="1539180" y="5453658"/>
            <a:ext cx="3942493"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Nhoque de abóbora tostado na manteiga de garrafa e sálvia</a:t>
            </a:r>
            <a:endParaRPr lang="en-US" sz="1000" dirty="0"/>
          </a:p>
        </p:txBody>
      </p:sp>
      <p:sp>
        <p:nvSpPr>
          <p:cNvPr id="10" name="Shape 8"/>
          <p:cNvSpPr/>
          <p:nvPr/>
        </p:nvSpPr>
        <p:spPr>
          <a:xfrm>
            <a:off x="1043880" y="5748784"/>
            <a:ext cx="5472113" cy="0"/>
          </a:xfrm>
          <a:prstGeom prst="line">
            <a:avLst/>
          </a:prstGeom>
          <a:noFill/>
          <a:ln w="9525">
            <a:solidFill>
              <a:srgbClr val="F8EED9"/>
            </a:solidFill>
            <a:prstDash val="solid"/>
          </a:ln>
        </p:spPr>
      </p:sp>
      <p:sp>
        <p:nvSpPr>
          <p:cNvPr id="11" name="Text 9"/>
          <p:cNvSpPr txBox="1"/>
          <p:nvPr/>
        </p:nvSpPr>
        <p:spPr>
          <a:xfrm>
            <a:off x="1043880" y="5844034"/>
            <a:ext cx="263426"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2</a:t>
            </a:r>
            <a:endParaRPr lang="en-US" sz="1900" dirty="0"/>
          </a:p>
        </p:txBody>
      </p:sp>
      <p:sp>
        <p:nvSpPr>
          <p:cNvPr id="12" name="Text 10"/>
          <p:cNvSpPr txBox="1"/>
          <p:nvPr/>
        </p:nvSpPr>
        <p:spPr>
          <a:xfrm>
            <a:off x="1539180" y="5882134"/>
            <a:ext cx="936575"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INUSITADO</a:t>
            </a:r>
            <a:endParaRPr lang="en-US" sz="870" dirty="0"/>
          </a:p>
        </p:txBody>
      </p:sp>
      <p:sp>
        <p:nvSpPr>
          <p:cNvPr id="13" name="Text 11"/>
          <p:cNvSpPr txBox="1"/>
          <p:nvPr/>
        </p:nvSpPr>
        <p:spPr>
          <a:xfrm>
            <a:off x="1539180" y="6083796"/>
            <a:ext cx="4976813" cy="371326"/>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Hambúrguer ou bolinho cremoso assado de abóbora com especiarias e queijo coalho</a:t>
            </a:r>
            <a:endParaRPr lang="en-US" sz="1000" dirty="0"/>
          </a:p>
        </p:txBody>
      </p:sp>
      <p:sp>
        <p:nvSpPr>
          <p:cNvPr id="14" name="Shape 12"/>
          <p:cNvSpPr/>
          <p:nvPr/>
        </p:nvSpPr>
        <p:spPr>
          <a:xfrm>
            <a:off x="1043880" y="6569273"/>
            <a:ext cx="5472113" cy="0"/>
          </a:xfrm>
          <a:prstGeom prst="line">
            <a:avLst/>
          </a:prstGeom>
          <a:noFill/>
          <a:ln w="9525">
            <a:solidFill>
              <a:srgbClr val="F8EED9"/>
            </a:solidFill>
            <a:prstDash val="solid"/>
          </a:ln>
        </p:spPr>
      </p:sp>
      <p:sp>
        <p:nvSpPr>
          <p:cNvPr id="15" name="Shape 13"/>
          <p:cNvSpPr/>
          <p:nvPr/>
        </p:nvSpPr>
        <p:spPr>
          <a:xfrm>
            <a:off x="1043880" y="7208937"/>
            <a:ext cx="5472113" cy="0"/>
          </a:xfrm>
          <a:prstGeom prst="line">
            <a:avLst/>
          </a:prstGeom>
          <a:noFill/>
          <a:ln w="9525">
            <a:solidFill>
              <a:srgbClr val="F8EED9"/>
            </a:solidFill>
            <a:prstDash val="solid"/>
          </a:ln>
        </p:spPr>
      </p:sp>
      <p:sp>
        <p:nvSpPr>
          <p:cNvPr id="16" name="Text 14"/>
          <p:cNvSpPr txBox="1"/>
          <p:nvPr/>
        </p:nvSpPr>
        <p:spPr>
          <a:xfrm>
            <a:off x="1043880" y="6664523"/>
            <a:ext cx="250627"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3</a:t>
            </a:r>
            <a:endParaRPr lang="en-US" sz="1900" dirty="0"/>
          </a:p>
        </p:txBody>
      </p:sp>
      <p:sp>
        <p:nvSpPr>
          <p:cNvPr id="17" name="Text 15"/>
          <p:cNvSpPr txBox="1"/>
          <p:nvPr/>
        </p:nvSpPr>
        <p:spPr>
          <a:xfrm>
            <a:off x="1539180" y="6702623"/>
            <a:ext cx="994321"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LADO DOCE</a:t>
            </a:r>
            <a:endParaRPr lang="en-US" sz="870" dirty="0"/>
          </a:p>
        </p:txBody>
      </p:sp>
      <p:sp>
        <p:nvSpPr>
          <p:cNvPr id="18" name="Text 16"/>
          <p:cNvSpPr txBox="1"/>
          <p:nvPr/>
        </p:nvSpPr>
        <p:spPr>
          <a:xfrm>
            <a:off x="1539180" y="6904286"/>
            <a:ext cx="5202317"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Crepúsculo: doce de abóbora cremoso de colher com coco e raspas de laranja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656308"/>
            <a:ext cx="6696075" cy="7379345"/>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042666"/>
            <a:ext cx="1705713"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CAPÍTULO 01 · ABÓBORA</a:t>
            </a:r>
            <a:endParaRPr lang="en-US" sz="750" dirty="0"/>
          </a:p>
        </p:txBody>
      </p:sp>
      <p:sp>
        <p:nvSpPr>
          <p:cNvPr id="4" name="Text 2"/>
          <p:cNvSpPr txBox="1"/>
          <p:nvPr/>
        </p:nvSpPr>
        <p:spPr>
          <a:xfrm>
            <a:off x="863798" y="2223011"/>
            <a:ext cx="2579656"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 INGREDIENTE</a:t>
            </a:r>
            <a:endParaRPr lang="en-US" sz="2200" dirty="0"/>
          </a:p>
        </p:txBody>
      </p:sp>
      <p:sp>
        <p:nvSpPr>
          <p:cNvPr id="5" name="Text 3"/>
          <p:cNvSpPr txBox="1"/>
          <p:nvPr/>
        </p:nvSpPr>
        <p:spPr>
          <a:xfrm>
            <a:off x="863798" y="2736503"/>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 cabotiá é a abóbora mais generosa da feira. Tem polpa densa, pouca água e doçura natural, e é justamente isso que permite levá-la do nhoque ao doce de colher sem perder identidade.</a:t>
            </a:r>
            <a:endParaRPr lang="en-US" sz="1000" dirty="0"/>
          </a:p>
        </p:txBody>
      </p:sp>
      <p:sp>
        <p:nvSpPr>
          <p:cNvPr id="6" name="Text 4"/>
          <p:cNvSpPr txBox="1"/>
          <p:nvPr/>
        </p:nvSpPr>
        <p:spPr>
          <a:xfrm>
            <a:off x="863798" y="3212455"/>
            <a:ext cx="583227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 erro mais comum é tratá-la sempre do mesmo jeito: cozida na água, no refogado, como acompanhamento. Quando você assa a cabotiá, a água evapora, os açúcares caramelizam e o sabor se concentra. É outra abóbora.</a:t>
            </a:r>
            <a:endParaRPr lang="en-US" sz="1000" dirty="0"/>
          </a:p>
        </p:txBody>
      </p:sp>
      <p:sp>
        <p:nvSpPr>
          <p:cNvPr id="7" name="Text 5"/>
          <p:cNvSpPr txBox="1"/>
          <p:nvPr/>
        </p:nvSpPr>
        <p:spPr>
          <a:xfrm>
            <a:off x="863798" y="3878759"/>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 tem mais: a casca é comestível e as sementes viram petisco. Da cabotiá, quase nada vai para o lixo.</a:t>
            </a:r>
            <a:endParaRPr lang="en-US" sz="1000" dirty="0"/>
          </a:p>
        </p:txBody>
      </p:sp>
      <p:sp>
        <p:nvSpPr>
          <p:cNvPr id="8" name="Text 6"/>
          <p:cNvSpPr txBox="1"/>
          <p:nvPr/>
        </p:nvSpPr>
        <p:spPr>
          <a:xfrm>
            <a:off x="863798" y="4449961"/>
            <a:ext cx="205209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ANTES DA PANELA</a:t>
            </a:r>
            <a:endParaRPr lang="en-US" sz="1500" dirty="0"/>
          </a:p>
        </p:txBody>
      </p:sp>
      <p:sp>
        <p:nvSpPr>
          <p:cNvPr id="9" name="Text 7"/>
          <p:cNvSpPr txBox="1"/>
          <p:nvPr/>
        </p:nvSpPr>
        <p:spPr>
          <a:xfrm>
            <a:off x="863798" y="4773811"/>
            <a:ext cx="166237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NA HORA DE ESCOLHER</a:t>
            </a:r>
            <a:endParaRPr lang="en-US" sz="870" dirty="0"/>
          </a:p>
        </p:txBody>
      </p:sp>
      <p:sp>
        <p:nvSpPr>
          <p:cNvPr id="10" name="Shape 8"/>
          <p:cNvSpPr/>
          <p:nvPr/>
        </p:nvSpPr>
        <p:spPr>
          <a:xfrm>
            <a:off x="873323" y="5058656"/>
            <a:ext cx="57150" cy="57150"/>
          </a:xfrm>
          <a:prstGeom prst="ellipse">
            <a:avLst/>
          </a:prstGeom>
          <a:solidFill>
            <a:srgbClr val="E5A82E"/>
          </a:solidFill>
          <a:ln/>
        </p:spPr>
      </p:sp>
      <p:sp>
        <p:nvSpPr>
          <p:cNvPr id="11" name="Text 9"/>
          <p:cNvSpPr txBox="1"/>
          <p:nvPr/>
        </p:nvSpPr>
        <p:spPr>
          <a:xfrm>
            <a:off x="1016198" y="4994523"/>
            <a:ext cx="624828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Pegue na mão: ela deve parecer pesada para o tamanho. Isso indica polpa densa e pouca água.</a:t>
            </a:r>
            <a:endParaRPr lang="en-US" sz="1000" dirty="0"/>
          </a:p>
        </p:txBody>
      </p:sp>
      <p:sp>
        <p:nvSpPr>
          <p:cNvPr id="12" name="Shape 10"/>
          <p:cNvSpPr/>
          <p:nvPr/>
        </p:nvSpPr>
        <p:spPr>
          <a:xfrm>
            <a:off x="873323" y="5287107"/>
            <a:ext cx="57150" cy="57150"/>
          </a:xfrm>
          <a:prstGeom prst="ellipse">
            <a:avLst/>
          </a:prstGeom>
          <a:solidFill>
            <a:srgbClr val="E5A82E"/>
          </a:solidFill>
          <a:ln/>
        </p:spPr>
      </p:sp>
      <p:sp>
        <p:nvSpPr>
          <p:cNvPr id="13" name="Text 11"/>
          <p:cNvSpPr txBox="1"/>
          <p:nvPr/>
        </p:nvSpPr>
        <p:spPr>
          <a:xfrm>
            <a:off x="1016198" y="5222974"/>
            <a:ext cx="421619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Casca firme, sem partes moles, rachaduras ou manchas úmidas.</a:t>
            </a:r>
            <a:endParaRPr lang="en-US" sz="1000" dirty="0"/>
          </a:p>
        </p:txBody>
      </p:sp>
      <p:sp>
        <p:nvSpPr>
          <p:cNvPr id="14" name="Shape 12"/>
          <p:cNvSpPr/>
          <p:nvPr/>
        </p:nvSpPr>
        <p:spPr>
          <a:xfrm>
            <a:off x="873323" y="5515559"/>
            <a:ext cx="57150" cy="57150"/>
          </a:xfrm>
          <a:prstGeom prst="ellipse">
            <a:avLst/>
          </a:prstGeom>
          <a:solidFill>
            <a:srgbClr val="E5A82E"/>
          </a:solidFill>
          <a:ln/>
        </p:spPr>
      </p:sp>
      <p:sp>
        <p:nvSpPr>
          <p:cNvPr id="15" name="Text 13"/>
          <p:cNvSpPr txBox="1"/>
          <p:nvPr/>
        </p:nvSpPr>
        <p:spPr>
          <a:xfrm>
            <a:off x="1016198" y="5451425"/>
            <a:ext cx="53560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Cabinho seco e bem preso. Se estiver verde e úmido, ela foi colhida cedo demais.</a:t>
            </a:r>
            <a:endParaRPr lang="en-US" sz="1000" dirty="0"/>
          </a:p>
        </p:txBody>
      </p:sp>
      <p:sp>
        <p:nvSpPr>
          <p:cNvPr id="16" name="Shape 14"/>
          <p:cNvSpPr/>
          <p:nvPr/>
        </p:nvSpPr>
        <p:spPr>
          <a:xfrm>
            <a:off x="873323" y="5744010"/>
            <a:ext cx="57150" cy="57150"/>
          </a:xfrm>
          <a:prstGeom prst="ellipse">
            <a:avLst/>
          </a:prstGeom>
          <a:solidFill>
            <a:srgbClr val="E5A82E"/>
          </a:solidFill>
          <a:ln/>
        </p:spPr>
      </p:sp>
      <p:sp>
        <p:nvSpPr>
          <p:cNvPr id="17" name="Text 15"/>
          <p:cNvSpPr txBox="1"/>
          <p:nvPr/>
        </p:nvSpPr>
        <p:spPr>
          <a:xfrm>
            <a:off x="1016198" y="5679877"/>
            <a:ext cx="53813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Comprando em pedaço: procure polpa laranja intensa e sementes bem formadas.</a:t>
            </a:r>
            <a:endParaRPr lang="en-US" sz="1000" dirty="0"/>
          </a:p>
        </p:txBody>
      </p:sp>
      <p:sp>
        <p:nvSpPr>
          <p:cNvPr id="18" name="Text 16"/>
          <p:cNvSpPr txBox="1"/>
          <p:nvPr/>
        </p:nvSpPr>
        <p:spPr>
          <a:xfrm>
            <a:off x="863798" y="6003578"/>
            <a:ext cx="116947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COMO GUARDAR</a:t>
            </a:r>
            <a:endParaRPr lang="en-US" sz="870" dirty="0"/>
          </a:p>
        </p:txBody>
      </p:sp>
      <p:sp>
        <p:nvSpPr>
          <p:cNvPr id="19" name="Shape 17"/>
          <p:cNvSpPr/>
          <p:nvPr/>
        </p:nvSpPr>
        <p:spPr>
          <a:xfrm>
            <a:off x="873323" y="6288423"/>
            <a:ext cx="57150" cy="57150"/>
          </a:xfrm>
          <a:prstGeom prst="ellipse">
            <a:avLst/>
          </a:prstGeom>
          <a:solidFill>
            <a:srgbClr val="E5A82E"/>
          </a:solidFill>
          <a:ln/>
        </p:spPr>
      </p:sp>
      <p:sp>
        <p:nvSpPr>
          <p:cNvPr id="20" name="Text 18"/>
          <p:cNvSpPr txBox="1"/>
          <p:nvPr/>
        </p:nvSpPr>
        <p:spPr>
          <a:xfrm>
            <a:off x="1016198" y="6224290"/>
            <a:ext cx="503412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Inteira: em local fresco, seco e arejado, fora da geladeira, por até 1 a 2 meses.</a:t>
            </a:r>
            <a:endParaRPr lang="en-US" sz="1000" dirty="0"/>
          </a:p>
        </p:txBody>
      </p:sp>
      <p:sp>
        <p:nvSpPr>
          <p:cNvPr id="21" name="Shape 19"/>
          <p:cNvSpPr/>
          <p:nvPr/>
        </p:nvSpPr>
        <p:spPr>
          <a:xfrm>
            <a:off x="873323" y="6516874"/>
            <a:ext cx="57150" cy="57150"/>
          </a:xfrm>
          <a:prstGeom prst="ellipse">
            <a:avLst/>
          </a:prstGeom>
          <a:solidFill>
            <a:srgbClr val="E5A82E"/>
          </a:solidFill>
          <a:ln/>
        </p:spPr>
      </p:sp>
      <p:sp>
        <p:nvSpPr>
          <p:cNvPr id="22" name="Text 20"/>
          <p:cNvSpPr txBox="1"/>
          <p:nvPr/>
        </p:nvSpPr>
        <p:spPr>
          <a:xfrm>
            <a:off x="1016198" y="6452741"/>
            <a:ext cx="541167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Cortada: retire as sementes, envolva em filme e guarde na geladeira por até 5 dias.</a:t>
            </a:r>
            <a:endParaRPr lang="en-US" sz="1000" dirty="0"/>
          </a:p>
        </p:txBody>
      </p:sp>
      <p:sp>
        <p:nvSpPr>
          <p:cNvPr id="23" name="Shape 21"/>
          <p:cNvSpPr/>
          <p:nvPr/>
        </p:nvSpPr>
        <p:spPr>
          <a:xfrm>
            <a:off x="873323" y="6745325"/>
            <a:ext cx="57150" cy="57150"/>
          </a:xfrm>
          <a:prstGeom prst="ellipse">
            <a:avLst/>
          </a:prstGeom>
          <a:solidFill>
            <a:srgbClr val="E5A82E"/>
          </a:solidFill>
          <a:ln/>
        </p:spPr>
      </p:sp>
      <p:sp>
        <p:nvSpPr>
          <p:cNvPr id="24" name="Text 22"/>
          <p:cNvSpPr txBox="1"/>
          <p:nvPr/>
        </p:nvSpPr>
        <p:spPr>
          <a:xfrm>
            <a:off x="1016198" y="6681192"/>
            <a:ext cx="383681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Assada ou cozida: em porções no freezer por até 3 meses.</a:t>
            </a:r>
            <a:endParaRPr lang="en-US" sz="1000" dirty="0"/>
          </a:p>
        </p:txBody>
      </p:sp>
      <p:sp>
        <p:nvSpPr>
          <p:cNvPr id="25" name="Text 23"/>
          <p:cNvSpPr txBox="1"/>
          <p:nvPr/>
        </p:nvSpPr>
        <p:spPr>
          <a:xfrm>
            <a:off x="863798" y="7004893"/>
            <a:ext cx="172704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PRÉ-PREPARO E CORTES</a:t>
            </a:r>
            <a:endParaRPr lang="en-US" sz="870" dirty="0"/>
          </a:p>
        </p:txBody>
      </p:sp>
      <p:sp>
        <p:nvSpPr>
          <p:cNvPr id="26" name="Shape 24"/>
          <p:cNvSpPr/>
          <p:nvPr/>
        </p:nvSpPr>
        <p:spPr>
          <a:xfrm>
            <a:off x="873323" y="7289739"/>
            <a:ext cx="57150" cy="57150"/>
          </a:xfrm>
          <a:prstGeom prst="ellipse">
            <a:avLst/>
          </a:prstGeom>
          <a:solidFill>
            <a:srgbClr val="E5A82E"/>
          </a:solidFill>
          <a:ln/>
        </p:spPr>
      </p:sp>
      <p:sp>
        <p:nvSpPr>
          <p:cNvPr id="27" name="Text 25"/>
          <p:cNvSpPr txBox="1"/>
          <p:nvPr/>
        </p:nvSpPr>
        <p:spPr>
          <a:xfrm>
            <a:off x="1016198" y="7225605"/>
            <a:ext cx="49321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Estabilize primeiro: corte uma fatia fina da base para ela não rolar na tábua.</a:t>
            </a:r>
            <a:endParaRPr lang="en-US" sz="1000" dirty="0"/>
          </a:p>
        </p:txBody>
      </p:sp>
      <p:sp>
        <p:nvSpPr>
          <p:cNvPr id="28" name="Shape 26"/>
          <p:cNvSpPr/>
          <p:nvPr/>
        </p:nvSpPr>
        <p:spPr>
          <a:xfrm>
            <a:off x="873323" y="7518190"/>
            <a:ext cx="57150" cy="57150"/>
          </a:xfrm>
          <a:prstGeom prst="ellipse">
            <a:avLst/>
          </a:prstGeom>
          <a:solidFill>
            <a:srgbClr val="E5A82E"/>
          </a:solidFill>
          <a:ln/>
        </p:spPr>
      </p:sp>
      <p:sp>
        <p:nvSpPr>
          <p:cNvPr id="29" name="Text 27"/>
          <p:cNvSpPr txBox="1"/>
          <p:nvPr/>
        </p:nvSpPr>
        <p:spPr>
          <a:xfrm>
            <a:off x="1016198" y="7454057"/>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Use a faca mais pesada que você tiver e corte ao meio, de cima para baixo. Retire as sementes com uma colher.</a:t>
            </a:r>
            <a:endParaRPr lang="en-US" sz="1000" dirty="0"/>
          </a:p>
        </p:txBody>
      </p:sp>
      <p:sp>
        <p:nvSpPr>
          <p:cNvPr id="30" name="Shape 28"/>
          <p:cNvSpPr/>
          <p:nvPr/>
        </p:nvSpPr>
        <p:spPr>
          <a:xfrm>
            <a:off x="873323" y="7936992"/>
            <a:ext cx="57150" cy="57150"/>
          </a:xfrm>
          <a:prstGeom prst="ellipse">
            <a:avLst/>
          </a:prstGeom>
          <a:solidFill>
            <a:srgbClr val="E5A82E"/>
          </a:solidFill>
          <a:ln/>
        </p:spPr>
      </p:sp>
      <p:sp>
        <p:nvSpPr>
          <p:cNvPr id="31" name="Text 29"/>
          <p:cNvSpPr txBox="1"/>
          <p:nvPr/>
        </p:nvSpPr>
        <p:spPr>
          <a:xfrm>
            <a:off x="1016198" y="7872859"/>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Gomos com casca para assar; cubos de 2 cm para refogar e cozinhar; ralada para bolinhos e massas.</a:t>
            </a:r>
            <a:endParaRPr lang="en-US" sz="1000" dirty="0"/>
          </a:p>
        </p:txBody>
      </p:sp>
      <p:sp>
        <p:nvSpPr>
          <p:cNvPr id="32" name="Shape 30"/>
          <p:cNvSpPr/>
          <p:nvPr/>
        </p:nvSpPr>
        <p:spPr>
          <a:xfrm>
            <a:off x="873323" y="8355794"/>
            <a:ext cx="57150" cy="57150"/>
          </a:xfrm>
          <a:prstGeom prst="ellipse">
            <a:avLst/>
          </a:prstGeom>
          <a:solidFill>
            <a:srgbClr val="E5A82E"/>
          </a:solidFill>
          <a:ln/>
        </p:spPr>
      </p:sp>
      <p:sp>
        <p:nvSpPr>
          <p:cNvPr id="33" name="Text 31"/>
          <p:cNvSpPr txBox="1"/>
          <p:nvPr/>
        </p:nvSpPr>
        <p:spPr>
          <a:xfrm>
            <a:off x="1016198" y="8291661"/>
            <a:ext cx="628645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Para descascar, apoie o gomo deitado na tábua e corte a casca com a faca, de cima para baixo.</a:t>
            </a:r>
            <a:endParaRPr lang="en-US" sz="1000" dirty="0"/>
          </a:p>
        </p:txBody>
      </p:sp>
      <p:sp>
        <p:nvSpPr>
          <p:cNvPr id="34" name="Text 32"/>
          <p:cNvSpPr txBox="1"/>
          <p:nvPr/>
        </p:nvSpPr>
        <p:spPr>
          <a:xfrm>
            <a:off x="863798" y="866938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35" name="Text 33"/>
          <p:cNvSpPr txBox="1"/>
          <p:nvPr/>
        </p:nvSpPr>
        <p:spPr>
          <a:xfrm>
            <a:off x="6542038" y="8669387"/>
            <a:ext cx="268337"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06</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4209455"/>
            <a:ext cx="6407944" cy="2272903"/>
          </a:xfrm>
          <a:prstGeom prst="roundRect">
            <a:avLst>
              <a:gd name="adj" fmla="val 3823"/>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4631829"/>
            <a:ext cx="1411343"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EBOOK DE RECEITAS</a:t>
            </a:r>
            <a:endParaRPr lang="en-US" sz="750" dirty="0"/>
          </a:p>
        </p:txBody>
      </p:sp>
      <p:sp>
        <p:nvSpPr>
          <p:cNvPr id="4" name="Text 2"/>
          <p:cNvSpPr txBox="1"/>
          <p:nvPr/>
        </p:nvSpPr>
        <p:spPr>
          <a:xfrm>
            <a:off x="1043880" y="4819152"/>
            <a:ext cx="5472113" cy="1370804"/>
          </a:xfrm>
          <a:prstGeom prst="rect">
            <a:avLst/>
          </a:prstGeom>
          <a:noFill/>
          <a:ln/>
        </p:spPr>
        <p:txBody>
          <a:bodyPr wrap="square" lIns="0" tIns="0" rIns="0" bIns="0" rtlCol="0" anchor="t"/>
          <a:lstStyle/>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COZINHA</a:t>
            </a:r>
            <a:pPr algn="l" indent="0" marL="0">
              <a:lnSpc>
                <a:spcPts val="4370"/>
              </a:lnSpc>
              <a:buNone/>
            </a:pPr>
            <a:endParaRPr lang="en-US" sz="4600" dirty="0"/>
          </a:p>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MAMEDE</a:t>
            </a:r>
            <a:endParaRPr lang="en-US" sz="4600" dirty="0"/>
          </a:p>
        </p:txBody>
      </p:sp>
      <p:sp>
        <p:nvSpPr>
          <p:cNvPr id="5" name="Shape 3"/>
          <p:cNvSpPr/>
          <p:nvPr/>
        </p:nvSpPr>
        <p:spPr>
          <a:xfrm>
            <a:off x="1043880" y="6093916"/>
            <a:ext cx="533400" cy="28575"/>
          </a:xfrm>
          <a:prstGeom prst="rect">
            <a:avLst/>
          </a:prstGeom>
          <a:solidFill>
            <a:srgbClr val="E5A82E"/>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6655743"/>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348085"/>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01</a:t>
            </a:r>
            <a:endParaRPr lang="en-US" sz="750" dirty="0"/>
          </a:p>
        </p:txBody>
      </p:sp>
      <p:sp>
        <p:nvSpPr>
          <p:cNvPr id="4" name="Text 2"/>
          <p:cNvSpPr txBox="1"/>
          <p:nvPr/>
        </p:nvSpPr>
        <p:spPr>
          <a:xfrm>
            <a:off x="1043880" y="1651360"/>
            <a:ext cx="2515939"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NHOQUE DE ABÓBORA</a:t>
            </a:r>
            <a:endParaRPr lang="en-US" sz="3200" dirty="0"/>
          </a:p>
        </p:txBody>
      </p:sp>
      <p:sp>
        <p:nvSpPr>
          <p:cNvPr id="5" name="Text 3"/>
          <p:cNvSpPr txBox="1"/>
          <p:nvPr/>
        </p:nvSpPr>
        <p:spPr>
          <a:xfrm>
            <a:off x="1043880" y="3086844"/>
            <a:ext cx="2515939"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Nhoque de abóbora tostado na manteiga de garrafa e sálvia</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1-1.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2907655"/>
          </a:xfrm>
          <a:prstGeom prst="roundRect">
            <a:avLst>
              <a:gd name="adj" fmla="val 1947"/>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42606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800 g de abóbora cabotiá com casca (cerca de 600 g de polpa)</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5103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gema</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19402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g de parmesão ralado fino</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408967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180 a 220 g de farinha de trigo (mais um pouco para polvilhar)</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223744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noz-moscada ralada na hora</a:t>
            </a:r>
            <a:endParaRPr lang="en-US" sz="1000" dirty="0"/>
          </a:p>
        </p:txBody>
      </p:sp>
      <p:sp>
        <p:nvSpPr>
          <p:cNvPr id="20" name="Shape 17"/>
          <p:cNvSpPr/>
          <p:nvPr/>
        </p:nvSpPr>
        <p:spPr>
          <a:xfrm>
            <a:off x="1403747" y="5891221"/>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5860107"/>
            <a:ext cx="27133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colheres (sopa) de manteiga de garrafa</a:t>
            </a:r>
            <a:endParaRPr lang="en-US" sz="1000" dirty="0"/>
          </a:p>
        </p:txBody>
      </p:sp>
      <p:sp>
        <p:nvSpPr>
          <p:cNvPr id="22" name="Shape 19"/>
          <p:cNvSpPr/>
          <p:nvPr/>
        </p:nvSpPr>
        <p:spPr>
          <a:xfrm>
            <a:off x="1403747" y="6110148"/>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079034"/>
            <a:ext cx="16153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12 folhas de sálvia fresca</a:t>
            </a:r>
            <a:endParaRPr lang="en-US" sz="1000" dirty="0"/>
          </a:p>
        </p:txBody>
      </p:sp>
      <p:sp>
        <p:nvSpPr>
          <p:cNvPr id="24" name="Shape 21"/>
          <p:cNvSpPr/>
          <p:nvPr/>
        </p:nvSpPr>
        <p:spPr>
          <a:xfrm>
            <a:off x="1403747" y="6329074"/>
            <a:ext cx="114300" cy="114300"/>
          </a:xfrm>
          <a:prstGeom prst="roundRect">
            <a:avLst>
              <a:gd name="adj" fmla="val 166667"/>
            </a:avLst>
          </a:prstGeom>
          <a:ln w="9525">
            <a:solidFill>
              <a:srgbClr val="C8501F"/>
            </a:solidFill>
            <a:prstDash val="solid"/>
          </a:ln>
        </p:spPr>
      </p:sp>
      <p:sp>
        <p:nvSpPr>
          <p:cNvPr id="25" name="Text 22"/>
          <p:cNvSpPr txBox="1"/>
          <p:nvPr/>
        </p:nvSpPr>
        <p:spPr>
          <a:xfrm>
            <a:off x="1594247" y="6297960"/>
            <a:ext cx="253281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Pimenta-do-reino e parmesão a gosto</a:t>
            </a:r>
            <a:endParaRPr lang="en-US" sz="1000" dirty="0"/>
          </a:p>
        </p:txBody>
      </p:sp>
      <p:sp>
        <p:nvSpPr>
          <p:cNvPr id="26" name="Text 23"/>
          <p:cNvSpPr txBox="1"/>
          <p:nvPr/>
        </p:nvSpPr>
        <p:spPr>
          <a:xfrm>
            <a:off x="1403747" y="6574036"/>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619869"/>
            <a:ext cx="6696075" cy="945222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006227"/>
            <a:ext cx="2248114"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01 · ABÓBORA</a:t>
            </a:r>
            <a:endParaRPr lang="en-US" sz="750" dirty="0"/>
          </a:p>
        </p:txBody>
      </p:sp>
      <p:sp>
        <p:nvSpPr>
          <p:cNvPr id="4" name="Text 2"/>
          <p:cNvSpPr txBox="1"/>
          <p:nvPr/>
        </p:nvSpPr>
        <p:spPr>
          <a:xfrm>
            <a:off x="863798" y="1198378"/>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NHOQUE DE ABÓBORA TOSTADO NA MANTEIGA DE GARRAFA E SÁLVIA</a:t>
            </a:r>
            <a:endParaRPr lang="en-US" sz="2200" dirty="0"/>
          </a:p>
        </p:txBody>
      </p:sp>
      <p:sp>
        <p:nvSpPr>
          <p:cNvPr id="5" name="Text 3"/>
          <p:cNvSpPr txBox="1"/>
          <p:nvPr/>
        </p:nvSpPr>
        <p:spPr>
          <a:xfrm>
            <a:off x="863798" y="1927175"/>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CLÁSSICO AFETIVO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(conforto refinado)</a:t>
            </a:r>
            <a:endParaRPr lang="en-US" sz="800" dirty="0"/>
          </a:p>
        </p:txBody>
      </p:sp>
      <p:sp>
        <p:nvSpPr>
          <p:cNvPr id="6" name="Shape 4"/>
          <p:cNvSpPr/>
          <p:nvPr/>
        </p:nvSpPr>
        <p:spPr>
          <a:xfrm>
            <a:off x="863798" y="2202061"/>
            <a:ext cx="1893243" cy="422523"/>
          </a:xfrm>
          <a:prstGeom prst="roundRect">
            <a:avLst>
              <a:gd name="adj" fmla="val 55317"/>
            </a:avLst>
          </a:prstGeom>
          <a:solidFill>
            <a:srgbClr val="F8EED9"/>
          </a:solidFill>
          <a:ln/>
        </p:spPr>
      </p:sp>
      <p:sp>
        <p:nvSpPr>
          <p:cNvPr id="7" name="Text 5"/>
          <p:cNvSpPr txBox="1"/>
          <p:nvPr/>
        </p:nvSpPr>
        <p:spPr>
          <a:xfrm>
            <a:off x="968573" y="2268736"/>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393007"/>
            <a:ext cx="52164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35 min</a:t>
            </a:r>
            <a:endParaRPr lang="en-US" sz="1000" dirty="0"/>
          </a:p>
        </p:txBody>
      </p:sp>
      <p:sp>
        <p:nvSpPr>
          <p:cNvPr id="9" name="Shape 7"/>
          <p:cNvSpPr/>
          <p:nvPr/>
        </p:nvSpPr>
        <p:spPr>
          <a:xfrm>
            <a:off x="2833241" y="2202061"/>
            <a:ext cx="1893243" cy="422523"/>
          </a:xfrm>
          <a:prstGeom prst="roundRect">
            <a:avLst>
              <a:gd name="adj" fmla="val 55317"/>
            </a:avLst>
          </a:prstGeom>
          <a:solidFill>
            <a:srgbClr val="F8EED9"/>
          </a:solidFill>
          <a:ln/>
        </p:spPr>
      </p:sp>
      <p:sp>
        <p:nvSpPr>
          <p:cNvPr id="10" name="Text 8"/>
          <p:cNvSpPr txBox="1"/>
          <p:nvPr/>
        </p:nvSpPr>
        <p:spPr>
          <a:xfrm>
            <a:off x="2938016" y="2268736"/>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393007"/>
            <a:ext cx="5347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40 min</a:t>
            </a:r>
            <a:endParaRPr lang="en-US" sz="1000" dirty="0"/>
          </a:p>
        </p:txBody>
      </p:sp>
      <p:sp>
        <p:nvSpPr>
          <p:cNvPr id="12" name="Shape 10"/>
          <p:cNvSpPr/>
          <p:nvPr/>
        </p:nvSpPr>
        <p:spPr>
          <a:xfrm>
            <a:off x="4802684" y="2202061"/>
            <a:ext cx="1893243" cy="422523"/>
          </a:xfrm>
          <a:prstGeom prst="roundRect">
            <a:avLst>
              <a:gd name="adj" fmla="val 55317"/>
            </a:avLst>
          </a:prstGeom>
          <a:solidFill>
            <a:srgbClr val="F8EED9"/>
          </a:solidFill>
          <a:ln/>
        </p:spPr>
      </p:sp>
      <p:sp>
        <p:nvSpPr>
          <p:cNvPr id="13" name="Text 11"/>
          <p:cNvSpPr txBox="1"/>
          <p:nvPr/>
        </p:nvSpPr>
        <p:spPr>
          <a:xfrm>
            <a:off x="4907459" y="2268736"/>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393007"/>
            <a:ext cx="7172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 porções</a:t>
            </a:r>
            <a:endParaRPr lang="en-US" sz="1000" dirty="0"/>
          </a:p>
        </p:txBody>
      </p:sp>
      <p:sp>
        <p:nvSpPr>
          <p:cNvPr id="15" name="Shape 13"/>
          <p:cNvSpPr/>
          <p:nvPr/>
        </p:nvSpPr>
        <p:spPr>
          <a:xfrm>
            <a:off x="863798" y="2757934"/>
            <a:ext cx="5832277" cy="2086570"/>
          </a:xfrm>
          <a:prstGeom prst="roundRect">
            <a:avLst>
              <a:gd name="adj" fmla="val 3024"/>
            </a:avLst>
          </a:prstGeom>
          <a:solidFill>
            <a:srgbClr val="FBF4E4"/>
          </a:solidFill>
          <a:ln w="9525">
            <a:solidFill>
              <a:srgbClr val="EADFC6"/>
            </a:solidFill>
            <a:prstDash val="solid"/>
          </a:ln>
        </p:spPr>
      </p:sp>
      <p:sp>
        <p:nvSpPr>
          <p:cNvPr id="16" name="Text 14"/>
          <p:cNvSpPr txBox="1"/>
          <p:nvPr/>
        </p:nvSpPr>
        <p:spPr>
          <a:xfrm>
            <a:off x="1006673" y="2853184"/>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Text 15"/>
          <p:cNvSpPr txBox="1"/>
          <p:nvPr/>
        </p:nvSpPr>
        <p:spPr>
          <a:xfrm>
            <a:off x="1006673" y="3138934"/>
            <a:ext cx="559891"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MASSA</a:t>
            </a:r>
            <a:endParaRPr lang="en-US" sz="870" dirty="0"/>
          </a:p>
        </p:txBody>
      </p:sp>
      <p:sp>
        <p:nvSpPr>
          <p:cNvPr id="18" name="Shape 16"/>
          <p:cNvSpPr/>
          <p:nvPr/>
        </p:nvSpPr>
        <p:spPr>
          <a:xfrm>
            <a:off x="1006673" y="3390760"/>
            <a:ext cx="114300" cy="114300"/>
          </a:xfrm>
          <a:prstGeom prst="roundRect">
            <a:avLst>
              <a:gd name="adj" fmla="val 166667"/>
            </a:avLst>
          </a:prstGeom>
          <a:ln w="9525">
            <a:solidFill>
              <a:srgbClr val="C8501F"/>
            </a:solidFill>
            <a:prstDash val="solid"/>
          </a:ln>
        </p:spPr>
      </p:sp>
      <p:sp>
        <p:nvSpPr>
          <p:cNvPr id="19" name="Text 17"/>
          <p:cNvSpPr txBox="1"/>
          <p:nvPr/>
        </p:nvSpPr>
        <p:spPr>
          <a:xfrm>
            <a:off x="1197173" y="3359646"/>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800 g de abóbora cabotiá com casca (cerca de 600 g de polpa)</a:t>
            </a:r>
            <a:endParaRPr lang="en-US" sz="1000" dirty="0"/>
          </a:p>
        </p:txBody>
      </p:sp>
      <p:sp>
        <p:nvSpPr>
          <p:cNvPr id="20" name="Shape 18"/>
          <p:cNvSpPr/>
          <p:nvPr/>
        </p:nvSpPr>
        <p:spPr>
          <a:xfrm>
            <a:off x="1006673" y="3800037"/>
            <a:ext cx="114300" cy="114300"/>
          </a:xfrm>
          <a:prstGeom prst="roundRect">
            <a:avLst>
              <a:gd name="adj" fmla="val 166667"/>
            </a:avLst>
          </a:prstGeom>
          <a:ln w="9525">
            <a:solidFill>
              <a:srgbClr val="C8501F"/>
            </a:solidFill>
            <a:prstDash val="solid"/>
          </a:ln>
        </p:spPr>
      </p:sp>
      <p:sp>
        <p:nvSpPr>
          <p:cNvPr id="21" name="Text 19"/>
          <p:cNvSpPr txBox="1"/>
          <p:nvPr/>
        </p:nvSpPr>
        <p:spPr>
          <a:xfrm>
            <a:off x="1197173" y="3768923"/>
            <a:ext cx="5103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gema</a:t>
            </a:r>
            <a:endParaRPr lang="en-US" sz="1000" dirty="0"/>
          </a:p>
        </p:txBody>
      </p:sp>
      <p:sp>
        <p:nvSpPr>
          <p:cNvPr id="22" name="Shape 20"/>
          <p:cNvSpPr/>
          <p:nvPr/>
        </p:nvSpPr>
        <p:spPr>
          <a:xfrm>
            <a:off x="1006673" y="4018964"/>
            <a:ext cx="114300" cy="114300"/>
          </a:xfrm>
          <a:prstGeom prst="roundRect">
            <a:avLst>
              <a:gd name="adj" fmla="val 166667"/>
            </a:avLst>
          </a:prstGeom>
          <a:ln w="9525">
            <a:solidFill>
              <a:srgbClr val="C8501F"/>
            </a:solidFill>
            <a:prstDash val="solid"/>
          </a:ln>
        </p:spPr>
      </p:sp>
      <p:sp>
        <p:nvSpPr>
          <p:cNvPr id="23" name="Text 21"/>
          <p:cNvSpPr txBox="1"/>
          <p:nvPr/>
        </p:nvSpPr>
        <p:spPr>
          <a:xfrm>
            <a:off x="1197173" y="3987850"/>
            <a:ext cx="19402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g de parmesão ralado fino</a:t>
            </a:r>
            <a:endParaRPr lang="en-US" sz="1000" dirty="0"/>
          </a:p>
        </p:txBody>
      </p:sp>
      <p:sp>
        <p:nvSpPr>
          <p:cNvPr id="24" name="Shape 22"/>
          <p:cNvSpPr/>
          <p:nvPr/>
        </p:nvSpPr>
        <p:spPr>
          <a:xfrm>
            <a:off x="1006673" y="4237890"/>
            <a:ext cx="114300" cy="114300"/>
          </a:xfrm>
          <a:prstGeom prst="roundRect">
            <a:avLst>
              <a:gd name="adj" fmla="val 166667"/>
            </a:avLst>
          </a:prstGeom>
          <a:ln w="9525">
            <a:solidFill>
              <a:srgbClr val="C8501F"/>
            </a:solidFill>
            <a:prstDash val="solid"/>
          </a:ln>
        </p:spPr>
      </p:sp>
      <p:sp>
        <p:nvSpPr>
          <p:cNvPr id="25" name="Text 23"/>
          <p:cNvSpPr txBox="1"/>
          <p:nvPr/>
        </p:nvSpPr>
        <p:spPr>
          <a:xfrm>
            <a:off x="1197173" y="4206776"/>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180 a 220 g de farinha de trigo (mais um pouco para polvilhar)</a:t>
            </a:r>
            <a:endParaRPr lang="en-US" sz="1000" dirty="0"/>
          </a:p>
        </p:txBody>
      </p:sp>
      <p:sp>
        <p:nvSpPr>
          <p:cNvPr id="26" name="Shape 24"/>
          <p:cNvSpPr/>
          <p:nvPr/>
        </p:nvSpPr>
        <p:spPr>
          <a:xfrm>
            <a:off x="1006673" y="4647167"/>
            <a:ext cx="114300" cy="114300"/>
          </a:xfrm>
          <a:prstGeom prst="roundRect">
            <a:avLst>
              <a:gd name="adj" fmla="val 166667"/>
            </a:avLst>
          </a:prstGeom>
          <a:ln w="9525">
            <a:solidFill>
              <a:srgbClr val="C8501F"/>
            </a:solidFill>
            <a:prstDash val="solid"/>
          </a:ln>
        </p:spPr>
      </p:sp>
      <p:sp>
        <p:nvSpPr>
          <p:cNvPr id="27" name="Text 25"/>
          <p:cNvSpPr txBox="1"/>
          <p:nvPr/>
        </p:nvSpPr>
        <p:spPr>
          <a:xfrm>
            <a:off x="1197173" y="4616053"/>
            <a:ext cx="223744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noz-moscada ralada na hora</a:t>
            </a:r>
            <a:endParaRPr lang="en-US" sz="1000" dirty="0"/>
          </a:p>
        </p:txBody>
      </p:sp>
      <p:sp>
        <p:nvSpPr>
          <p:cNvPr id="28" name="Text 26"/>
          <p:cNvSpPr txBox="1"/>
          <p:nvPr/>
        </p:nvSpPr>
        <p:spPr>
          <a:xfrm>
            <a:off x="3884712" y="3138934"/>
            <a:ext cx="1148977"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PARA FINALIZAR</a:t>
            </a:r>
            <a:endParaRPr lang="en-US" sz="870" dirty="0"/>
          </a:p>
        </p:txBody>
      </p:sp>
      <p:sp>
        <p:nvSpPr>
          <p:cNvPr id="29" name="Shape 27"/>
          <p:cNvSpPr/>
          <p:nvPr/>
        </p:nvSpPr>
        <p:spPr>
          <a:xfrm>
            <a:off x="3884712" y="3390760"/>
            <a:ext cx="114300" cy="114300"/>
          </a:xfrm>
          <a:prstGeom prst="roundRect">
            <a:avLst>
              <a:gd name="adj" fmla="val 166667"/>
            </a:avLst>
          </a:prstGeom>
          <a:ln w="9525">
            <a:solidFill>
              <a:srgbClr val="C8501F"/>
            </a:solidFill>
            <a:prstDash val="solid"/>
          </a:ln>
        </p:spPr>
      </p:sp>
      <p:sp>
        <p:nvSpPr>
          <p:cNvPr id="30" name="Text 28"/>
          <p:cNvSpPr txBox="1"/>
          <p:nvPr/>
        </p:nvSpPr>
        <p:spPr>
          <a:xfrm>
            <a:off x="4075212" y="3359646"/>
            <a:ext cx="27133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colheres (sopa) de manteiga de garrafa</a:t>
            </a:r>
            <a:endParaRPr lang="en-US" sz="1000" dirty="0"/>
          </a:p>
        </p:txBody>
      </p:sp>
      <p:sp>
        <p:nvSpPr>
          <p:cNvPr id="31" name="Shape 29"/>
          <p:cNvSpPr/>
          <p:nvPr/>
        </p:nvSpPr>
        <p:spPr>
          <a:xfrm>
            <a:off x="3884712" y="3609686"/>
            <a:ext cx="114300" cy="114300"/>
          </a:xfrm>
          <a:prstGeom prst="roundRect">
            <a:avLst>
              <a:gd name="adj" fmla="val 166667"/>
            </a:avLst>
          </a:prstGeom>
          <a:ln w="9525">
            <a:solidFill>
              <a:srgbClr val="C8501F"/>
            </a:solidFill>
            <a:prstDash val="solid"/>
          </a:ln>
        </p:spPr>
      </p:sp>
      <p:sp>
        <p:nvSpPr>
          <p:cNvPr id="32" name="Text 30"/>
          <p:cNvSpPr txBox="1"/>
          <p:nvPr/>
        </p:nvSpPr>
        <p:spPr>
          <a:xfrm>
            <a:off x="4075212" y="3578572"/>
            <a:ext cx="16153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12 folhas de sálvia fresca</a:t>
            </a:r>
            <a:endParaRPr lang="en-US" sz="1000" dirty="0"/>
          </a:p>
        </p:txBody>
      </p:sp>
      <p:sp>
        <p:nvSpPr>
          <p:cNvPr id="33" name="Shape 31"/>
          <p:cNvSpPr/>
          <p:nvPr/>
        </p:nvSpPr>
        <p:spPr>
          <a:xfrm>
            <a:off x="3884712" y="3828612"/>
            <a:ext cx="114300" cy="114300"/>
          </a:xfrm>
          <a:prstGeom prst="roundRect">
            <a:avLst>
              <a:gd name="adj" fmla="val 166667"/>
            </a:avLst>
          </a:prstGeom>
          <a:ln w="9525">
            <a:solidFill>
              <a:srgbClr val="C8501F"/>
            </a:solidFill>
            <a:prstDash val="solid"/>
          </a:ln>
        </p:spPr>
      </p:sp>
      <p:sp>
        <p:nvSpPr>
          <p:cNvPr id="34" name="Text 32"/>
          <p:cNvSpPr txBox="1"/>
          <p:nvPr/>
        </p:nvSpPr>
        <p:spPr>
          <a:xfrm>
            <a:off x="4075212" y="3797498"/>
            <a:ext cx="253281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Pimenta-do-reino e parmesão a gosto</a:t>
            </a:r>
            <a:endParaRPr lang="en-US" sz="1000" dirty="0"/>
          </a:p>
        </p:txBody>
      </p:sp>
      <p:sp>
        <p:nvSpPr>
          <p:cNvPr id="35" name="Text 33"/>
          <p:cNvSpPr txBox="1"/>
          <p:nvPr/>
        </p:nvSpPr>
        <p:spPr>
          <a:xfrm>
            <a:off x="863798" y="4968329"/>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6" name="Shape 34"/>
          <p:cNvSpPr/>
          <p:nvPr/>
        </p:nvSpPr>
        <p:spPr>
          <a:xfrm>
            <a:off x="863798" y="5311229"/>
            <a:ext cx="190500" cy="190500"/>
          </a:xfrm>
          <a:prstGeom prst="ellipse">
            <a:avLst/>
          </a:prstGeom>
          <a:solidFill>
            <a:srgbClr val="2F4A22"/>
          </a:solidFill>
          <a:ln/>
        </p:spPr>
      </p:sp>
      <p:sp>
        <p:nvSpPr>
          <p:cNvPr id="37" name="Text 35"/>
          <p:cNvSpPr txBox="1"/>
          <p:nvPr/>
        </p:nvSpPr>
        <p:spPr>
          <a:xfrm>
            <a:off x="883295" y="5339804"/>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8" name="Text 36"/>
          <p:cNvSpPr txBox="1"/>
          <p:nvPr/>
        </p:nvSpPr>
        <p:spPr>
          <a:xfrm>
            <a:off x="1149548" y="5311229"/>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Corte a abóbora em gomos, sem tirar a casca, e asse a 200 °C por 35 a 40 minutos, até ficar bem macia. Assar, e não cozinhar na água, é o que garante um nhoque leve.</a:t>
            </a:r>
            <a:endParaRPr lang="en-US" sz="1000" dirty="0"/>
          </a:p>
        </p:txBody>
      </p:sp>
      <p:sp>
        <p:nvSpPr>
          <p:cNvPr id="39" name="Shape 37"/>
          <p:cNvSpPr/>
          <p:nvPr/>
        </p:nvSpPr>
        <p:spPr>
          <a:xfrm>
            <a:off x="863798" y="5739557"/>
            <a:ext cx="190500" cy="190500"/>
          </a:xfrm>
          <a:prstGeom prst="ellipse">
            <a:avLst/>
          </a:prstGeom>
          <a:solidFill>
            <a:srgbClr val="2F4A22"/>
          </a:solidFill>
          <a:ln/>
        </p:spPr>
      </p:sp>
      <p:sp>
        <p:nvSpPr>
          <p:cNvPr id="40" name="Text 38"/>
          <p:cNvSpPr txBox="1"/>
          <p:nvPr/>
        </p:nvSpPr>
        <p:spPr>
          <a:xfrm>
            <a:off x="872579" y="5768132"/>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1" name="Text 39"/>
          <p:cNvSpPr txBox="1"/>
          <p:nvPr/>
        </p:nvSpPr>
        <p:spPr>
          <a:xfrm>
            <a:off x="1149548" y="573955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Raspe a polpa da casca e passe pelo espremedor (ou amasse muito bem com um garfo). Espalhe o purê numa travessa e deixe esfriar descoberto, para o vapor ir embora.</a:t>
            </a:r>
            <a:endParaRPr lang="en-US" sz="1000" dirty="0"/>
          </a:p>
        </p:txBody>
      </p:sp>
      <p:sp>
        <p:nvSpPr>
          <p:cNvPr id="42" name="Shape 40"/>
          <p:cNvSpPr/>
          <p:nvPr/>
        </p:nvSpPr>
        <p:spPr>
          <a:xfrm>
            <a:off x="863798" y="6167884"/>
            <a:ext cx="190500" cy="190500"/>
          </a:xfrm>
          <a:prstGeom prst="ellipse">
            <a:avLst/>
          </a:prstGeom>
          <a:solidFill>
            <a:srgbClr val="2F4A22"/>
          </a:solidFill>
          <a:ln/>
        </p:spPr>
      </p:sp>
      <p:sp>
        <p:nvSpPr>
          <p:cNvPr id="43" name="Text 41"/>
          <p:cNvSpPr txBox="1"/>
          <p:nvPr/>
        </p:nvSpPr>
        <p:spPr>
          <a:xfrm>
            <a:off x="871240" y="6196459"/>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4" name="Text 42"/>
          <p:cNvSpPr txBox="1"/>
          <p:nvPr/>
        </p:nvSpPr>
        <p:spPr>
          <a:xfrm>
            <a:off x="1149548" y="6167884"/>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Junte a gema, o parmesão, sal e noz-moscada. Acrescente a farinha aos poucos, misturando com as mãos só até a massa ficar macia e soltar dos dedos. Ela pode continuar levemente úmida.</a:t>
            </a:r>
            <a:endParaRPr lang="en-US" sz="1000" dirty="0"/>
          </a:p>
        </p:txBody>
      </p:sp>
      <p:sp>
        <p:nvSpPr>
          <p:cNvPr id="45" name="Shape 43"/>
          <p:cNvSpPr/>
          <p:nvPr/>
        </p:nvSpPr>
        <p:spPr>
          <a:xfrm>
            <a:off x="863798" y="6786563"/>
            <a:ext cx="190500" cy="190500"/>
          </a:xfrm>
          <a:prstGeom prst="ellipse">
            <a:avLst/>
          </a:prstGeom>
          <a:solidFill>
            <a:srgbClr val="2F4A22"/>
          </a:solidFill>
          <a:ln/>
        </p:spPr>
      </p:sp>
      <p:sp>
        <p:nvSpPr>
          <p:cNvPr id="46" name="Text 44"/>
          <p:cNvSpPr txBox="1"/>
          <p:nvPr/>
        </p:nvSpPr>
        <p:spPr>
          <a:xfrm>
            <a:off x="868859" y="6815138"/>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7" name="Text 45"/>
          <p:cNvSpPr txBox="1"/>
          <p:nvPr/>
        </p:nvSpPr>
        <p:spPr>
          <a:xfrm>
            <a:off x="1149548" y="678656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Faça um teste: modele uma bolinha e cozinhe em água fervente. Se desmanchar, acrescente mais 1 ou 2 colheres de farinha.</a:t>
            </a:r>
            <a:endParaRPr lang="en-US" sz="1000" dirty="0"/>
          </a:p>
        </p:txBody>
      </p:sp>
      <p:sp>
        <p:nvSpPr>
          <p:cNvPr id="48" name="Shape 46"/>
          <p:cNvSpPr/>
          <p:nvPr/>
        </p:nvSpPr>
        <p:spPr>
          <a:xfrm>
            <a:off x="863798" y="7214890"/>
            <a:ext cx="190500" cy="190500"/>
          </a:xfrm>
          <a:prstGeom prst="ellipse">
            <a:avLst/>
          </a:prstGeom>
          <a:solidFill>
            <a:srgbClr val="2F4A22"/>
          </a:solidFill>
          <a:ln/>
        </p:spPr>
      </p:sp>
      <p:sp>
        <p:nvSpPr>
          <p:cNvPr id="49" name="Text 47"/>
          <p:cNvSpPr txBox="1"/>
          <p:nvPr/>
        </p:nvSpPr>
        <p:spPr>
          <a:xfrm>
            <a:off x="870198" y="7243465"/>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0" name="Text 48"/>
          <p:cNvSpPr txBox="1"/>
          <p:nvPr/>
        </p:nvSpPr>
        <p:spPr>
          <a:xfrm>
            <a:off x="1149548" y="721489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Divida a massa, faça rolinhos de 2 cm de espessura sobre a bancada enfarinhada e corte em pedaços de 2 cm.</a:t>
            </a:r>
            <a:endParaRPr lang="en-US" sz="1000" dirty="0"/>
          </a:p>
        </p:txBody>
      </p:sp>
      <p:sp>
        <p:nvSpPr>
          <p:cNvPr id="51" name="Shape 49"/>
          <p:cNvSpPr/>
          <p:nvPr/>
        </p:nvSpPr>
        <p:spPr>
          <a:xfrm>
            <a:off x="863798" y="7643217"/>
            <a:ext cx="190500" cy="190500"/>
          </a:xfrm>
          <a:prstGeom prst="ellipse">
            <a:avLst/>
          </a:prstGeom>
          <a:solidFill>
            <a:srgbClr val="2F4A22"/>
          </a:solidFill>
          <a:ln/>
        </p:spPr>
      </p:sp>
      <p:sp>
        <p:nvSpPr>
          <p:cNvPr id="52" name="Text 50"/>
          <p:cNvSpPr txBox="1"/>
          <p:nvPr/>
        </p:nvSpPr>
        <p:spPr>
          <a:xfrm>
            <a:off x="869603" y="7671792"/>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3" name="Text 51"/>
          <p:cNvSpPr txBox="1"/>
          <p:nvPr/>
        </p:nvSpPr>
        <p:spPr>
          <a:xfrm>
            <a:off x="1149548" y="764321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Cozinhe em água fervente com sal, em levas. Quando os nhoques subirem, conte 30 segundos e retire com escumadeira.</a:t>
            </a:r>
            <a:endParaRPr lang="en-US" sz="1000" dirty="0"/>
          </a:p>
        </p:txBody>
      </p:sp>
      <p:sp>
        <p:nvSpPr>
          <p:cNvPr id="54" name="Shape 52"/>
          <p:cNvSpPr/>
          <p:nvPr/>
        </p:nvSpPr>
        <p:spPr>
          <a:xfrm>
            <a:off x="863798" y="8071545"/>
            <a:ext cx="190500" cy="190500"/>
          </a:xfrm>
          <a:prstGeom prst="ellipse">
            <a:avLst/>
          </a:prstGeom>
          <a:solidFill>
            <a:srgbClr val="2F4A22"/>
          </a:solidFill>
          <a:ln/>
        </p:spPr>
      </p:sp>
      <p:sp>
        <p:nvSpPr>
          <p:cNvPr id="55" name="Text 53"/>
          <p:cNvSpPr txBox="1"/>
          <p:nvPr/>
        </p:nvSpPr>
        <p:spPr>
          <a:xfrm>
            <a:off x="874514" y="8100120"/>
            <a:ext cx="16892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7</a:t>
            </a:r>
            <a:endParaRPr lang="en-US" sz="800" dirty="0"/>
          </a:p>
        </p:txBody>
      </p:sp>
      <p:sp>
        <p:nvSpPr>
          <p:cNvPr id="56" name="Text 54"/>
          <p:cNvSpPr txBox="1"/>
          <p:nvPr/>
        </p:nvSpPr>
        <p:spPr>
          <a:xfrm>
            <a:off x="1149548" y="8071545"/>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Numa frigideira grande, aqueça a manteiga de garrafa e frite as folhas de sálvia até ficarem crocantes. Junte os nhoques escorridos e deixe dourar 2 minutos sem mexer. Vire, finalize com pimenta e parmesão e sirva na hora.</a:t>
            </a:r>
            <a:endParaRPr lang="en-US" sz="1000" dirty="0"/>
          </a:p>
        </p:txBody>
      </p:sp>
      <p:sp>
        <p:nvSpPr>
          <p:cNvPr id="57" name="Shape 55"/>
          <p:cNvSpPr/>
          <p:nvPr/>
        </p:nvSpPr>
        <p:spPr>
          <a:xfrm>
            <a:off x="863798" y="8728323"/>
            <a:ext cx="5832277" cy="780604"/>
          </a:xfrm>
          <a:prstGeom prst="roundRect">
            <a:avLst>
              <a:gd name="adj" fmla="val 21609"/>
            </a:avLst>
          </a:prstGeom>
          <a:solidFill>
            <a:srgbClr val="2F4A22"/>
          </a:solidFill>
          <a:ln/>
        </p:spPr>
      </p:sp>
      <p:sp>
        <p:nvSpPr>
          <p:cNvPr id="58" name="Text 56"/>
          <p:cNvSpPr txBox="1"/>
          <p:nvPr/>
        </p:nvSpPr>
        <p:spPr>
          <a:xfrm>
            <a:off x="997148" y="8842623"/>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9" name="Text 57"/>
          <p:cNvSpPr txBox="1"/>
          <p:nvPr/>
        </p:nvSpPr>
        <p:spPr>
          <a:xfrm>
            <a:off x="2279749" y="8842623"/>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Os nhoques podem ser congelados crus, espalhados numa assadeira enfarinhada. Depois de firmes, passe para um saco. Cozinhe direto do congelador, sem descongelar.</a:t>
            </a:r>
            <a:endParaRPr lang="en-US" sz="1000" dirty="0"/>
          </a:p>
        </p:txBody>
      </p:sp>
      <p:sp>
        <p:nvSpPr>
          <p:cNvPr id="60" name="Text 58"/>
          <p:cNvSpPr txBox="1"/>
          <p:nvPr/>
        </p:nvSpPr>
        <p:spPr>
          <a:xfrm>
            <a:off x="863798" y="9705826"/>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1" name="Text 59"/>
          <p:cNvSpPr txBox="1"/>
          <p:nvPr/>
        </p:nvSpPr>
        <p:spPr>
          <a:xfrm>
            <a:off x="6542187" y="9705826"/>
            <a:ext cx="268188"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08</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7093595"/>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237655"/>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02</a:t>
            </a:r>
            <a:endParaRPr lang="en-US" sz="750" dirty="0"/>
          </a:p>
        </p:txBody>
      </p:sp>
      <p:sp>
        <p:nvSpPr>
          <p:cNvPr id="4" name="Text 2"/>
          <p:cNvSpPr txBox="1"/>
          <p:nvPr/>
        </p:nvSpPr>
        <p:spPr>
          <a:xfrm>
            <a:off x="1043880" y="1540930"/>
            <a:ext cx="2515939"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BOLINHO DE ABÓBORA</a:t>
            </a:r>
            <a:endParaRPr lang="en-US" sz="3200" dirty="0"/>
          </a:p>
        </p:txBody>
      </p:sp>
      <p:sp>
        <p:nvSpPr>
          <p:cNvPr id="5" name="Text 3"/>
          <p:cNvSpPr txBox="1"/>
          <p:nvPr/>
        </p:nvSpPr>
        <p:spPr>
          <a:xfrm>
            <a:off x="1043880" y="2976414"/>
            <a:ext cx="2515939"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Hambúrguer ou bolinho cremoso assado de abóbora com especiarias e queijo coalho</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1-2.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3345507"/>
          </a:xfrm>
          <a:prstGeom prst="roundRect">
            <a:avLst>
              <a:gd name="adj" fmla="val 1471"/>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484994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500 g de abóbora cabotiá assada e amassada (veja o passo 1 do nhoque)</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236212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150 g de queijo coalho em cubinhos</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398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ovo</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438471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6 colheres (sopa) de farinha de rosca (ou de aveia em flocos finos)</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18552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cebola picada bem miúda</a:t>
            </a:r>
            <a:endParaRPr lang="en-US" sz="1000" dirty="0"/>
          </a:p>
        </p:txBody>
      </p:sp>
      <p:sp>
        <p:nvSpPr>
          <p:cNvPr id="20" name="Shape 17"/>
          <p:cNvSpPr/>
          <p:nvPr/>
        </p:nvSpPr>
        <p:spPr>
          <a:xfrm>
            <a:off x="1403747" y="5891221"/>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5860107"/>
            <a:ext cx="148201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dente de alho picado</a:t>
            </a:r>
            <a:endParaRPr lang="en-US" sz="1000" dirty="0"/>
          </a:p>
        </p:txBody>
      </p:sp>
      <p:sp>
        <p:nvSpPr>
          <p:cNvPr id="22" name="Shape 19"/>
          <p:cNvSpPr/>
          <p:nvPr/>
        </p:nvSpPr>
        <p:spPr>
          <a:xfrm>
            <a:off x="1403747" y="6110148"/>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079034"/>
            <a:ext cx="21492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cominho em pó</a:t>
            </a:r>
            <a:endParaRPr lang="en-US" sz="1000" dirty="0"/>
          </a:p>
        </p:txBody>
      </p:sp>
      <p:sp>
        <p:nvSpPr>
          <p:cNvPr id="24" name="Shape 21"/>
          <p:cNvSpPr/>
          <p:nvPr/>
        </p:nvSpPr>
        <p:spPr>
          <a:xfrm>
            <a:off x="1403747" y="6329074"/>
            <a:ext cx="114300" cy="114300"/>
          </a:xfrm>
          <a:prstGeom prst="roundRect">
            <a:avLst>
              <a:gd name="adj" fmla="val 166667"/>
            </a:avLst>
          </a:prstGeom>
          <a:ln w="9525">
            <a:solidFill>
              <a:srgbClr val="C8501F"/>
            </a:solidFill>
            <a:prstDash val="solid"/>
          </a:ln>
        </p:spPr>
      </p:sp>
      <p:sp>
        <p:nvSpPr>
          <p:cNvPr id="25" name="Text 22"/>
          <p:cNvSpPr txBox="1"/>
          <p:nvPr/>
        </p:nvSpPr>
        <p:spPr>
          <a:xfrm>
            <a:off x="1594247" y="6297960"/>
            <a:ext cx="232762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páprica defumada</a:t>
            </a:r>
            <a:endParaRPr lang="en-US" sz="1000" dirty="0"/>
          </a:p>
        </p:txBody>
      </p:sp>
      <p:sp>
        <p:nvSpPr>
          <p:cNvPr id="26" name="Shape 23"/>
          <p:cNvSpPr/>
          <p:nvPr/>
        </p:nvSpPr>
        <p:spPr>
          <a:xfrm>
            <a:off x="1403747" y="6548000"/>
            <a:ext cx="114300" cy="114300"/>
          </a:xfrm>
          <a:prstGeom prst="roundRect">
            <a:avLst>
              <a:gd name="adj" fmla="val 166667"/>
            </a:avLst>
          </a:prstGeom>
          <a:ln w="9525">
            <a:solidFill>
              <a:srgbClr val="C8501F"/>
            </a:solidFill>
            <a:prstDash val="solid"/>
          </a:ln>
        </p:spPr>
      </p:sp>
      <p:sp>
        <p:nvSpPr>
          <p:cNvPr id="27" name="Text 24"/>
          <p:cNvSpPr txBox="1"/>
          <p:nvPr/>
        </p:nvSpPr>
        <p:spPr>
          <a:xfrm>
            <a:off x="1594247" y="6516886"/>
            <a:ext cx="27445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cheiro-verde picado</a:t>
            </a:r>
            <a:endParaRPr lang="en-US" sz="1000" dirty="0"/>
          </a:p>
        </p:txBody>
      </p:sp>
      <p:sp>
        <p:nvSpPr>
          <p:cNvPr id="28" name="Shape 25"/>
          <p:cNvSpPr/>
          <p:nvPr/>
        </p:nvSpPr>
        <p:spPr>
          <a:xfrm>
            <a:off x="1403747" y="6766926"/>
            <a:ext cx="114300" cy="114300"/>
          </a:xfrm>
          <a:prstGeom prst="roundRect">
            <a:avLst>
              <a:gd name="adj" fmla="val 166667"/>
            </a:avLst>
          </a:prstGeom>
          <a:ln w="9525">
            <a:solidFill>
              <a:srgbClr val="C8501F"/>
            </a:solidFill>
            <a:prstDash val="solid"/>
          </a:ln>
        </p:spPr>
      </p:sp>
      <p:sp>
        <p:nvSpPr>
          <p:cNvPr id="29" name="Text 26"/>
          <p:cNvSpPr txBox="1"/>
          <p:nvPr/>
        </p:nvSpPr>
        <p:spPr>
          <a:xfrm>
            <a:off x="1594247" y="6735812"/>
            <a:ext cx="200691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pimenta-do-reino e azeite</a:t>
            </a:r>
            <a:endParaRPr lang="en-US" sz="1000" dirty="0"/>
          </a:p>
        </p:txBody>
      </p:sp>
      <p:sp>
        <p:nvSpPr>
          <p:cNvPr id="30" name="Text 27"/>
          <p:cNvSpPr txBox="1"/>
          <p:nvPr/>
        </p:nvSpPr>
        <p:spPr>
          <a:xfrm>
            <a:off x="1403747" y="7011888"/>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643533"/>
            <a:ext cx="6696075" cy="9404896"/>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029891"/>
            <a:ext cx="2270450"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02 · ABÓBORA</a:t>
            </a:r>
            <a:endParaRPr lang="en-US" sz="750" dirty="0"/>
          </a:p>
        </p:txBody>
      </p:sp>
      <p:sp>
        <p:nvSpPr>
          <p:cNvPr id="4" name="Text 2"/>
          <p:cNvSpPr txBox="1"/>
          <p:nvPr/>
        </p:nvSpPr>
        <p:spPr>
          <a:xfrm>
            <a:off x="863798" y="1222041"/>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HAMBÚRGUER OU BOLINHO CREMOSO ASSADO DE ABÓBORA COM ESPECIARIAS E QUEIJO COALHO</a:t>
            </a:r>
            <a:endParaRPr lang="en-US" sz="2200" dirty="0"/>
          </a:p>
        </p:txBody>
      </p:sp>
      <p:sp>
        <p:nvSpPr>
          <p:cNvPr id="5" name="Text 3"/>
          <p:cNvSpPr txBox="1"/>
          <p:nvPr/>
        </p:nvSpPr>
        <p:spPr>
          <a:xfrm>
            <a:off x="863798" y="2263676"/>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INUSITADO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(o lado salgado que ninguém espera)</a:t>
            </a:r>
            <a:endParaRPr lang="en-US" sz="800" dirty="0"/>
          </a:p>
        </p:txBody>
      </p:sp>
      <p:sp>
        <p:nvSpPr>
          <p:cNvPr id="6" name="Shape 4"/>
          <p:cNvSpPr/>
          <p:nvPr/>
        </p:nvSpPr>
        <p:spPr>
          <a:xfrm>
            <a:off x="863798" y="2538561"/>
            <a:ext cx="1893243" cy="587425"/>
          </a:xfrm>
          <a:prstGeom prst="roundRect">
            <a:avLst>
              <a:gd name="adj" fmla="val 28619"/>
            </a:avLst>
          </a:prstGeom>
          <a:solidFill>
            <a:srgbClr val="F8EED9"/>
          </a:solidFill>
          <a:ln/>
        </p:spPr>
      </p:sp>
      <p:sp>
        <p:nvSpPr>
          <p:cNvPr id="7" name="Text 5"/>
          <p:cNvSpPr txBox="1"/>
          <p:nvPr/>
        </p:nvSpPr>
        <p:spPr>
          <a:xfrm>
            <a:off x="968573" y="2605236"/>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729508"/>
            <a:ext cx="1156543" cy="345877"/>
          </a:xfrm>
          <a:prstGeom prst="rect">
            <a:avLst/>
          </a:prstGeom>
          <a:noFill/>
          <a:ln/>
        </p:spPr>
        <p:txBody>
          <a:bodyPr wrap="square" lIns="0" tIns="0" rIns="0" bIns="0" rtlCol="0" anchor="t"/>
          <a:lstStyle/>
          <a:p>
            <a:pPr algn="l" indent="0" marL="0">
              <a:lnSpc>
                <a:spcPts val="1300"/>
              </a:lnSpc>
              <a:buNone/>
            </a:pPr>
            <a:r>
              <a:rPr lang="en-US" sz="1000" dirty="0">
                <a:solidFill>
                  <a:srgbClr val="2B2A22"/>
                </a:solidFill>
                <a:latin typeface="DM Sans Medium" pitchFamily="34" charset="0"/>
                <a:ea typeface="DM Sans Medium" pitchFamily="34" charset="-122"/>
                <a:cs typeface="DM Sans Medium" pitchFamily="34" charset="-120"/>
              </a:rPr>
              <a:t>30 min + 30 min de geladeira</a:t>
            </a:r>
            <a:endParaRPr lang="en-US" sz="1000" dirty="0"/>
          </a:p>
        </p:txBody>
      </p:sp>
      <p:sp>
        <p:nvSpPr>
          <p:cNvPr id="9" name="Shape 7"/>
          <p:cNvSpPr/>
          <p:nvPr/>
        </p:nvSpPr>
        <p:spPr>
          <a:xfrm>
            <a:off x="2833241" y="2538561"/>
            <a:ext cx="1893243" cy="587425"/>
          </a:xfrm>
          <a:prstGeom prst="roundRect">
            <a:avLst>
              <a:gd name="adj" fmla="val 28619"/>
            </a:avLst>
          </a:prstGeom>
          <a:solidFill>
            <a:srgbClr val="F8EED9"/>
          </a:solidFill>
          <a:ln/>
        </p:spPr>
      </p:sp>
      <p:sp>
        <p:nvSpPr>
          <p:cNvPr id="10" name="Text 8"/>
          <p:cNvSpPr txBox="1"/>
          <p:nvPr/>
        </p:nvSpPr>
        <p:spPr>
          <a:xfrm>
            <a:off x="2938016" y="2605236"/>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729508"/>
            <a:ext cx="5313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30 min</a:t>
            </a:r>
            <a:endParaRPr lang="en-US" sz="1000" dirty="0"/>
          </a:p>
        </p:txBody>
      </p:sp>
      <p:sp>
        <p:nvSpPr>
          <p:cNvPr id="12" name="Shape 10"/>
          <p:cNvSpPr/>
          <p:nvPr/>
        </p:nvSpPr>
        <p:spPr>
          <a:xfrm>
            <a:off x="4802684" y="2538561"/>
            <a:ext cx="1893243" cy="587425"/>
          </a:xfrm>
          <a:prstGeom prst="roundRect">
            <a:avLst>
              <a:gd name="adj" fmla="val 28619"/>
            </a:avLst>
          </a:prstGeom>
          <a:solidFill>
            <a:srgbClr val="F8EED9"/>
          </a:solidFill>
          <a:ln/>
        </p:spPr>
      </p:sp>
      <p:sp>
        <p:nvSpPr>
          <p:cNvPr id="13" name="Text 11"/>
          <p:cNvSpPr txBox="1"/>
          <p:nvPr/>
        </p:nvSpPr>
        <p:spPr>
          <a:xfrm>
            <a:off x="4907459" y="2605236"/>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729508"/>
            <a:ext cx="951607" cy="345877"/>
          </a:xfrm>
          <a:prstGeom prst="rect">
            <a:avLst/>
          </a:prstGeom>
          <a:noFill/>
          <a:ln/>
        </p:spPr>
        <p:txBody>
          <a:bodyPr wrap="square" lIns="0" tIns="0" rIns="0" bIns="0" rtlCol="0" anchor="t"/>
          <a:lstStyle/>
          <a:p>
            <a:pPr algn="l" indent="0" marL="0">
              <a:lnSpc>
                <a:spcPts val="1300"/>
              </a:lnSpc>
              <a:buNone/>
            </a:pPr>
            <a:r>
              <a:rPr lang="en-US" sz="1000" dirty="0">
                <a:solidFill>
                  <a:srgbClr val="2B2A22"/>
                </a:solidFill>
                <a:latin typeface="DM Sans Medium" pitchFamily="34" charset="0"/>
                <a:ea typeface="DM Sans Medium" pitchFamily="34" charset="-122"/>
                <a:cs typeface="DM Sans Medium" pitchFamily="34" charset="-120"/>
              </a:rPr>
              <a:t>12 bolinhos ou 6 hambúrgueres</a:t>
            </a:r>
            <a:endParaRPr lang="en-US" sz="1000" dirty="0"/>
          </a:p>
        </p:txBody>
      </p:sp>
      <p:sp>
        <p:nvSpPr>
          <p:cNvPr id="15" name="Shape 13"/>
          <p:cNvSpPr/>
          <p:nvPr/>
        </p:nvSpPr>
        <p:spPr>
          <a:xfrm>
            <a:off x="863798" y="3259336"/>
            <a:ext cx="5832277" cy="2979539"/>
          </a:xfrm>
          <a:prstGeom prst="roundRect">
            <a:avLst>
              <a:gd name="adj" fmla="val 1483"/>
            </a:avLst>
          </a:prstGeom>
          <a:solidFill>
            <a:srgbClr val="FBF4E4"/>
          </a:solidFill>
          <a:ln w="9525">
            <a:solidFill>
              <a:srgbClr val="EADFC6"/>
            </a:solidFill>
            <a:prstDash val="solid"/>
          </a:ln>
        </p:spPr>
      </p:sp>
      <p:sp>
        <p:nvSpPr>
          <p:cNvPr id="16" name="Text 14"/>
          <p:cNvSpPr txBox="1"/>
          <p:nvPr/>
        </p:nvSpPr>
        <p:spPr>
          <a:xfrm>
            <a:off x="1006673" y="3354586"/>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690500"/>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659386"/>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500 g de abóbora cabotiá assada e amassada (veja o passo 1 do nhoque)</a:t>
            </a:r>
            <a:endParaRPr lang="en-US" sz="1000" dirty="0"/>
          </a:p>
        </p:txBody>
      </p:sp>
      <p:sp>
        <p:nvSpPr>
          <p:cNvPr id="19" name="Shape 17"/>
          <p:cNvSpPr/>
          <p:nvPr/>
        </p:nvSpPr>
        <p:spPr>
          <a:xfrm>
            <a:off x="1006673" y="4099777"/>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4068663"/>
            <a:ext cx="236212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150 g de queijo coalho em cubinhos</a:t>
            </a:r>
            <a:endParaRPr lang="en-US" sz="1000" dirty="0"/>
          </a:p>
        </p:txBody>
      </p:sp>
      <p:sp>
        <p:nvSpPr>
          <p:cNvPr id="21" name="Shape 19"/>
          <p:cNvSpPr/>
          <p:nvPr/>
        </p:nvSpPr>
        <p:spPr>
          <a:xfrm>
            <a:off x="1006673" y="4318703"/>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287589"/>
            <a:ext cx="398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ovo</a:t>
            </a:r>
            <a:endParaRPr lang="en-US" sz="1000" dirty="0"/>
          </a:p>
        </p:txBody>
      </p:sp>
      <p:sp>
        <p:nvSpPr>
          <p:cNvPr id="23" name="Shape 21"/>
          <p:cNvSpPr/>
          <p:nvPr/>
        </p:nvSpPr>
        <p:spPr>
          <a:xfrm>
            <a:off x="1006673" y="4537630"/>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506516"/>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6 colheres (sopa) de farinha de rosca (ou de aveia em flocos finos)</a:t>
            </a:r>
            <a:endParaRPr lang="en-US" sz="1000" dirty="0"/>
          </a:p>
        </p:txBody>
      </p:sp>
      <p:sp>
        <p:nvSpPr>
          <p:cNvPr id="25" name="Shape 23"/>
          <p:cNvSpPr/>
          <p:nvPr/>
        </p:nvSpPr>
        <p:spPr>
          <a:xfrm>
            <a:off x="1006673" y="4946907"/>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915793"/>
            <a:ext cx="18552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cebola picada bem miúda</a:t>
            </a:r>
            <a:endParaRPr lang="en-US" sz="1000" dirty="0"/>
          </a:p>
        </p:txBody>
      </p:sp>
      <p:sp>
        <p:nvSpPr>
          <p:cNvPr id="27" name="Shape 25"/>
          <p:cNvSpPr/>
          <p:nvPr/>
        </p:nvSpPr>
        <p:spPr>
          <a:xfrm>
            <a:off x="1006673" y="5165833"/>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5134719"/>
            <a:ext cx="148201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dente de alho picado</a:t>
            </a:r>
            <a:endParaRPr lang="en-US" sz="1000" dirty="0"/>
          </a:p>
        </p:txBody>
      </p:sp>
      <p:sp>
        <p:nvSpPr>
          <p:cNvPr id="29" name="Shape 27"/>
          <p:cNvSpPr/>
          <p:nvPr/>
        </p:nvSpPr>
        <p:spPr>
          <a:xfrm>
            <a:off x="1006673" y="5384759"/>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353645"/>
            <a:ext cx="21492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cominho em pó</a:t>
            </a:r>
            <a:endParaRPr lang="en-US" sz="1000" dirty="0"/>
          </a:p>
        </p:txBody>
      </p:sp>
      <p:sp>
        <p:nvSpPr>
          <p:cNvPr id="31" name="Shape 29"/>
          <p:cNvSpPr/>
          <p:nvPr/>
        </p:nvSpPr>
        <p:spPr>
          <a:xfrm>
            <a:off x="1006673" y="5603685"/>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5572571"/>
            <a:ext cx="232762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páprica defumada</a:t>
            </a:r>
            <a:endParaRPr lang="en-US" sz="1000" dirty="0"/>
          </a:p>
        </p:txBody>
      </p:sp>
      <p:sp>
        <p:nvSpPr>
          <p:cNvPr id="33" name="Shape 31"/>
          <p:cNvSpPr/>
          <p:nvPr/>
        </p:nvSpPr>
        <p:spPr>
          <a:xfrm>
            <a:off x="1006673" y="5822612"/>
            <a:ext cx="114300" cy="114300"/>
          </a:xfrm>
          <a:prstGeom prst="roundRect">
            <a:avLst>
              <a:gd name="adj" fmla="val 166667"/>
            </a:avLst>
          </a:prstGeom>
          <a:ln w="9525">
            <a:solidFill>
              <a:srgbClr val="C8501F"/>
            </a:solidFill>
            <a:prstDash val="solid"/>
          </a:ln>
        </p:spPr>
      </p:sp>
      <p:sp>
        <p:nvSpPr>
          <p:cNvPr id="34" name="Text 32"/>
          <p:cNvSpPr txBox="1"/>
          <p:nvPr/>
        </p:nvSpPr>
        <p:spPr>
          <a:xfrm>
            <a:off x="1197173" y="5791498"/>
            <a:ext cx="27445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cheiro-verde picado</a:t>
            </a:r>
            <a:endParaRPr lang="en-US" sz="1000" dirty="0"/>
          </a:p>
        </p:txBody>
      </p:sp>
      <p:sp>
        <p:nvSpPr>
          <p:cNvPr id="35" name="Shape 33"/>
          <p:cNvSpPr/>
          <p:nvPr/>
        </p:nvSpPr>
        <p:spPr>
          <a:xfrm>
            <a:off x="1006673" y="6041538"/>
            <a:ext cx="114300" cy="114300"/>
          </a:xfrm>
          <a:prstGeom prst="roundRect">
            <a:avLst>
              <a:gd name="adj" fmla="val 166667"/>
            </a:avLst>
          </a:prstGeom>
          <a:ln w="9525">
            <a:solidFill>
              <a:srgbClr val="C8501F"/>
            </a:solidFill>
            <a:prstDash val="solid"/>
          </a:ln>
        </p:spPr>
      </p:sp>
      <p:sp>
        <p:nvSpPr>
          <p:cNvPr id="36" name="Text 34"/>
          <p:cNvSpPr txBox="1"/>
          <p:nvPr/>
        </p:nvSpPr>
        <p:spPr>
          <a:xfrm>
            <a:off x="1197173" y="6010424"/>
            <a:ext cx="200691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pimenta-do-reino e azeite</a:t>
            </a:r>
            <a:endParaRPr lang="en-US" sz="1000" dirty="0"/>
          </a:p>
        </p:txBody>
      </p:sp>
      <p:sp>
        <p:nvSpPr>
          <p:cNvPr id="37" name="Text 35"/>
          <p:cNvSpPr txBox="1"/>
          <p:nvPr/>
        </p:nvSpPr>
        <p:spPr>
          <a:xfrm>
            <a:off x="863798" y="6362700"/>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8" name="Shape 36"/>
          <p:cNvSpPr/>
          <p:nvPr/>
        </p:nvSpPr>
        <p:spPr>
          <a:xfrm>
            <a:off x="863798" y="6705600"/>
            <a:ext cx="190500" cy="190500"/>
          </a:xfrm>
          <a:prstGeom prst="ellipse">
            <a:avLst/>
          </a:prstGeom>
          <a:solidFill>
            <a:srgbClr val="2F4A22"/>
          </a:solidFill>
          <a:ln/>
        </p:spPr>
      </p:sp>
      <p:sp>
        <p:nvSpPr>
          <p:cNvPr id="39" name="Text 37"/>
          <p:cNvSpPr txBox="1"/>
          <p:nvPr/>
        </p:nvSpPr>
        <p:spPr>
          <a:xfrm>
            <a:off x="883295" y="6734175"/>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40" name="Text 38"/>
          <p:cNvSpPr txBox="1"/>
          <p:nvPr/>
        </p:nvSpPr>
        <p:spPr>
          <a:xfrm>
            <a:off x="1149548" y="670560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Refogue a cebola e o alho num fio de azeite até ficarem macios. Junte o cominho e a páprica e mexa por 30 segundos, só para despertar o aroma das especiarias.</a:t>
            </a:r>
            <a:endParaRPr lang="en-US" sz="1000" dirty="0"/>
          </a:p>
        </p:txBody>
      </p:sp>
      <p:sp>
        <p:nvSpPr>
          <p:cNvPr id="41" name="Shape 39"/>
          <p:cNvSpPr/>
          <p:nvPr/>
        </p:nvSpPr>
        <p:spPr>
          <a:xfrm>
            <a:off x="863798" y="7133927"/>
            <a:ext cx="190500" cy="190500"/>
          </a:xfrm>
          <a:prstGeom prst="ellipse">
            <a:avLst/>
          </a:prstGeom>
          <a:solidFill>
            <a:srgbClr val="2F4A22"/>
          </a:solidFill>
          <a:ln/>
        </p:spPr>
      </p:sp>
      <p:sp>
        <p:nvSpPr>
          <p:cNvPr id="42" name="Text 40"/>
          <p:cNvSpPr txBox="1"/>
          <p:nvPr/>
        </p:nvSpPr>
        <p:spPr>
          <a:xfrm>
            <a:off x="872579" y="7162502"/>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3" name="Text 41"/>
          <p:cNvSpPr txBox="1"/>
          <p:nvPr/>
        </p:nvSpPr>
        <p:spPr>
          <a:xfrm>
            <a:off x="1149548" y="713392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Numa tigela, misture o purê de abóbora, o refogado, o ovo, a farinha de rosca e o cheiro-verde. Tempere com sal e pimenta. Por último, incorpore o queijo coalho.</a:t>
            </a:r>
            <a:endParaRPr lang="en-US" sz="1000" dirty="0"/>
          </a:p>
        </p:txBody>
      </p:sp>
      <p:sp>
        <p:nvSpPr>
          <p:cNvPr id="44" name="Shape 42"/>
          <p:cNvSpPr/>
          <p:nvPr/>
        </p:nvSpPr>
        <p:spPr>
          <a:xfrm>
            <a:off x="863798" y="7562255"/>
            <a:ext cx="190500" cy="190500"/>
          </a:xfrm>
          <a:prstGeom prst="ellipse">
            <a:avLst/>
          </a:prstGeom>
          <a:solidFill>
            <a:srgbClr val="2F4A22"/>
          </a:solidFill>
          <a:ln/>
        </p:spPr>
      </p:sp>
      <p:sp>
        <p:nvSpPr>
          <p:cNvPr id="45" name="Text 43"/>
          <p:cNvSpPr txBox="1"/>
          <p:nvPr/>
        </p:nvSpPr>
        <p:spPr>
          <a:xfrm>
            <a:off x="871240" y="7590830"/>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6" name="Text 44"/>
          <p:cNvSpPr txBox="1"/>
          <p:nvPr/>
        </p:nvSpPr>
        <p:spPr>
          <a:xfrm>
            <a:off x="1149548" y="7562255"/>
            <a:ext cx="59039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Cubra e leve à geladeira por 30 minutos. A massa firma e fica muito mais fácil de modelar.</a:t>
            </a:r>
            <a:endParaRPr lang="en-US" sz="1000" dirty="0"/>
          </a:p>
        </p:txBody>
      </p:sp>
      <p:sp>
        <p:nvSpPr>
          <p:cNvPr id="47" name="Shape 45"/>
          <p:cNvSpPr/>
          <p:nvPr/>
        </p:nvSpPr>
        <p:spPr>
          <a:xfrm>
            <a:off x="863798" y="7809905"/>
            <a:ext cx="190500" cy="190500"/>
          </a:xfrm>
          <a:prstGeom prst="ellipse">
            <a:avLst/>
          </a:prstGeom>
          <a:solidFill>
            <a:srgbClr val="2F4A22"/>
          </a:solidFill>
          <a:ln/>
        </p:spPr>
      </p:sp>
      <p:sp>
        <p:nvSpPr>
          <p:cNvPr id="48" name="Text 46"/>
          <p:cNvSpPr txBox="1"/>
          <p:nvPr/>
        </p:nvSpPr>
        <p:spPr>
          <a:xfrm>
            <a:off x="868859" y="7838480"/>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9" name="Text 47"/>
          <p:cNvSpPr txBox="1"/>
          <p:nvPr/>
        </p:nvSpPr>
        <p:spPr>
          <a:xfrm>
            <a:off x="1149548" y="780990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Com as mãos untadas, modele bolinhos ou discos de hambúrguer. Disponha numa assadeira com papel-manteiga e pincele azeite por cima.</a:t>
            </a:r>
            <a:endParaRPr lang="en-US" sz="1000" dirty="0"/>
          </a:p>
        </p:txBody>
      </p:sp>
      <p:sp>
        <p:nvSpPr>
          <p:cNvPr id="50" name="Shape 48"/>
          <p:cNvSpPr/>
          <p:nvPr/>
        </p:nvSpPr>
        <p:spPr>
          <a:xfrm>
            <a:off x="863798" y="8238232"/>
            <a:ext cx="190500" cy="190500"/>
          </a:xfrm>
          <a:prstGeom prst="ellipse">
            <a:avLst/>
          </a:prstGeom>
          <a:solidFill>
            <a:srgbClr val="2F4A22"/>
          </a:solidFill>
          <a:ln/>
        </p:spPr>
      </p:sp>
      <p:sp>
        <p:nvSpPr>
          <p:cNvPr id="51" name="Text 49"/>
          <p:cNvSpPr txBox="1"/>
          <p:nvPr/>
        </p:nvSpPr>
        <p:spPr>
          <a:xfrm>
            <a:off x="870198" y="8266807"/>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2" name="Text 50"/>
          <p:cNvSpPr txBox="1"/>
          <p:nvPr/>
        </p:nvSpPr>
        <p:spPr>
          <a:xfrm>
            <a:off x="1149548" y="8238232"/>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Asse a 200 °C por 25 a 30 minutos, virando na metade do tempo, até dourar. Para hambúrgueres, também dá para dourar numa frigideira bem quente, 4 minutos de cada lado.</a:t>
            </a:r>
            <a:endParaRPr lang="en-US" sz="1000" dirty="0"/>
          </a:p>
        </p:txBody>
      </p:sp>
      <p:sp>
        <p:nvSpPr>
          <p:cNvPr id="53" name="Shape 51"/>
          <p:cNvSpPr/>
          <p:nvPr/>
        </p:nvSpPr>
        <p:spPr>
          <a:xfrm>
            <a:off x="863798" y="8704659"/>
            <a:ext cx="5832277" cy="780604"/>
          </a:xfrm>
          <a:prstGeom prst="roundRect">
            <a:avLst>
              <a:gd name="adj" fmla="val 21609"/>
            </a:avLst>
          </a:prstGeom>
          <a:solidFill>
            <a:srgbClr val="2F4A22"/>
          </a:solidFill>
          <a:ln/>
        </p:spPr>
      </p:sp>
      <p:sp>
        <p:nvSpPr>
          <p:cNvPr id="54" name="Text 52"/>
          <p:cNvSpPr txBox="1"/>
          <p:nvPr/>
        </p:nvSpPr>
        <p:spPr>
          <a:xfrm>
            <a:off x="997148" y="8818959"/>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5" name="Text 53"/>
          <p:cNvSpPr txBox="1"/>
          <p:nvPr/>
        </p:nvSpPr>
        <p:spPr>
          <a:xfrm>
            <a:off x="2279749" y="8818959"/>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O queijo coalho derrete só em parte e cria um coração cremoso, com pontos tostados por fora. Sirva com um molho de iogurte, limão e hortelã.</a:t>
            </a:r>
            <a:endParaRPr lang="en-US" sz="1000" dirty="0"/>
          </a:p>
        </p:txBody>
      </p:sp>
      <p:sp>
        <p:nvSpPr>
          <p:cNvPr id="56" name="Text 54"/>
          <p:cNvSpPr txBox="1"/>
          <p:nvPr/>
        </p:nvSpPr>
        <p:spPr>
          <a:xfrm>
            <a:off x="863798" y="9682163"/>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7" name="Text 55"/>
          <p:cNvSpPr txBox="1"/>
          <p:nvPr/>
        </p:nvSpPr>
        <p:spPr>
          <a:xfrm>
            <a:off x="6567785" y="9682163"/>
            <a:ext cx="242590"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10</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6655743"/>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652141"/>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03</a:t>
            </a:r>
            <a:endParaRPr lang="en-US" sz="750" dirty="0"/>
          </a:p>
        </p:txBody>
      </p:sp>
      <p:sp>
        <p:nvSpPr>
          <p:cNvPr id="4" name="Text 2"/>
          <p:cNvSpPr txBox="1"/>
          <p:nvPr/>
        </p:nvSpPr>
        <p:spPr>
          <a:xfrm>
            <a:off x="1043880" y="1916625"/>
            <a:ext cx="3165729" cy="528307"/>
          </a:xfrm>
          <a:prstGeom prst="rect">
            <a:avLst/>
          </a:prstGeom>
          <a:noFill/>
          <a:ln/>
        </p:spPr>
        <p:txBody>
          <a:bodyPr wrap="square" lIns="0" tIns="0" rIns="0" bIns="0" rtlCol="0" anchor="ctr"/>
          <a:lstStyle/>
          <a:p>
            <a:pPr algn="l" indent="0" marL="0">
              <a:buNone/>
            </a:pPr>
            <a:r>
              <a:rPr lang="en-US" sz="3200" spc="-32" kern="0" dirty="0">
                <a:solidFill>
                  <a:srgbClr val="F8EED9"/>
                </a:solidFill>
                <a:latin typeface="Fraunces SemiBold" pitchFamily="34" charset="0"/>
                <a:ea typeface="Fraunces SemiBold" pitchFamily="34" charset="-122"/>
                <a:cs typeface="Fraunces SemiBold" pitchFamily="34" charset="-120"/>
              </a:rPr>
              <a:t>CREPÚSCULO</a:t>
            </a:r>
            <a:endParaRPr lang="en-US" sz="3200" dirty="0"/>
          </a:p>
        </p:txBody>
      </p:sp>
      <p:sp>
        <p:nvSpPr>
          <p:cNvPr id="5" name="Text 3"/>
          <p:cNvSpPr txBox="1"/>
          <p:nvPr/>
        </p:nvSpPr>
        <p:spPr>
          <a:xfrm>
            <a:off x="1043880" y="2561927"/>
            <a:ext cx="2515939"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Crepúsculo: doce de abóbora cremoso de colher com coco e raspas de laranja</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1-3.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2907655"/>
          </a:xfrm>
          <a:prstGeom prst="roundRect">
            <a:avLst>
              <a:gd name="adj" fmla="val 1947"/>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287452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kg de polpa de abóbora cabotiá em cubos</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10928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açúcar</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109580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xícara de água</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157469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200 ml de leite de coco</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132833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g de coco ralado</a:t>
            </a:r>
            <a:endParaRPr lang="en-US" sz="1000" dirty="0"/>
          </a:p>
        </p:txBody>
      </p:sp>
      <p:sp>
        <p:nvSpPr>
          <p:cNvPr id="20" name="Shape 17"/>
          <p:cNvSpPr/>
          <p:nvPr/>
        </p:nvSpPr>
        <p:spPr>
          <a:xfrm>
            <a:off x="1403747" y="5891221"/>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5860107"/>
            <a:ext cx="23539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pau de canela e 3 cravos-da-índia</a:t>
            </a:r>
            <a:endParaRPr lang="en-US" sz="1000" dirty="0"/>
          </a:p>
        </p:txBody>
      </p:sp>
      <p:sp>
        <p:nvSpPr>
          <p:cNvPr id="22" name="Shape 19"/>
          <p:cNvSpPr/>
          <p:nvPr/>
        </p:nvSpPr>
        <p:spPr>
          <a:xfrm>
            <a:off x="1403747" y="6110148"/>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079034"/>
            <a:ext cx="122932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Raspas de 1 laranja</a:t>
            </a:r>
            <a:endParaRPr lang="en-US" sz="1000" dirty="0"/>
          </a:p>
        </p:txBody>
      </p:sp>
      <p:sp>
        <p:nvSpPr>
          <p:cNvPr id="24" name="Shape 21"/>
          <p:cNvSpPr/>
          <p:nvPr/>
        </p:nvSpPr>
        <p:spPr>
          <a:xfrm>
            <a:off x="1403747" y="6329074"/>
            <a:ext cx="114300" cy="114300"/>
          </a:xfrm>
          <a:prstGeom prst="roundRect">
            <a:avLst>
              <a:gd name="adj" fmla="val 166667"/>
            </a:avLst>
          </a:prstGeom>
          <a:ln w="9525">
            <a:solidFill>
              <a:srgbClr val="C8501F"/>
            </a:solidFill>
            <a:prstDash val="solid"/>
          </a:ln>
        </p:spPr>
      </p:sp>
      <p:sp>
        <p:nvSpPr>
          <p:cNvPr id="25" name="Text 22"/>
          <p:cNvSpPr txBox="1"/>
          <p:nvPr/>
        </p:nvSpPr>
        <p:spPr>
          <a:xfrm>
            <a:off x="1594247" y="6297960"/>
            <a:ext cx="9455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pitada de sal</a:t>
            </a:r>
            <a:endParaRPr lang="en-US" sz="1000" dirty="0"/>
          </a:p>
        </p:txBody>
      </p:sp>
      <p:sp>
        <p:nvSpPr>
          <p:cNvPr id="26" name="Text 23"/>
          <p:cNvSpPr txBox="1"/>
          <p:nvPr/>
        </p:nvSpPr>
        <p:spPr>
          <a:xfrm>
            <a:off x="1403747" y="6574036"/>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916186"/>
            <a:ext cx="6696075" cy="8859441"/>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302544"/>
            <a:ext cx="2273618"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03 · ABÓBORA</a:t>
            </a:r>
            <a:endParaRPr lang="en-US" sz="750" dirty="0"/>
          </a:p>
        </p:txBody>
      </p:sp>
      <p:sp>
        <p:nvSpPr>
          <p:cNvPr id="4" name="Text 2"/>
          <p:cNvSpPr txBox="1"/>
          <p:nvPr/>
        </p:nvSpPr>
        <p:spPr>
          <a:xfrm>
            <a:off x="863798" y="1494695"/>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CREPÚSCULO: DOCE DE ABÓBORA CREMOSO DE COLHER COM COCO E RASPAS DE LARANJA</a:t>
            </a:r>
            <a:endParaRPr lang="en-US" sz="2200" dirty="0"/>
          </a:p>
        </p:txBody>
      </p:sp>
      <p:sp>
        <p:nvSpPr>
          <p:cNvPr id="5" name="Text 3"/>
          <p:cNvSpPr txBox="1"/>
          <p:nvPr/>
        </p:nvSpPr>
        <p:spPr>
          <a:xfrm>
            <a:off x="863798" y="2536329"/>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LADO DOCE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(uma sobremesa de memória afetiva)</a:t>
            </a:r>
            <a:endParaRPr lang="en-US" sz="800" dirty="0"/>
          </a:p>
        </p:txBody>
      </p:sp>
      <p:sp>
        <p:nvSpPr>
          <p:cNvPr id="6" name="Shape 4"/>
          <p:cNvSpPr/>
          <p:nvPr/>
        </p:nvSpPr>
        <p:spPr>
          <a:xfrm>
            <a:off x="863798" y="2811214"/>
            <a:ext cx="1893243" cy="422523"/>
          </a:xfrm>
          <a:prstGeom prst="roundRect">
            <a:avLst>
              <a:gd name="adj" fmla="val 55317"/>
            </a:avLst>
          </a:prstGeom>
          <a:solidFill>
            <a:srgbClr val="F8EED9"/>
          </a:solidFill>
          <a:ln/>
        </p:spPr>
      </p:sp>
      <p:sp>
        <p:nvSpPr>
          <p:cNvPr id="7" name="Text 5"/>
          <p:cNvSpPr txBox="1"/>
          <p:nvPr/>
        </p:nvSpPr>
        <p:spPr>
          <a:xfrm>
            <a:off x="968573" y="2877889"/>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3002161"/>
            <a:ext cx="4975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10 min</a:t>
            </a:r>
            <a:endParaRPr lang="en-US" sz="1000" dirty="0"/>
          </a:p>
        </p:txBody>
      </p:sp>
      <p:sp>
        <p:nvSpPr>
          <p:cNvPr id="9" name="Shape 7"/>
          <p:cNvSpPr/>
          <p:nvPr/>
        </p:nvSpPr>
        <p:spPr>
          <a:xfrm>
            <a:off x="2833241" y="2811214"/>
            <a:ext cx="1893243" cy="422523"/>
          </a:xfrm>
          <a:prstGeom prst="roundRect">
            <a:avLst>
              <a:gd name="adj" fmla="val 55317"/>
            </a:avLst>
          </a:prstGeom>
          <a:solidFill>
            <a:srgbClr val="F8EED9"/>
          </a:solidFill>
          <a:ln/>
        </p:spPr>
      </p:sp>
      <p:sp>
        <p:nvSpPr>
          <p:cNvPr id="10" name="Text 8"/>
          <p:cNvSpPr txBox="1"/>
          <p:nvPr/>
        </p:nvSpPr>
        <p:spPr>
          <a:xfrm>
            <a:off x="2938016" y="2877889"/>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3002161"/>
            <a:ext cx="23068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1h</a:t>
            </a:r>
            <a:endParaRPr lang="en-US" sz="1000" dirty="0"/>
          </a:p>
        </p:txBody>
      </p:sp>
      <p:sp>
        <p:nvSpPr>
          <p:cNvPr id="12" name="Shape 10"/>
          <p:cNvSpPr/>
          <p:nvPr/>
        </p:nvSpPr>
        <p:spPr>
          <a:xfrm>
            <a:off x="4802684" y="2811214"/>
            <a:ext cx="1893243" cy="422523"/>
          </a:xfrm>
          <a:prstGeom prst="roundRect">
            <a:avLst>
              <a:gd name="adj" fmla="val 55317"/>
            </a:avLst>
          </a:prstGeom>
          <a:solidFill>
            <a:srgbClr val="F8EED9"/>
          </a:solidFill>
          <a:ln/>
        </p:spPr>
      </p:sp>
      <p:sp>
        <p:nvSpPr>
          <p:cNvPr id="13" name="Text 11"/>
          <p:cNvSpPr txBox="1"/>
          <p:nvPr/>
        </p:nvSpPr>
        <p:spPr>
          <a:xfrm>
            <a:off x="4907459" y="2877889"/>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3002161"/>
            <a:ext cx="88567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cerca de 1 kg</a:t>
            </a:r>
            <a:endParaRPr lang="en-US" sz="1000" dirty="0"/>
          </a:p>
        </p:txBody>
      </p:sp>
      <p:sp>
        <p:nvSpPr>
          <p:cNvPr id="15" name="Shape 13"/>
          <p:cNvSpPr/>
          <p:nvPr/>
        </p:nvSpPr>
        <p:spPr>
          <a:xfrm>
            <a:off x="863798" y="3367088"/>
            <a:ext cx="5832277" cy="2351336"/>
          </a:xfrm>
          <a:prstGeom prst="roundRect">
            <a:avLst>
              <a:gd name="adj" fmla="val 2382"/>
            </a:avLst>
          </a:prstGeom>
          <a:solidFill>
            <a:srgbClr val="FBF4E4"/>
          </a:solidFill>
          <a:ln w="9525">
            <a:solidFill>
              <a:srgbClr val="EADFC6"/>
            </a:solidFill>
            <a:prstDash val="solid"/>
          </a:ln>
        </p:spPr>
      </p:sp>
      <p:sp>
        <p:nvSpPr>
          <p:cNvPr id="16" name="Text 14"/>
          <p:cNvSpPr txBox="1"/>
          <p:nvPr/>
        </p:nvSpPr>
        <p:spPr>
          <a:xfrm>
            <a:off x="1006673" y="346233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798251"/>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767137"/>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 kg de polpa de abóbora cabotiá em cubos</a:t>
            </a:r>
            <a:endParaRPr lang="en-US" sz="1000" dirty="0"/>
          </a:p>
        </p:txBody>
      </p:sp>
      <p:sp>
        <p:nvSpPr>
          <p:cNvPr id="19" name="Shape 17"/>
          <p:cNvSpPr/>
          <p:nvPr/>
        </p:nvSpPr>
        <p:spPr>
          <a:xfrm>
            <a:off x="1006673" y="4207529"/>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4176415"/>
            <a:ext cx="10928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açúcar</a:t>
            </a:r>
            <a:endParaRPr lang="en-US" sz="1000" dirty="0"/>
          </a:p>
        </p:txBody>
      </p:sp>
      <p:sp>
        <p:nvSpPr>
          <p:cNvPr id="21" name="Shape 19"/>
          <p:cNvSpPr/>
          <p:nvPr/>
        </p:nvSpPr>
        <p:spPr>
          <a:xfrm>
            <a:off x="1006673" y="4426455"/>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395341"/>
            <a:ext cx="109580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xícara de água</a:t>
            </a:r>
            <a:endParaRPr lang="en-US" sz="1000" dirty="0"/>
          </a:p>
        </p:txBody>
      </p:sp>
      <p:sp>
        <p:nvSpPr>
          <p:cNvPr id="23" name="Shape 21"/>
          <p:cNvSpPr/>
          <p:nvPr/>
        </p:nvSpPr>
        <p:spPr>
          <a:xfrm>
            <a:off x="1006673" y="4645381"/>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614267"/>
            <a:ext cx="157469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200 ml de leite de coco</a:t>
            </a:r>
            <a:endParaRPr lang="en-US" sz="1000" dirty="0"/>
          </a:p>
        </p:txBody>
      </p:sp>
      <p:sp>
        <p:nvSpPr>
          <p:cNvPr id="25" name="Shape 23"/>
          <p:cNvSpPr/>
          <p:nvPr/>
        </p:nvSpPr>
        <p:spPr>
          <a:xfrm>
            <a:off x="1006673" y="4864307"/>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833193"/>
            <a:ext cx="132833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g de coco ralado</a:t>
            </a:r>
            <a:endParaRPr lang="en-US" sz="1000" dirty="0"/>
          </a:p>
        </p:txBody>
      </p:sp>
      <p:sp>
        <p:nvSpPr>
          <p:cNvPr id="27" name="Shape 25"/>
          <p:cNvSpPr/>
          <p:nvPr/>
        </p:nvSpPr>
        <p:spPr>
          <a:xfrm>
            <a:off x="1006673" y="5083234"/>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5052120"/>
            <a:ext cx="23539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pau de canela e 3 cravos-da-índia</a:t>
            </a:r>
            <a:endParaRPr lang="en-US" sz="1000" dirty="0"/>
          </a:p>
        </p:txBody>
      </p:sp>
      <p:sp>
        <p:nvSpPr>
          <p:cNvPr id="29" name="Shape 27"/>
          <p:cNvSpPr/>
          <p:nvPr/>
        </p:nvSpPr>
        <p:spPr>
          <a:xfrm>
            <a:off x="1006673" y="5302160"/>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271046"/>
            <a:ext cx="122932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Raspas de 1 laranja</a:t>
            </a:r>
            <a:endParaRPr lang="en-US" sz="1000" dirty="0"/>
          </a:p>
        </p:txBody>
      </p:sp>
      <p:sp>
        <p:nvSpPr>
          <p:cNvPr id="31" name="Shape 29"/>
          <p:cNvSpPr/>
          <p:nvPr/>
        </p:nvSpPr>
        <p:spPr>
          <a:xfrm>
            <a:off x="1006673" y="5521086"/>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5489972"/>
            <a:ext cx="9455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pitada de sal</a:t>
            </a:r>
            <a:endParaRPr lang="en-US" sz="1000" dirty="0"/>
          </a:p>
        </p:txBody>
      </p:sp>
      <p:sp>
        <p:nvSpPr>
          <p:cNvPr id="33" name="Text 31"/>
          <p:cNvSpPr txBox="1"/>
          <p:nvPr/>
        </p:nvSpPr>
        <p:spPr>
          <a:xfrm>
            <a:off x="863798" y="5842248"/>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4" name="Shape 32"/>
          <p:cNvSpPr/>
          <p:nvPr/>
        </p:nvSpPr>
        <p:spPr>
          <a:xfrm>
            <a:off x="863798" y="6185148"/>
            <a:ext cx="190500" cy="190500"/>
          </a:xfrm>
          <a:prstGeom prst="ellipse">
            <a:avLst/>
          </a:prstGeom>
          <a:solidFill>
            <a:srgbClr val="2F4A22"/>
          </a:solidFill>
          <a:ln/>
        </p:spPr>
      </p:sp>
      <p:sp>
        <p:nvSpPr>
          <p:cNvPr id="35" name="Text 33"/>
          <p:cNvSpPr txBox="1"/>
          <p:nvPr/>
        </p:nvSpPr>
        <p:spPr>
          <a:xfrm>
            <a:off x="883295" y="6213723"/>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6" name="Text 34"/>
          <p:cNvSpPr txBox="1"/>
          <p:nvPr/>
        </p:nvSpPr>
        <p:spPr>
          <a:xfrm>
            <a:off x="1149548" y="6185148"/>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Numa panela de fundo grosso, cozinhe a abóbora com a água, tampada, em fogo médio, até ficar bem macia (cerca de 15 minutos).</a:t>
            </a:r>
            <a:endParaRPr lang="en-US" sz="1000" dirty="0"/>
          </a:p>
        </p:txBody>
      </p:sp>
      <p:sp>
        <p:nvSpPr>
          <p:cNvPr id="37" name="Shape 35"/>
          <p:cNvSpPr/>
          <p:nvPr/>
        </p:nvSpPr>
        <p:spPr>
          <a:xfrm>
            <a:off x="863798" y="6613475"/>
            <a:ext cx="190500" cy="190500"/>
          </a:xfrm>
          <a:prstGeom prst="ellipse">
            <a:avLst/>
          </a:prstGeom>
          <a:solidFill>
            <a:srgbClr val="2F4A22"/>
          </a:solidFill>
          <a:ln/>
        </p:spPr>
      </p:sp>
      <p:sp>
        <p:nvSpPr>
          <p:cNvPr id="38" name="Text 36"/>
          <p:cNvSpPr txBox="1"/>
          <p:nvPr/>
        </p:nvSpPr>
        <p:spPr>
          <a:xfrm>
            <a:off x="872579" y="6642050"/>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9" name="Text 37"/>
          <p:cNvSpPr txBox="1"/>
          <p:nvPr/>
        </p:nvSpPr>
        <p:spPr>
          <a:xfrm>
            <a:off x="1149548" y="6613475"/>
            <a:ext cx="487994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Amasse a abóbora na própria panela. Junte o açúcar, a canela e os cravos.</a:t>
            </a:r>
            <a:endParaRPr lang="en-US" sz="1000" dirty="0"/>
          </a:p>
        </p:txBody>
      </p:sp>
      <p:sp>
        <p:nvSpPr>
          <p:cNvPr id="40" name="Shape 38"/>
          <p:cNvSpPr/>
          <p:nvPr/>
        </p:nvSpPr>
        <p:spPr>
          <a:xfrm>
            <a:off x="863798" y="6861125"/>
            <a:ext cx="190500" cy="190500"/>
          </a:xfrm>
          <a:prstGeom prst="ellipse">
            <a:avLst/>
          </a:prstGeom>
          <a:solidFill>
            <a:srgbClr val="2F4A22"/>
          </a:solidFill>
          <a:ln/>
        </p:spPr>
      </p:sp>
      <p:sp>
        <p:nvSpPr>
          <p:cNvPr id="41" name="Text 39"/>
          <p:cNvSpPr txBox="1"/>
          <p:nvPr/>
        </p:nvSpPr>
        <p:spPr>
          <a:xfrm>
            <a:off x="871240" y="6889700"/>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2" name="Text 40"/>
          <p:cNvSpPr txBox="1"/>
          <p:nvPr/>
        </p:nvSpPr>
        <p:spPr>
          <a:xfrm>
            <a:off x="1149548" y="686112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Cozinhe em fogo baixo, mexendo com frequência, até o doce começar a desgrudar do fundo da panela, por 30 a 40 minutos. Cuidado: ele espirra. Use uma colher de cabo longo.</a:t>
            </a:r>
            <a:endParaRPr lang="en-US" sz="1000" dirty="0"/>
          </a:p>
        </p:txBody>
      </p:sp>
      <p:sp>
        <p:nvSpPr>
          <p:cNvPr id="43" name="Shape 41"/>
          <p:cNvSpPr/>
          <p:nvPr/>
        </p:nvSpPr>
        <p:spPr>
          <a:xfrm>
            <a:off x="863798" y="7289453"/>
            <a:ext cx="190500" cy="190500"/>
          </a:xfrm>
          <a:prstGeom prst="ellipse">
            <a:avLst/>
          </a:prstGeom>
          <a:solidFill>
            <a:srgbClr val="2F4A22"/>
          </a:solidFill>
          <a:ln/>
        </p:spPr>
      </p:sp>
      <p:sp>
        <p:nvSpPr>
          <p:cNvPr id="44" name="Text 42"/>
          <p:cNvSpPr txBox="1"/>
          <p:nvPr/>
        </p:nvSpPr>
        <p:spPr>
          <a:xfrm>
            <a:off x="868859" y="7318028"/>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5" name="Text 43"/>
          <p:cNvSpPr txBox="1"/>
          <p:nvPr/>
        </p:nvSpPr>
        <p:spPr>
          <a:xfrm>
            <a:off x="1149548" y="7289453"/>
            <a:ext cx="555669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Acrescente o leite de coco e o coco ralado e cozinhe por mais 10 minutos, mexendo.</a:t>
            </a:r>
            <a:endParaRPr lang="en-US" sz="1000" dirty="0"/>
          </a:p>
        </p:txBody>
      </p:sp>
      <p:sp>
        <p:nvSpPr>
          <p:cNvPr id="46" name="Shape 44"/>
          <p:cNvSpPr/>
          <p:nvPr/>
        </p:nvSpPr>
        <p:spPr>
          <a:xfrm>
            <a:off x="863798" y="7537103"/>
            <a:ext cx="190500" cy="190500"/>
          </a:xfrm>
          <a:prstGeom prst="ellipse">
            <a:avLst/>
          </a:prstGeom>
          <a:solidFill>
            <a:srgbClr val="2F4A22"/>
          </a:solidFill>
          <a:ln/>
        </p:spPr>
      </p:sp>
      <p:sp>
        <p:nvSpPr>
          <p:cNvPr id="47" name="Text 45"/>
          <p:cNvSpPr txBox="1"/>
          <p:nvPr/>
        </p:nvSpPr>
        <p:spPr>
          <a:xfrm>
            <a:off x="870198" y="7565678"/>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8" name="Text 46"/>
          <p:cNvSpPr txBox="1"/>
          <p:nvPr/>
        </p:nvSpPr>
        <p:spPr>
          <a:xfrm>
            <a:off x="1149548" y="753710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Desligue o fogo, retire a canela e os cravos e só então junte as raspas de laranja e a pitada de sal.</a:t>
            </a:r>
            <a:endParaRPr lang="en-US" sz="1000" dirty="0"/>
          </a:p>
        </p:txBody>
      </p:sp>
      <p:sp>
        <p:nvSpPr>
          <p:cNvPr id="49" name="Shape 47"/>
          <p:cNvSpPr/>
          <p:nvPr/>
        </p:nvSpPr>
        <p:spPr>
          <a:xfrm>
            <a:off x="863798" y="7965430"/>
            <a:ext cx="190500" cy="190500"/>
          </a:xfrm>
          <a:prstGeom prst="ellipse">
            <a:avLst/>
          </a:prstGeom>
          <a:solidFill>
            <a:srgbClr val="2F4A22"/>
          </a:solidFill>
          <a:ln/>
        </p:spPr>
      </p:sp>
      <p:sp>
        <p:nvSpPr>
          <p:cNvPr id="50" name="Text 48"/>
          <p:cNvSpPr txBox="1"/>
          <p:nvPr/>
        </p:nvSpPr>
        <p:spPr>
          <a:xfrm>
            <a:off x="869603" y="7994005"/>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1" name="Text 49"/>
          <p:cNvSpPr txBox="1"/>
          <p:nvPr/>
        </p:nvSpPr>
        <p:spPr>
          <a:xfrm>
            <a:off x="1149548" y="796543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Ponto certo: ao passar a colher no fundo, o doce abre um caminho que demora a se fechar. Lembre que ele engrossa bastante ao esfriar.</a:t>
            </a:r>
            <a:endParaRPr lang="en-US" sz="1000" dirty="0"/>
          </a:p>
        </p:txBody>
      </p:sp>
      <p:sp>
        <p:nvSpPr>
          <p:cNvPr id="52" name="Shape 50"/>
          <p:cNvSpPr/>
          <p:nvPr/>
        </p:nvSpPr>
        <p:spPr>
          <a:xfrm>
            <a:off x="863798" y="8431857"/>
            <a:ext cx="5832277" cy="780604"/>
          </a:xfrm>
          <a:prstGeom prst="roundRect">
            <a:avLst>
              <a:gd name="adj" fmla="val 21609"/>
            </a:avLst>
          </a:prstGeom>
          <a:solidFill>
            <a:srgbClr val="2F4A22"/>
          </a:solidFill>
          <a:ln/>
        </p:spPr>
      </p:sp>
      <p:sp>
        <p:nvSpPr>
          <p:cNvPr id="53" name="Text 51"/>
          <p:cNvSpPr txBox="1"/>
          <p:nvPr/>
        </p:nvSpPr>
        <p:spPr>
          <a:xfrm>
            <a:off x="997148" y="8546157"/>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4" name="Text 52"/>
          <p:cNvSpPr txBox="1"/>
          <p:nvPr/>
        </p:nvSpPr>
        <p:spPr>
          <a:xfrm>
            <a:off x="2279749" y="8546157"/>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Raspas de cítricos vão sempre no final, com o fogo desligado: o calor prolongado evapora os óleos aromáticos da casca. A pitada de sal não salga, ela faz o doce parecer mais doce e menos enjoativo.</a:t>
            </a:r>
            <a:endParaRPr lang="en-US" sz="1000" dirty="0"/>
          </a:p>
        </p:txBody>
      </p:sp>
      <p:sp>
        <p:nvSpPr>
          <p:cNvPr id="55" name="Text 53"/>
          <p:cNvSpPr txBox="1"/>
          <p:nvPr/>
        </p:nvSpPr>
        <p:spPr>
          <a:xfrm>
            <a:off x="863798" y="9409361"/>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6" name="Text 54"/>
          <p:cNvSpPr txBox="1"/>
          <p:nvPr/>
        </p:nvSpPr>
        <p:spPr>
          <a:xfrm>
            <a:off x="6579840" y="9409361"/>
            <a:ext cx="23053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12</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556593"/>
            <a:ext cx="6696075" cy="7578775"/>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942951"/>
            <a:ext cx="1978247"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O PULO DO CHEF · ABÓBORA</a:t>
            </a:r>
            <a:endParaRPr lang="en-US" sz="750" dirty="0"/>
          </a:p>
        </p:txBody>
      </p:sp>
      <p:sp>
        <p:nvSpPr>
          <p:cNvPr id="4" name="Text 2"/>
          <p:cNvSpPr txBox="1"/>
          <p:nvPr/>
        </p:nvSpPr>
        <p:spPr>
          <a:xfrm>
            <a:off x="863798" y="2135102"/>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NHOQUE DE ABÓBORA QUE VIRA CHICLETE</a:t>
            </a:r>
            <a:endParaRPr lang="en-US" sz="2200" dirty="0"/>
          </a:p>
        </p:txBody>
      </p:sp>
      <p:sp>
        <p:nvSpPr>
          <p:cNvPr id="5" name="Text 3"/>
          <p:cNvSpPr txBox="1"/>
          <p:nvPr/>
        </p:nvSpPr>
        <p:spPr>
          <a:xfrm>
            <a:off x="863798" y="2930575"/>
            <a:ext cx="8712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 ERRO</a:t>
            </a:r>
            <a:endParaRPr lang="en-US" sz="1500" dirty="0"/>
          </a:p>
        </p:txBody>
      </p:sp>
      <p:sp>
        <p:nvSpPr>
          <p:cNvPr id="6" name="Text 4"/>
          <p:cNvSpPr txBox="1"/>
          <p:nvPr/>
        </p:nvSpPr>
        <p:spPr>
          <a:xfrm>
            <a:off x="863798" y="3273475"/>
            <a:ext cx="583227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Cozinhar a abóbora na água. Ela absorve líquido, a massa fica mole e a única saída parece ser jogar mais e mais farinha. O resultado é um nhoque pesado, borrachudo e com gosto de farinha, em vez de gosto de abóbora.</a:t>
            </a:r>
            <a:endParaRPr lang="en-US" sz="1000" dirty="0"/>
          </a:p>
        </p:txBody>
      </p:sp>
      <p:sp>
        <p:nvSpPr>
          <p:cNvPr id="7" name="Text 5"/>
          <p:cNvSpPr txBox="1"/>
          <p:nvPr/>
        </p:nvSpPr>
        <p:spPr>
          <a:xfrm>
            <a:off x="863798" y="4035028"/>
            <a:ext cx="1202317"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 TÉCNICA</a:t>
            </a:r>
            <a:endParaRPr lang="en-US" sz="1500" dirty="0"/>
          </a:p>
        </p:txBody>
      </p:sp>
      <p:sp>
        <p:nvSpPr>
          <p:cNvPr id="8" name="Shape 6"/>
          <p:cNvSpPr/>
          <p:nvPr/>
        </p:nvSpPr>
        <p:spPr>
          <a:xfrm>
            <a:off x="863798" y="4377928"/>
            <a:ext cx="190500" cy="190500"/>
          </a:xfrm>
          <a:prstGeom prst="ellipse">
            <a:avLst/>
          </a:prstGeom>
          <a:solidFill>
            <a:srgbClr val="2F4A22"/>
          </a:solidFill>
          <a:ln/>
        </p:spPr>
      </p:sp>
      <p:sp>
        <p:nvSpPr>
          <p:cNvPr id="9" name="Text 7"/>
          <p:cNvSpPr txBox="1"/>
          <p:nvPr/>
        </p:nvSpPr>
        <p:spPr>
          <a:xfrm>
            <a:off x="883295" y="4406503"/>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10" name="Text 8"/>
          <p:cNvSpPr txBox="1"/>
          <p:nvPr/>
        </p:nvSpPr>
        <p:spPr>
          <a:xfrm>
            <a:off x="1149548" y="4377928"/>
            <a:ext cx="479226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Asse a abóbora em vez de cozinhar: a água evapora e o sabor concentra.</a:t>
            </a:r>
            <a:endParaRPr lang="en-US" sz="1000" dirty="0"/>
          </a:p>
        </p:txBody>
      </p:sp>
      <p:sp>
        <p:nvSpPr>
          <p:cNvPr id="11" name="Shape 9"/>
          <p:cNvSpPr/>
          <p:nvPr/>
        </p:nvSpPr>
        <p:spPr>
          <a:xfrm>
            <a:off x="863798" y="4625578"/>
            <a:ext cx="190500" cy="190500"/>
          </a:xfrm>
          <a:prstGeom prst="ellipse">
            <a:avLst/>
          </a:prstGeom>
          <a:solidFill>
            <a:srgbClr val="2F4A22"/>
          </a:solidFill>
          <a:ln/>
        </p:spPr>
      </p:sp>
      <p:sp>
        <p:nvSpPr>
          <p:cNvPr id="12" name="Text 10"/>
          <p:cNvSpPr txBox="1"/>
          <p:nvPr/>
        </p:nvSpPr>
        <p:spPr>
          <a:xfrm>
            <a:off x="872579" y="4654153"/>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13" name="Text 11"/>
          <p:cNvSpPr txBox="1"/>
          <p:nvPr/>
        </p:nvSpPr>
        <p:spPr>
          <a:xfrm>
            <a:off x="1149548" y="4625578"/>
            <a:ext cx="607209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Deixe o vapor sair: espalhe o purê numa travessa e espere amornar antes de juntar a farinha.</a:t>
            </a:r>
            <a:endParaRPr lang="en-US" sz="1000" dirty="0"/>
          </a:p>
        </p:txBody>
      </p:sp>
      <p:sp>
        <p:nvSpPr>
          <p:cNvPr id="14" name="Shape 12"/>
          <p:cNvSpPr/>
          <p:nvPr/>
        </p:nvSpPr>
        <p:spPr>
          <a:xfrm>
            <a:off x="863798" y="4873228"/>
            <a:ext cx="190500" cy="190500"/>
          </a:xfrm>
          <a:prstGeom prst="ellipse">
            <a:avLst/>
          </a:prstGeom>
          <a:solidFill>
            <a:srgbClr val="2F4A22"/>
          </a:solidFill>
          <a:ln/>
        </p:spPr>
      </p:sp>
      <p:sp>
        <p:nvSpPr>
          <p:cNvPr id="15" name="Text 13"/>
          <p:cNvSpPr txBox="1"/>
          <p:nvPr/>
        </p:nvSpPr>
        <p:spPr>
          <a:xfrm>
            <a:off x="871240" y="4901803"/>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16" name="Text 14"/>
          <p:cNvSpPr txBox="1"/>
          <p:nvPr/>
        </p:nvSpPr>
        <p:spPr>
          <a:xfrm>
            <a:off x="1149548" y="4873228"/>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Farinha aos poucos: pare assim que a massa deixar de grudar. Massa de nhoque é úmida mesmo.</a:t>
            </a:r>
            <a:endParaRPr lang="en-US" sz="1000" dirty="0"/>
          </a:p>
        </p:txBody>
      </p:sp>
      <p:sp>
        <p:nvSpPr>
          <p:cNvPr id="17" name="Shape 15"/>
          <p:cNvSpPr/>
          <p:nvPr/>
        </p:nvSpPr>
        <p:spPr>
          <a:xfrm>
            <a:off x="863798" y="5301555"/>
            <a:ext cx="190500" cy="190500"/>
          </a:xfrm>
          <a:prstGeom prst="ellipse">
            <a:avLst/>
          </a:prstGeom>
          <a:solidFill>
            <a:srgbClr val="2F4A22"/>
          </a:solidFill>
          <a:ln/>
        </p:spPr>
      </p:sp>
      <p:sp>
        <p:nvSpPr>
          <p:cNvPr id="18" name="Text 16"/>
          <p:cNvSpPr txBox="1"/>
          <p:nvPr/>
        </p:nvSpPr>
        <p:spPr>
          <a:xfrm>
            <a:off x="868859" y="5330130"/>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19" name="Text 17"/>
          <p:cNvSpPr txBox="1"/>
          <p:nvPr/>
        </p:nvSpPr>
        <p:spPr>
          <a:xfrm>
            <a:off x="1149548" y="5301555"/>
            <a:ext cx="609992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Não sove: misture só o necessário. Quanto mais você trabalha a massa, mais elástica ela fica.</a:t>
            </a:r>
            <a:endParaRPr lang="en-US" sz="1000" dirty="0"/>
          </a:p>
        </p:txBody>
      </p:sp>
      <p:sp>
        <p:nvSpPr>
          <p:cNvPr id="20" name="Text 18"/>
          <p:cNvSpPr txBox="1"/>
          <p:nvPr/>
        </p:nvSpPr>
        <p:spPr>
          <a:xfrm>
            <a:off x="863798" y="5692080"/>
            <a:ext cx="17003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NÃO TEM ISSO?</a:t>
            </a:r>
            <a:endParaRPr lang="en-US" sz="1500" dirty="0"/>
          </a:p>
        </p:txBody>
      </p:sp>
      <p:sp>
        <p:nvSpPr>
          <p:cNvPr id="21" name="Shape 19"/>
          <p:cNvSpPr/>
          <p:nvPr/>
        </p:nvSpPr>
        <p:spPr>
          <a:xfrm>
            <a:off x="863798" y="6025455"/>
            <a:ext cx="5832277" cy="2546747"/>
          </a:xfrm>
          <a:prstGeom prst="roundRect">
            <a:avLst>
              <a:gd name="adj" fmla="val 1523"/>
            </a:avLst>
          </a:prstGeom>
          <a:ln w="9525">
            <a:solidFill>
              <a:srgbClr val="EADFC6"/>
            </a:solidFill>
            <a:prstDash val="solid"/>
          </a:ln>
        </p:spPr>
      </p:sp>
      <p:sp>
        <p:nvSpPr>
          <p:cNvPr id="22" name="Shape 20"/>
          <p:cNvSpPr/>
          <p:nvPr/>
        </p:nvSpPr>
        <p:spPr>
          <a:xfrm>
            <a:off x="873323" y="6034980"/>
            <a:ext cx="1976437" cy="261937"/>
          </a:xfrm>
          <a:prstGeom prst="rect">
            <a:avLst/>
          </a:prstGeom>
          <a:solidFill>
            <a:srgbClr val="2F4A22"/>
          </a:solidFill>
          <a:ln/>
        </p:spPr>
      </p:sp>
      <p:sp>
        <p:nvSpPr>
          <p:cNvPr id="23" name="Text 21"/>
          <p:cNvSpPr txBox="1"/>
          <p:nvPr/>
        </p:nvSpPr>
        <p:spPr>
          <a:xfrm>
            <a:off x="978098" y="6101655"/>
            <a:ext cx="948184"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SE NÃO TIVER…</a:t>
            </a:r>
            <a:endParaRPr lang="en-US" sz="720" dirty="0"/>
          </a:p>
        </p:txBody>
      </p:sp>
      <p:sp>
        <p:nvSpPr>
          <p:cNvPr id="24" name="Shape 22"/>
          <p:cNvSpPr/>
          <p:nvPr/>
        </p:nvSpPr>
        <p:spPr>
          <a:xfrm>
            <a:off x="2849761" y="6034980"/>
            <a:ext cx="3836789" cy="261937"/>
          </a:xfrm>
          <a:prstGeom prst="rect">
            <a:avLst/>
          </a:prstGeom>
          <a:solidFill>
            <a:srgbClr val="2F4A22"/>
          </a:solidFill>
          <a:ln/>
        </p:spPr>
      </p:sp>
      <p:sp>
        <p:nvSpPr>
          <p:cNvPr id="25" name="Text 23"/>
          <p:cNvSpPr txBox="1"/>
          <p:nvPr/>
        </p:nvSpPr>
        <p:spPr>
          <a:xfrm>
            <a:off x="2954536" y="6101655"/>
            <a:ext cx="399008"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USE…</a:t>
            </a:r>
            <a:endParaRPr lang="en-US" sz="720" dirty="0"/>
          </a:p>
        </p:txBody>
      </p:sp>
      <p:sp>
        <p:nvSpPr>
          <p:cNvPr id="26" name="Shape 24"/>
          <p:cNvSpPr/>
          <p:nvPr/>
        </p:nvSpPr>
        <p:spPr>
          <a:xfrm>
            <a:off x="873323" y="6296918"/>
            <a:ext cx="1976437" cy="0"/>
          </a:xfrm>
          <a:prstGeom prst="line">
            <a:avLst/>
          </a:prstGeom>
          <a:noFill/>
          <a:ln w="9525">
            <a:solidFill>
              <a:srgbClr val="EADFC6"/>
            </a:solidFill>
            <a:prstDash val="solid"/>
          </a:ln>
        </p:spPr>
      </p:sp>
      <p:sp>
        <p:nvSpPr>
          <p:cNvPr id="27" name="Text 25"/>
          <p:cNvSpPr txBox="1"/>
          <p:nvPr/>
        </p:nvSpPr>
        <p:spPr>
          <a:xfrm>
            <a:off x="978098" y="6363593"/>
            <a:ext cx="1187648"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Abóbora cabotiá</a:t>
            </a:r>
            <a:endParaRPr lang="en-US" sz="1050" dirty="0"/>
          </a:p>
        </p:txBody>
      </p:sp>
      <p:sp>
        <p:nvSpPr>
          <p:cNvPr id="28" name="Shape 26"/>
          <p:cNvSpPr/>
          <p:nvPr/>
        </p:nvSpPr>
        <p:spPr>
          <a:xfrm>
            <a:off x="2849761" y="6296918"/>
            <a:ext cx="3836789" cy="0"/>
          </a:xfrm>
          <a:prstGeom prst="line">
            <a:avLst/>
          </a:prstGeom>
          <a:noFill/>
          <a:ln w="9525">
            <a:solidFill>
              <a:srgbClr val="EADFC6"/>
            </a:solidFill>
            <a:prstDash val="solid"/>
          </a:ln>
        </p:spPr>
      </p:sp>
      <p:sp>
        <p:nvSpPr>
          <p:cNvPr id="29" name="Text 27"/>
          <p:cNvSpPr txBox="1"/>
          <p:nvPr/>
        </p:nvSpPr>
        <p:spPr>
          <a:xfrm>
            <a:off x="2954536" y="6373118"/>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Abóbora-paulista ou moranga (têm mais água: asse por mais tempo e escorra o purê numa peneira) ou batata-doce.</a:t>
            </a:r>
            <a:endParaRPr lang="en-US" sz="1000" dirty="0"/>
          </a:p>
        </p:txBody>
      </p:sp>
      <p:sp>
        <p:nvSpPr>
          <p:cNvPr id="30" name="Shape 28"/>
          <p:cNvSpPr/>
          <p:nvPr/>
        </p:nvSpPr>
        <p:spPr>
          <a:xfrm>
            <a:off x="873323" y="6801445"/>
            <a:ext cx="1976437" cy="504527"/>
          </a:xfrm>
          <a:prstGeom prst="rect">
            <a:avLst/>
          </a:prstGeom>
          <a:solidFill>
            <a:srgbClr val="FBF4E4"/>
          </a:solidFill>
          <a:ln/>
        </p:spPr>
      </p:sp>
      <p:sp>
        <p:nvSpPr>
          <p:cNvPr id="31" name="Shape 29"/>
          <p:cNvSpPr/>
          <p:nvPr/>
        </p:nvSpPr>
        <p:spPr>
          <a:xfrm>
            <a:off x="873323" y="6801445"/>
            <a:ext cx="1976437" cy="0"/>
          </a:xfrm>
          <a:prstGeom prst="line">
            <a:avLst/>
          </a:prstGeom>
          <a:noFill/>
          <a:ln w="9525">
            <a:solidFill>
              <a:srgbClr val="EADFC6"/>
            </a:solidFill>
            <a:prstDash val="solid"/>
          </a:ln>
        </p:spPr>
      </p:sp>
      <p:sp>
        <p:nvSpPr>
          <p:cNvPr id="32" name="Text 30"/>
          <p:cNvSpPr txBox="1"/>
          <p:nvPr/>
        </p:nvSpPr>
        <p:spPr>
          <a:xfrm>
            <a:off x="978098" y="6868120"/>
            <a:ext cx="1448181"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Manteiga de garrafa</a:t>
            </a:r>
            <a:endParaRPr lang="en-US" sz="1050" dirty="0"/>
          </a:p>
        </p:txBody>
      </p:sp>
      <p:sp>
        <p:nvSpPr>
          <p:cNvPr id="33" name="Shape 31"/>
          <p:cNvSpPr/>
          <p:nvPr/>
        </p:nvSpPr>
        <p:spPr>
          <a:xfrm>
            <a:off x="2849761" y="6801445"/>
            <a:ext cx="3836789" cy="504527"/>
          </a:xfrm>
          <a:prstGeom prst="rect">
            <a:avLst/>
          </a:prstGeom>
          <a:solidFill>
            <a:srgbClr val="FBF4E4"/>
          </a:solidFill>
          <a:ln/>
        </p:spPr>
      </p:sp>
      <p:sp>
        <p:nvSpPr>
          <p:cNvPr id="34" name="Shape 32"/>
          <p:cNvSpPr/>
          <p:nvPr/>
        </p:nvSpPr>
        <p:spPr>
          <a:xfrm>
            <a:off x="2849761" y="6801445"/>
            <a:ext cx="3836789" cy="0"/>
          </a:xfrm>
          <a:prstGeom prst="line">
            <a:avLst/>
          </a:prstGeom>
          <a:noFill/>
          <a:ln w="9525">
            <a:solidFill>
              <a:srgbClr val="EADFC6"/>
            </a:solidFill>
            <a:prstDash val="solid"/>
          </a:ln>
        </p:spPr>
      </p:sp>
      <p:sp>
        <p:nvSpPr>
          <p:cNvPr id="35" name="Text 33"/>
          <p:cNvSpPr txBox="1"/>
          <p:nvPr/>
        </p:nvSpPr>
        <p:spPr>
          <a:xfrm>
            <a:off x="2954536" y="6877645"/>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Ghee ou manteiga comum com um fio de azeite (que evita que ela queime).</a:t>
            </a:r>
            <a:endParaRPr lang="en-US" sz="1000" dirty="0"/>
          </a:p>
        </p:txBody>
      </p:sp>
      <p:sp>
        <p:nvSpPr>
          <p:cNvPr id="36" name="Shape 34"/>
          <p:cNvSpPr/>
          <p:nvPr/>
        </p:nvSpPr>
        <p:spPr>
          <a:xfrm>
            <a:off x="873323" y="7305973"/>
            <a:ext cx="1976437" cy="0"/>
          </a:xfrm>
          <a:prstGeom prst="line">
            <a:avLst/>
          </a:prstGeom>
          <a:noFill/>
          <a:ln w="9525">
            <a:solidFill>
              <a:srgbClr val="EADFC6"/>
            </a:solidFill>
            <a:prstDash val="solid"/>
          </a:ln>
        </p:spPr>
      </p:sp>
      <p:sp>
        <p:nvSpPr>
          <p:cNvPr id="37" name="Text 35"/>
          <p:cNvSpPr txBox="1"/>
          <p:nvPr/>
        </p:nvSpPr>
        <p:spPr>
          <a:xfrm>
            <a:off x="978098" y="7372648"/>
            <a:ext cx="929729"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Sálvia fresca</a:t>
            </a:r>
            <a:endParaRPr lang="en-US" sz="1050" dirty="0"/>
          </a:p>
        </p:txBody>
      </p:sp>
      <p:sp>
        <p:nvSpPr>
          <p:cNvPr id="38" name="Shape 36"/>
          <p:cNvSpPr/>
          <p:nvPr/>
        </p:nvSpPr>
        <p:spPr>
          <a:xfrm>
            <a:off x="2849761" y="7305973"/>
            <a:ext cx="3836789" cy="0"/>
          </a:xfrm>
          <a:prstGeom prst="line">
            <a:avLst/>
          </a:prstGeom>
          <a:noFill/>
          <a:ln w="9525">
            <a:solidFill>
              <a:srgbClr val="EADFC6"/>
            </a:solidFill>
            <a:prstDash val="solid"/>
          </a:ln>
        </p:spPr>
      </p:sp>
      <p:sp>
        <p:nvSpPr>
          <p:cNvPr id="39" name="Text 37"/>
          <p:cNvSpPr txBox="1"/>
          <p:nvPr/>
        </p:nvSpPr>
        <p:spPr>
          <a:xfrm>
            <a:off x="2954536" y="7382173"/>
            <a:ext cx="179322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Alecrim ou tomilho frescos.</a:t>
            </a:r>
            <a:endParaRPr lang="en-US" sz="1000" dirty="0"/>
          </a:p>
        </p:txBody>
      </p:sp>
      <p:sp>
        <p:nvSpPr>
          <p:cNvPr id="40" name="Shape 38"/>
          <p:cNvSpPr/>
          <p:nvPr/>
        </p:nvSpPr>
        <p:spPr>
          <a:xfrm>
            <a:off x="873323" y="7620149"/>
            <a:ext cx="1976437" cy="314176"/>
          </a:xfrm>
          <a:prstGeom prst="rect">
            <a:avLst/>
          </a:prstGeom>
          <a:solidFill>
            <a:srgbClr val="FBF4E4"/>
          </a:solidFill>
          <a:ln/>
        </p:spPr>
      </p:sp>
      <p:sp>
        <p:nvSpPr>
          <p:cNvPr id="41" name="Shape 39"/>
          <p:cNvSpPr/>
          <p:nvPr/>
        </p:nvSpPr>
        <p:spPr>
          <a:xfrm>
            <a:off x="873323" y="7620149"/>
            <a:ext cx="1976437" cy="0"/>
          </a:xfrm>
          <a:prstGeom prst="line">
            <a:avLst/>
          </a:prstGeom>
          <a:noFill/>
          <a:ln w="9525">
            <a:solidFill>
              <a:srgbClr val="EADFC6"/>
            </a:solidFill>
            <a:prstDash val="solid"/>
          </a:ln>
        </p:spPr>
      </p:sp>
      <p:sp>
        <p:nvSpPr>
          <p:cNvPr id="42" name="Text 40"/>
          <p:cNvSpPr txBox="1"/>
          <p:nvPr/>
        </p:nvSpPr>
        <p:spPr>
          <a:xfrm>
            <a:off x="978098" y="7686824"/>
            <a:ext cx="1000423"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Queijo coalho</a:t>
            </a:r>
            <a:endParaRPr lang="en-US" sz="1050" dirty="0"/>
          </a:p>
        </p:txBody>
      </p:sp>
      <p:sp>
        <p:nvSpPr>
          <p:cNvPr id="43" name="Shape 41"/>
          <p:cNvSpPr/>
          <p:nvPr/>
        </p:nvSpPr>
        <p:spPr>
          <a:xfrm>
            <a:off x="2849761" y="7620149"/>
            <a:ext cx="3836789" cy="314176"/>
          </a:xfrm>
          <a:prstGeom prst="rect">
            <a:avLst/>
          </a:prstGeom>
          <a:solidFill>
            <a:srgbClr val="FBF4E4"/>
          </a:solidFill>
          <a:ln/>
        </p:spPr>
      </p:sp>
      <p:sp>
        <p:nvSpPr>
          <p:cNvPr id="44" name="Shape 42"/>
          <p:cNvSpPr/>
          <p:nvPr/>
        </p:nvSpPr>
        <p:spPr>
          <a:xfrm>
            <a:off x="2849761" y="7620149"/>
            <a:ext cx="3836789" cy="0"/>
          </a:xfrm>
          <a:prstGeom prst="line">
            <a:avLst/>
          </a:prstGeom>
          <a:noFill/>
          <a:ln w="9525">
            <a:solidFill>
              <a:srgbClr val="EADFC6"/>
            </a:solidFill>
            <a:prstDash val="solid"/>
          </a:ln>
        </p:spPr>
      </p:sp>
      <p:sp>
        <p:nvSpPr>
          <p:cNvPr id="45" name="Text 43"/>
          <p:cNvSpPr txBox="1"/>
          <p:nvPr/>
        </p:nvSpPr>
        <p:spPr>
          <a:xfrm>
            <a:off x="2954536" y="7696349"/>
            <a:ext cx="271850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Queijo meia-cura ou muçarela em cubos.</a:t>
            </a:r>
            <a:endParaRPr lang="en-US" sz="1000" dirty="0"/>
          </a:p>
        </p:txBody>
      </p:sp>
      <p:sp>
        <p:nvSpPr>
          <p:cNvPr id="46" name="Shape 44"/>
          <p:cNvSpPr/>
          <p:nvPr/>
        </p:nvSpPr>
        <p:spPr>
          <a:xfrm>
            <a:off x="873323" y="7934325"/>
            <a:ext cx="1976437" cy="0"/>
          </a:xfrm>
          <a:prstGeom prst="line">
            <a:avLst/>
          </a:prstGeom>
          <a:noFill/>
          <a:ln w="9525">
            <a:solidFill>
              <a:srgbClr val="EADFC6"/>
            </a:solidFill>
            <a:prstDash val="solid"/>
          </a:ln>
        </p:spPr>
      </p:sp>
      <p:sp>
        <p:nvSpPr>
          <p:cNvPr id="47" name="Text 45"/>
          <p:cNvSpPr txBox="1"/>
          <p:nvPr/>
        </p:nvSpPr>
        <p:spPr>
          <a:xfrm>
            <a:off x="978098" y="8001000"/>
            <a:ext cx="944463"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Leite de coco</a:t>
            </a:r>
            <a:endParaRPr lang="en-US" sz="1050" dirty="0"/>
          </a:p>
        </p:txBody>
      </p:sp>
      <p:sp>
        <p:nvSpPr>
          <p:cNvPr id="48" name="Shape 46"/>
          <p:cNvSpPr/>
          <p:nvPr/>
        </p:nvSpPr>
        <p:spPr>
          <a:xfrm>
            <a:off x="2849761" y="7934325"/>
            <a:ext cx="3836789" cy="0"/>
          </a:xfrm>
          <a:prstGeom prst="line">
            <a:avLst/>
          </a:prstGeom>
          <a:noFill/>
          <a:ln w="9525">
            <a:solidFill>
              <a:srgbClr val="EADFC6"/>
            </a:solidFill>
            <a:prstDash val="solid"/>
          </a:ln>
        </p:spPr>
      </p:sp>
      <p:sp>
        <p:nvSpPr>
          <p:cNvPr id="49" name="Text 47"/>
          <p:cNvSpPr txBox="1"/>
          <p:nvPr/>
        </p:nvSpPr>
        <p:spPr>
          <a:xfrm>
            <a:off x="2954536" y="8010525"/>
            <a:ext cx="40285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200 ml de leite com 2 colheres (sopa) a mais de coco ralado.</a:t>
            </a:r>
            <a:endParaRPr lang="en-US" sz="1000" dirty="0"/>
          </a:p>
        </p:txBody>
      </p:sp>
      <p:sp>
        <p:nvSpPr>
          <p:cNvPr id="50" name="Shape 48"/>
          <p:cNvSpPr/>
          <p:nvPr/>
        </p:nvSpPr>
        <p:spPr>
          <a:xfrm>
            <a:off x="873323" y="8248501"/>
            <a:ext cx="1976437" cy="314176"/>
          </a:xfrm>
          <a:prstGeom prst="rect">
            <a:avLst/>
          </a:prstGeom>
          <a:solidFill>
            <a:srgbClr val="FBF4E4"/>
          </a:solidFill>
          <a:ln/>
        </p:spPr>
      </p:sp>
      <p:sp>
        <p:nvSpPr>
          <p:cNvPr id="51" name="Shape 49"/>
          <p:cNvSpPr/>
          <p:nvPr/>
        </p:nvSpPr>
        <p:spPr>
          <a:xfrm>
            <a:off x="873323" y="8248501"/>
            <a:ext cx="1976437" cy="0"/>
          </a:xfrm>
          <a:prstGeom prst="line">
            <a:avLst/>
          </a:prstGeom>
          <a:noFill/>
          <a:ln w="9525">
            <a:solidFill>
              <a:srgbClr val="EADFC6"/>
            </a:solidFill>
            <a:prstDash val="solid"/>
          </a:ln>
        </p:spPr>
      </p:sp>
      <p:sp>
        <p:nvSpPr>
          <p:cNvPr id="52" name="Text 50"/>
          <p:cNvSpPr txBox="1"/>
          <p:nvPr/>
        </p:nvSpPr>
        <p:spPr>
          <a:xfrm>
            <a:off x="978098" y="8315176"/>
            <a:ext cx="613916"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Laranja</a:t>
            </a:r>
            <a:endParaRPr lang="en-US" sz="1050" dirty="0"/>
          </a:p>
        </p:txBody>
      </p:sp>
      <p:sp>
        <p:nvSpPr>
          <p:cNvPr id="53" name="Shape 51"/>
          <p:cNvSpPr/>
          <p:nvPr/>
        </p:nvSpPr>
        <p:spPr>
          <a:xfrm>
            <a:off x="2849761" y="8248501"/>
            <a:ext cx="3836789" cy="314176"/>
          </a:xfrm>
          <a:prstGeom prst="rect">
            <a:avLst/>
          </a:prstGeom>
          <a:solidFill>
            <a:srgbClr val="FBF4E4"/>
          </a:solidFill>
          <a:ln/>
        </p:spPr>
      </p:sp>
      <p:sp>
        <p:nvSpPr>
          <p:cNvPr id="54" name="Shape 52"/>
          <p:cNvSpPr/>
          <p:nvPr/>
        </p:nvSpPr>
        <p:spPr>
          <a:xfrm>
            <a:off x="2849761" y="8248501"/>
            <a:ext cx="3836789" cy="0"/>
          </a:xfrm>
          <a:prstGeom prst="line">
            <a:avLst/>
          </a:prstGeom>
          <a:noFill/>
          <a:ln w="9525">
            <a:solidFill>
              <a:srgbClr val="EADFC6"/>
            </a:solidFill>
            <a:prstDash val="solid"/>
          </a:ln>
        </p:spPr>
      </p:sp>
      <p:sp>
        <p:nvSpPr>
          <p:cNvPr id="55" name="Text 53"/>
          <p:cNvSpPr txBox="1"/>
          <p:nvPr/>
        </p:nvSpPr>
        <p:spPr>
          <a:xfrm>
            <a:off x="2954536" y="8324701"/>
            <a:ext cx="405100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Tangerina, ou metade da quantidade de raspas de limão-taiti.</a:t>
            </a:r>
            <a:endParaRPr lang="en-US" sz="1000" dirty="0"/>
          </a:p>
        </p:txBody>
      </p:sp>
      <p:sp>
        <p:nvSpPr>
          <p:cNvPr id="56" name="Text 54"/>
          <p:cNvSpPr txBox="1"/>
          <p:nvPr/>
        </p:nvSpPr>
        <p:spPr>
          <a:xfrm>
            <a:off x="863798" y="8769102"/>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7" name="Text 55"/>
          <p:cNvSpPr txBox="1"/>
          <p:nvPr/>
        </p:nvSpPr>
        <p:spPr>
          <a:xfrm>
            <a:off x="6577310" y="8769102"/>
            <a:ext cx="23306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13</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3110508"/>
            <a:ext cx="6696075" cy="4470946"/>
          </a:xfrm>
          <a:prstGeom prst="roundRect">
            <a:avLst>
              <a:gd name="adj" fmla="val 823"/>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496866"/>
            <a:ext cx="2587490"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APROVEITA ISSO TAMBÉM · ABÓBORA</a:t>
            </a:r>
            <a:endParaRPr lang="en-US" sz="750" dirty="0"/>
          </a:p>
        </p:txBody>
      </p:sp>
      <p:sp>
        <p:nvSpPr>
          <p:cNvPr id="4" name="Text 2"/>
          <p:cNvSpPr txBox="1"/>
          <p:nvPr/>
        </p:nvSpPr>
        <p:spPr>
          <a:xfrm>
            <a:off x="863798" y="3677210"/>
            <a:ext cx="3681460"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NADA VAI PARA O LIXO</a:t>
            </a:r>
            <a:endParaRPr lang="en-US" sz="2200" dirty="0"/>
          </a:p>
        </p:txBody>
      </p:sp>
      <p:sp>
        <p:nvSpPr>
          <p:cNvPr id="5" name="Shape 3"/>
          <p:cNvSpPr/>
          <p:nvPr/>
        </p:nvSpPr>
        <p:spPr>
          <a:xfrm>
            <a:off x="4896148" y="4181177"/>
            <a:ext cx="1799927" cy="1799927"/>
          </a:xfrm>
          <a:prstGeom prst="ellipse">
            <a:avLst/>
          </a:prstGeom>
          <a:solidFill>
            <a:srgbClr val="FFFFFF"/>
          </a:solidFill>
          <a:ln/>
        </p:spPr>
      </p:sp>
      <p:pic>
        <p:nvPicPr>
          <p:cNvPr id="6" name="Image 0" descr="/home/user/ebook-receitas/versoes/VERSAO ESTAMPAS/fotos/aproveita1.jpg">    </p:cNvPr>
          <p:cNvPicPr>
            <a:picLocks noChangeAspect="1"/>
          </p:cNvPicPr>
          <p:nvPr/>
        </p:nvPicPr>
        <p:blipFill>
          <a:blip r:embed="rId2"/>
          <a:srcRect l="0" r="0" t="0" b="0"/>
          <a:stretch/>
        </p:blipFill>
        <p:spPr>
          <a:xfrm>
            <a:off x="4972348" y="4257377"/>
            <a:ext cx="1647527" cy="1647527"/>
          </a:xfrm>
          <a:prstGeom prst="ellipse">
            <a:avLst/>
          </a:prstGeom>
        </p:spPr>
      </p:pic>
      <p:sp>
        <p:nvSpPr>
          <p:cNvPr id="7" name="Text 4"/>
          <p:cNvSpPr txBox="1"/>
          <p:nvPr/>
        </p:nvSpPr>
        <p:spPr>
          <a:xfrm>
            <a:off x="863798" y="4209752"/>
            <a:ext cx="4573738"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CASCA: CHIPS CROCANTES TEMPERADOS</a:t>
            </a:r>
            <a:endParaRPr lang="en-US" sz="1500" dirty="0"/>
          </a:p>
        </p:txBody>
      </p:sp>
      <p:sp>
        <p:nvSpPr>
          <p:cNvPr id="8" name="Text 5"/>
          <p:cNvSpPr txBox="1"/>
          <p:nvPr/>
        </p:nvSpPr>
        <p:spPr>
          <a:xfrm>
            <a:off x="863798" y="4552652"/>
            <a:ext cx="5832277" cy="942380"/>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Quando a receita pedir abóbora descascada, tire a casca em tiras finas com um descascador de legumes. Misture com um fio de azeite, sal e páprica e espalhe sem amontoar. Leve à airfryer a 180 °C por 8 a 12 minutos, chacoalhando na metade, ou ao forno a 160 °C por 20 a 25 minutos. Elas ficam crocantes ao esfriar.</a:t>
            </a:r>
            <a:endParaRPr lang="en-US" sz="1000" dirty="0"/>
          </a:p>
        </p:txBody>
      </p:sp>
      <p:sp>
        <p:nvSpPr>
          <p:cNvPr id="9" name="Text 6"/>
          <p:cNvSpPr txBox="1"/>
          <p:nvPr/>
        </p:nvSpPr>
        <p:spPr>
          <a:xfrm>
            <a:off x="863798" y="5694908"/>
            <a:ext cx="5832277" cy="485775"/>
          </a:xfrm>
          <a:prstGeom prst="rect">
            <a:avLst/>
          </a:prstGeom>
          <a:noFill/>
          <a:ln/>
        </p:spPr>
        <p:txBody>
          <a:bodyPr wrap="square" lIns="0" tIns="0" rIns="0" bIns="0" rtlCol="0" anchor="t"/>
          <a:lstStyle/>
          <a:p>
            <a:pPr algn="l" indent="0" marL="0">
              <a:lnSpc>
                <a:spcPts val="1800"/>
              </a:lnSpc>
              <a:buNone/>
            </a:pPr>
            <a:r>
              <a:rPr lang="en-US" sz="1500" dirty="0">
                <a:solidFill>
                  <a:srgbClr val="2F4A22"/>
                </a:solidFill>
                <a:latin typeface="Fraunces SemiBold" pitchFamily="34" charset="0"/>
                <a:ea typeface="Fraunces SemiBold" pitchFamily="34" charset="-122"/>
                <a:cs typeface="Fraunces SemiBold" pitchFamily="34" charset="-120"/>
              </a:rPr>
              <a:t>SEMENTES: SNACK CROCANTE COM PÁPRICA E SAL</a:t>
            </a:r>
            <a:endParaRPr lang="en-US" sz="1500" dirty="0"/>
          </a:p>
        </p:txBody>
      </p:sp>
      <p:sp>
        <p:nvSpPr>
          <p:cNvPr id="10" name="Text 7"/>
          <p:cNvSpPr txBox="1"/>
          <p:nvPr/>
        </p:nvSpPr>
        <p:spPr>
          <a:xfrm>
            <a:off x="863798" y="6266408"/>
            <a:ext cx="5832277" cy="752029"/>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Lave as sementes numa peneira, separando as fibras, e seque muito bem com um pano. Tempere com um fio de azeite, sal e páprica defumada e asse a 160 °C por 20 a 25 minutos, mexendo de vez em quando, até dourarem e estalarem. Use como petisco ou para dar crocância a saladas, sopas e ao próprio nhoque.</a:t>
            </a:r>
            <a:endParaRPr lang="en-US" sz="1000" dirty="0"/>
          </a:p>
        </p:txBody>
      </p:sp>
      <p:sp>
        <p:nvSpPr>
          <p:cNvPr id="11" name="Text 8"/>
          <p:cNvSpPr txBox="1"/>
          <p:nvPr/>
        </p:nvSpPr>
        <p:spPr>
          <a:xfrm>
            <a:off x="863798" y="7215188"/>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12" name="Text 9"/>
          <p:cNvSpPr txBox="1"/>
          <p:nvPr/>
        </p:nvSpPr>
        <p:spPr>
          <a:xfrm>
            <a:off x="6572845" y="7215188"/>
            <a:ext cx="237530"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14</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5681365"/>
          </a:xfrm>
          <a:prstGeom prst="roundRect">
            <a:avLst>
              <a:gd name="adj" fmla="val 612"/>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142256"/>
            <a:ext cx="932557"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CAPÍTULO 02</a:t>
            </a:r>
            <a:endParaRPr lang="en-US" sz="750" dirty="0"/>
          </a:p>
        </p:txBody>
      </p:sp>
      <p:sp>
        <p:nvSpPr>
          <p:cNvPr id="4" name="Text 2"/>
          <p:cNvSpPr txBox="1"/>
          <p:nvPr/>
        </p:nvSpPr>
        <p:spPr>
          <a:xfrm>
            <a:off x="1043880" y="1329579"/>
            <a:ext cx="5472113" cy="1370804"/>
          </a:xfrm>
          <a:prstGeom prst="rect">
            <a:avLst/>
          </a:prstGeom>
          <a:noFill/>
          <a:ln/>
        </p:spPr>
        <p:txBody>
          <a:bodyPr wrap="square" lIns="0" tIns="0" rIns="0" bIns="0" rtlCol="0" anchor="t"/>
          <a:lstStyle/>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BANANA-DA-TERRA</a:t>
            </a:r>
            <a:endParaRPr lang="en-US" sz="4600" dirty="0"/>
          </a:p>
        </p:txBody>
      </p:sp>
      <p:sp>
        <p:nvSpPr>
          <p:cNvPr id="5" name="Shape 3"/>
          <p:cNvSpPr/>
          <p:nvPr/>
        </p:nvSpPr>
        <p:spPr>
          <a:xfrm>
            <a:off x="1043880" y="2604343"/>
            <a:ext cx="533400" cy="28575"/>
          </a:xfrm>
          <a:prstGeom prst="rect">
            <a:avLst/>
          </a:prstGeom>
          <a:solidFill>
            <a:srgbClr val="E5A82E"/>
          </a:solidFill>
          <a:ln/>
        </p:spPr>
      </p:sp>
      <p:sp>
        <p:nvSpPr>
          <p:cNvPr id="6" name="Text 4"/>
          <p:cNvSpPr txBox="1"/>
          <p:nvPr/>
        </p:nvSpPr>
        <p:spPr>
          <a:xfrm>
            <a:off x="1043880" y="2832943"/>
            <a:ext cx="2933200"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OU BANANA-PRATA FIRME</a:t>
            </a:r>
            <a:endParaRPr lang="en-US" sz="1500" dirty="0"/>
          </a:p>
        </p:txBody>
      </p:sp>
      <p:sp>
        <p:nvSpPr>
          <p:cNvPr id="7" name="Text 5"/>
          <p:cNvSpPr txBox="1"/>
          <p:nvPr/>
        </p:nvSpPr>
        <p:spPr>
          <a:xfrm>
            <a:off x="1043880" y="3175843"/>
            <a:ext cx="5472113"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O ingrediente nacional por excelência. Transita entre o salgado e o doce e leva sofisticação ao prato sem pesar no bolso.</a:t>
            </a:r>
            <a:endParaRPr lang="en-US" sz="1200" dirty="0"/>
          </a:p>
        </p:txBody>
      </p:sp>
      <p:sp>
        <p:nvSpPr>
          <p:cNvPr id="8" name="Text 6"/>
          <p:cNvSpPr txBox="1"/>
          <p:nvPr/>
        </p:nvSpPr>
        <p:spPr>
          <a:xfrm>
            <a:off x="1043880" y="3808065"/>
            <a:ext cx="233312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3 TRANSFORMAÇÕES</a:t>
            </a:r>
            <a:endParaRPr lang="en-US" sz="1500" dirty="0"/>
          </a:p>
        </p:txBody>
      </p:sp>
      <p:sp>
        <p:nvSpPr>
          <p:cNvPr id="9" name="Shape 7"/>
          <p:cNvSpPr/>
          <p:nvPr/>
        </p:nvSpPr>
        <p:spPr>
          <a:xfrm>
            <a:off x="1043880" y="4141440"/>
            <a:ext cx="5472113" cy="0"/>
          </a:xfrm>
          <a:prstGeom prst="line">
            <a:avLst/>
          </a:prstGeom>
          <a:noFill/>
          <a:ln w="9525">
            <a:solidFill>
              <a:srgbClr val="F8EED9"/>
            </a:solidFill>
            <a:prstDash val="solid"/>
          </a:ln>
        </p:spPr>
      </p:sp>
      <p:sp>
        <p:nvSpPr>
          <p:cNvPr id="10" name="Text 8"/>
          <p:cNvSpPr txBox="1"/>
          <p:nvPr/>
        </p:nvSpPr>
        <p:spPr>
          <a:xfrm>
            <a:off x="1043880" y="4236690"/>
            <a:ext cx="227409"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1</a:t>
            </a:r>
            <a:endParaRPr lang="en-US" sz="1900" dirty="0"/>
          </a:p>
        </p:txBody>
      </p:sp>
      <p:sp>
        <p:nvSpPr>
          <p:cNvPr id="11" name="Text 9"/>
          <p:cNvSpPr txBox="1"/>
          <p:nvPr/>
        </p:nvSpPr>
        <p:spPr>
          <a:xfrm>
            <a:off x="1539180" y="4274790"/>
            <a:ext cx="2014752"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RÁPIDA DE FRIGIDEIRA </a:t>
            </a:r>
            <a:pPr algn="l" indent="0" marL="0">
              <a:buNone/>
            </a:pPr>
            <a:r>
              <a:rPr lang="en-US" sz="870" b="1" spc="87" kern="0" dirty="0">
                <a:solidFill>
                  <a:srgbClr val="F8EED9"/>
                </a:solidFill>
                <a:latin typeface="DM Sans" pitchFamily="34" charset="0"/>
                <a:ea typeface="DM Sans" pitchFamily="34" charset="-122"/>
                <a:cs typeface="DM Sans" pitchFamily="34" charset="-120"/>
              </a:rPr>
              <a:t>17</a:t>
            </a:r>
            <a:endParaRPr lang="en-US" sz="870" dirty="0"/>
          </a:p>
        </p:txBody>
      </p:sp>
      <p:sp>
        <p:nvSpPr>
          <p:cNvPr id="12" name="Text 10"/>
          <p:cNvSpPr txBox="1"/>
          <p:nvPr/>
        </p:nvSpPr>
        <p:spPr>
          <a:xfrm>
            <a:off x="1539180" y="4476452"/>
            <a:ext cx="4543235"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Moqueca expressa de frigideira com banana, leite de coco e pimenta</a:t>
            </a:r>
            <a:endParaRPr lang="en-US" sz="1000" dirty="0"/>
          </a:p>
        </p:txBody>
      </p:sp>
      <p:sp>
        <p:nvSpPr>
          <p:cNvPr id="13" name="Shape 11"/>
          <p:cNvSpPr/>
          <p:nvPr/>
        </p:nvSpPr>
        <p:spPr>
          <a:xfrm>
            <a:off x="1043880" y="4771579"/>
            <a:ext cx="5472113" cy="0"/>
          </a:xfrm>
          <a:prstGeom prst="line">
            <a:avLst/>
          </a:prstGeom>
          <a:noFill/>
          <a:ln w="9525">
            <a:solidFill>
              <a:srgbClr val="F8EED9"/>
            </a:solidFill>
            <a:prstDash val="solid"/>
          </a:ln>
        </p:spPr>
      </p:sp>
      <p:sp>
        <p:nvSpPr>
          <p:cNvPr id="14" name="Text 12"/>
          <p:cNvSpPr txBox="1"/>
          <p:nvPr/>
        </p:nvSpPr>
        <p:spPr>
          <a:xfrm>
            <a:off x="1043880" y="4866829"/>
            <a:ext cx="263426"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2</a:t>
            </a:r>
            <a:endParaRPr lang="en-US" sz="1900" dirty="0"/>
          </a:p>
        </p:txBody>
      </p:sp>
      <p:sp>
        <p:nvSpPr>
          <p:cNvPr id="15" name="Text 13"/>
          <p:cNvSpPr txBox="1"/>
          <p:nvPr/>
        </p:nvSpPr>
        <p:spPr>
          <a:xfrm>
            <a:off x="1539180" y="4904929"/>
            <a:ext cx="2312622"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TEXTURA SURPREENDENTE </a:t>
            </a:r>
            <a:pPr algn="l" indent="0" marL="0">
              <a:buNone/>
            </a:pPr>
            <a:r>
              <a:rPr lang="en-US" sz="870" b="1" spc="87" kern="0" dirty="0">
                <a:solidFill>
                  <a:srgbClr val="F8EED9"/>
                </a:solidFill>
                <a:latin typeface="DM Sans" pitchFamily="34" charset="0"/>
                <a:ea typeface="DM Sans" pitchFamily="34" charset="-122"/>
                <a:cs typeface="DM Sans" pitchFamily="34" charset="-120"/>
              </a:rPr>
              <a:t>19</a:t>
            </a:r>
            <a:endParaRPr lang="en-US" sz="870" dirty="0"/>
          </a:p>
        </p:txBody>
      </p:sp>
      <p:sp>
        <p:nvSpPr>
          <p:cNvPr id="16" name="Text 14"/>
          <p:cNvSpPr txBox="1"/>
          <p:nvPr/>
        </p:nvSpPr>
        <p:spPr>
          <a:xfrm>
            <a:off x="1539180" y="5106591"/>
            <a:ext cx="3630954"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Purê aveludado de banana grelhada com noz-moscada</a:t>
            </a:r>
            <a:endParaRPr lang="en-US" sz="1000" dirty="0"/>
          </a:p>
        </p:txBody>
      </p:sp>
      <p:sp>
        <p:nvSpPr>
          <p:cNvPr id="17" name="Shape 15"/>
          <p:cNvSpPr/>
          <p:nvPr/>
        </p:nvSpPr>
        <p:spPr>
          <a:xfrm>
            <a:off x="1043880" y="5401717"/>
            <a:ext cx="5472113" cy="0"/>
          </a:xfrm>
          <a:prstGeom prst="line">
            <a:avLst/>
          </a:prstGeom>
          <a:noFill/>
          <a:ln w="9525">
            <a:solidFill>
              <a:srgbClr val="F8EED9"/>
            </a:solidFill>
            <a:prstDash val="solid"/>
          </a:ln>
        </p:spPr>
      </p:sp>
      <p:sp>
        <p:nvSpPr>
          <p:cNvPr id="18" name="Shape 16"/>
          <p:cNvSpPr/>
          <p:nvPr/>
        </p:nvSpPr>
        <p:spPr>
          <a:xfrm>
            <a:off x="1043880" y="6041380"/>
            <a:ext cx="5472113" cy="0"/>
          </a:xfrm>
          <a:prstGeom prst="line">
            <a:avLst/>
          </a:prstGeom>
          <a:noFill/>
          <a:ln w="9525">
            <a:solidFill>
              <a:srgbClr val="F8EED9"/>
            </a:solidFill>
            <a:prstDash val="solid"/>
          </a:ln>
        </p:spPr>
      </p:sp>
      <p:sp>
        <p:nvSpPr>
          <p:cNvPr id="19" name="Text 17"/>
          <p:cNvSpPr txBox="1"/>
          <p:nvPr/>
        </p:nvSpPr>
        <p:spPr>
          <a:xfrm>
            <a:off x="1043880" y="5496967"/>
            <a:ext cx="250627"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3</a:t>
            </a:r>
            <a:endParaRPr lang="en-US" sz="1900" dirty="0"/>
          </a:p>
        </p:txBody>
      </p:sp>
      <p:sp>
        <p:nvSpPr>
          <p:cNvPr id="20" name="Text 18"/>
          <p:cNvSpPr txBox="1"/>
          <p:nvPr/>
        </p:nvSpPr>
        <p:spPr>
          <a:xfrm>
            <a:off x="1539180" y="5535067"/>
            <a:ext cx="1933242"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SOBREMESA DE CHEF </a:t>
            </a:r>
            <a:pPr algn="l" indent="0" marL="0">
              <a:buNone/>
            </a:pPr>
            <a:r>
              <a:rPr lang="en-US" sz="870" b="1" spc="87" kern="0" dirty="0">
                <a:solidFill>
                  <a:srgbClr val="F8EED9"/>
                </a:solidFill>
                <a:latin typeface="DM Sans" pitchFamily="34" charset="0"/>
                <a:ea typeface="DM Sans" pitchFamily="34" charset="-122"/>
                <a:cs typeface="DM Sans" pitchFamily="34" charset="-120"/>
              </a:rPr>
              <a:t>21</a:t>
            </a:r>
            <a:endParaRPr lang="en-US" sz="870" dirty="0"/>
          </a:p>
        </p:txBody>
      </p:sp>
      <p:sp>
        <p:nvSpPr>
          <p:cNvPr id="21" name="Text 19"/>
          <p:cNvSpPr txBox="1"/>
          <p:nvPr/>
        </p:nvSpPr>
        <p:spPr>
          <a:xfrm>
            <a:off x="1539180" y="5736729"/>
            <a:ext cx="5470184"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Bananas flambadas no rum ou na cachaça com crosta de açúcar mascavo e canela</a:t>
            </a:r>
            <a:endParaRPr lang="en-US" sz="1000" dirty="0"/>
          </a:p>
        </p:txBody>
      </p:sp>
      <p:sp>
        <p:nvSpPr>
          <p:cNvPr id="22" name="Shape 20"/>
          <p:cNvSpPr/>
          <p:nvPr/>
        </p:nvSpPr>
        <p:spPr>
          <a:xfrm>
            <a:off x="2267992" y="7092107"/>
            <a:ext cx="3023890" cy="3023890"/>
          </a:xfrm>
          <a:prstGeom prst="ellipse">
            <a:avLst/>
          </a:prstGeom>
          <a:solidFill>
            <a:srgbClr val="F8EED9"/>
          </a:solidFill>
          <a:ln/>
        </p:spPr>
      </p:sp>
      <p:pic>
        <p:nvPicPr>
          <p:cNvPr id="23" name="Image 0" descr="/home/user/ebook-receitas/versoes/VERSAO ESTAMPAS/fotos/cap2.jpg">    </p:cNvPr>
          <p:cNvPicPr>
            <a:picLocks noChangeAspect="1"/>
          </p:cNvPicPr>
          <p:nvPr/>
        </p:nvPicPr>
        <p:blipFill>
          <a:blip r:embed="rId2"/>
          <a:srcRect l="0" r="0" t="0" b="0"/>
          <a:stretch/>
        </p:blipFill>
        <p:spPr>
          <a:xfrm>
            <a:off x="2344192" y="7168307"/>
            <a:ext cx="2871490" cy="2871490"/>
          </a:xfrm>
          <a:prstGeom prst="ellipse">
            <a:avLst/>
          </a:prstGeom>
        </p:spPr>
      </p:pic>
      <p:sp>
        <p:nvSpPr>
          <p:cNvPr id="24" name="Shape 21"/>
          <p:cNvSpPr/>
          <p:nvPr/>
        </p:nvSpPr>
        <p:spPr>
          <a:xfrm>
            <a:off x="647998" y="323999"/>
            <a:ext cx="1200001" cy="190500"/>
          </a:xfrm>
          <a:prstGeom prst="ellipse">
            <a:avLst/>
          </a:prstGeom>
          <a:solidFill>
            <a:srgbClr val="1E4A2B"/>
          </a:solidFill>
          <a:ln/>
        </p:spPr>
      </p:sp>
      <p:sp>
        <p:nvSpPr>
          <p:cNvPr id="25" name="Text 22"/>
          <p:cNvSpPr txBox="1"/>
          <p:nvPr/>
        </p:nvSpPr>
        <p:spPr>
          <a:xfrm>
            <a:off x="733723" y="352574"/>
            <a:ext cx="1151977" cy="142875"/>
          </a:xfrm>
          <a:prstGeom prst="rect">
            <a:avLst/>
          </a:prstGeom>
          <a:noFill/>
          <a:ln/>
        </p:spPr>
        <p:txBody>
          <a:bodyPr wrap="square" lIns="0" tIns="0" rIns="0" bIns="0" rtlCol="0" anchor="ctr"/>
          <a:lstStyle/>
          <a:p>
            <a:pPr algn="l" indent="0" marL="0">
              <a:buNone/>
            </a:pPr>
            <a:r>
              <a:rPr lang="en-US" sz="750" spc="105" kern="0" dirty="0">
                <a:solidFill>
                  <a:srgbClr val="F8EED9"/>
                </a:solidFill>
                <a:latin typeface="DM Sans Medium" pitchFamily="34" charset="0"/>
                <a:ea typeface="DM Sans Medium" pitchFamily="34" charset="-122"/>
                <a:cs typeface="DM Sans Medium" pitchFamily="34" charset="-120"/>
              </a:rPr>
              <a:t>COZINHA MAMEDE</a:t>
            </a:r>
            <a:endParaRPr lang="en-US" sz="750" dirty="0"/>
          </a:p>
        </p:txBody>
      </p:sp>
      <p:sp>
        <p:nvSpPr>
          <p:cNvPr id="26" name="Shape 23"/>
          <p:cNvSpPr/>
          <p:nvPr/>
        </p:nvSpPr>
        <p:spPr>
          <a:xfrm>
            <a:off x="6619875" y="323999"/>
            <a:ext cx="292001" cy="190500"/>
          </a:xfrm>
          <a:prstGeom prst="ellipse">
            <a:avLst/>
          </a:prstGeom>
          <a:solidFill>
            <a:srgbClr val="1E4A2B"/>
          </a:solidFill>
          <a:ln/>
        </p:spPr>
      </p:sp>
      <p:sp>
        <p:nvSpPr>
          <p:cNvPr id="27" name="Text 24"/>
          <p:cNvSpPr txBox="1"/>
          <p:nvPr/>
        </p:nvSpPr>
        <p:spPr>
          <a:xfrm>
            <a:off x="6705600" y="352574"/>
            <a:ext cx="234851" cy="142875"/>
          </a:xfrm>
          <a:prstGeom prst="rect">
            <a:avLst/>
          </a:prstGeom>
          <a:noFill/>
          <a:ln/>
        </p:spPr>
        <p:txBody>
          <a:bodyPr wrap="square" lIns="0" tIns="0" rIns="0" bIns="0" rtlCol="0" anchor="ctr"/>
          <a:lstStyle/>
          <a:p>
            <a:pPr algn="l" indent="0" marL="0">
              <a:buNone/>
            </a:pPr>
            <a:r>
              <a:rPr lang="en-US" sz="750" b="1" spc="105" kern="0" dirty="0">
                <a:solidFill>
                  <a:srgbClr val="E5A82E"/>
                </a:solidFill>
                <a:latin typeface="DM Sans" pitchFamily="34" charset="0"/>
                <a:ea typeface="DM Sans" pitchFamily="34" charset="-122"/>
                <a:cs typeface="DM Sans" pitchFamily="34" charset="-120"/>
              </a:rPr>
              <a:t>15</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770459"/>
            <a:ext cx="6696075" cy="7150894"/>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156817"/>
            <a:ext cx="1634704"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CAPÍTULO 02 · BANANA</a:t>
            </a:r>
            <a:endParaRPr lang="en-US" sz="750" dirty="0"/>
          </a:p>
        </p:txBody>
      </p:sp>
      <p:sp>
        <p:nvSpPr>
          <p:cNvPr id="4" name="Text 2"/>
          <p:cNvSpPr txBox="1"/>
          <p:nvPr/>
        </p:nvSpPr>
        <p:spPr>
          <a:xfrm>
            <a:off x="863798" y="2337162"/>
            <a:ext cx="2579656"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 INGREDIENTE</a:t>
            </a:r>
            <a:endParaRPr lang="en-US" sz="2200" dirty="0"/>
          </a:p>
        </p:txBody>
      </p:sp>
      <p:sp>
        <p:nvSpPr>
          <p:cNvPr id="5" name="Text 3"/>
          <p:cNvSpPr txBox="1"/>
          <p:nvPr/>
        </p:nvSpPr>
        <p:spPr>
          <a:xfrm>
            <a:off x="863798" y="2850654"/>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 banana-da-terra é uma banana de cozinhar. Crua, ela é dura e pouco agradável; no fogo, vira outra coisa: macia, caramelizada, cheia de sabor.</a:t>
            </a:r>
            <a:endParaRPr lang="en-US" sz="1000" dirty="0"/>
          </a:p>
        </p:txBody>
      </p:sp>
      <p:sp>
        <p:nvSpPr>
          <p:cNvPr id="6" name="Text 4"/>
          <p:cNvSpPr txBox="1"/>
          <p:nvPr/>
        </p:nvSpPr>
        <p:spPr>
          <a:xfrm>
            <a:off x="863798" y="3326606"/>
            <a:ext cx="583227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 segredo está no estágio de maturação. Verde, ela é rica em amido e se comporta quase como uma batata. Amarela com pintinhas pretas, fica no ponto mais versátil: doce, mas firme. Com a casca quase toda preta, está doce e macia, perfeita para purês e sobremesas.</a:t>
            </a:r>
            <a:endParaRPr lang="en-US" sz="1000" dirty="0"/>
          </a:p>
        </p:txBody>
      </p:sp>
      <p:sp>
        <p:nvSpPr>
          <p:cNvPr id="7" name="Text 5"/>
          <p:cNvSpPr txBox="1"/>
          <p:nvPr/>
        </p:nvSpPr>
        <p:spPr>
          <a:xfrm>
            <a:off x="863798" y="3992910"/>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Aprender a ler a casca é aprender a escolher o que fazer com ela. E, no fim, a própria casca ainda vira recheio.</a:t>
            </a:r>
            <a:endParaRPr lang="en-US" sz="1000" dirty="0"/>
          </a:p>
        </p:txBody>
      </p:sp>
      <p:sp>
        <p:nvSpPr>
          <p:cNvPr id="8" name="Text 6"/>
          <p:cNvSpPr txBox="1"/>
          <p:nvPr/>
        </p:nvSpPr>
        <p:spPr>
          <a:xfrm>
            <a:off x="863798" y="4564112"/>
            <a:ext cx="205209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ANTES DA PANELA</a:t>
            </a:r>
            <a:endParaRPr lang="en-US" sz="1500" dirty="0"/>
          </a:p>
        </p:txBody>
      </p:sp>
      <p:sp>
        <p:nvSpPr>
          <p:cNvPr id="9" name="Text 7"/>
          <p:cNvSpPr txBox="1"/>
          <p:nvPr/>
        </p:nvSpPr>
        <p:spPr>
          <a:xfrm>
            <a:off x="863798" y="4887962"/>
            <a:ext cx="166237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NA HORA DE ESCOLHER</a:t>
            </a:r>
            <a:endParaRPr lang="en-US" sz="870" dirty="0"/>
          </a:p>
        </p:txBody>
      </p:sp>
      <p:sp>
        <p:nvSpPr>
          <p:cNvPr id="10" name="Shape 8"/>
          <p:cNvSpPr/>
          <p:nvPr/>
        </p:nvSpPr>
        <p:spPr>
          <a:xfrm>
            <a:off x="873323" y="5172807"/>
            <a:ext cx="57150" cy="57150"/>
          </a:xfrm>
          <a:prstGeom prst="ellipse">
            <a:avLst/>
          </a:prstGeom>
          <a:solidFill>
            <a:srgbClr val="E5A82E"/>
          </a:solidFill>
          <a:ln/>
        </p:spPr>
      </p:sp>
      <p:sp>
        <p:nvSpPr>
          <p:cNvPr id="11" name="Text 9"/>
          <p:cNvSpPr txBox="1"/>
          <p:nvPr/>
        </p:nvSpPr>
        <p:spPr>
          <a:xfrm>
            <a:off x="1016198" y="5108674"/>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Escolha pelo uso: amarela com pintas para as receitas deste capítulo; mais verde se for fritar em chips; bem madura para doces.</a:t>
            </a:r>
            <a:endParaRPr lang="en-US" sz="1000" dirty="0"/>
          </a:p>
        </p:txBody>
      </p:sp>
      <p:sp>
        <p:nvSpPr>
          <p:cNvPr id="12" name="Shape 10"/>
          <p:cNvSpPr/>
          <p:nvPr/>
        </p:nvSpPr>
        <p:spPr>
          <a:xfrm>
            <a:off x="873323" y="5591610"/>
            <a:ext cx="57150" cy="57150"/>
          </a:xfrm>
          <a:prstGeom prst="ellipse">
            <a:avLst/>
          </a:prstGeom>
          <a:solidFill>
            <a:srgbClr val="E5A82E"/>
          </a:solidFill>
          <a:ln/>
        </p:spPr>
      </p:sp>
      <p:sp>
        <p:nvSpPr>
          <p:cNvPr id="13" name="Text 11"/>
          <p:cNvSpPr txBox="1"/>
          <p:nvPr/>
        </p:nvSpPr>
        <p:spPr>
          <a:xfrm>
            <a:off x="1016198" y="5527477"/>
            <a:ext cx="374630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 fruta deve estar firme ao toque, sem partes afundadas.</a:t>
            </a:r>
            <a:endParaRPr lang="en-US" sz="1000" dirty="0"/>
          </a:p>
        </p:txBody>
      </p:sp>
      <p:sp>
        <p:nvSpPr>
          <p:cNvPr id="14" name="Shape 12"/>
          <p:cNvSpPr/>
          <p:nvPr/>
        </p:nvSpPr>
        <p:spPr>
          <a:xfrm>
            <a:off x="873323" y="5820061"/>
            <a:ext cx="57150" cy="57150"/>
          </a:xfrm>
          <a:prstGeom prst="ellipse">
            <a:avLst/>
          </a:prstGeom>
          <a:solidFill>
            <a:srgbClr val="E5A82E"/>
          </a:solidFill>
          <a:ln/>
        </p:spPr>
      </p:sp>
      <p:sp>
        <p:nvSpPr>
          <p:cNvPr id="15" name="Text 13"/>
          <p:cNvSpPr txBox="1"/>
          <p:nvPr/>
        </p:nvSpPr>
        <p:spPr>
          <a:xfrm>
            <a:off x="1016198" y="5755928"/>
            <a:ext cx="444655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Evite pontas com bolor ou casca rachada, por onde a fruta resseca.</a:t>
            </a:r>
            <a:endParaRPr lang="en-US" sz="1000" dirty="0"/>
          </a:p>
        </p:txBody>
      </p:sp>
      <p:sp>
        <p:nvSpPr>
          <p:cNvPr id="16" name="Text 14"/>
          <p:cNvSpPr txBox="1"/>
          <p:nvPr/>
        </p:nvSpPr>
        <p:spPr>
          <a:xfrm>
            <a:off x="863798" y="6079629"/>
            <a:ext cx="116947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COMO GUARDAR</a:t>
            </a:r>
            <a:endParaRPr lang="en-US" sz="870" dirty="0"/>
          </a:p>
        </p:txBody>
      </p:sp>
      <p:sp>
        <p:nvSpPr>
          <p:cNvPr id="17" name="Shape 15"/>
          <p:cNvSpPr/>
          <p:nvPr/>
        </p:nvSpPr>
        <p:spPr>
          <a:xfrm>
            <a:off x="873323" y="6364474"/>
            <a:ext cx="57150" cy="57150"/>
          </a:xfrm>
          <a:prstGeom prst="ellipse">
            <a:avLst/>
          </a:prstGeom>
          <a:solidFill>
            <a:srgbClr val="E5A82E"/>
          </a:solidFill>
          <a:ln/>
        </p:spPr>
      </p:sp>
      <p:sp>
        <p:nvSpPr>
          <p:cNvPr id="18" name="Text 16"/>
          <p:cNvSpPr txBox="1"/>
          <p:nvPr/>
        </p:nvSpPr>
        <p:spPr>
          <a:xfrm>
            <a:off x="1016198" y="6300341"/>
            <a:ext cx="451989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Fora da geladeira, de preferência penduradas, longe de outras frutas.</a:t>
            </a:r>
            <a:endParaRPr lang="en-US" sz="1000" dirty="0"/>
          </a:p>
        </p:txBody>
      </p:sp>
      <p:sp>
        <p:nvSpPr>
          <p:cNvPr id="19" name="Shape 17"/>
          <p:cNvSpPr/>
          <p:nvPr/>
        </p:nvSpPr>
        <p:spPr>
          <a:xfrm>
            <a:off x="873323" y="6592925"/>
            <a:ext cx="57150" cy="57150"/>
          </a:xfrm>
          <a:prstGeom prst="ellipse">
            <a:avLst/>
          </a:prstGeom>
          <a:solidFill>
            <a:srgbClr val="E5A82E"/>
          </a:solidFill>
          <a:ln/>
        </p:spPr>
      </p:sp>
      <p:sp>
        <p:nvSpPr>
          <p:cNvPr id="20" name="Text 18"/>
          <p:cNvSpPr txBox="1"/>
          <p:nvPr/>
        </p:nvSpPr>
        <p:spPr>
          <a:xfrm>
            <a:off x="1016198" y="6528792"/>
            <a:ext cx="435454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Para amadurecer mais rápido, guarde num saco de papel fechado.</a:t>
            </a:r>
            <a:endParaRPr lang="en-US" sz="1000" dirty="0"/>
          </a:p>
        </p:txBody>
      </p:sp>
      <p:sp>
        <p:nvSpPr>
          <p:cNvPr id="21" name="Shape 19"/>
          <p:cNvSpPr/>
          <p:nvPr/>
        </p:nvSpPr>
        <p:spPr>
          <a:xfrm>
            <a:off x="873323" y="6821377"/>
            <a:ext cx="57150" cy="57150"/>
          </a:xfrm>
          <a:prstGeom prst="ellipse">
            <a:avLst/>
          </a:prstGeom>
          <a:solidFill>
            <a:srgbClr val="E5A82E"/>
          </a:solidFill>
          <a:ln/>
        </p:spPr>
      </p:sp>
      <p:sp>
        <p:nvSpPr>
          <p:cNvPr id="22" name="Text 20"/>
          <p:cNvSpPr txBox="1"/>
          <p:nvPr/>
        </p:nvSpPr>
        <p:spPr>
          <a:xfrm>
            <a:off x="1016198" y="6757243"/>
            <a:ext cx="587956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Para frear o amadurecimento, leve à geladeira: a casca escurece, mas a polpa se mantém.</a:t>
            </a:r>
            <a:endParaRPr lang="en-US" sz="1000" dirty="0"/>
          </a:p>
        </p:txBody>
      </p:sp>
      <p:sp>
        <p:nvSpPr>
          <p:cNvPr id="23" name="Shape 21"/>
          <p:cNvSpPr/>
          <p:nvPr/>
        </p:nvSpPr>
        <p:spPr>
          <a:xfrm>
            <a:off x="873323" y="7049828"/>
            <a:ext cx="57150" cy="57150"/>
          </a:xfrm>
          <a:prstGeom prst="ellipse">
            <a:avLst/>
          </a:prstGeom>
          <a:solidFill>
            <a:srgbClr val="E5A82E"/>
          </a:solidFill>
          <a:ln/>
        </p:spPr>
      </p:sp>
      <p:sp>
        <p:nvSpPr>
          <p:cNvPr id="24" name="Text 22"/>
          <p:cNvSpPr txBox="1"/>
          <p:nvPr/>
        </p:nvSpPr>
        <p:spPr>
          <a:xfrm>
            <a:off x="1016198" y="6985695"/>
            <a:ext cx="53213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Maduras demais? Descasque, corte e congele em saco fechado por até 3 meses.</a:t>
            </a:r>
            <a:endParaRPr lang="en-US" sz="1000" dirty="0"/>
          </a:p>
        </p:txBody>
      </p:sp>
      <p:sp>
        <p:nvSpPr>
          <p:cNvPr id="25" name="Text 23"/>
          <p:cNvSpPr txBox="1"/>
          <p:nvPr/>
        </p:nvSpPr>
        <p:spPr>
          <a:xfrm>
            <a:off x="863798" y="7309396"/>
            <a:ext cx="172704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PRÉ-PREPARO E CORTES</a:t>
            </a:r>
            <a:endParaRPr lang="en-US" sz="870" dirty="0"/>
          </a:p>
        </p:txBody>
      </p:sp>
      <p:sp>
        <p:nvSpPr>
          <p:cNvPr id="26" name="Shape 24"/>
          <p:cNvSpPr/>
          <p:nvPr/>
        </p:nvSpPr>
        <p:spPr>
          <a:xfrm>
            <a:off x="873323" y="7594241"/>
            <a:ext cx="57150" cy="57150"/>
          </a:xfrm>
          <a:prstGeom prst="ellipse">
            <a:avLst/>
          </a:prstGeom>
          <a:solidFill>
            <a:srgbClr val="E5A82E"/>
          </a:solidFill>
          <a:ln/>
        </p:spPr>
      </p:sp>
      <p:sp>
        <p:nvSpPr>
          <p:cNvPr id="27" name="Text 25"/>
          <p:cNvSpPr txBox="1"/>
          <p:nvPr/>
        </p:nvSpPr>
        <p:spPr>
          <a:xfrm>
            <a:off x="1016198" y="7530108"/>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Para descascar a banana-da-terra: corte as duas pontas, faça um talho raso ao longo da casca e solte-a com o polegar.</a:t>
            </a:r>
            <a:endParaRPr lang="en-US" sz="1000" dirty="0"/>
          </a:p>
        </p:txBody>
      </p:sp>
      <p:sp>
        <p:nvSpPr>
          <p:cNvPr id="28" name="Shape 26"/>
          <p:cNvSpPr/>
          <p:nvPr/>
        </p:nvSpPr>
        <p:spPr>
          <a:xfrm>
            <a:off x="873323" y="8013043"/>
            <a:ext cx="57150" cy="57150"/>
          </a:xfrm>
          <a:prstGeom prst="ellipse">
            <a:avLst/>
          </a:prstGeom>
          <a:solidFill>
            <a:srgbClr val="E5A82E"/>
          </a:solidFill>
          <a:ln/>
        </p:spPr>
      </p:sp>
      <p:sp>
        <p:nvSpPr>
          <p:cNvPr id="29" name="Text 27"/>
          <p:cNvSpPr txBox="1"/>
          <p:nvPr/>
        </p:nvSpPr>
        <p:spPr>
          <a:xfrm>
            <a:off x="1016198" y="7948910"/>
            <a:ext cx="412468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Rodelas grossas em diagonal (2 cm) para frigideira e moqueca.</a:t>
            </a:r>
            <a:endParaRPr lang="en-US" sz="1000" dirty="0"/>
          </a:p>
        </p:txBody>
      </p:sp>
      <p:sp>
        <p:nvSpPr>
          <p:cNvPr id="30" name="Shape 28"/>
          <p:cNvSpPr/>
          <p:nvPr/>
        </p:nvSpPr>
        <p:spPr>
          <a:xfrm>
            <a:off x="873323" y="8241494"/>
            <a:ext cx="57150" cy="57150"/>
          </a:xfrm>
          <a:prstGeom prst="ellipse">
            <a:avLst/>
          </a:prstGeom>
          <a:solidFill>
            <a:srgbClr val="E5A82E"/>
          </a:solidFill>
          <a:ln/>
        </p:spPr>
      </p:sp>
      <p:sp>
        <p:nvSpPr>
          <p:cNvPr id="31" name="Text 29"/>
          <p:cNvSpPr txBox="1"/>
          <p:nvPr/>
        </p:nvSpPr>
        <p:spPr>
          <a:xfrm>
            <a:off x="1016198" y="8177361"/>
            <a:ext cx="318756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Lâminas no comprimento para grelhar e flambar.</a:t>
            </a:r>
            <a:endParaRPr lang="en-US" sz="1000" dirty="0"/>
          </a:p>
        </p:txBody>
      </p:sp>
      <p:sp>
        <p:nvSpPr>
          <p:cNvPr id="32" name="Text 30"/>
          <p:cNvSpPr txBox="1"/>
          <p:nvPr/>
        </p:nvSpPr>
        <p:spPr>
          <a:xfrm>
            <a:off x="863798" y="855508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33" name="Text 31"/>
          <p:cNvSpPr txBox="1"/>
          <p:nvPr/>
        </p:nvSpPr>
        <p:spPr>
          <a:xfrm>
            <a:off x="6574482" y="8555087"/>
            <a:ext cx="23589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16</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7093595"/>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555254"/>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01</a:t>
            </a:r>
            <a:endParaRPr lang="en-US" sz="750" dirty="0"/>
          </a:p>
        </p:txBody>
      </p:sp>
      <p:sp>
        <p:nvSpPr>
          <p:cNvPr id="4" name="Text 2"/>
          <p:cNvSpPr txBox="1"/>
          <p:nvPr/>
        </p:nvSpPr>
        <p:spPr>
          <a:xfrm>
            <a:off x="1043880" y="1858529"/>
            <a:ext cx="2515939"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MOQUECA DE BANANA</a:t>
            </a:r>
            <a:endParaRPr lang="en-US" sz="3200" dirty="0"/>
          </a:p>
        </p:txBody>
      </p:sp>
      <p:sp>
        <p:nvSpPr>
          <p:cNvPr id="5" name="Text 3"/>
          <p:cNvSpPr txBox="1"/>
          <p:nvPr/>
        </p:nvSpPr>
        <p:spPr>
          <a:xfrm>
            <a:off x="1043880" y="2879527"/>
            <a:ext cx="2515939"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Moqueca expressa de frigideira com banana, leite de coco e pimenta</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2-1.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3345507"/>
          </a:xfrm>
          <a:prstGeom prst="roundRect">
            <a:avLst>
              <a:gd name="adj" fmla="val 1471"/>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452723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bananas-da-terra maduras e firmes, em rodelas diagonais de 2 cm</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24491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azeite de dendê</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129432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em rodelas</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193390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pimentão vermelho em tiras</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143351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tomates em rodelas</a:t>
            </a:r>
            <a:endParaRPr lang="en-US" sz="1000" dirty="0"/>
          </a:p>
        </p:txBody>
      </p:sp>
      <p:sp>
        <p:nvSpPr>
          <p:cNvPr id="20" name="Shape 17"/>
          <p:cNvSpPr/>
          <p:nvPr/>
        </p:nvSpPr>
        <p:spPr>
          <a:xfrm>
            <a:off x="1403747" y="5891221"/>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5860107"/>
            <a:ext cx="166237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dentes de alho picados</a:t>
            </a:r>
            <a:endParaRPr lang="en-US" sz="1000" dirty="0"/>
          </a:p>
        </p:txBody>
      </p:sp>
      <p:sp>
        <p:nvSpPr>
          <p:cNvPr id="22" name="Shape 19"/>
          <p:cNvSpPr/>
          <p:nvPr/>
        </p:nvSpPr>
        <p:spPr>
          <a:xfrm>
            <a:off x="1403747" y="6110148"/>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079034"/>
            <a:ext cx="157469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200 ml de leite de coco</a:t>
            </a:r>
            <a:endParaRPr lang="en-US" sz="1000" dirty="0"/>
          </a:p>
        </p:txBody>
      </p:sp>
      <p:sp>
        <p:nvSpPr>
          <p:cNvPr id="24" name="Shape 21"/>
          <p:cNvSpPr/>
          <p:nvPr/>
        </p:nvSpPr>
        <p:spPr>
          <a:xfrm>
            <a:off x="1403747" y="6329074"/>
            <a:ext cx="114300" cy="114300"/>
          </a:xfrm>
          <a:prstGeom prst="roundRect">
            <a:avLst>
              <a:gd name="adj" fmla="val 166667"/>
            </a:avLst>
          </a:prstGeom>
          <a:ln w="9525">
            <a:solidFill>
              <a:srgbClr val="C8501F"/>
            </a:solidFill>
            <a:prstDash val="solid"/>
          </a:ln>
        </p:spPr>
      </p:sp>
      <p:sp>
        <p:nvSpPr>
          <p:cNvPr id="25" name="Text 22"/>
          <p:cNvSpPr txBox="1"/>
          <p:nvPr/>
        </p:nvSpPr>
        <p:spPr>
          <a:xfrm>
            <a:off x="1594247" y="6297960"/>
            <a:ext cx="483277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pimenta dedo-de-moça (ou pimenta-de-cheiro) picada, sem sementes</a:t>
            </a:r>
            <a:endParaRPr lang="en-US" sz="1000" dirty="0"/>
          </a:p>
        </p:txBody>
      </p:sp>
      <p:sp>
        <p:nvSpPr>
          <p:cNvPr id="26" name="Shape 23"/>
          <p:cNvSpPr/>
          <p:nvPr/>
        </p:nvSpPr>
        <p:spPr>
          <a:xfrm>
            <a:off x="1403747" y="6548000"/>
            <a:ext cx="114300" cy="114300"/>
          </a:xfrm>
          <a:prstGeom prst="roundRect">
            <a:avLst>
              <a:gd name="adj" fmla="val 166667"/>
            </a:avLst>
          </a:prstGeom>
          <a:ln w="9525">
            <a:solidFill>
              <a:srgbClr val="C8501F"/>
            </a:solidFill>
            <a:prstDash val="solid"/>
          </a:ln>
        </p:spPr>
      </p:sp>
      <p:sp>
        <p:nvSpPr>
          <p:cNvPr id="27" name="Text 24"/>
          <p:cNvSpPr txBox="1"/>
          <p:nvPr/>
        </p:nvSpPr>
        <p:spPr>
          <a:xfrm>
            <a:off x="1594247" y="6516886"/>
            <a:ext cx="107313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de ½ limão</a:t>
            </a:r>
            <a:endParaRPr lang="en-US" sz="1000" dirty="0"/>
          </a:p>
        </p:txBody>
      </p:sp>
      <p:sp>
        <p:nvSpPr>
          <p:cNvPr id="28" name="Shape 25"/>
          <p:cNvSpPr/>
          <p:nvPr/>
        </p:nvSpPr>
        <p:spPr>
          <a:xfrm>
            <a:off x="1403747" y="6766926"/>
            <a:ext cx="114300" cy="114300"/>
          </a:xfrm>
          <a:prstGeom prst="roundRect">
            <a:avLst>
              <a:gd name="adj" fmla="val 166667"/>
            </a:avLst>
          </a:prstGeom>
          <a:ln w="9525">
            <a:solidFill>
              <a:srgbClr val="C8501F"/>
            </a:solidFill>
            <a:prstDash val="solid"/>
          </a:ln>
        </p:spPr>
      </p:sp>
      <p:sp>
        <p:nvSpPr>
          <p:cNvPr id="29" name="Text 26"/>
          <p:cNvSpPr txBox="1"/>
          <p:nvPr/>
        </p:nvSpPr>
        <p:spPr>
          <a:xfrm>
            <a:off x="1594247" y="6735812"/>
            <a:ext cx="259832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Coentro (ou cheiro-verde) e sal a gosto</a:t>
            </a:r>
            <a:endParaRPr lang="en-US" sz="1000" dirty="0"/>
          </a:p>
        </p:txBody>
      </p:sp>
      <p:sp>
        <p:nvSpPr>
          <p:cNvPr id="30" name="Text 27"/>
          <p:cNvSpPr txBox="1"/>
          <p:nvPr/>
        </p:nvSpPr>
        <p:spPr>
          <a:xfrm>
            <a:off x="1403747" y="7011888"/>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697260"/>
            <a:ext cx="6696075" cy="929729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083618"/>
            <a:ext cx="2154936"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01 · BANANA</a:t>
            </a:r>
            <a:endParaRPr lang="en-US" sz="750" dirty="0"/>
          </a:p>
        </p:txBody>
      </p:sp>
      <p:sp>
        <p:nvSpPr>
          <p:cNvPr id="4" name="Text 2"/>
          <p:cNvSpPr txBox="1"/>
          <p:nvPr/>
        </p:nvSpPr>
        <p:spPr>
          <a:xfrm>
            <a:off x="863798" y="1275768"/>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MOQUECA EXPRESSA DE FRIGIDEIRA COM BANANA, LEITE DE COCO E PIMENTA</a:t>
            </a:r>
            <a:endParaRPr lang="en-US" sz="2200" dirty="0"/>
          </a:p>
        </p:txBody>
      </p:sp>
      <p:sp>
        <p:nvSpPr>
          <p:cNvPr id="5" name="Text 3"/>
          <p:cNvSpPr txBox="1"/>
          <p:nvPr/>
        </p:nvSpPr>
        <p:spPr>
          <a:xfrm>
            <a:off x="863798" y="2317403"/>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RÁPIDA DE FRIGIDEIRA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(sem peixe, mas cheia de sabor)</a:t>
            </a:r>
            <a:endParaRPr lang="en-US" sz="800" dirty="0"/>
          </a:p>
        </p:txBody>
      </p:sp>
      <p:sp>
        <p:nvSpPr>
          <p:cNvPr id="6" name="Shape 4"/>
          <p:cNvSpPr/>
          <p:nvPr/>
        </p:nvSpPr>
        <p:spPr>
          <a:xfrm>
            <a:off x="863798" y="2592288"/>
            <a:ext cx="1893243" cy="422523"/>
          </a:xfrm>
          <a:prstGeom prst="roundRect">
            <a:avLst>
              <a:gd name="adj" fmla="val 55317"/>
            </a:avLst>
          </a:prstGeom>
          <a:solidFill>
            <a:srgbClr val="F8EED9"/>
          </a:solidFill>
          <a:ln/>
        </p:spPr>
      </p:sp>
      <p:sp>
        <p:nvSpPr>
          <p:cNvPr id="7" name="Text 5"/>
          <p:cNvSpPr txBox="1"/>
          <p:nvPr/>
        </p:nvSpPr>
        <p:spPr>
          <a:xfrm>
            <a:off x="968573" y="2658963"/>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783235"/>
            <a:ext cx="4975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10 min</a:t>
            </a:r>
            <a:endParaRPr lang="en-US" sz="1000" dirty="0"/>
          </a:p>
        </p:txBody>
      </p:sp>
      <p:sp>
        <p:nvSpPr>
          <p:cNvPr id="9" name="Shape 7"/>
          <p:cNvSpPr/>
          <p:nvPr/>
        </p:nvSpPr>
        <p:spPr>
          <a:xfrm>
            <a:off x="2833241" y="2592288"/>
            <a:ext cx="1893243" cy="422523"/>
          </a:xfrm>
          <a:prstGeom prst="roundRect">
            <a:avLst>
              <a:gd name="adj" fmla="val 55317"/>
            </a:avLst>
          </a:prstGeom>
          <a:solidFill>
            <a:srgbClr val="F8EED9"/>
          </a:solidFill>
          <a:ln/>
        </p:spPr>
      </p:sp>
      <p:sp>
        <p:nvSpPr>
          <p:cNvPr id="10" name="Text 8"/>
          <p:cNvSpPr txBox="1"/>
          <p:nvPr/>
        </p:nvSpPr>
        <p:spPr>
          <a:xfrm>
            <a:off x="2938016" y="2658963"/>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783235"/>
            <a:ext cx="5280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20 min</a:t>
            </a:r>
            <a:endParaRPr lang="en-US" sz="1000" dirty="0"/>
          </a:p>
        </p:txBody>
      </p:sp>
      <p:sp>
        <p:nvSpPr>
          <p:cNvPr id="12" name="Shape 10"/>
          <p:cNvSpPr/>
          <p:nvPr/>
        </p:nvSpPr>
        <p:spPr>
          <a:xfrm>
            <a:off x="4802684" y="2592288"/>
            <a:ext cx="1893243" cy="422523"/>
          </a:xfrm>
          <a:prstGeom prst="roundRect">
            <a:avLst>
              <a:gd name="adj" fmla="val 55317"/>
            </a:avLst>
          </a:prstGeom>
          <a:solidFill>
            <a:srgbClr val="F8EED9"/>
          </a:solidFill>
          <a:ln/>
        </p:spPr>
      </p:sp>
      <p:sp>
        <p:nvSpPr>
          <p:cNvPr id="13" name="Text 11"/>
          <p:cNvSpPr txBox="1"/>
          <p:nvPr/>
        </p:nvSpPr>
        <p:spPr>
          <a:xfrm>
            <a:off x="4907459" y="2658963"/>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783235"/>
            <a:ext cx="71378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3 porções</a:t>
            </a:r>
            <a:endParaRPr lang="en-US" sz="1000" dirty="0"/>
          </a:p>
        </p:txBody>
      </p:sp>
      <p:sp>
        <p:nvSpPr>
          <p:cNvPr id="15" name="Shape 13"/>
          <p:cNvSpPr/>
          <p:nvPr/>
        </p:nvSpPr>
        <p:spPr>
          <a:xfrm>
            <a:off x="863798" y="3148161"/>
            <a:ext cx="5832277" cy="2979539"/>
          </a:xfrm>
          <a:prstGeom prst="roundRect">
            <a:avLst>
              <a:gd name="adj" fmla="val 1483"/>
            </a:avLst>
          </a:prstGeom>
          <a:solidFill>
            <a:srgbClr val="FBF4E4"/>
          </a:solidFill>
          <a:ln w="9525">
            <a:solidFill>
              <a:srgbClr val="EADFC6"/>
            </a:solidFill>
            <a:prstDash val="solid"/>
          </a:ln>
        </p:spPr>
      </p:sp>
      <p:sp>
        <p:nvSpPr>
          <p:cNvPr id="16" name="Text 14"/>
          <p:cNvSpPr txBox="1"/>
          <p:nvPr/>
        </p:nvSpPr>
        <p:spPr>
          <a:xfrm>
            <a:off x="1006673" y="3243411"/>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579325"/>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548211"/>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3 bananas-da-terra maduras e firmes, em rodelas diagonais de 2 cm</a:t>
            </a:r>
            <a:endParaRPr lang="en-US" sz="1000" dirty="0"/>
          </a:p>
        </p:txBody>
      </p:sp>
      <p:sp>
        <p:nvSpPr>
          <p:cNvPr id="19" name="Shape 17"/>
          <p:cNvSpPr/>
          <p:nvPr/>
        </p:nvSpPr>
        <p:spPr>
          <a:xfrm>
            <a:off x="1006673" y="3988603"/>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3957489"/>
            <a:ext cx="24491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azeite de dendê</a:t>
            </a:r>
            <a:endParaRPr lang="en-US" sz="1000" dirty="0"/>
          </a:p>
        </p:txBody>
      </p:sp>
      <p:sp>
        <p:nvSpPr>
          <p:cNvPr id="21" name="Shape 19"/>
          <p:cNvSpPr/>
          <p:nvPr/>
        </p:nvSpPr>
        <p:spPr>
          <a:xfrm>
            <a:off x="1006673" y="4207529"/>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176415"/>
            <a:ext cx="129432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em rodelas</a:t>
            </a:r>
            <a:endParaRPr lang="en-US" sz="1000" dirty="0"/>
          </a:p>
        </p:txBody>
      </p:sp>
      <p:sp>
        <p:nvSpPr>
          <p:cNvPr id="23" name="Shape 21"/>
          <p:cNvSpPr/>
          <p:nvPr/>
        </p:nvSpPr>
        <p:spPr>
          <a:xfrm>
            <a:off x="1006673" y="4426455"/>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395341"/>
            <a:ext cx="193390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pimentão vermelho em tiras</a:t>
            </a:r>
            <a:endParaRPr lang="en-US" sz="1000" dirty="0"/>
          </a:p>
        </p:txBody>
      </p:sp>
      <p:sp>
        <p:nvSpPr>
          <p:cNvPr id="25" name="Shape 23"/>
          <p:cNvSpPr/>
          <p:nvPr/>
        </p:nvSpPr>
        <p:spPr>
          <a:xfrm>
            <a:off x="1006673" y="4645381"/>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614267"/>
            <a:ext cx="143351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tomates em rodelas</a:t>
            </a:r>
            <a:endParaRPr lang="en-US" sz="1000" dirty="0"/>
          </a:p>
        </p:txBody>
      </p:sp>
      <p:sp>
        <p:nvSpPr>
          <p:cNvPr id="27" name="Shape 25"/>
          <p:cNvSpPr/>
          <p:nvPr/>
        </p:nvSpPr>
        <p:spPr>
          <a:xfrm>
            <a:off x="1006673" y="4864307"/>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4833193"/>
            <a:ext cx="166237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dentes de alho picados</a:t>
            </a:r>
            <a:endParaRPr lang="en-US" sz="1000" dirty="0"/>
          </a:p>
        </p:txBody>
      </p:sp>
      <p:sp>
        <p:nvSpPr>
          <p:cNvPr id="29" name="Shape 27"/>
          <p:cNvSpPr/>
          <p:nvPr/>
        </p:nvSpPr>
        <p:spPr>
          <a:xfrm>
            <a:off x="1006673" y="5083234"/>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052120"/>
            <a:ext cx="157469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200 ml de leite de coco</a:t>
            </a:r>
            <a:endParaRPr lang="en-US" sz="1000" dirty="0"/>
          </a:p>
        </p:txBody>
      </p:sp>
      <p:sp>
        <p:nvSpPr>
          <p:cNvPr id="31" name="Shape 29"/>
          <p:cNvSpPr/>
          <p:nvPr/>
        </p:nvSpPr>
        <p:spPr>
          <a:xfrm>
            <a:off x="1006673" y="5302160"/>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5271046"/>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 pimenta dedo-de-moça (ou pimenta-de-cheiro) picada, sem sementes</a:t>
            </a:r>
            <a:endParaRPr lang="en-US" sz="1000" dirty="0"/>
          </a:p>
        </p:txBody>
      </p:sp>
      <p:sp>
        <p:nvSpPr>
          <p:cNvPr id="33" name="Shape 31"/>
          <p:cNvSpPr/>
          <p:nvPr/>
        </p:nvSpPr>
        <p:spPr>
          <a:xfrm>
            <a:off x="1006673" y="5711437"/>
            <a:ext cx="114300" cy="114300"/>
          </a:xfrm>
          <a:prstGeom prst="roundRect">
            <a:avLst>
              <a:gd name="adj" fmla="val 166667"/>
            </a:avLst>
          </a:prstGeom>
          <a:ln w="9525">
            <a:solidFill>
              <a:srgbClr val="C8501F"/>
            </a:solidFill>
            <a:prstDash val="solid"/>
          </a:ln>
        </p:spPr>
      </p:sp>
      <p:sp>
        <p:nvSpPr>
          <p:cNvPr id="34" name="Text 32"/>
          <p:cNvSpPr txBox="1"/>
          <p:nvPr/>
        </p:nvSpPr>
        <p:spPr>
          <a:xfrm>
            <a:off x="1197173" y="5680323"/>
            <a:ext cx="107313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de ½ limão</a:t>
            </a:r>
            <a:endParaRPr lang="en-US" sz="1000" dirty="0"/>
          </a:p>
        </p:txBody>
      </p:sp>
      <p:sp>
        <p:nvSpPr>
          <p:cNvPr id="35" name="Shape 33"/>
          <p:cNvSpPr/>
          <p:nvPr/>
        </p:nvSpPr>
        <p:spPr>
          <a:xfrm>
            <a:off x="1006673" y="5930363"/>
            <a:ext cx="114300" cy="114300"/>
          </a:xfrm>
          <a:prstGeom prst="roundRect">
            <a:avLst>
              <a:gd name="adj" fmla="val 166667"/>
            </a:avLst>
          </a:prstGeom>
          <a:ln w="9525">
            <a:solidFill>
              <a:srgbClr val="C8501F"/>
            </a:solidFill>
            <a:prstDash val="solid"/>
          </a:ln>
        </p:spPr>
      </p:sp>
      <p:sp>
        <p:nvSpPr>
          <p:cNvPr id="36" name="Text 34"/>
          <p:cNvSpPr txBox="1"/>
          <p:nvPr/>
        </p:nvSpPr>
        <p:spPr>
          <a:xfrm>
            <a:off x="1197173" y="5899249"/>
            <a:ext cx="259832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Coentro (ou cheiro-verde) e sal a gosto</a:t>
            </a:r>
            <a:endParaRPr lang="en-US" sz="1000" dirty="0"/>
          </a:p>
        </p:txBody>
      </p:sp>
      <p:sp>
        <p:nvSpPr>
          <p:cNvPr id="37" name="Text 35"/>
          <p:cNvSpPr txBox="1"/>
          <p:nvPr/>
        </p:nvSpPr>
        <p:spPr>
          <a:xfrm>
            <a:off x="863798" y="6251525"/>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8" name="Shape 36"/>
          <p:cNvSpPr/>
          <p:nvPr/>
        </p:nvSpPr>
        <p:spPr>
          <a:xfrm>
            <a:off x="863798" y="6594425"/>
            <a:ext cx="190500" cy="190500"/>
          </a:xfrm>
          <a:prstGeom prst="ellipse">
            <a:avLst/>
          </a:prstGeom>
          <a:solidFill>
            <a:srgbClr val="2F4A22"/>
          </a:solidFill>
          <a:ln/>
        </p:spPr>
      </p:sp>
      <p:sp>
        <p:nvSpPr>
          <p:cNvPr id="39" name="Text 37"/>
          <p:cNvSpPr txBox="1"/>
          <p:nvPr/>
        </p:nvSpPr>
        <p:spPr>
          <a:xfrm>
            <a:off x="883295" y="6623000"/>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40" name="Text 38"/>
          <p:cNvSpPr txBox="1"/>
          <p:nvPr/>
        </p:nvSpPr>
        <p:spPr>
          <a:xfrm>
            <a:off x="1149548" y="659442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Aqueça 1 colher de dendê numa frigideira grande. Doure as rodelas de banana, 2 minutos de cada lado, sem mexer. Tempere com uma pitada de sal e reserve.</a:t>
            </a:r>
            <a:endParaRPr lang="en-US" sz="1000" dirty="0"/>
          </a:p>
        </p:txBody>
      </p:sp>
      <p:sp>
        <p:nvSpPr>
          <p:cNvPr id="41" name="Shape 39"/>
          <p:cNvSpPr/>
          <p:nvPr/>
        </p:nvSpPr>
        <p:spPr>
          <a:xfrm>
            <a:off x="863798" y="7022753"/>
            <a:ext cx="190500" cy="190500"/>
          </a:xfrm>
          <a:prstGeom prst="ellipse">
            <a:avLst/>
          </a:prstGeom>
          <a:solidFill>
            <a:srgbClr val="2F4A22"/>
          </a:solidFill>
          <a:ln/>
        </p:spPr>
      </p:sp>
      <p:sp>
        <p:nvSpPr>
          <p:cNvPr id="42" name="Text 40"/>
          <p:cNvSpPr txBox="1"/>
          <p:nvPr/>
        </p:nvSpPr>
        <p:spPr>
          <a:xfrm>
            <a:off x="872579" y="7051328"/>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3" name="Text 41"/>
          <p:cNvSpPr txBox="1"/>
          <p:nvPr/>
        </p:nvSpPr>
        <p:spPr>
          <a:xfrm>
            <a:off x="1149548" y="702275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Na mesma frigideira, com o restante do dendê, refogue a cebola, o pimentão e o alho por 3 minutos.</a:t>
            </a:r>
            <a:endParaRPr lang="en-US" sz="1000" dirty="0"/>
          </a:p>
        </p:txBody>
      </p:sp>
      <p:sp>
        <p:nvSpPr>
          <p:cNvPr id="44" name="Shape 42"/>
          <p:cNvSpPr/>
          <p:nvPr/>
        </p:nvSpPr>
        <p:spPr>
          <a:xfrm>
            <a:off x="863798" y="7451080"/>
            <a:ext cx="190500" cy="190500"/>
          </a:xfrm>
          <a:prstGeom prst="ellipse">
            <a:avLst/>
          </a:prstGeom>
          <a:solidFill>
            <a:srgbClr val="2F4A22"/>
          </a:solidFill>
          <a:ln/>
        </p:spPr>
      </p:sp>
      <p:sp>
        <p:nvSpPr>
          <p:cNvPr id="45" name="Text 43"/>
          <p:cNvSpPr txBox="1"/>
          <p:nvPr/>
        </p:nvSpPr>
        <p:spPr>
          <a:xfrm>
            <a:off x="871240" y="7479655"/>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6" name="Text 44"/>
          <p:cNvSpPr txBox="1"/>
          <p:nvPr/>
        </p:nvSpPr>
        <p:spPr>
          <a:xfrm>
            <a:off x="1149548" y="7451080"/>
            <a:ext cx="498562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Junte o tomate e a pimenta e cozinhe até o tomate começar a desmanchar.</a:t>
            </a:r>
            <a:endParaRPr lang="en-US" sz="1000" dirty="0"/>
          </a:p>
        </p:txBody>
      </p:sp>
      <p:sp>
        <p:nvSpPr>
          <p:cNvPr id="47" name="Shape 45"/>
          <p:cNvSpPr/>
          <p:nvPr/>
        </p:nvSpPr>
        <p:spPr>
          <a:xfrm>
            <a:off x="863798" y="7698730"/>
            <a:ext cx="190500" cy="190500"/>
          </a:xfrm>
          <a:prstGeom prst="ellipse">
            <a:avLst/>
          </a:prstGeom>
          <a:solidFill>
            <a:srgbClr val="2F4A22"/>
          </a:solidFill>
          <a:ln/>
        </p:spPr>
      </p:sp>
      <p:sp>
        <p:nvSpPr>
          <p:cNvPr id="48" name="Text 46"/>
          <p:cNvSpPr txBox="1"/>
          <p:nvPr/>
        </p:nvSpPr>
        <p:spPr>
          <a:xfrm>
            <a:off x="868859" y="7727305"/>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9" name="Text 47"/>
          <p:cNvSpPr txBox="1"/>
          <p:nvPr/>
        </p:nvSpPr>
        <p:spPr>
          <a:xfrm>
            <a:off x="1149548" y="769873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Acrescente o leite de coco e deixe ferver por 5 minutos, até engrossar levemente. Acerte o sal.</a:t>
            </a:r>
            <a:endParaRPr lang="en-US" sz="1000" dirty="0"/>
          </a:p>
        </p:txBody>
      </p:sp>
      <p:sp>
        <p:nvSpPr>
          <p:cNvPr id="50" name="Shape 48"/>
          <p:cNvSpPr/>
          <p:nvPr/>
        </p:nvSpPr>
        <p:spPr>
          <a:xfrm>
            <a:off x="863798" y="8127057"/>
            <a:ext cx="190500" cy="190500"/>
          </a:xfrm>
          <a:prstGeom prst="ellipse">
            <a:avLst/>
          </a:prstGeom>
          <a:solidFill>
            <a:srgbClr val="2F4A22"/>
          </a:solidFill>
          <a:ln/>
        </p:spPr>
      </p:sp>
      <p:sp>
        <p:nvSpPr>
          <p:cNvPr id="51" name="Text 49"/>
          <p:cNvSpPr txBox="1"/>
          <p:nvPr/>
        </p:nvSpPr>
        <p:spPr>
          <a:xfrm>
            <a:off x="870198" y="8155632"/>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2" name="Text 50"/>
          <p:cNvSpPr txBox="1"/>
          <p:nvPr/>
        </p:nvSpPr>
        <p:spPr>
          <a:xfrm>
            <a:off x="1149548" y="812705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Volte as bananas para a frigideira e cozinhe só por 3 a 4 minutos, para aquecerem no molho sem desmanchar.</a:t>
            </a:r>
            <a:endParaRPr lang="en-US" sz="1000" dirty="0"/>
          </a:p>
        </p:txBody>
      </p:sp>
      <p:sp>
        <p:nvSpPr>
          <p:cNvPr id="53" name="Shape 51"/>
          <p:cNvSpPr/>
          <p:nvPr/>
        </p:nvSpPr>
        <p:spPr>
          <a:xfrm>
            <a:off x="863798" y="8555385"/>
            <a:ext cx="190500" cy="190500"/>
          </a:xfrm>
          <a:prstGeom prst="ellipse">
            <a:avLst/>
          </a:prstGeom>
          <a:solidFill>
            <a:srgbClr val="2F4A22"/>
          </a:solidFill>
          <a:ln/>
        </p:spPr>
      </p:sp>
      <p:sp>
        <p:nvSpPr>
          <p:cNvPr id="54" name="Text 52"/>
          <p:cNvSpPr txBox="1"/>
          <p:nvPr/>
        </p:nvSpPr>
        <p:spPr>
          <a:xfrm>
            <a:off x="869603" y="8583960"/>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5" name="Text 53"/>
          <p:cNvSpPr txBox="1"/>
          <p:nvPr/>
        </p:nvSpPr>
        <p:spPr>
          <a:xfrm>
            <a:off x="1149548" y="8555385"/>
            <a:ext cx="437004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Desligue o fogo, regue com o suco de limão e finalize com coentro.</a:t>
            </a:r>
            <a:endParaRPr lang="en-US" sz="1000" dirty="0"/>
          </a:p>
        </p:txBody>
      </p:sp>
      <p:sp>
        <p:nvSpPr>
          <p:cNvPr id="56" name="Shape 54"/>
          <p:cNvSpPr/>
          <p:nvPr/>
        </p:nvSpPr>
        <p:spPr>
          <a:xfrm>
            <a:off x="863798" y="8841135"/>
            <a:ext cx="5832277" cy="590252"/>
          </a:xfrm>
          <a:prstGeom prst="roundRect">
            <a:avLst>
              <a:gd name="adj" fmla="val 37794"/>
            </a:avLst>
          </a:prstGeom>
          <a:solidFill>
            <a:srgbClr val="2F4A22"/>
          </a:solidFill>
          <a:ln/>
        </p:spPr>
      </p:sp>
      <p:sp>
        <p:nvSpPr>
          <p:cNvPr id="57" name="Text 55"/>
          <p:cNvSpPr txBox="1"/>
          <p:nvPr/>
        </p:nvSpPr>
        <p:spPr>
          <a:xfrm>
            <a:off x="997148" y="8955435"/>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8" name="Text 56"/>
          <p:cNvSpPr txBox="1"/>
          <p:nvPr/>
        </p:nvSpPr>
        <p:spPr>
          <a:xfrm>
            <a:off x="2279749" y="8955435"/>
            <a:ext cx="4282976" cy="371326"/>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Dourar a banana antes é o que dá estrutura e sabor à moqueca. Sirva com arroz branco e farofa de dendê.</a:t>
            </a:r>
            <a:endParaRPr lang="en-US" sz="1000" dirty="0"/>
          </a:p>
        </p:txBody>
      </p:sp>
      <p:sp>
        <p:nvSpPr>
          <p:cNvPr id="59" name="Text 57"/>
          <p:cNvSpPr txBox="1"/>
          <p:nvPr/>
        </p:nvSpPr>
        <p:spPr>
          <a:xfrm>
            <a:off x="863798" y="962828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0" name="Text 58"/>
          <p:cNvSpPr txBox="1"/>
          <p:nvPr/>
        </p:nvSpPr>
        <p:spPr>
          <a:xfrm>
            <a:off x="6574482" y="9628287"/>
            <a:ext cx="23589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18</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5998964"/>
          </a:xfrm>
          <a:prstGeom prst="roundRect">
            <a:avLst>
              <a:gd name="adj" fmla="val 549"/>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348085"/>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02</a:t>
            </a:r>
            <a:endParaRPr lang="en-US" sz="750" dirty="0"/>
          </a:p>
        </p:txBody>
      </p:sp>
      <p:sp>
        <p:nvSpPr>
          <p:cNvPr id="4" name="Text 2"/>
          <p:cNvSpPr txBox="1"/>
          <p:nvPr/>
        </p:nvSpPr>
        <p:spPr>
          <a:xfrm>
            <a:off x="1043880" y="1651360"/>
            <a:ext cx="2515939"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PURÊ DE BANANA GRELHADA</a:t>
            </a:r>
            <a:endParaRPr lang="en-US" sz="3200" dirty="0"/>
          </a:p>
        </p:txBody>
      </p:sp>
      <p:sp>
        <p:nvSpPr>
          <p:cNvPr id="5" name="Text 3"/>
          <p:cNvSpPr txBox="1"/>
          <p:nvPr/>
        </p:nvSpPr>
        <p:spPr>
          <a:xfrm>
            <a:off x="1043880" y="3086844"/>
            <a:ext cx="2515939"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Purê aveludado de banana grelhada com noz-moscada</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2-2.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2250877"/>
          </a:xfrm>
          <a:prstGeom prst="roundRect">
            <a:avLst>
              <a:gd name="adj" fmla="val 3249"/>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19287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bananas-da-terra maduras</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200125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manteiga</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282251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150 ml de leite quente (ou caldo de frango)</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190623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Noz-moscada ralada na hora</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316022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pimenta-do-reino e algumas gotas de limão</a:t>
            </a:r>
            <a:endParaRPr lang="en-US" sz="1000" dirty="0"/>
          </a:p>
        </p:txBody>
      </p:sp>
      <p:sp>
        <p:nvSpPr>
          <p:cNvPr id="20" name="Text 17"/>
          <p:cNvSpPr txBox="1"/>
          <p:nvPr/>
        </p:nvSpPr>
        <p:spPr>
          <a:xfrm>
            <a:off x="1403747" y="5917257"/>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442442"/>
            <a:ext cx="6696075" cy="7807077"/>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828800"/>
            <a:ext cx="2177272"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02 · BANANA</a:t>
            </a:r>
            <a:endParaRPr lang="en-US" sz="750" dirty="0"/>
          </a:p>
        </p:txBody>
      </p:sp>
      <p:sp>
        <p:nvSpPr>
          <p:cNvPr id="4" name="Text 2"/>
          <p:cNvSpPr txBox="1"/>
          <p:nvPr/>
        </p:nvSpPr>
        <p:spPr>
          <a:xfrm>
            <a:off x="863798" y="2020951"/>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PURÊ AVELUDADO DE BANANA GRELHADA COM NOZ-MOSCADA</a:t>
            </a:r>
            <a:endParaRPr lang="en-US" sz="2200" dirty="0"/>
          </a:p>
        </p:txBody>
      </p:sp>
      <p:sp>
        <p:nvSpPr>
          <p:cNvPr id="5" name="Text 3"/>
          <p:cNvSpPr txBox="1"/>
          <p:nvPr/>
        </p:nvSpPr>
        <p:spPr>
          <a:xfrm>
            <a:off x="863798" y="2749748"/>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TEXTURA SURPREENDENTE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(para acompanhar carnes ou legumes assados)</a:t>
            </a:r>
            <a:endParaRPr lang="en-US" sz="800" dirty="0"/>
          </a:p>
        </p:txBody>
      </p:sp>
      <p:sp>
        <p:nvSpPr>
          <p:cNvPr id="6" name="Shape 4"/>
          <p:cNvSpPr/>
          <p:nvPr/>
        </p:nvSpPr>
        <p:spPr>
          <a:xfrm>
            <a:off x="863798" y="3024634"/>
            <a:ext cx="1893243" cy="587425"/>
          </a:xfrm>
          <a:prstGeom prst="roundRect">
            <a:avLst>
              <a:gd name="adj" fmla="val 28619"/>
            </a:avLst>
          </a:prstGeom>
          <a:solidFill>
            <a:srgbClr val="F8EED9"/>
          </a:solidFill>
          <a:ln/>
        </p:spPr>
      </p:sp>
      <p:sp>
        <p:nvSpPr>
          <p:cNvPr id="7" name="Text 5"/>
          <p:cNvSpPr txBox="1"/>
          <p:nvPr/>
        </p:nvSpPr>
        <p:spPr>
          <a:xfrm>
            <a:off x="968573" y="3091309"/>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3215580"/>
            <a:ext cx="4975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10 min</a:t>
            </a:r>
            <a:endParaRPr lang="en-US" sz="1000" dirty="0"/>
          </a:p>
        </p:txBody>
      </p:sp>
      <p:sp>
        <p:nvSpPr>
          <p:cNvPr id="9" name="Shape 7"/>
          <p:cNvSpPr/>
          <p:nvPr/>
        </p:nvSpPr>
        <p:spPr>
          <a:xfrm>
            <a:off x="2833241" y="3024634"/>
            <a:ext cx="1893243" cy="587425"/>
          </a:xfrm>
          <a:prstGeom prst="roundRect">
            <a:avLst>
              <a:gd name="adj" fmla="val 28619"/>
            </a:avLst>
          </a:prstGeom>
          <a:solidFill>
            <a:srgbClr val="F8EED9"/>
          </a:solidFill>
          <a:ln/>
        </p:spPr>
      </p:sp>
      <p:sp>
        <p:nvSpPr>
          <p:cNvPr id="10" name="Text 8"/>
          <p:cNvSpPr txBox="1"/>
          <p:nvPr/>
        </p:nvSpPr>
        <p:spPr>
          <a:xfrm>
            <a:off x="2938016" y="3091309"/>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3215580"/>
            <a:ext cx="487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15 min</a:t>
            </a:r>
            <a:endParaRPr lang="en-US" sz="1000" dirty="0"/>
          </a:p>
        </p:txBody>
      </p:sp>
      <p:sp>
        <p:nvSpPr>
          <p:cNvPr id="12" name="Shape 10"/>
          <p:cNvSpPr/>
          <p:nvPr/>
        </p:nvSpPr>
        <p:spPr>
          <a:xfrm>
            <a:off x="4802684" y="3024634"/>
            <a:ext cx="1893243" cy="587425"/>
          </a:xfrm>
          <a:prstGeom prst="roundRect">
            <a:avLst>
              <a:gd name="adj" fmla="val 28619"/>
            </a:avLst>
          </a:prstGeom>
          <a:solidFill>
            <a:srgbClr val="F8EED9"/>
          </a:solidFill>
          <a:ln/>
        </p:spPr>
      </p:sp>
      <p:sp>
        <p:nvSpPr>
          <p:cNvPr id="13" name="Text 11"/>
          <p:cNvSpPr txBox="1"/>
          <p:nvPr/>
        </p:nvSpPr>
        <p:spPr>
          <a:xfrm>
            <a:off x="4907459" y="3091309"/>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3215580"/>
            <a:ext cx="1095970" cy="345877"/>
          </a:xfrm>
          <a:prstGeom prst="rect">
            <a:avLst/>
          </a:prstGeom>
          <a:noFill/>
          <a:ln/>
        </p:spPr>
        <p:txBody>
          <a:bodyPr wrap="square" lIns="0" tIns="0" rIns="0" bIns="0" rtlCol="0" anchor="t"/>
          <a:lstStyle/>
          <a:p>
            <a:pPr algn="l" indent="0" marL="0">
              <a:lnSpc>
                <a:spcPts val="1300"/>
              </a:lnSpc>
              <a:buNone/>
            </a:pPr>
            <a:r>
              <a:rPr lang="en-US" sz="1000" dirty="0">
                <a:solidFill>
                  <a:srgbClr val="2B2A22"/>
                </a:solidFill>
                <a:latin typeface="DM Sans Medium" pitchFamily="34" charset="0"/>
                <a:ea typeface="DM Sans Medium" pitchFamily="34" charset="-122"/>
                <a:cs typeface="DM Sans Medium" pitchFamily="34" charset="-120"/>
              </a:rPr>
              <a:t>4 porções como acompanhamento</a:t>
            </a:r>
            <a:endParaRPr lang="en-US" sz="1000" dirty="0"/>
          </a:p>
        </p:txBody>
      </p:sp>
      <p:sp>
        <p:nvSpPr>
          <p:cNvPr id="15" name="Shape 13"/>
          <p:cNvSpPr/>
          <p:nvPr/>
        </p:nvSpPr>
        <p:spPr>
          <a:xfrm>
            <a:off x="863798" y="3745409"/>
            <a:ext cx="5832277" cy="1884908"/>
          </a:xfrm>
          <a:prstGeom prst="roundRect">
            <a:avLst>
              <a:gd name="adj" fmla="val 3706"/>
            </a:avLst>
          </a:prstGeom>
          <a:solidFill>
            <a:srgbClr val="FBF4E4"/>
          </a:solidFill>
          <a:ln w="9525">
            <a:solidFill>
              <a:srgbClr val="EADFC6"/>
            </a:solidFill>
            <a:prstDash val="solid"/>
          </a:ln>
        </p:spPr>
      </p:sp>
      <p:sp>
        <p:nvSpPr>
          <p:cNvPr id="16" name="Text 14"/>
          <p:cNvSpPr txBox="1"/>
          <p:nvPr/>
        </p:nvSpPr>
        <p:spPr>
          <a:xfrm>
            <a:off x="1006673" y="3840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4176573"/>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4145459"/>
            <a:ext cx="19287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bananas-da-terra maduras</a:t>
            </a:r>
            <a:endParaRPr lang="en-US" sz="1000" dirty="0"/>
          </a:p>
        </p:txBody>
      </p:sp>
      <p:sp>
        <p:nvSpPr>
          <p:cNvPr id="19" name="Shape 17"/>
          <p:cNvSpPr/>
          <p:nvPr/>
        </p:nvSpPr>
        <p:spPr>
          <a:xfrm>
            <a:off x="1006673" y="4395499"/>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4364385"/>
            <a:ext cx="200125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manteiga</a:t>
            </a:r>
            <a:endParaRPr lang="en-US" sz="1000" dirty="0"/>
          </a:p>
        </p:txBody>
      </p:sp>
      <p:sp>
        <p:nvSpPr>
          <p:cNvPr id="21" name="Shape 19"/>
          <p:cNvSpPr/>
          <p:nvPr/>
        </p:nvSpPr>
        <p:spPr>
          <a:xfrm>
            <a:off x="1006673" y="4614425"/>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583311"/>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150 ml de leite quente (ou caldo de frango)</a:t>
            </a:r>
            <a:endParaRPr lang="en-US" sz="1000" dirty="0"/>
          </a:p>
        </p:txBody>
      </p:sp>
      <p:sp>
        <p:nvSpPr>
          <p:cNvPr id="23" name="Shape 21"/>
          <p:cNvSpPr/>
          <p:nvPr/>
        </p:nvSpPr>
        <p:spPr>
          <a:xfrm>
            <a:off x="1006673" y="5023702"/>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992588"/>
            <a:ext cx="190623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Noz-moscada ralada na hora</a:t>
            </a:r>
            <a:endParaRPr lang="en-US" sz="1000" dirty="0"/>
          </a:p>
        </p:txBody>
      </p:sp>
      <p:sp>
        <p:nvSpPr>
          <p:cNvPr id="25" name="Shape 23"/>
          <p:cNvSpPr/>
          <p:nvPr/>
        </p:nvSpPr>
        <p:spPr>
          <a:xfrm>
            <a:off x="1006673" y="5242628"/>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5211514"/>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Sal, pimenta-do-reino e algumas gotas de limão</a:t>
            </a:r>
            <a:endParaRPr lang="en-US" sz="1000" dirty="0"/>
          </a:p>
        </p:txBody>
      </p:sp>
      <p:sp>
        <p:nvSpPr>
          <p:cNvPr id="27" name="Text 25"/>
          <p:cNvSpPr txBox="1"/>
          <p:nvPr/>
        </p:nvSpPr>
        <p:spPr>
          <a:xfrm>
            <a:off x="863798" y="5754142"/>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28" name="Shape 26"/>
          <p:cNvSpPr/>
          <p:nvPr/>
        </p:nvSpPr>
        <p:spPr>
          <a:xfrm>
            <a:off x="863798" y="6097042"/>
            <a:ext cx="190500" cy="190500"/>
          </a:xfrm>
          <a:prstGeom prst="ellipse">
            <a:avLst/>
          </a:prstGeom>
          <a:solidFill>
            <a:srgbClr val="2F4A22"/>
          </a:solidFill>
          <a:ln/>
        </p:spPr>
      </p:sp>
      <p:sp>
        <p:nvSpPr>
          <p:cNvPr id="29" name="Text 27"/>
          <p:cNvSpPr txBox="1"/>
          <p:nvPr/>
        </p:nvSpPr>
        <p:spPr>
          <a:xfrm>
            <a:off x="883295" y="6125617"/>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0" name="Text 28"/>
          <p:cNvSpPr txBox="1"/>
          <p:nvPr/>
        </p:nvSpPr>
        <p:spPr>
          <a:xfrm>
            <a:off x="1149548" y="6097042"/>
            <a:ext cx="471508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Descasque as bananas e corte em lâminas no sentido do comprimento.</a:t>
            </a:r>
            <a:endParaRPr lang="en-US" sz="1000" dirty="0"/>
          </a:p>
        </p:txBody>
      </p:sp>
      <p:sp>
        <p:nvSpPr>
          <p:cNvPr id="31" name="Shape 29"/>
          <p:cNvSpPr/>
          <p:nvPr/>
        </p:nvSpPr>
        <p:spPr>
          <a:xfrm>
            <a:off x="863798" y="6344692"/>
            <a:ext cx="190500" cy="190500"/>
          </a:xfrm>
          <a:prstGeom prst="ellipse">
            <a:avLst/>
          </a:prstGeom>
          <a:solidFill>
            <a:srgbClr val="2F4A22"/>
          </a:solidFill>
          <a:ln/>
        </p:spPr>
      </p:sp>
      <p:sp>
        <p:nvSpPr>
          <p:cNvPr id="32" name="Text 30"/>
          <p:cNvSpPr txBox="1"/>
          <p:nvPr/>
        </p:nvSpPr>
        <p:spPr>
          <a:xfrm>
            <a:off x="872579" y="6373267"/>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3" name="Text 31"/>
          <p:cNvSpPr txBox="1"/>
          <p:nvPr/>
        </p:nvSpPr>
        <p:spPr>
          <a:xfrm>
            <a:off x="1149548" y="6344692"/>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Aqueça 1 colher de manteiga numa frigideira e grelhe as lâminas em fogo médio-alto até ficarem bem douradas dos dois lados. É essa caramelização que dá profundidade ao purê.</a:t>
            </a:r>
            <a:endParaRPr lang="en-US" sz="1000" dirty="0"/>
          </a:p>
        </p:txBody>
      </p:sp>
      <p:sp>
        <p:nvSpPr>
          <p:cNvPr id="34" name="Shape 32"/>
          <p:cNvSpPr/>
          <p:nvPr/>
        </p:nvSpPr>
        <p:spPr>
          <a:xfrm>
            <a:off x="863798" y="6773019"/>
            <a:ext cx="190500" cy="190500"/>
          </a:xfrm>
          <a:prstGeom prst="ellipse">
            <a:avLst/>
          </a:prstGeom>
          <a:solidFill>
            <a:srgbClr val="2F4A22"/>
          </a:solidFill>
          <a:ln/>
        </p:spPr>
      </p:sp>
      <p:sp>
        <p:nvSpPr>
          <p:cNvPr id="35" name="Text 33"/>
          <p:cNvSpPr txBox="1"/>
          <p:nvPr/>
        </p:nvSpPr>
        <p:spPr>
          <a:xfrm>
            <a:off x="871240" y="6801594"/>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36" name="Text 34"/>
          <p:cNvSpPr txBox="1"/>
          <p:nvPr/>
        </p:nvSpPr>
        <p:spPr>
          <a:xfrm>
            <a:off x="1149548" y="6773019"/>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Transfira para uma panela, junte o leite quente e amasse bem com um garfo ou espremedor, em fogo baixo.</a:t>
            </a:r>
            <a:endParaRPr lang="en-US" sz="1000" dirty="0"/>
          </a:p>
        </p:txBody>
      </p:sp>
      <p:sp>
        <p:nvSpPr>
          <p:cNvPr id="37" name="Shape 35"/>
          <p:cNvSpPr/>
          <p:nvPr/>
        </p:nvSpPr>
        <p:spPr>
          <a:xfrm>
            <a:off x="863798" y="7201346"/>
            <a:ext cx="190500" cy="190500"/>
          </a:xfrm>
          <a:prstGeom prst="ellipse">
            <a:avLst/>
          </a:prstGeom>
          <a:solidFill>
            <a:srgbClr val="2F4A22"/>
          </a:solidFill>
          <a:ln/>
        </p:spPr>
      </p:sp>
      <p:sp>
        <p:nvSpPr>
          <p:cNvPr id="38" name="Text 36"/>
          <p:cNvSpPr txBox="1"/>
          <p:nvPr/>
        </p:nvSpPr>
        <p:spPr>
          <a:xfrm>
            <a:off x="868859" y="7229921"/>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39" name="Text 37"/>
          <p:cNvSpPr txBox="1"/>
          <p:nvPr/>
        </p:nvSpPr>
        <p:spPr>
          <a:xfrm>
            <a:off x="1149548" y="7201346"/>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Acrescente a manteiga restante e mexa até ficar aveludado. Se quiser mais liso, passe por uma peneira.</a:t>
            </a:r>
            <a:endParaRPr lang="en-US" sz="1000" dirty="0"/>
          </a:p>
        </p:txBody>
      </p:sp>
      <p:sp>
        <p:nvSpPr>
          <p:cNvPr id="40" name="Shape 38"/>
          <p:cNvSpPr/>
          <p:nvPr/>
        </p:nvSpPr>
        <p:spPr>
          <a:xfrm>
            <a:off x="863798" y="7629674"/>
            <a:ext cx="190500" cy="190500"/>
          </a:xfrm>
          <a:prstGeom prst="ellipse">
            <a:avLst/>
          </a:prstGeom>
          <a:solidFill>
            <a:srgbClr val="2F4A22"/>
          </a:solidFill>
          <a:ln/>
        </p:spPr>
      </p:sp>
      <p:sp>
        <p:nvSpPr>
          <p:cNvPr id="41" name="Text 39"/>
          <p:cNvSpPr txBox="1"/>
          <p:nvPr/>
        </p:nvSpPr>
        <p:spPr>
          <a:xfrm>
            <a:off x="870198" y="7658249"/>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2" name="Text 40"/>
          <p:cNvSpPr txBox="1"/>
          <p:nvPr/>
        </p:nvSpPr>
        <p:spPr>
          <a:xfrm>
            <a:off x="1149548" y="7629674"/>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Tempere com sal, pimenta e noz-moscada. Se estiver doce demais, equilibre com algumas gotas de limão.</a:t>
            </a:r>
            <a:endParaRPr lang="en-US" sz="1000" dirty="0"/>
          </a:p>
        </p:txBody>
      </p:sp>
      <p:sp>
        <p:nvSpPr>
          <p:cNvPr id="43" name="Shape 41"/>
          <p:cNvSpPr/>
          <p:nvPr/>
        </p:nvSpPr>
        <p:spPr>
          <a:xfrm>
            <a:off x="863798" y="8096101"/>
            <a:ext cx="5832277" cy="590252"/>
          </a:xfrm>
          <a:prstGeom prst="roundRect">
            <a:avLst>
              <a:gd name="adj" fmla="val 37794"/>
            </a:avLst>
          </a:prstGeom>
          <a:solidFill>
            <a:srgbClr val="2F4A22"/>
          </a:solidFill>
          <a:ln/>
        </p:spPr>
      </p:sp>
      <p:sp>
        <p:nvSpPr>
          <p:cNvPr id="44" name="Text 42"/>
          <p:cNvSpPr txBox="1"/>
          <p:nvPr/>
        </p:nvSpPr>
        <p:spPr>
          <a:xfrm>
            <a:off x="997148" y="8210401"/>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45" name="Text 43"/>
          <p:cNvSpPr txBox="1"/>
          <p:nvPr/>
        </p:nvSpPr>
        <p:spPr>
          <a:xfrm>
            <a:off x="2279749" y="8210401"/>
            <a:ext cx="4282976" cy="371326"/>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É um acompanhamento salgado de respeito: fica perfeito com carne de sol, frango assado ou peixe grelhado.</a:t>
            </a:r>
            <a:endParaRPr lang="en-US" sz="1000" dirty="0"/>
          </a:p>
        </p:txBody>
      </p:sp>
      <p:sp>
        <p:nvSpPr>
          <p:cNvPr id="46" name="Text 44"/>
          <p:cNvSpPr txBox="1"/>
          <p:nvPr/>
        </p:nvSpPr>
        <p:spPr>
          <a:xfrm>
            <a:off x="863798" y="8883253"/>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47" name="Text 45"/>
          <p:cNvSpPr txBox="1"/>
          <p:nvPr/>
        </p:nvSpPr>
        <p:spPr>
          <a:xfrm>
            <a:off x="6547842" y="8883253"/>
            <a:ext cx="26253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20</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6655743"/>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444823"/>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03</a:t>
            </a:r>
            <a:endParaRPr lang="en-US" sz="750" dirty="0"/>
          </a:p>
        </p:txBody>
      </p:sp>
      <p:sp>
        <p:nvSpPr>
          <p:cNvPr id="4" name="Text 2"/>
          <p:cNvSpPr txBox="1"/>
          <p:nvPr/>
        </p:nvSpPr>
        <p:spPr>
          <a:xfrm>
            <a:off x="1043880" y="1748099"/>
            <a:ext cx="2515939"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BANANAS FLAMBADAS</a:t>
            </a:r>
            <a:endParaRPr lang="en-US" sz="3200" dirty="0"/>
          </a:p>
        </p:txBody>
      </p:sp>
      <p:sp>
        <p:nvSpPr>
          <p:cNvPr id="5" name="Text 3"/>
          <p:cNvSpPr txBox="1"/>
          <p:nvPr/>
        </p:nvSpPr>
        <p:spPr>
          <a:xfrm>
            <a:off x="1043880" y="2769096"/>
            <a:ext cx="2515939"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Bananas flambadas no rum ou na cachaça com crosta de açúcar mascavo e canela</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2-3.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2907655"/>
          </a:xfrm>
          <a:prstGeom prst="roundRect">
            <a:avLst>
              <a:gd name="adj" fmla="val 1947"/>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311038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bananas-da-terra ou 4 bananas-prata firmes</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246880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açúcar mascavo</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200525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canela em pó</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200125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manteiga</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168587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ml de rum ou cachaça</a:t>
            </a:r>
            <a:endParaRPr lang="en-US" sz="1000" dirty="0"/>
          </a:p>
        </p:txBody>
      </p:sp>
      <p:sp>
        <p:nvSpPr>
          <p:cNvPr id="20" name="Shape 17"/>
          <p:cNvSpPr/>
          <p:nvPr/>
        </p:nvSpPr>
        <p:spPr>
          <a:xfrm>
            <a:off x="1403747" y="5891221"/>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5860107"/>
            <a:ext cx="108997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de 1 laranja</a:t>
            </a:r>
            <a:endParaRPr lang="en-US" sz="1000" dirty="0"/>
          </a:p>
        </p:txBody>
      </p:sp>
      <p:sp>
        <p:nvSpPr>
          <p:cNvPr id="22" name="Shape 19"/>
          <p:cNvSpPr/>
          <p:nvPr/>
        </p:nvSpPr>
        <p:spPr>
          <a:xfrm>
            <a:off x="1403747" y="6110148"/>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079034"/>
            <a:ext cx="9455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pitada de sal</a:t>
            </a:r>
            <a:endParaRPr lang="en-US" sz="1000" dirty="0"/>
          </a:p>
        </p:txBody>
      </p:sp>
      <p:sp>
        <p:nvSpPr>
          <p:cNvPr id="24" name="Shape 21"/>
          <p:cNvSpPr/>
          <p:nvPr/>
        </p:nvSpPr>
        <p:spPr>
          <a:xfrm>
            <a:off x="1403747" y="6329074"/>
            <a:ext cx="114300" cy="114300"/>
          </a:xfrm>
          <a:prstGeom prst="roundRect">
            <a:avLst>
              <a:gd name="adj" fmla="val 166667"/>
            </a:avLst>
          </a:prstGeom>
          <a:ln w="9525">
            <a:solidFill>
              <a:srgbClr val="C8501F"/>
            </a:solidFill>
            <a:prstDash val="solid"/>
          </a:ln>
        </p:spPr>
      </p:sp>
      <p:sp>
        <p:nvSpPr>
          <p:cNvPr id="25" name="Text 22"/>
          <p:cNvSpPr txBox="1"/>
          <p:nvPr/>
        </p:nvSpPr>
        <p:spPr>
          <a:xfrm>
            <a:off x="1594247" y="6297960"/>
            <a:ext cx="190707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Sorvete de creme para servir</a:t>
            </a:r>
            <a:endParaRPr lang="en-US" sz="1000" dirty="0"/>
          </a:p>
        </p:txBody>
      </p:sp>
      <p:sp>
        <p:nvSpPr>
          <p:cNvPr id="26" name="Text 23"/>
          <p:cNvSpPr txBox="1"/>
          <p:nvPr/>
        </p:nvSpPr>
        <p:spPr>
          <a:xfrm>
            <a:off x="1403747" y="6574036"/>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821085"/>
            <a:ext cx="6696075" cy="9049792"/>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207443"/>
            <a:ext cx="2180439"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03 · BANANA</a:t>
            </a:r>
            <a:endParaRPr lang="en-US" sz="750" dirty="0"/>
          </a:p>
        </p:txBody>
      </p:sp>
      <p:sp>
        <p:nvSpPr>
          <p:cNvPr id="4" name="Text 2"/>
          <p:cNvSpPr txBox="1"/>
          <p:nvPr/>
        </p:nvSpPr>
        <p:spPr>
          <a:xfrm>
            <a:off x="863798" y="1399593"/>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BANANAS FLAMBADAS NO RUM OU NA CACHAÇA COM CROSTA DE AÇÚCAR MASCAVO E CANELA</a:t>
            </a:r>
            <a:endParaRPr lang="en-US" sz="2200" dirty="0"/>
          </a:p>
        </p:txBody>
      </p:sp>
      <p:sp>
        <p:nvSpPr>
          <p:cNvPr id="5" name="Text 3"/>
          <p:cNvSpPr txBox="1"/>
          <p:nvPr/>
        </p:nvSpPr>
        <p:spPr>
          <a:xfrm>
            <a:off x="863798" y="2441228"/>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SOBREMESA DE CHEF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(a sobremesa de restaurante feita em casa)</a:t>
            </a:r>
            <a:endParaRPr lang="en-US" sz="800" dirty="0"/>
          </a:p>
        </p:txBody>
      </p:sp>
      <p:sp>
        <p:nvSpPr>
          <p:cNvPr id="6" name="Shape 4"/>
          <p:cNvSpPr/>
          <p:nvPr/>
        </p:nvSpPr>
        <p:spPr>
          <a:xfrm>
            <a:off x="863798" y="2716113"/>
            <a:ext cx="1893243" cy="422523"/>
          </a:xfrm>
          <a:prstGeom prst="roundRect">
            <a:avLst>
              <a:gd name="adj" fmla="val 55317"/>
            </a:avLst>
          </a:prstGeom>
          <a:solidFill>
            <a:srgbClr val="F8EED9"/>
          </a:solidFill>
          <a:ln/>
        </p:spPr>
      </p:sp>
      <p:sp>
        <p:nvSpPr>
          <p:cNvPr id="7" name="Text 5"/>
          <p:cNvSpPr txBox="1"/>
          <p:nvPr/>
        </p:nvSpPr>
        <p:spPr>
          <a:xfrm>
            <a:off x="968573" y="2782788"/>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907060"/>
            <a:ext cx="44618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5 min</a:t>
            </a:r>
            <a:endParaRPr lang="en-US" sz="1000" dirty="0"/>
          </a:p>
        </p:txBody>
      </p:sp>
      <p:sp>
        <p:nvSpPr>
          <p:cNvPr id="9" name="Shape 7"/>
          <p:cNvSpPr/>
          <p:nvPr/>
        </p:nvSpPr>
        <p:spPr>
          <a:xfrm>
            <a:off x="2833241" y="2716113"/>
            <a:ext cx="1893243" cy="422523"/>
          </a:xfrm>
          <a:prstGeom prst="roundRect">
            <a:avLst>
              <a:gd name="adj" fmla="val 55317"/>
            </a:avLst>
          </a:prstGeom>
          <a:solidFill>
            <a:srgbClr val="F8EED9"/>
          </a:solidFill>
          <a:ln/>
        </p:spPr>
      </p:sp>
      <p:sp>
        <p:nvSpPr>
          <p:cNvPr id="10" name="Text 8"/>
          <p:cNvSpPr txBox="1"/>
          <p:nvPr/>
        </p:nvSpPr>
        <p:spPr>
          <a:xfrm>
            <a:off x="2938016" y="2782788"/>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907060"/>
            <a:ext cx="4975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10 min</a:t>
            </a:r>
            <a:endParaRPr lang="en-US" sz="1000" dirty="0"/>
          </a:p>
        </p:txBody>
      </p:sp>
      <p:sp>
        <p:nvSpPr>
          <p:cNvPr id="12" name="Shape 10"/>
          <p:cNvSpPr/>
          <p:nvPr/>
        </p:nvSpPr>
        <p:spPr>
          <a:xfrm>
            <a:off x="4802684" y="2716113"/>
            <a:ext cx="1893243" cy="422523"/>
          </a:xfrm>
          <a:prstGeom prst="roundRect">
            <a:avLst>
              <a:gd name="adj" fmla="val 55317"/>
            </a:avLst>
          </a:prstGeom>
          <a:solidFill>
            <a:srgbClr val="F8EED9"/>
          </a:solidFill>
          <a:ln/>
        </p:spPr>
      </p:sp>
      <p:sp>
        <p:nvSpPr>
          <p:cNvPr id="13" name="Text 11"/>
          <p:cNvSpPr txBox="1"/>
          <p:nvPr/>
        </p:nvSpPr>
        <p:spPr>
          <a:xfrm>
            <a:off x="4907459" y="2782788"/>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907060"/>
            <a:ext cx="7172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 porções</a:t>
            </a:r>
            <a:endParaRPr lang="en-US" sz="1000" dirty="0"/>
          </a:p>
        </p:txBody>
      </p:sp>
      <p:sp>
        <p:nvSpPr>
          <p:cNvPr id="15" name="Shape 13"/>
          <p:cNvSpPr/>
          <p:nvPr/>
        </p:nvSpPr>
        <p:spPr>
          <a:xfrm>
            <a:off x="863798" y="3271986"/>
            <a:ext cx="5832277" cy="2351336"/>
          </a:xfrm>
          <a:prstGeom prst="roundRect">
            <a:avLst>
              <a:gd name="adj" fmla="val 2382"/>
            </a:avLst>
          </a:prstGeom>
          <a:solidFill>
            <a:srgbClr val="FBF4E4"/>
          </a:solidFill>
          <a:ln w="9525">
            <a:solidFill>
              <a:srgbClr val="EADFC6"/>
            </a:solidFill>
            <a:prstDash val="solid"/>
          </a:ln>
        </p:spPr>
      </p:sp>
      <p:sp>
        <p:nvSpPr>
          <p:cNvPr id="16" name="Text 14"/>
          <p:cNvSpPr txBox="1"/>
          <p:nvPr/>
        </p:nvSpPr>
        <p:spPr>
          <a:xfrm>
            <a:off x="1006673" y="3367236"/>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703150"/>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672036"/>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2 bananas-da-terra ou 4 bananas-prata firmes</a:t>
            </a:r>
            <a:endParaRPr lang="en-US" sz="1000" dirty="0"/>
          </a:p>
        </p:txBody>
      </p:sp>
      <p:sp>
        <p:nvSpPr>
          <p:cNvPr id="19" name="Shape 17"/>
          <p:cNvSpPr/>
          <p:nvPr/>
        </p:nvSpPr>
        <p:spPr>
          <a:xfrm>
            <a:off x="1006673" y="4112428"/>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4081314"/>
            <a:ext cx="246880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açúcar mascavo</a:t>
            </a:r>
            <a:endParaRPr lang="en-US" sz="1000" dirty="0"/>
          </a:p>
        </p:txBody>
      </p:sp>
      <p:sp>
        <p:nvSpPr>
          <p:cNvPr id="21" name="Shape 19"/>
          <p:cNvSpPr/>
          <p:nvPr/>
        </p:nvSpPr>
        <p:spPr>
          <a:xfrm>
            <a:off x="1006673" y="4331354"/>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300240"/>
            <a:ext cx="200525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canela em pó</a:t>
            </a:r>
            <a:endParaRPr lang="en-US" sz="1000" dirty="0"/>
          </a:p>
        </p:txBody>
      </p:sp>
      <p:sp>
        <p:nvSpPr>
          <p:cNvPr id="23" name="Shape 21"/>
          <p:cNvSpPr/>
          <p:nvPr/>
        </p:nvSpPr>
        <p:spPr>
          <a:xfrm>
            <a:off x="1006673" y="4550280"/>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519166"/>
            <a:ext cx="200125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manteiga</a:t>
            </a:r>
            <a:endParaRPr lang="en-US" sz="1000" dirty="0"/>
          </a:p>
        </p:txBody>
      </p:sp>
      <p:sp>
        <p:nvSpPr>
          <p:cNvPr id="25" name="Shape 23"/>
          <p:cNvSpPr/>
          <p:nvPr/>
        </p:nvSpPr>
        <p:spPr>
          <a:xfrm>
            <a:off x="1006673" y="4769206"/>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738092"/>
            <a:ext cx="168587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ml de rum ou cachaça</a:t>
            </a:r>
            <a:endParaRPr lang="en-US" sz="1000" dirty="0"/>
          </a:p>
        </p:txBody>
      </p:sp>
      <p:sp>
        <p:nvSpPr>
          <p:cNvPr id="27" name="Shape 25"/>
          <p:cNvSpPr/>
          <p:nvPr/>
        </p:nvSpPr>
        <p:spPr>
          <a:xfrm>
            <a:off x="1006673" y="4988132"/>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4957018"/>
            <a:ext cx="108997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de 1 laranja</a:t>
            </a:r>
            <a:endParaRPr lang="en-US" sz="1000" dirty="0"/>
          </a:p>
        </p:txBody>
      </p:sp>
      <p:sp>
        <p:nvSpPr>
          <p:cNvPr id="29" name="Shape 27"/>
          <p:cNvSpPr/>
          <p:nvPr/>
        </p:nvSpPr>
        <p:spPr>
          <a:xfrm>
            <a:off x="1006673" y="5207059"/>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175945"/>
            <a:ext cx="9455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pitada de sal</a:t>
            </a:r>
            <a:endParaRPr lang="en-US" sz="1000" dirty="0"/>
          </a:p>
        </p:txBody>
      </p:sp>
      <p:sp>
        <p:nvSpPr>
          <p:cNvPr id="31" name="Shape 29"/>
          <p:cNvSpPr/>
          <p:nvPr/>
        </p:nvSpPr>
        <p:spPr>
          <a:xfrm>
            <a:off x="1006673" y="5425985"/>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5394871"/>
            <a:ext cx="190707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Sorvete de creme para servir</a:t>
            </a:r>
            <a:endParaRPr lang="en-US" sz="1000" dirty="0"/>
          </a:p>
        </p:txBody>
      </p:sp>
      <p:sp>
        <p:nvSpPr>
          <p:cNvPr id="33" name="Text 31"/>
          <p:cNvSpPr txBox="1"/>
          <p:nvPr/>
        </p:nvSpPr>
        <p:spPr>
          <a:xfrm>
            <a:off x="863798" y="5747147"/>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4" name="Shape 32"/>
          <p:cNvSpPr/>
          <p:nvPr/>
        </p:nvSpPr>
        <p:spPr>
          <a:xfrm>
            <a:off x="863798" y="6090047"/>
            <a:ext cx="190500" cy="190500"/>
          </a:xfrm>
          <a:prstGeom prst="ellipse">
            <a:avLst/>
          </a:prstGeom>
          <a:solidFill>
            <a:srgbClr val="2F4A22"/>
          </a:solidFill>
          <a:ln/>
        </p:spPr>
      </p:sp>
      <p:sp>
        <p:nvSpPr>
          <p:cNvPr id="35" name="Text 33"/>
          <p:cNvSpPr txBox="1"/>
          <p:nvPr/>
        </p:nvSpPr>
        <p:spPr>
          <a:xfrm>
            <a:off x="883295" y="6118622"/>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6" name="Text 34"/>
          <p:cNvSpPr txBox="1"/>
          <p:nvPr/>
        </p:nvSpPr>
        <p:spPr>
          <a:xfrm>
            <a:off x="1149548" y="609004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Corte as bananas ao meio no sentido do comprimento (e ao meio na largura, se forem grandes).</a:t>
            </a:r>
            <a:endParaRPr lang="en-US" sz="1000" dirty="0"/>
          </a:p>
        </p:txBody>
      </p:sp>
      <p:sp>
        <p:nvSpPr>
          <p:cNvPr id="37" name="Shape 35"/>
          <p:cNvSpPr/>
          <p:nvPr/>
        </p:nvSpPr>
        <p:spPr>
          <a:xfrm>
            <a:off x="863798" y="6518374"/>
            <a:ext cx="190500" cy="190500"/>
          </a:xfrm>
          <a:prstGeom prst="ellipse">
            <a:avLst/>
          </a:prstGeom>
          <a:solidFill>
            <a:srgbClr val="2F4A22"/>
          </a:solidFill>
          <a:ln/>
        </p:spPr>
      </p:sp>
      <p:sp>
        <p:nvSpPr>
          <p:cNvPr id="38" name="Text 36"/>
          <p:cNvSpPr txBox="1"/>
          <p:nvPr/>
        </p:nvSpPr>
        <p:spPr>
          <a:xfrm>
            <a:off x="872579" y="6546949"/>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9" name="Text 37"/>
          <p:cNvSpPr txBox="1"/>
          <p:nvPr/>
        </p:nvSpPr>
        <p:spPr>
          <a:xfrm>
            <a:off x="1149548" y="6518374"/>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Misture o açúcar mascavo com a canela e o sal e polvilhe sobre o lado cortado das bananas, pressionando.</a:t>
            </a:r>
            <a:endParaRPr lang="en-US" sz="1000" dirty="0"/>
          </a:p>
        </p:txBody>
      </p:sp>
      <p:sp>
        <p:nvSpPr>
          <p:cNvPr id="40" name="Shape 38"/>
          <p:cNvSpPr/>
          <p:nvPr/>
        </p:nvSpPr>
        <p:spPr>
          <a:xfrm>
            <a:off x="863798" y="6946702"/>
            <a:ext cx="190500" cy="190500"/>
          </a:xfrm>
          <a:prstGeom prst="ellipse">
            <a:avLst/>
          </a:prstGeom>
          <a:solidFill>
            <a:srgbClr val="2F4A22"/>
          </a:solidFill>
          <a:ln/>
        </p:spPr>
      </p:sp>
      <p:sp>
        <p:nvSpPr>
          <p:cNvPr id="41" name="Text 39"/>
          <p:cNvSpPr txBox="1"/>
          <p:nvPr/>
        </p:nvSpPr>
        <p:spPr>
          <a:xfrm>
            <a:off x="871240" y="6975277"/>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2" name="Text 40"/>
          <p:cNvSpPr txBox="1"/>
          <p:nvPr/>
        </p:nvSpPr>
        <p:spPr>
          <a:xfrm>
            <a:off x="1149548" y="6946702"/>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Aqueça a manteiga numa frigideira até espumar. Coloque as bananas com o lado do açúcar para baixo e não mexa por 2 a 3 minutos, até formar uma crosta. Vire com cuidado.</a:t>
            </a:r>
            <a:endParaRPr lang="en-US" sz="1000" dirty="0"/>
          </a:p>
        </p:txBody>
      </p:sp>
      <p:sp>
        <p:nvSpPr>
          <p:cNvPr id="43" name="Shape 41"/>
          <p:cNvSpPr/>
          <p:nvPr/>
        </p:nvSpPr>
        <p:spPr>
          <a:xfrm>
            <a:off x="863798" y="7375029"/>
            <a:ext cx="190500" cy="190500"/>
          </a:xfrm>
          <a:prstGeom prst="ellipse">
            <a:avLst/>
          </a:prstGeom>
          <a:solidFill>
            <a:srgbClr val="2F4A22"/>
          </a:solidFill>
          <a:ln/>
        </p:spPr>
      </p:sp>
      <p:sp>
        <p:nvSpPr>
          <p:cNvPr id="44" name="Text 42"/>
          <p:cNvSpPr txBox="1"/>
          <p:nvPr/>
        </p:nvSpPr>
        <p:spPr>
          <a:xfrm>
            <a:off x="868859" y="7403604"/>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5" name="Text 43"/>
          <p:cNvSpPr txBox="1"/>
          <p:nvPr/>
        </p:nvSpPr>
        <p:spPr>
          <a:xfrm>
            <a:off x="1149548" y="7375029"/>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Flambe com segurança: desligue o fogo, coloque o rum medido num copinho e despeje na frigideira. Afaste o rosto, religue o fogo e incline levemente a frigideira (ou acenda com um fósforo longo). Deixe a chama apagar sozinha.</a:t>
            </a:r>
            <a:endParaRPr lang="en-US" sz="1000" dirty="0"/>
          </a:p>
        </p:txBody>
      </p:sp>
      <p:sp>
        <p:nvSpPr>
          <p:cNvPr id="46" name="Shape 44"/>
          <p:cNvSpPr/>
          <p:nvPr/>
        </p:nvSpPr>
        <p:spPr>
          <a:xfrm>
            <a:off x="863798" y="7993707"/>
            <a:ext cx="190500" cy="190500"/>
          </a:xfrm>
          <a:prstGeom prst="ellipse">
            <a:avLst/>
          </a:prstGeom>
          <a:solidFill>
            <a:srgbClr val="2F4A22"/>
          </a:solidFill>
          <a:ln/>
        </p:spPr>
      </p:sp>
      <p:sp>
        <p:nvSpPr>
          <p:cNvPr id="47" name="Text 45"/>
          <p:cNvSpPr txBox="1"/>
          <p:nvPr/>
        </p:nvSpPr>
        <p:spPr>
          <a:xfrm>
            <a:off x="870198" y="8022282"/>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8" name="Text 46"/>
          <p:cNvSpPr txBox="1"/>
          <p:nvPr/>
        </p:nvSpPr>
        <p:spPr>
          <a:xfrm>
            <a:off x="1149548" y="7993707"/>
            <a:ext cx="50541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Junte o suco de laranja e deixe borbulhar por 1 minuto, até formar uma calda.</a:t>
            </a:r>
            <a:endParaRPr lang="en-US" sz="1000" dirty="0"/>
          </a:p>
        </p:txBody>
      </p:sp>
      <p:sp>
        <p:nvSpPr>
          <p:cNvPr id="49" name="Shape 47"/>
          <p:cNvSpPr/>
          <p:nvPr/>
        </p:nvSpPr>
        <p:spPr>
          <a:xfrm>
            <a:off x="863798" y="8241357"/>
            <a:ext cx="190500" cy="190500"/>
          </a:xfrm>
          <a:prstGeom prst="ellipse">
            <a:avLst/>
          </a:prstGeom>
          <a:solidFill>
            <a:srgbClr val="2F4A22"/>
          </a:solidFill>
          <a:ln/>
        </p:spPr>
      </p:sp>
      <p:sp>
        <p:nvSpPr>
          <p:cNvPr id="50" name="Text 48"/>
          <p:cNvSpPr txBox="1"/>
          <p:nvPr/>
        </p:nvSpPr>
        <p:spPr>
          <a:xfrm>
            <a:off x="869603" y="8269932"/>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1" name="Text 49"/>
          <p:cNvSpPr txBox="1"/>
          <p:nvPr/>
        </p:nvSpPr>
        <p:spPr>
          <a:xfrm>
            <a:off x="1149548" y="8241357"/>
            <a:ext cx="40430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Sirva as bananas quentes com a calda e uma bola de sorvete.</a:t>
            </a:r>
            <a:endParaRPr lang="en-US" sz="1000" dirty="0"/>
          </a:p>
        </p:txBody>
      </p:sp>
      <p:sp>
        <p:nvSpPr>
          <p:cNvPr id="52" name="Shape 50"/>
          <p:cNvSpPr/>
          <p:nvPr/>
        </p:nvSpPr>
        <p:spPr>
          <a:xfrm>
            <a:off x="863798" y="8527107"/>
            <a:ext cx="5832277" cy="780604"/>
          </a:xfrm>
          <a:prstGeom prst="roundRect">
            <a:avLst>
              <a:gd name="adj" fmla="val 21609"/>
            </a:avLst>
          </a:prstGeom>
          <a:solidFill>
            <a:srgbClr val="2F4A22"/>
          </a:solidFill>
          <a:ln/>
        </p:spPr>
      </p:sp>
      <p:sp>
        <p:nvSpPr>
          <p:cNvPr id="53" name="Text 51"/>
          <p:cNvSpPr txBox="1"/>
          <p:nvPr/>
        </p:nvSpPr>
        <p:spPr>
          <a:xfrm>
            <a:off x="997148" y="8641407"/>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4" name="Text 52"/>
          <p:cNvSpPr txBox="1"/>
          <p:nvPr/>
        </p:nvSpPr>
        <p:spPr>
          <a:xfrm>
            <a:off x="2279749" y="8641407"/>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Nunca despeje a bebida direto da garrafa perto do fogo, e desligue o exaustor durante a flambagem. Flambar queima o álcool e deixa só o aroma da bebida na calda.</a:t>
            </a:r>
            <a:endParaRPr lang="en-US" sz="1000" dirty="0"/>
          </a:p>
        </p:txBody>
      </p:sp>
      <p:sp>
        <p:nvSpPr>
          <p:cNvPr id="55" name="Text 53"/>
          <p:cNvSpPr txBox="1"/>
          <p:nvPr/>
        </p:nvSpPr>
        <p:spPr>
          <a:xfrm>
            <a:off x="863798" y="9504611"/>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6" name="Text 54"/>
          <p:cNvSpPr txBox="1"/>
          <p:nvPr/>
        </p:nvSpPr>
        <p:spPr>
          <a:xfrm>
            <a:off x="6559600" y="9504611"/>
            <a:ext cx="25077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22</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617762"/>
            <a:ext cx="6696075" cy="7456289"/>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004120"/>
            <a:ext cx="1885069"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O PULO DO CHEF · BANANA</a:t>
            </a:r>
            <a:endParaRPr lang="en-US" sz="750" dirty="0"/>
          </a:p>
        </p:txBody>
      </p:sp>
      <p:sp>
        <p:nvSpPr>
          <p:cNvPr id="4" name="Text 2"/>
          <p:cNvSpPr txBox="1"/>
          <p:nvPr/>
        </p:nvSpPr>
        <p:spPr>
          <a:xfrm>
            <a:off x="863798" y="2184464"/>
            <a:ext cx="6455640"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BANANA QUE VIRA PAPA NA FRIGIDEIRA</a:t>
            </a:r>
            <a:endParaRPr lang="en-US" sz="2200" dirty="0"/>
          </a:p>
        </p:txBody>
      </p:sp>
      <p:sp>
        <p:nvSpPr>
          <p:cNvPr id="5" name="Text 3"/>
          <p:cNvSpPr txBox="1"/>
          <p:nvPr/>
        </p:nvSpPr>
        <p:spPr>
          <a:xfrm>
            <a:off x="863798" y="2678906"/>
            <a:ext cx="8712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 ERRO</a:t>
            </a:r>
            <a:endParaRPr lang="en-US" sz="1500" dirty="0"/>
          </a:p>
        </p:txBody>
      </p:sp>
      <p:sp>
        <p:nvSpPr>
          <p:cNvPr id="6" name="Text 4"/>
          <p:cNvSpPr txBox="1"/>
          <p:nvPr/>
        </p:nvSpPr>
        <p:spPr>
          <a:xfrm>
            <a:off x="863798" y="3021806"/>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Colocar a banana em frigideira morna e ficar mexendo. Ela solta líquido, cozinha no próprio vapor e desmancha antes de dourar.</a:t>
            </a:r>
            <a:endParaRPr lang="en-US" sz="1000" dirty="0"/>
          </a:p>
        </p:txBody>
      </p:sp>
      <p:sp>
        <p:nvSpPr>
          <p:cNvPr id="7" name="Text 5"/>
          <p:cNvSpPr txBox="1"/>
          <p:nvPr/>
        </p:nvSpPr>
        <p:spPr>
          <a:xfrm>
            <a:off x="863798" y="3593009"/>
            <a:ext cx="1202317"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 TÉCNICA</a:t>
            </a:r>
            <a:endParaRPr lang="en-US" sz="1500" dirty="0"/>
          </a:p>
        </p:txBody>
      </p:sp>
      <p:sp>
        <p:nvSpPr>
          <p:cNvPr id="8" name="Shape 6"/>
          <p:cNvSpPr/>
          <p:nvPr/>
        </p:nvSpPr>
        <p:spPr>
          <a:xfrm>
            <a:off x="863798" y="3935909"/>
            <a:ext cx="190500" cy="190500"/>
          </a:xfrm>
          <a:prstGeom prst="ellipse">
            <a:avLst/>
          </a:prstGeom>
          <a:solidFill>
            <a:srgbClr val="2F4A22"/>
          </a:solidFill>
          <a:ln/>
        </p:spPr>
      </p:sp>
      <p:sp>
        <p:nvSpPr>
          <p:cNvPr id="9" name="Text 7"/>
          <p:cNvSpPr txBox="1"/>
          <p:nvPr/>
        </p:nvSpPr>
        <p:spPr>
          <a:xfrm>
            <a:off x="883295" y="3964484"/>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10" name="Text 8"/>
          <p:cNvSpPr txBox="1"/>
          <p:nvPr/>
        </p:nvSpPr>
        <p:spPr>
          <a:xfrm>
            <a:off x="1149548" y="3935909"/>
            <a:ext cx="546368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Frigideira quente de verdade, com a gordura já brilhando, antes de a banana entrar.</a:t>
            </a:r>
            <a:endParaRPr lang="en-US" sz="1000" dirty="0"/>
          </a:p>
        </p:txBody>
      </p:sp>
      <p:sp>
        <p:nvSpPr>
          <p:cNvPr id="11" name="Shape 9"/>
          <p:cNvSpPr/>
          <p:nvPr/>
        </p:nvSpPr>
        <p:spPr>
          <a:xfrm>
            <a:off x="863798" y="4183559"/>
            <a:ext cx="190500" cy="190500"/>
          </a:xfrm>
          <a:prstGeom prst="ellipse">
            <a:avLst/>
          </a:prstGeom>
          <a:solidFill>
            <a:srgbClr val="2F4A22"/>
          </a:solidFill>
          <a:ln/>
        </p:spPr>
      </p:sp>
      <p:sp>
        <p:nvSpPr>
          <p:cNvPr id="12" name="Text 10"/>
          <p:cNvSpPr txBox="1"/>
          <p:nvPr/>
        </p:nvSpPr>
        <p:spPr>
          <a:xfrm>
            <a:off x="872579" y="4212134"/>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13" name="Text 11"/>
          <p:cNvSpPr txBox="1"/>
          <p:nvPr/>
        </p:nvSpPr>
        <p:spPr>
          <a:xfrm>
            <a:off x="1149548" y="4183559"/>
            <a:ext cx="366679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Espaço: não amontoe. Se precisar, doure em duas levas.</a:t>
            </a:r>
            <a:endParaRPr lang="en-US" sz="1000" dirty="0"/>
          </a:p>
        </p:txBody>
      </p:sp>
      <p:sp>
        <p:nvSpPr>
          <p:cNvPr id="14" name="Shape 12"/>
          <p:cNvSpPr/>
          <p:nvPr/>
        </p:nvSpPr>
        <p:spPr>
          <a:xfrm>
            <a:off x="863798" y="4431209"/>
            <a:ext cx="190500" cy="190500"/>
          </a:xfrm>
          <a:prstGeom prst="ellipse">
            <a:avLst/>
          </a:prstGeom>
          <a:solidFill>
            <a:srgbClr val="2F4A22"/>
          </a:solidFill>
          <a:ln/>
        </p:spPr>
      </p:sp>
      <p:sp>
        <p:nvSpPr>
          <p:cNvPr id="15" name="Text 13"/>
          <p:cNvSpPr txBox="1"/>
          <p:nvPr/>
        </p:nvSpPr>
        <p:spPr>
          <a:xfrm>
            <a:off x="871240" y="4459784"/>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16" name="Text 14"/>
          <p:cNvSpPr txBox="1"/>
          <p:nvPr/>
        </p:nvSpPr>
        <p:spPr>
          <a:xfrm>
            <a:off x="1149548" y="4431209"/>
            <a:ext cx="365612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Não mexa: deixe 2 minutos parada e vire uma única vez.</a:t>
            </a:r>
            <a:endParaRPr lang="en-US" sz="1000" dirty="0"/>
          </a:p>
        </p:txBody>
      </p:sp>
      <p:sp>
        <p:nvSpPr>
          <p:cNvPr id="17" name="Shape 15"/>
          <p:cNvSpPr/>
          <p:nvPr/>
        </p:nvSpPr>
        <p:spPr>
          <a:xfrm>
            <a:off x="863798" y="4678859"/>
            <a:ext cx="190500" cy="190500"/>
          </a:xfrm>
          <a:prstGeom prst="ellipse">
            <a:avLst/>
          </a:prstGeom>
          <a:solidFill>
            <a:srgbClr val="2F4A22"/>
          </a:solidFill>
          <a:ln/>
        </p:spPr>
      </p:sp>
      <p:sp>
        <p:nvSpPr>
          <p:cNvPr id="18" name="Text 16"/>
          <p:cNvSpPr txBox="1"/>
          <p:nvPr/>
        </p:nvSpPr>
        <p:spPr>
          <a:xfrm>
            <a:off x="868859" y="4707434"/>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19" name="Text 17"/>
          <p:cNvSpPr txBox="1"/>
          <p:nvPr/>
        </p:nvSpPr>
        <p:spPr>
          <a:xfrm>
            <a:off x="1149548" y="4678859"/>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Banana no ponto: amarela com pintinhas. Preta demais desmancha; verde demais não carameliza.</a:t>
            </a:r>
            <a:endParaRPr lang="en-US" sz="1000" dirty="0"/>
          </a:p>
        </p:txBody>
      </p:sp>
      <p:sp>
        <p:nvSpPr>
          <p:cNvPr id="20" name="Text 18"/>
          <p:cNvSpPr txBox="1"/>
          <p:nvPr/>
        </p:nvSpPr>
        <p:spPr>
          <a:xfrm>
            <a:off x="863798" y="5250061"/>
            <a:ext cx="17003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NÃO TEM ISSO?</a:t>
            </a:r>
            <a:endParaRPr lang="en-US" sz="1500" dirty="0"/>
          </a:p>
        </p:txBody>
      </p:sp>
      <p:sp>
        <p:nvSpPr>
          <p:cNvPr id="21" name="Shape 19"/>
          <p:cNvSpPr/>
          <p:nvPr/>
        </p:nvSpPr>
        <p:spPr>
          <a:xfrm>
            <a:off x="863798" y="5583436"/>
            <a:ext cx="5832277" cy="2927449"/>
          </a:xfrm>
          <a:prstGeom prst="roundRect">
            <a:avLst>
              <a:gd name="adj" fmla="val 1152"/>
            </a:avLst>
          </a:prstGeom>
          <a:ln w="9525">
            <a:solidFill>
              <a:srgbClr val="EADFC6"/>
            </a:solidFill>
            <a:prstDash val="solid"/>
          </a:ln>
        </p:spPr>
      </p:sp>
      <p:sp>
        <p:nvSpPr>
          <p:cNvPr id="22" name="Shape 20"/>
          <p:cNvSpPr/>
          <p:nvPr/>
        </p:nvSpPr>
        <p:spPr>
          <a:xfrm>
            <a:off x="873323" y="5592961"/>
            <a:ext cx="1976437" cy="261937"/>
          </a:xfrm>
          <a:prstGeom prst="rect">
            <a:avLst/>
          </a:prstGeom>
          <a:solidFill>
            <a:srgbClr val="2F4A22"/>
          </a:solidFill>
          <a:ln/>
        </p:spPr>
      </p:sp>
      <p:sp>
        <p:nvSpPr>
          <p:cNvPr id="23" name="Text 21"/>
          <p:cNvSpPr txBox="1"/>
          <p:nvPr/>
        </p:nvSpPr>
        <p:spPr>
          <a:xfrm>
            <a:off x="978098" y="5659636"/>
            <a:ext cx="948184"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SE NÃO TIVER…</a:t>
            </a:r>
            <a:endParaRPr lang="en-US" sz="720" dirty="0"/>
          </a:p>
        </p:txBody>
      </p:sp>
      <p:sp>
        <p:nvSpPr>
          <p:cNvPr id="24" name="Shape 22"/>
          <p:cNvSpPr/>
          <p:nvPr/>
        </p:nvSpPr>
        <p:spPr>
          <a:xfrm>
            <a:off x="2849761" y="5592961"/>
            <a:ext cx="3836789" cy="261937"/>
          </a:xfrm>
          <a:prstGeom prst="rect">
            <a:avLst/>
          </a:prstGeom>
          <a:solidFill>
            <a:srgbClr val="2F4A22"/>
          </a:solidFill>
          <a:ln/>
        </p:spPr>
      </p:sp>
      <p:sp>
        <p:nvSpPr>
          <p:cNvPr id="25" name="Text 23"/>
          <p:cNvSpPr txBox="1"/>
          <p:nvPr/>
        </p:nvSpPr>
        <p:spPr>
          <a:xfrm>
            <a:off x="2954536" y="5659636"/>
            <a:ext cx="399008"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USE…</a:t>
            </a:r>
            <a:endParaRPr lang="en-US" sz="720" dirty="0"/>
          </a:p>
        </p:txBody>
      </p:sp>
      <p:sp>
        <p:nvSpPr>
          <p:cNvPr id="26" name="Shape 24"/>
          <p:cNvSpPr/>
          <p:nvPr/>
        </p:nvSpPr>
        <p:spPr>
          <a:xfrm>
            <a:off x="873323" y="5854898"/>
            <a:ext cx="1976437" cy="0"/>
          </a:xfrm>
          <a:prstGeom prst="line">
            <a:avLst/>
          </a:prstGeom>
          <a:noFill/>
          <a:ln w="9525">
            <a:solidFill>
              <a:srgbClr val="EADFC6"/>
            </a:solidFill>
            <a:prstDash val="solid"/>
          </a:ln>
        </p:spPr>
      </p:sp>
      <p:sp>
        <p:nvSpPr>
          <p:cNvPr id="27" name="Text 25"/>
          <p:cNvSpPr txBox="1"/>
          <p:nvPr/>
        </p:nvSpPr>
        <p:spPr>
          <a:xfrm>
            <a:off x="978098" y="5921573"/>
            <a:ext cx="1210818"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Banana-da-terra</a:t>
            </a:r>
            <a:endParaRPr lang="en-US" sz="1050" dirty="0"/>
          </a:p>
        </p:txBody>
      </p:sp>
      <p:sp>
        <p:nvSpPr>
          <p:cNvPr id="28" name="Shape 26"/>
          <p:cNvSpPr/>
          <p:nvPr/>
        </p:nvSpPr>
        <p:spPr>
          <a:xfrm>
            <a:off x="2849761" y="5854898"/>
            <a:ext cx="3836789" cy="0"/>
          </a:xfrm>
          <a:prstGeom prst="line">
            <a:avLst/>
          </a:prstGeom>
          <a:noFill/>
          <a:ln w="9525">
            <a:solidFill>
              <a:srgbClr val="EADFC6"/>
            </a:solidFill>
            <a:prstDash val="solid"/>
          </a:ln>
        </p:spPr>
      </p:sp>
      <p:sp>
        <p:nvSpPr>
          <p:cNvPr id="29" name="Text 27"/>
          <p:cNvSpPr txBox="1"/>
          <p:nvPr/>
        </p:nvSpPr>
        <p:spPr>
          <a:xfrm>
            <a:off x="2954536" y="5931098"/>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Banana-prata firme (cozinha mais rápido: reduza os tempos pela metade).</a:t>
            </a:r>
            <a:endParaRPr lang="en-US" sz="1000" dirty="0"/>
          </a:p>
        </p:txBody>
      </p:sp>
      <p:sp>
        <p:nvSpPr>
          <p:cNvPr id="30" name="Shape 28"/>
          <p:cNvSpPr/>
          <p:nvPr/>
        </p:nvSpPr>
        <p:spPr>
          <a:xfrm>
            <a:off x="873323" y="6359426"/>
            <a:ext cx="1976437" cy="504527"/>
          </a:xfrm>
          <a:prstGeom prst="rect">
            <a:avLst/>
          </a:prstGeom>
          <a:solidFill>
            <a:srgbClr val="FBF4E4"/>
          </a:solidFill>
          <a:ln/>
        </p:spPr>
      </p:sp>
      <p:sp>
        <p:nvSpPr>
          <p:cNvPr id="31" name="Shape 29"/>
          <p:cNvSpPr/>
          <p:nvPr/>
        </p:nvSpPr>
        <p:spPr>
          <a:xfrm>
            <a:off x="873323" y="6359426"/>
            <a:ext cx="1976437" cy="0"/>
          </a:xfrm>
          <a:prstGeom prst="line">
            <a:avLst/>
          </a:prstGeom>
          <a:noFill/>
          <a:ln w="9525">
            <a:solidFill>
              <a:srgbClr val="EADFC6"/>
            </a:solidFill>
            <a:prstDash val="solid"/>
          </a:ln>
        </p:spPr>
      </p:sp>
      <p:sp>
        <p:nvSpPr>
          <p:cNvPr id="32" name="Text 30"/>
          <p:cNvSpPr txBox="1"/>
          <p:nvPr/>
        </p:nvSpPr>
        <p:spPr>
          <a:xfrm>
            <a:off x="978098" y="6426101"/>
            <a:ext cx="1125307"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Azeite de dendê</a:t>
            </a:r>
            <a:endParaRPr lang="en-US" sz="1050" dirty="0"/>
          </a:p>
        </p:txBody>
      </p:sp>
      <p:sp>
        <p:nvSpPr>
          <p:cNvPr id="33" name="Shape 31"/>
          <p:cNvSpPr/>
          <p:nvPr/>
        </p:nvSpPr>
        <p:spPr>
          <a:xfrm>
            <a:off x="2849761" y="6359426"/>
            <a:ext cx="3836789" cy="504527"/>
          </a:xfrm>
          <a:prstGeom prst="rect">
            <a:avLst/>
          </a:prstGeom>
          <a:solidFill>
            <a:srgbClr val="FBF4E4"/>
          </a:solidFill>
          <a:ln/>
        </p:spPr>
      </p:sp>
      <p:sp>
        <p:nvSpPr>
          <p:cNvPr id="34" name="Shape 32"/>
          <p:cNvSpPr/>
          <p:nvPr/>
        </p:nvSpPr>
        <p:spPr>
          <a:xfrm>
            <a:off x="2849761" y="6359426"/>
            <a:ext cx="3836789" cy="0"/>
          </a:xfrm>
          <a:prstGeom prst="line">
            <a:avLst/>
          </a:prstGeom>
          <a:noFill/>
          <a:ln w="9525">
            <a:solidFill>
              <a:srgbClr val="EADFC6"/>
            </a:solidFill>
            <a:prstDash val="solid"/>
          </a:ln>
        </p:spPr>
      </p:sp>
      <p:sp>
        <p:nvSpPr>
          <p:cNvPr id="35" name="Text 33"/>
          <p:cNvSpPr txBox="1"/>
          <p:nvPr/>
        </p:nvSpPr>
        <p:spPr>
          <a:xfrm>
            <a:off x="2954536" y="6435626"/>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Azeite comum com 1 colher (chá) de colorau ou páprica doce.</a:t>
            </a:r>
            <a:endParaRPr lang="en-US" sz="1000" dirty="0"/>
          </a:p>
        </p:txBody>
      </p:sp>
      <p:sp>
        <p:nvSpPr>
          <p:cNvPr id="36" name="Shape 34"/>
          <p:cNvSpPr/>
          <p:nvPr/>
        </p:nvSpPr>
        <p:spPr>
          <a:xfrm>
            <a:off x="873323" y="6863953"/>
            <a:ext cx="1976437" cy="0"/>
          </a:xfrm>
          <a:prstGeom prst="line">
            <a:avLst/>
          </a:prstGeom>
          <a:noFill/>
          <a:ln w="9525">
            <a:solidFill>
              <a:srgbClr val="EADFC6"/>
            </a:solidFill>
            <a:prstDash val="solid"/>
          </a:ln>
        </p:spPr>
      </p:sp>
      <p:sp>
        <p:nvSpPr>
          <p:cNvPr id="37" name="Text 35"/>
          <p:cNvSpPr txBox="1"/>
          <p:nvPr/>
        </p:nvSpPr>
        <p:spPr>
          <a:xfrm>
            <a:off x="978098" y="6930628"/>
            <a:ext cx="944463"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Leite de coco</a:t>
            </a:r>
            <a:endParaRPr lang="en-US" sz="1050" dirty="0"/>
          </a:p>
        </p:txBody>
      </p:sp>
      <p:sp>
        <p:nvSpPr>
          <p:cNvPr id="38" name="Shape 36"/>
          <p:cNvSpPr/>
          <p:nvPr/>
        </p:nvSpPr>
        <p:spPr>
          <a:xfrm>
            <a:off x="2849761" y="6863953"/>
            <a:ext cx="3836789" cy="0"/>
          </a:xfrm>
          <a:prstGeom prst="line">
            <a:avLst/>
          </a:prstGeom>
          <a:noFill/>
          <a:ln w="9525">
            <a:solidFill>
              <a:srgbClr val="EADFC6"/>
            </a:solidFill>
            <a:prstDash val="solid"/>
          </a:ln>
        </p:spPr>
      </p:sp>
      <p:sp>
        <p:nvSpPr>
          <p:cNvPr id="39" name="Text 37"/>
          <p:cNvSpPr txBox="1"/>
          <p:nvPr/>
        </p:nvSpPr>
        <p:spPr>
          <a:xfrm>
            <a:off x="2954536" y="6940153"/>
            <a:ext cx="353477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Creme de leite com 2 colheres (sopa) de coco ralado.</a:t>
            </a:r>
            <a:endParaRPr lang="en-US" sz="1000" dirty="0"/>
          </a:p>
        </p:txBody>
      </p:sp>
      <p:sp>
        <p:nvSpPr>
          <p:cNvPr id="40" name="Shape 38"/>
          <p:cNvSpPr/>
          <p:nvPr/>
        </p:nvSpPr>
        <p:spPr>
          <a:xfrm>
            <a:off x="873323" y="7178129"/>
            <a:ext cx="1976437" cy="504527"/>
          </a:xfrm>
          <a:prstGeom prst="rect">
            <a:avLst/>
          </a:prstGeom>
          <a:solidFill>
            <a:srgbClr val="FBF4E4"/>
          </a:solidFill>
          <a:ln/>
        </p:spPr>
      </p:sp>
      <p:sp>
        <p:nvSpPr>
          <p:cNvPr id="41" name="Shape 39"/>
          <p:cNvSpPr/>
          <p:nvPr/>
        </p:nvSpPr>
        <p:spPr>
          <a:xfrm>
            <a:off x="873323" y="7178129"/>
            <a:ext cx="1976437" cy="0"/>
          </a:xfrm>
          <a:prstGeom prst="line">
            <a:avLst/>
          </a:prstGeom>
          <a:noFill/>
          <a:ln w="9525">
            <a:solidFill>
              <a:srgbClr val="EADFC6"/>
            </a:solidFill>
            <a:prstDash val="solid"/>
          </a:ln>
        </p:spPr>
      </p:sp>
      <p:sp>
        <p:nvSpPr>
          <p:cNvPr id="42" name="Text 40"/>
          <p:cNvSpPr txBox="1"/>
          <p:nvPr/>
        </p:nvSpPr>
        <p:spPr>
          <a:xfrm>
            <a:off x="978098" y="7244804"/>
            <a:ext cx="1177481"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Rum ou cachaça</a:t>
            </a:r>
            <a:endParaRPr lang="en-US" sz="1050" dirty="0"/>
          </a:p>
        </p:txBody>
      </p:sp>
      <p:sp>
        <p:nvSpPr>
          <p:cNvPr id="43" name="Shape 41"/>
          <p:cNvSpPr/>
          <p:nvPr/>
        </p:nvSpPr>
        <p:spPr>
          <a:xfrm>
            <a:off x="2849761" y="7178129"/>
            <a:ext cx="3836789" cy="504527"/>
          </a:xfrm>
          <a:prstGeom prst="rect">
            <a:avLst/>
          </a:prstGeom>
          <a:solidFill>
            <a:srgbClr val="FBF4E4"/>
          </a:solidFill>
          <a:ln/>
        </p:spPr>
      </p:sp>
      <p:sp>
        <p:nvSpPr>
          <p:cNvPr id="44" name="Shape 42"/>
          <p:cNvSpPr/>
          <p:nvPr/>
        </p:nvSpPr>
        <p:spPr>
          <a:xfrm>
            <a:off x="2849761" y="7178129"/>
            <a:ext cx="3836789" cy="0"/>
          </a:xfrm>
          <a:prstGeom prst="line">
            <a:avLst/>
          </a:prstGeom>
          <a:noFill/>
          <a:ln w="9525">
            <a:solidFill>
              <a:srgbClr val="EADFC6"/>
            </a:solidFill>
            <a:prstDash val="solid"/>
          </a:ln>
        </p:spPr>
      </p:sp>
      <p:sp>
        <p:nvSpPr>
          <p:cNvPr id="45" name="Text 43"/>
          <p:cNvSpPr txBox="1"/>
          <p:nvPr/>
        </p:nvSpPr>
        <p:spPr>
          <a:xfrm>
            <a:off x="2954536" y="7254329"/>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Conhaque ou uísque. Sem álcool: dobre o suco de laranja e pule a flambagem.</a:t>
            </a:r>
            <a:endParaRPr lang="en-US" sz="1000" dirty="0"/>
          </a:p>
        </p:txBody>
      </p:sp>
      <p:sp>
        <p:nvSpPr>
          <p:cNvPr id="46" name="Shape 44"/>
          <p:cNvSpPr/>
          <p:nvPr/>
        </p:nvSpPr>
        <p:spPr>
          <a:xfrm>
            <a:off x="873323" y="7682657"/>
            <a:ext cx="1976437" cy="0"/>
          </a:xfrm>
          <a:prstGeom prst="line">
            <a:avLst/>
          </a:prstGeom>
          <a:noFill/>
          <a:ln w="9525">
            <a:solidFill>
              <a:srgbClr val="EADFC6"/>
            </a:solidFill>
            <a:prstDash val="solid"/>
          </a:ln>
        </p:spPr>
      </p:sp>
      <p:sp>
        <p:nvSpPr>
          <p:cNvPr id="47" name="Text 45"/>
          <p:cNvSpPr txBox="1"/>
          <p:nvPr/>
        </p:nvSpPr>
        <p:spPr>
          <a:xfrm>
            <a:off x="978098" y="7749332"/>
            <a:ext cx="1177147"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Açúcar mascavo</a:t>
            </a:r>
            <a:endParaRPr lang="en-US" sz="1050" dirty="0"/>
          </a:p>
        </p:txBody>
      </p:sp>
      <p:sp>
        <p:nvSpPr>
          <p:cNvPr id="48" name="Shape 46"/>
          <p:cNvSpPr/>
          <p:nvPr/>
        </p:nvSpPr>
        <p:spPr>
          <a:xfrm>
            <a:off x="2849761" y="7682657"/>
            <a:ext cx="3836789" cy="0"/>
          </a:xfrm>
          <a:prstGeom prst="line">
            <a:avLst/>
          </a:prstGeom>
          <a:noFill/>
          <a:ln w="9525">
            <a:solidFill>
              <a:srgbClr val="EADFC6"/>
            </a:solidFill>
            <a:prstDash val="solid"/>
          </a:ln>
        </p:spPr>
      </p:sp>
      <p:sp>
        <p:nvSpPr>
          <p:cNvPr id="49" name="Text 47"/>
          <p:cNvSpPr txBox="1"/>
          <p:nvPr/>
        </p:nvSpPr>
        <p:spPr>
          <a:xfrm>
            <a:off x="2954536" y="7758857"/>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Açúcar demerara, ou açúcar comum com 1 colher (chá) de melado.</a:t>
            </a:r>
            <a:endParaRPr lang="en-US" sz="1000" dirty="0"/>
          </a:p>
        </p:txBody>
      </p:sp>
      <p:sp>
        <p:nvSpPr>
          <p:cNvPr id="50" name="Shape 48"/>
          <p:cNvSpPr/>
          <p:nvPr/>
        </p:nvSpPr>
        <p:spPr>
          <a:xfrm>
            <a:off x="873323" y="8187184"/>
            <a:ext cx="1976437" cy="314176"/>
          </a:xfrm>
          <a:prstGeom prst="rect">
            <a:avLst/>
          </a:prstGeom>
          <a:solidFill>
            <a:srgbClr val="FBF4E4"/>
          </a:solidFill>
          <a:ln/>
        </p:spPr>
      </p:sp>
      <p:sp>
        <p:nvSpPr>
          <p:cNvPr id="51" name="Shape 49"/>
          <p:cNvSpPr/>
          <p:nvPr/>
        </p:nvSpPr>
        <p:spPr>
          <a:xfrm>
            <a:off x="873323" y="8187184"/>
            <a:ext cx="1976437" cy="0"/>
          </a:xfrm>
          <a:prstGeom prst="line">
            <a:avLst/>
          </a:prstGeom>
          <a:noFill/>
          <a:ln w="9525">
            <a:solidFill>
              <a:srgbClr val="EADFC6"/>
            </a:solidFill>
            <a:prstDash val="solid"/>
          </a:ln>
        </p:spPr>
      </p:sp>
      <p:sp>
        <p:nvSpPr>
          <p:cNvPr id="52" name="Text 50"/>
          <p:cNvSpPr txBox="1"/>
          <p:nvPr/>
        </p:nvSpPr>
        <p:spPr>
          <a:xfrm>
            <a:off x="978098" y="8253859"/>
            <a:ext cx="991046"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Noz-moscada</a:t>
            </a:r>
            <a:endParaRPr lang="en-US" sz="1050" dirty="0"/>
          </a:p>
        </p:txBody>
      </p:sp>
      <p:sp>
        <p:nvSpPr>
          <p:cNvPr id="53" name="Shape 51"/>
          <p:cNvSpPr/>
          <p:nvPr/>
        </p:nvSpPr>
        <p:spPr>
          <a:xfrm>
            <a:off x="2849761" y="8187184"/>
            <a:ext cx="3836789" cy="314176"/>
          </a:xfrm>
          <a:prstGeom prst="rect">
            <a:avLst/>
          </a:prstGeom>
          <a:solidFill>
            <a:srgbClr val="FBF4E4"/>
          </a:solidFill>
          <a:ln/>
        </p:spPr>
      </p:sp>
      <p:sp>
        <p:nvSpPr>
          <p:cNvPr id="54" name="Shape 52"/>
          <p:cNvSpPr/>
          <p:nvPr/>
        </p:nvSpPr>
        <p:spPr>
          <a:xfrm>
            <a:off x="2849761" y="8187184"/>
            <a:ext cx="3836789" cy="0"/>
          </a:xfrm>
          <a:prstGeom prst="line">
            <a:avLst/>
          </a:prstGeom>
          <a:noFill/>
          <a:ln w="9525">
            <a:solidFill>
              <a:srgbClr val="EADFC6"/>
            </a:solidFill>
            <a:prstDash val="solid"/>
          </a:ln>
        </p:spPr>
      </p:sp>
      <p:sp>
        <p:nvSpPr>
          <p:cNvPr id="55" name="Text 53"/>
          <p:cNvSpPr txBox="1"/>
          <p:nvPr/>
        </p:nvSpPr>
        <p:spPr>
          <a:xfrm>
            <a:off x="2954536" y="8263384"/>
            <a:ext cx="273150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Uma pitada de canela ou de cravo em pó.</a:t>
            </a:r>
            <a:endParaRPr lang="en-US" sz="1000" dirty="0"/>
          </a:p>
        </p:txBody>
      </p:sp>
      <p:sp>
        <p:nvSpPr>
          <p:cNvPr id="56" name="Text 54"/>
          <p:cNvSpPr txBox="1"/>
          <p:nvPr/>
        </p:nvSpPr>
        <p:spPr>
          <a:xfrm>
            <a:off x="863798" y="8707785"/>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7" name="Text 55"/>
          <p:cNvSpPr txBox="1"/>
          <p:nvPr/>
        </p:nvSpPr>
        <p:spPr>
          <a:xfrm>
            <a:off x="6557070" y="8707785"/>
            <a:ext cx="25330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23</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3015258"/>
            <a:ext cx="6696075" cy="4661297"/>
          </a:xfrm>
          <a:prstGeom prst="roundRect">
            <a:avLst>
              <a:gd name="adj" fmla="val 758"/>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401616"/>
            <a:ext cx="2494312"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APROVEITA ISSO TAMBÉM · BANANA</a:t>
            </a:r>
            <a:endParaRPr lang="en-US" sz="750" dirty="0"/>
          </a:p>
        </p:txBody>
      </p:sp>
      <p:sp>
        <p:nvSpPr>
          <p:cNvPr id="4" name="Text 2"/>
          <p:cNvSpPr txBox="1"/>
          <p:nvPr/>
        </p:nvSpPr>
        <p:spPr>
          <a:xfrm>
            <a:off x="863798" y="3581960"/>
            <a:ext cx="3681460"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NADA VAI PARA O LIXO</a:t>
            </a:r>
            <a:endParaRPr lang="en-US" sz="2200" dirty="0"/>
          </a:p>
        </p:txBody>
      </p:sp>
      <p:sp>
        <p:nvSpPr>
          <p:cNvPr id="5" name="Shape 3"/>
          <p:cNvSpPr/>
          <p:nvPr/>
        </p:nvSpPr>
        <p:spPr>
          <a:xfrm>
            <a:off x="4896148" y="4085927"/>
            <a:ext cx="1799927" cy="1799927"/>
          </a:xfrm>
          <a:prstGeom prst="ellipse">
            <a:avLst/>
          </a:prstGeom>
          <a:solidFill>
            <a:srgbClr val="FFFFFF"/>
          </a:solidFill>
          <a:ln/>
        </p:spPr>
      </p:sp>
      <p:pic>
        <p:nvPicPr>
          <p:cNvPr id="6" name="Image 0" descr="/home/user/ebook-receitas/versoes/VERSAO ESTAMPAS/fotos/aproveita2.jpg">    </p:cNvPr>
          <p:cNvPicPr>
            <a:picLocks noChangeAspect="1"/>
          </p:cNvPicPr>
          <p:nvPr/>
        </p:nvPicPr>
        <p:blipFill>
          <a:blip r:embed="rId2"/>
          <a:srcRect l="0" r="0" t="0" b="0"/>
          <a:stretch/>
        </p:blipFill>
        <p:spPr>
          <a:xfrm>
            <a:off x="4972348" y="4162127"/>
            <a:ext cx="1647527" cy="1647527"/>
          </a:xfrm>
          <a:prstGeom prst="ellipse">
            <a:avLst/>
          </a:prstGeom>
        </p:spPr>
      </p:pic>
      <p:sp>
        <p:nvSpPr>
          <p:cNvPr id="7" name="Text 4"/>
          <p:cNvSpPr txBox="1"/>
          <p:nvPr/>
        </p:nvSpPr>
        <p:spPr>
          <a:xfrm>
            <a:off x="863798" y="4114502"/>
            <a:ext cx="5832277" cy="485775"/>
          </a:xfrm>
          <a:prstGeom prst="rect">
            <a:avLst/>
          </a:prstGeom>
          <a:noFill/>
          <a:ln/>
        </p:spPr>
        <p:txBody>
          <a:bodyPr wrap="square" lIns="0" tIns="0" rIns="0" bIns="0" rtlCol="0" anchor="t"/>
          <a:lstStyle/>
          <a:p>
            <a:pPr algn="l" indent="0" marL="0">
              <a:lnSpc>
                <a:spcPts val="1800"/>
              </a:lnSpc>
              <a:buNone/>
            </a:pPr>
            <a:r>
              <a:rPr lang="en-US" sz="1500" dirty="0">
                <a:solidFill>
                  <a:srgbClr val="2F4A22"/>
                </a:solidFill>
                <a:latin typeface="Fraunces SemiBold" pitchFamily="34" charset="0"/>
                <a:ea typeface="Fraunces SemiBold" pitchFamily="34" charset="-122"/>
                <a:cs typeface="Fraunces SemiBold" pitchFamily="34" charset="-120"/>
              </a:rPr>
              <a:t>CASCA: “CARNE” VEGETAL DESFIADA E TEMPERADA</a:t>
            </a:r>
            <a:endParaRPr lang="en-US" sz="1500" dirty="0"/>
          </a:p>
        </p:txBody>
      </p:sp>
      <p:sp>
        <p:nvSpPr>
          <p:cNvPr id="8" name="Text 5"/>
          <p:cNvSpPr txBox="1"/>
          <p:nvPr/>
        </p:nvSpPr>
        <p:spPr>
          <a:xfrm>
            <a:off x="863798" y="4686002"/>
            <a:ext cx="5832277" cy="1513433"/>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Funciona melhor com cascas de banana-prata ou nanica, maduras e bem lavadas (a da banana-da-terra é mais grossa: cozinhe antes por 15 minutos em água). Corte as pontas e desfie as cascas no comprimento com um garfo. Deixe de molho em água com limão por 10 minutos e escorra. Refogue cebola, alho e tomate, junte as cascas, cominho, páprica e colorau e cozinhe em fogo baixo, tampado, por 15 a 20 minutos, pingando água se secar. Ajuste o sal e finalize com cheiro-verde.</a:t>
            </a:r>
            <a:endParaRPr lang="en-US" sz="1000" dirty="0"/>
          </a:p>
        </p:txBody>
      </p:sp>
      <p:sp>
        <p:nvSpPr>
          <p:cNvPr id="9" name="Text 6"/>
          <p:cNvSpPr txBox="1"/>
          <p:nvPr/>
        </p:nvSpPr>
        <p:spPr>
          <a:xfrm>
            <a:off x="863798" y="6399312"/>
            <a:ext cx="1298496"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ONDE USAR</a:t>
            </a:r>
            <a:endParaRPr lang="en-US" sz="1500" dirty="0"/>
          </a:p>
        </p:txBody>
      </p:sp>
      <p:sp>
        <p:nvSpPr>
          <p:cNvPr id="10" name="Text 7"/>
          <p:cNvSpPr txBox="1"/>
          <p:nvPr/>
        </p:nvSpPr>
        <p:spPr>
          <a:xfrm>
            <a:off x="863798" y="6742212"/>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Recheio de pastel, tapioca e torta; fricassê com creme de leite e queijo gratinado; refogado para servir com arroz e feijão. Com as cascas de 5 bananas você faz recheio para uns 10 pastéis.</a:t>
            </a:r>
            <a:endParaRPr lang="en-US" sz="1000" dirty="0"/>
          </a:p>
        </p:txBody>
      </p:sp>
      <p:sp>
        <p:nvSpPr>
          <p:cNvPr id="11" name="Text 8"/>
          <p:cNvSpPr txBox="1"/>
          <p:nvPr/>
        </p:nvSpPr>
        <p:spPr>
          <a:xfrm>
            <a:off x="863798" y="7310289"/>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12" name="Text 9"/>
          <p:cNvSpPr txBox="1"/>
          <p:nvPr/>
        </p:nvSpPr>
        <p:spPr>
          <a:xfrm>
            <a:off x="6553349" y="7310289"/>
            <a:ext cx="257026"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24</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5902226"/>
          </a:xfrm>
          <a:prstGeom prst="roundRect">
            <a:avLst>
              <a:gd name="adj" fmla="val 567"/>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142256"/>
            <a:ext cx="935385"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CAPÍTULO 03</a:t>
            </a:r>
            <a:endParaRPr lang="en-US" sz="750" dirty="0"/>
          </a:p>
        </p:txBody>
      </p:sp>
      <p:sp>
        <p:nvSpPr>
          <p:cNvPr id="4" name="Text 2"/>
          <p:cNvSpPr txBox="1"/>
          <p:nvPr/>
        </p:nvSpPr>
        <p:spPr>
          <a:xfrm>
            <a:off x="1043880" y="1329579"/>
            <a:ext cx="5472113" cy="1370804"/>
          </a:xfrm>
          <a:prstGeom prst="rect">
            <a:avLst/>
          </a:prstGeom>
          <a:noFill/>
          <a:ln/>
        </p:spPr>
        <p:txBody>
          <a:bodyPr wrap="square" lIns="0" tIns="0" rIns="0" bIns="0" rtlCol="0" anchor="t"/>
          <a:lstStyle/>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SOBRECOXA DE FRANGO</a:t>
            </a:r>
            <a:endParaRPr lang="en-US" sz="4600" dirty="0"/>
          </a:p>
        </p:txBody>
      </p:sp>
      <p:sp>
        <p:nvSpPr>
          <p:cNvPr id="5" name="Shape 3"/>
          <p:cNvSpPr/>
          <p:nvPr/>
        </p:nvSpPr>
        <p:spPr>
          <a:xfrm>
            <a:off x="1043880" y="2604343"/>
            <a:ext cx="533400" cy="28575"/>
          </a:xfrm>
          <a:prstGeom prst="rect">
            <a:avLst/>
          </a:prstGeom>
          <a:solidFill>
            <a:srgbClr val="E5A82E"/>
          </a:solidFill>
          <a:ln/>
        </p:spPr>
      </p:sp>
      <p:sp>
        <p:nvSpPr>
          <p:cNvPr id="6" name="Text 4"/>
          <p:cNvSpPr txBox="1"/>
          <p:nvPr/>
        </p:nvSpPr>
        <p:spPr>
          <a:xfrm>
            <a:off x="1043880" y="2832943"/>
            <a:ext cx="1961912"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COM OSSO E PELE</a:t>
            </a:r>
            <a:endParaRPr lang="en-US" sz="1500" dirty="0"/>
          </a:p>
        </p:txBody>
      </p:sp>
      <p:sp>
        <p:nvSpPr>
          <p:cNvPr id="7" name="Text 5"/>
          <p:cNvSpPr txBox="1"/>
          <p:nvPr/>
        </p:nvSpPr>
        <p:spPr>
          <a:xfrm>
            <a:off x="1043880" y="3175843"/>
            <a:ext cx="5472113"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A proteína é um dos itens que mais pesam no orçamento da família. A sobrecoxa é muito mais saborosa, suculenta e barata que o peito, e com técnica de chef você passa a dominá-la.</a:t>
            </a:r>
            <a:endParaRPr lang="en-US" sz="1200" dirty="0"/>
          </a:p>
        </p:txBody>
      </p:sp>
      <p:sp>
        <p:nvSpPr>
          <p:cNvPr id="8" name="Text 6"/>
          <p:cNvSpPr txBox="1"/>
          <p:nvPr/>
        </p:nvSpPr>
        <p:spPr>
          <a:xfrm>
            <a:off x="1043880" y="4028926"/>
            <a:ext cx="233312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3 TRANSFORMAÇÕES</a:t>
            </a:r>
            <a:endParaRPr lang="en-US" sz="1500" dirty="0"/>
          </a:p>
        </p:txBody>
      </p:sp>
      <p:sp>
        <p:nvSpPr>
          <p:cNvPr id="9" name="Shape 7"/>
          <p:cNvSpPr/>
          <p:nvPr/>
        </p:nvSpPr>
        <p:spPr>
          <a:xfrm>
            <a:off x="1043880" y="4362301"/>
            <a:ext cx="5472113" cy="0"/>
          </a:xfrm>
          <a:prstGeom prst="line">
            <a:avLst/>
          </a:prstGeom>
          <a:noFill/>
          <a:ln w="9525">
            <a:solidFill>
              <a:srgbClr val="F8EED9"/>
            </a:solidFill>
            <a:prstDash val="solid"/>
          </a:ln>
        </p:spPr>
      </p:sp>
      <p:sp>
        <p:nvSpPr>
          <p:cNvPr id="10" name="Text 8"/>
          <p:cNvSpPr txBox="1"/>
          <p:nvPr/>
        </p:nvSpPr>
        <p:spPr>
          <a:xfrm>
            <a:off x="1043880" y="4457551"/>
            <a:ext cx="227409"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1</a:t>
            </a:r>
            <a:endParaRPr lang="en-US" sz="1900" dirty="0"/>
          </a:p>
        </p:txBody>
      </p:sp>
      <p:sp>
        <p:nvSpPr>
          <p:cNvPr id="11" name="Text 9"/>
          <p:cNvSpPr txBox="1"/>
          <p:nvPr/>
        </p:nvSpPr>
        <p:spPr>
          <a:xfrm>
            <a:off x="1539180" y="4495651"/>
            <a:ext cx="2157770"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TÉCNICA DA FRIGIDEIRA </a:t>
            </a:r>
            <a:pPr algn="l" indent="0" marL="0">
              <a:buNone/>
            </a:pPr>
            <a:r>
              <a:rPr lang="en-US" sz="870" b="1" spc="87" kern="0" dirty="0">
                <a:solidFill>
                  <a:srgbClr val="F8EED9"/>
                </a:solidFill>
                <a:latin typeface="DM Sans" pitchFamily="34" charset="0"/>
                <a:ea typeface="DM Sans" pitchFamily="34" charset="-122"/>
                <a:cs typeface="DM Sans" pitchFamily="34" charset="-120"/>
              </a:rPr>
              <a:t>27</a:t>
            </a:r>
            <a:endParaRPr lang="en-US" sz="870" dirty="0"/>
          </a:p>
        </p:txBody>
      </p:sp>
      <p:sp>
        <p:nvSpPr>
          <p:cNvPr id="12" name="Text 10"/>
          <p:cNvSpPr txBox="1"/>
          <p:nvPr/>
        </p:nvSpPr>
        <p:spPr>
          <a:xfrm>
            <a:off x="1539180" y="4697313"/>
            <a:ext cx="5196983"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Sobrecoxa desossada com pele ultracrocante ao molho rústico de limão e alho</a:t>
            </a:r>
            <a:endParaRPr lang="en-US" sz="1000" dirty="0"/>
          </a:p>
        </p:txBody>
      </p:sp>
      <p:sp>
        <p:nvSpPr>
          <p:cNvPr id="13" name="Shape 11"/>
          <p:cNvSpPr/>
          <p:nvPr/>
        </p:nvSpPr>
        <p:spPr>
          <a:xfrm>
            <a:off x="1043880" y="4992439"/>
            <a:ext cx="5472113" cy="0"/>
          </a:xfrm>
          <a:prstGeom prst="line">
            <a:avLst/>
          </a:prstGeom>
          <a:noFill/>
          <a:ln w="9525">
            <a:solidFill>
              <a:srgbClr val="F8EED9"/>
            </a:solidFill>
            <a:prstDash val="solid"/>
          </a:ln>
        </p:spPr>
      </p:sp>
      <p:sp>
        <p:nvSpPr>
          <p:cNvPr id="14" name="Text 12"/>
          <p:cNvSpPr txBox="1"/>
          <p:nvPr/>
        </p:nvSpPr>
        <p:spPr>
          <a:xfrm>
            <a:off x="1043880" y="5087689"/>
            <a:ext cx="263426"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2</a:t>
            </a:r>
            <a:endParaRPr lang="en-US" sz="1900" dirty="0"/>
          </a:p>
        </p:txBody>
      </p:sp>
      <p:sp>
        <p:nvSpPr>
          <p:cNvPr id="15" name="Text 13"/>
          <p:cNvSpPr txBox="1"/>
          <p:nvPr/>
        </p:nvSpPr>
        <p:spPr>
          <a:xfrm>
            <a:off x="1539180" y="5125789"/>
            <a:ext cx="1828562"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COZIMENTO LENTO </a:t>
            </a:r>
            <a:pPr algn="l" indent="0" marL="0">
              <a:buNone/>
            </a:pPr>
            <a:r>
              <a:rPr lang="en-US" sz="870" b="1" spc="87" kern="0" dirty="0">
                <a:solidFill>
                  <a:srgbClr val="F8EED9"/>
                </a:solidFill>
                <a:latin typeface="DM Sans" pitchFamily="34" charset="0"/>
                <a:ea typeface="DM Sans" pitchFamily="34" charset="-122"/>
                <a:cs typeface="DM Sans" pitchFamily="34" charset="-120"/>
              </a:rPr>
              <a:t>29</a:t>
            </a:r>
            <a:endParaRPr lang="en-US" sz="870" dirty="0"/>
          </a:p>
        </p:txBody>
      </p:sp>
      <p:sp>
        <p:nvSpPr>
          <p:cNvPr id="16" name="Text 14"/>
          <p:cNvSpPr txBox="1"/>
          <p:nvPr/>
        </p:nvSpPr>
        <p:spPr>
          <a:xfrm>
            <a:off x="1539180" y="5327452"/>
            <a:ext cx="4137184"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Frango desfiado suculento ao molho de tomate caseiro e ervas</a:t>
            </a:r>
            <a:endParaRPr lang="en-US" sz="1000" dirty="0"/>
          </a:p>
        </p:txBody>
      </p:sp>
      <p:sp>
        <p:nvSpPr>
          <p:cNvPr id="17" name="Shape 15"/>
          <p:cNvSpPr/>
          <p:nvPr/>
        </p:nvSpPr>
        <p:spPr>
          <a:xfrm>
            <a:off x="1043880" y="5622578"/>
            <a:ext cx="5472113" cy="0"/>
          </a:xfrm>
          <a:prstGeom prst="line">
            <a:avLst/>
          </a:prstGeom>
          <a:noFill/>
          <a:ln w="9525">
            <a:solidFill>
              <a:srgbClr val="F8EED9"/>
            </a:solidFill>
            <a:prstDash val="solid"/>
          </a:ln>
        </p:spPr>
      </p:sp>
      <p:sp>
        <p:nvSpPr>
          <p:cNvPr id="18" name="Shape 16"/>
          <p:cNvSpPr/>
          <p:nvPr/>
        </p:nvSpPr>
        <p:spPr>
          <a:xfrm>
            <a:off x="1043880" y="6262241"/>
            <a:ext cx="5472113" cy="0"/>
          </a:xfrm>
          <a:prstGeom prst="line">
            <a:avLst/>
          </a:prstGeom>
          <a:noFill/>
          <a:ln w="9525">
            <a:solidFill>
              <a:srgbClr val="F8EED9"/>
            </a:solidFill>
            <a:prstDash val="solid"/>
          </a:ln>
        </p:spPr>
      </p:sp>
      <p:sp>
        <p:nvSpPr>
          <p:cNvPr id="19" name="Text 17"/>
          <p:cNvSpPr txBox="1"/>
          <p:nvPr/>
        </p:nvSpPr>
        <p:spPr>
          <a:xfrm>
            <a:off x="1043880" y="5717828"/>
            <a:ext cx="250627"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3</a:t>
            </a:r>
            <a:endParaRPr lang="en-US" sz="1900" dirty="0"/>
          </a:p>
        </p:txBody>
      </p:sp>
      <p:sp>
        <p:nvSpPr>
          <p:cNvPr id="20" name="Text 18"/>
          <p:cNvSpPr txBox="1"/>
          <p:nvPr/>
        </p:nvSpPr>
        <p:spPr>
          <a:xfrm>
            <a:off x="1539180" y="5755928"/>
            <a:ext cx="2114264"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ASSADO TECNOLÓGICO </a:t>
            </a:r>
            <a:pPr algn="l" indent="0" marL="0">
              <a:buNone/>
            </a:pPr>
            <a:r>
              <a:rPr lang="en-US" sz="870" b="1" spc="87" kern="0" dirty="0">
                <a:solidFill>
                  <a:srgbClr val="F8EED9"/>
                </a:solidFill>
                <a:latin typeface="DM Sans" pitchFamily="34" charset="0"/>
                <a:ea typeface="DM Sans" pitchFamily="34" charset="-122"/>
                <a:cs typeface="DM Sans" pitchFamily="34" charset="-120"/>
              </a:rPr>
              <a:t>31</a:t>
            </a:r>
            <a:endParaRPr lang="en-US" sz="870" dirty="0"/>
          </a:p>
        </p:txBody>
      </p:sp>
      <p:sp>
        <p:nvSpPr>
          <p:cNvPr id="21" name="Text 19"/>
          <p:cNvSpPr txBox="1"/>
          <p:nvPr/>
        </p:nvSpPr>
        <p:spPr>
          <a:xfrm>
            <a:off x="1539180" y="5957590"/>
            <a:ext cx="4424386"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Sobrecoxa marinada no iogurte com especiarias, assada até dourar</a:t>
            </a:r>
            <a:endParaRPr lang="en-US" sz="1000" dirty="0"/>
          </a:p>
        </p:txBody>
      </p:sp>
      <p:sp>
        <p:nvSpPr>
          <p:cNvPr id="22" name="Shape 20"/>
          <p:cNvSpPr/>
          <p:nvPr/>
        </p:nvSpPr>
        <p:spPr>
          <a:xfrm>
            <a:off x="2267992" y="7092107"/>
            <a:ext cx="3023890" cy="3023890"/>
          </a:xfrm>
          <a:prstGeom prst="ellipse">
            <a:avLst/>
          </a:prstGeom>
          <a:solidFill>
            <a:srgbClr val="F8EED9"/>
          </a:solidFill>
          <a:ln/>
        </p:spPr>
      </p:sp>
      <p:pic>
        <p:nvPicPr>
          <p:cNvPr id="23" name="Image 0" descr="/home/user/ebook-receitas/versoes/VERSAO ESTAMPAS/fotos/cap3.jpg">    </p:cNvPr>
          <p:cNvPicPr>
            <a:picLocks noChangeAspect="1"/>
          </p:cNvPicPr>
          <p:nvPr/>
        </p:nvPicPr>
        <p:blipFill>
          <a:blip r:embed="rId2"/>
          <a:srcRect l="0" r="0" t="0" b="0"/>
          <a:stretch/>
        </p:blipFill>
        <p:spPr>
          <a:xfrm>
            <a:off x="2344192" y="7168307"/>
            <a:ext cx="2871490" cy="2871490"/>
          </a:xfrm>
          <a:prstGeom prst="ellipse">
            <a:avLst/>
          </a:prstGeom>
        </p:spPr>
      </p:pic>
      <p:sp>
        <p:nvSpPr>
          <p:cNvPr id="24" name="Shape 21"/>
          <p:cNvSpPr/>
          <p:nvPr/>
        </p:nvSpPr>
        <p:spPr>
          <a:xfrm>
            <a:off x="647998" y="323999"/>
            <a:ext cx="1200001" cy="190500"/>
          </a:xfrm>
          <a:prstGeom prst="ellipse">
            <a:avLst/>
          </a:prstGeom>
          <a:solidFill>
            <a:srgbClr val="1E4A2B"/>
          </a:solidFill>
          <a:ln/>
        </p:spPr>
      </p:sp>
      <p:sp>
        <p:nvSpPr>
          <p:cNvPr id="25" name="Text 22"/>
          <p:cNvSpPr txBox="1"/>
          <p:nvPr/>
        </p:nvSpPr>
        <p:spPr>
          <a:xfrm>
            <a:off x="733723" y="352574"/>
            <a:ext cx="1151977" cy="142875"/>
          </a:xfrm>
          <a:prstGeom prst="rect">
            <a:avLst/>
          </a:prstGeom>
          <a:noFill/>
          <a:ln/>
        </p:spPr>
        <p:txBody>
          <a:bodyPr wrap="square" lIns="0" tIns="0" rIns="0" bIns="0" rtlCol="0" anchor="ctr"/>
          <a:lstStyle/>
          <a:p>
            <a:pPr algn="l" indent="0" marL="0">
              <a:buNone/>
            </a:pPr>
            <a:r>
              <a:rPr lang="en-US" sz="750" spc="105" kern="0" dirty="0">
                <a:solidFill>
                  <a:srgbClr val="F8EED9"/>
                </a:solidFill>
                <a:latin typeface="DM Sans Medium" pitchFamily="34" charset="0"/>
                <a:ea typeface="DM Sans Medium" pitchFamily="34" charset="-122"/>
                <a:cs typeface="DM Sans Medium" pitchFamily="34" charset="-120"/>
              </a:rPr>
              <a:t>COZINHA MAMEDE</a:t>
            </a:r>
            <a:endParaRPr lang="en-US" sz="750" dirty="0"/>
          </a:p>
        </p:txBody>
      </p:sp>
      <p:sp>
        <p:nvSpPr>
          <p:cNvPr id="26" name="Shape 23"/>
          <p:cNvSpPr/>
          <p:nvPr/>
        </p:nvSpPr>
        <p:spPr>
          <a:xfrm>
            <a:off x="6599634" y="323999"/>
            <a:ext cx="312241" cy="190500"/>
          </a:xfrm>
          <a:prstGeom prst="ellipse">
            <a:avLst/>
          </a:prstGeom>
          <a:solidFill>
            <a:srgbClr val="1E4A2B"/>
          </a:solidFill>
          <a:ln/>
        </p:spPr>
      </p:sp>
      <p:sp>
        <p:nvSpPr>
          <p:cNvPr id="27" name="Text 24"/>
          <p:cNvSpPr txBox="1"/>
          <p:nvPr/>
        </p:nvSpPr>
        <p:spPr>
          <a:xfrm>
            <a:off x="6685359" y="352574"/>
            <a:ext cx="255091" cy="142875"/>
          </a:xfrm>
          <a:prstGeom prst="rect">
            <a:avLst/>
          </a:prstGeom>
          <a:noFill/>
          <a:ln/>
        </p:spPr>
        <p:txBody>
          <a:bodyPr wrap="square" lIns="0" tIns="0" rIns="0" bIns="0" rtlCol="0" anchor="ctr"/>
          <a:lstStyle/>
          <a:p>
            <a:pPr algn="l" indent="0" marL="0">
              <a:buNone/>
            </a:pPr>
            <a:r>
              <a:rPr lang="en-US" sz="750" b="1" spc="105" kern="0" dirty="0">
                <a:solidFill>
                  <a:srgbClr val="E5A82E"/>
                </a:solidFill>
                <a:latin typeface="DM Sans" pitchFamily="34" charset="0"/>
                <a:ea typeface="DM Sans" pitchFamily="34" charset="-122"/>
                <a:cs typeface="DM Sans" pitchFamily="34" charset="-120"/>
              </a:rPr>
              <a:t>25</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884759"/>
            <a:ext cx="6696075" cy="692244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271117"/>
            <a:ext cx="1634538"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CAPÍTULO 03 · FRANGO</a:t>
            </a:r>
            <a:endParaRPr lang="en-US" sz="750" dirty="0"/>
          </a:p>
        </p:txBody>
      </p:sp>
      <p:sp>
        <p:nvSpPr>
          <p:cNvPr id="4" name="Text 2"/>
          <p:cNvSpPr txBox="1"/>
          <p:nvPr/>
        </p:nvSpPr>
        <p:spPr>
          <a:xfrm>
            <a:off x="863798" y="2451462"/>
            <a:ext cx="2579656"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 INGREDIENTE</a:t>
            </a:r>
            <a:endParaRPr lang="en-US" sz="2200" dirty="0"/>
          </a:p>
        </p:txBody>
      </p:sp>
      <p:sp>
        <p:nvSpPr>
          <p:cNvPr id="5" name="Text 3"/>
          <p:cNvSpPr txBox="1"/>
          <p:nvPr/>
        </p:nvSpPr>
        <p:spPr>
          <a:xfrm>
            <a:off x="863798" y="2964954"/>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Se existe um corte que perdoa, é a sobrecoxa. Por ser carne escura, tem mais gordura e mais colágeno: aguenta mais tempo de fogo, continua suculenta e tem muito mais sabor que o peito.</a:t>
            </a:r>
            <a:endParaRPr lang="en-US" sz="1000" dirty="0"/>
          </a:p>
        </p:txBody>
      </p:sp>
      <p:sp>
        <p:nvSpPr>
          <p:cNvPr id="6" name="Text 4"/>
          <p:cNvSpPr txBox="1"/>
          <p:nvPr/>
        </p:nvSpPr>
        <p:spPr>
          <a:xfrm>
            <a:off x="863798" y="3440906"/>
            <a:ext cx="583227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 ela vem com dois presentes que quase todo mundo joga fora. A pele, que bem trabalhada fica crocante como um torresmo. E o osso, que vira um caldo capaz de transformar qualquer arroz, molho ou sopa.</a:t>
            </a:r>
            <a:endParaRPr lang="en-US" sz="1000" dirty="0"/>
          </a:p>
        </p:txBody>
      </p:sp>
      <p:sp>
        <p:nvSpPr>
          <p:cNvPr id="7" name="Text 5"/>
          <p:cNvSpPr txBox="1"/>
          <p:nvPr/>
        </p:nvSpPr>
        <p:spPr>
          <a:xfrm>
            <a:off x="863798" y="4107210"/>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Neste capítulo, a mesma peça vai para a frigideira, para a panela e para o forno, cada vez com uma técnica e um resultado diferentes.</a:t>
            </a:r>
            <a:endParaRPr lang="en-US" sz="1000" dirty="0"/>
          </a:p>
        </p:txBody>
      </p:sp>
      <p:sp>
        <p:nvSpPr>
          <p:cNvPr id="8" name="Text 6"/>
          <p:cNvSpPr txBox="1"/>
          <p:nvPr/>
        </p:nvSpPr>
        <p:spPr>
          <a:xfrm>
            <a:off x="863798" y="4678412"/>
            <a:ext cx="205209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ANTES DA PANELA</a:t>
            </a:r>
            <a:endParaRPr lang="en-US" sz="1500" dirty="0"/>
          </a:p>
        </p:txBody>
      </p:sp>
      <p:sp>
        <p:nvSpPr>
          <p:cNvPr id="9" name="Text 7"/>
          <p:cNvSpPr txBox="1"/>
          <p:nvPr/>
        </p:nvSpPr>
        <p:spPr>
          <a:xfrm>
            <a:off x="863798" y="5002262"/>
            <a:ext cx="166237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NA HORA DE ESCOLHER</a:t>
            </a:r>
            <a:endParaRPr lang="en-US" sz="870" dirty="0"/>
          </a:p>
        </p:txBody>
      </p:sp>
      <p:sp>
        <p:nvSpPr>
          <p:cNvPr id="10" name="Shape 8"/>
          <p:cNvSpPr/>
          <p:nvPr/>
        </p:nvSpPr>
        <p:spPr>
          <a:xfrm>
            <a:off x="873323" y="5287107"/>
            <a:ext cx="57150" cy="57150"/>
          </a:xfrm>
          <a:prstGeom prst="ellipse">
            <a:avLst/>
          </a:prstGeom>
          <a:solidFill>
            <a:srgbClr val="E5A82E"/>
          </a:solidFill>
          <a:ln/>
        </p:spPr>
      </p:sp>
      <p:sp>
        <p:nvSpPr>
          <p:cNvPr id="11" name="Text 9"/>
          <p:cNvSpPr txBox="1"/>
          <p:nvPr/>
        </p:nvSpPr>
        <p:spPr>
          <a:xfrm>
            <a:off x="1016198" y="5222974"/>
            <a:ext cx="387515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Pele inteira, de cor clara e uniforme, sem manchas escuras.</a:t>
            </a:r>
            <a:endParaRPr lang="en-US" sz="1000" dirty="0"/>
          </a:p>
        </p:txBody>
      </p:sp>
      <p:sp>
        <p:nvSpPr>
          <p:cNvPr id="12" name="Shape 10"/>
          <p:cNvSpPr/>
          <p:nvPr/>
        </p:nvSpPr>
        <p:spPr>
          <a:xfrm>
            <a:off x="873323" y="5515559"/>
            <a:ext cx="57150" cy="57150"/>
          </a:xfrm>
          <a:prstGeom prst="ellipse">
            <a:avLst/>
          </a:prstGeom>
          <a:solidFill>
            <a:srgbClr val="E5A82E"/>
          </a:solidFill>
          <a:ln/>
        </p:spPr>
      </p:sp>
      <p:sp>
        <p:nvSpPr>
          <p:cNvPr id="13" name="Text 11"/>
          <p:cNvSpPr txBox="1"/>
          <p:nvPr/>
        </p:nvSpPr>
        <p:spPr>
          <a:xfrm>
            <a:off x="1016198" y="5451425"/>
            <a:ext cx="317689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Pouco líquido na bandeja e nenhum cheiro forte.</a:t>
            </a:r>
            <a:endParaRPr lang="en-US" sz="1000" dirty="0"/>
          </a:p>
        </p:txBody>
      </p:sp>
      <p:sp>
        <p:nvSpPr>
          <p:cNvPr id="14" name="Shape 12"/>
          <p:cNvSpPr/>
          <p:nvPr/>
        </p:nvSpPr>
        <p:spPr>
          <a:xfrm>
            <a:off x="873323" y="5744010"/>
            <a:ext cx="57150" cy="57150"/>
          </a:xfrm>
          <a:prstGeom prst="ellipse">
            <a:avLst/>
          </a:prstGeom>
          <a:solidFill>
            <a:srgbClr val="E5A82E"/>
          </a:solidFill>
          <a:ln/>
        </p:spPr>
      </p:sp>
      <p:sp>
        <p:nvSpPr>
          <p:cNvPr id="15" name="Text 13"/>
          <p:cNvSpPr txBox="1"/>
          <p:nvPr/>
        </p:nvSpPr>
        <p:spPr>
          <a:xfrm>
            <a:off x="1016198" y="5679877"/>
            <a:ext cx="625294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Congelada: sem cristais grossos de gelo, que indicam que ela descongelou e congelou de novo.</a:t>
            </a:r>
            <a:endParaRPr lang="en-US" sz="1000" dirty="0"/>
          </a:p>
        </p:txBody>
      </p:sp>
      <p:sp>
        <p:nvSpPr>
          <p:cNvPr id="16" name="Text 14"/>
          <p:cNvSpPr txBox="1"/>
          <p:nvPr/>
        </p:nvSpPr>
        <p:spPr>
          <a:xfrm>
            <a:off x="863798" y="6003578"/>
            <a:ext cx="116947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COMO GUARDAR</a:t>
            </a:r>
            <a:endParaRPr lang="en-US" sz="870" dirty="0"/>
          </a:p>
        </p:txBody>
      </p:sp>
      <p:sp>
        <p:nvSpPr>
          <p:cNvPr id="17" name="Shape 15"/>
          <p:cNvSpPr/>
          <p:nvPr/>
        </p:nvSpPr>
        <p:spPr>
          <a:xfrm>
            <a:off x="873323" y="6288423"/>
            <a:ext cx="57150" cy="57150"/>
          </a:xfrm>
          <a:prstGeom prst="ellipse">
            <a:avLst/>
          </a:prstGeom>
          <a:solidFill>
            <a:srgbClr val="E5A82E"/>
          </a:solidFill>
          <a:ln/>
        </p:spPr>
      </p:sp>
      <p:sp>
        <p:nvSpPr>
          <p:cNvPr id="18" name="Text 16"/>
          <p:cNvSpPr txBox="1"/>
          <p:nvPr/>
        </p:nvSpPr>
        <p:spPr>
          <a:xfrm>
            <a:off x="1016198" y="6224290"/>
            <a:ext cx="329524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Na geladeira, na prateleira de baixo, por até 2 dias.</a:t>
            </a:r>
            <a:endParaRPr lang="en-US" sz="1000" dirty="0"/>
          </a:p>
        </p:txBody>
      </p:sp>
      <p:sp>
        <p:nvSpPr>
          <p:cNvPr id="19" name="Shape 17"/>
          <p:cNvSpPr/>
          <p:nvPr/>
        </p:nvSpPr>
        <p:spPr>
          <a:xfrm>
            <a:off x="873323" y="6516874"/>
            <a:ext cx="57150" cy="57150"/>
          </a:xfrm>
          <a:prstGeom prst="ellipse">
            <a:avLst/>
          </a:prstGeom>
          <a:solidFill>
            <a:srgbClr val="E5A82E"/>
          </a:solidFill>
          <a:ln/>
        </p:spPr>
      </p:sp>
      <p:sp>
        <p:nvSpPr>
          <p:cNvPr id="20" name="Text 18"/>
          <p:cNvSpPr txBox="1"/>
          <p:nvPr/>
        </p:nvSpPr>
        <p:spPr>
          <a:xfrm>
            <a:off x="1016198" y="6452741"/>
            <a:ext cx="451556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No freezer, em porções achatadas dentro de sacos, por até 3 meses.</a:t>
            </a:r>
            <a:endParaRPr lang="en-US" sz="1000" dirty="0"/>
          </a:p>
        </p:txBody>
      </p:sp>
      <p:sp>
        <p:nvSpPr>
          <p:cNvPr id="21" name="Shape 19"/>
          <p:cNvSpPr/>
          <p:nvPr/>
        </p:nvSpPr>
        <p:spPr>
          <a:xfrm>
            <a:off x="873323" y="6745325"/>
            <a:ext cx="57150" cy="57150"/>
          </a:xfrm>
          <a:prstGeom prst="ellipse">
            <a:avLst/>
          </a:prstGeom>
          <a:solidFill>
            <a:srgbClr val="E5A82E"/>
          </a:solidFill>
          <a:ln/>
        </p:spPr>
      </p:sp>
      <p:sp>
        <p:nvSpPr>
          <p:cNvPr id="22" name="Text 20"/>
          <p:cNvSpPr txBox="1"/>
          <p:nvPr/>
        </p:nvSpPr>
        <p:spPr>
          <a:xfrm>
            <a:off x="1016198" y="6681192"/>
            <a:ext cx="465524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Descongele sempre na geladeira, de um dia para o outro. Nunca na pia.</a:t>
            </a:r>
            <a:endParaRPr lang="en-US" sz="1000" dirty="0"/>
          </a:p>
        </p:txBody>
      </p:sp>
      <p:sp>
        <p:nvSpPr>
          <p:cNvPr id="23" name="Text 21"/>
          <p:cNvSpPr txBox="1"/>
          <p:nvPr/>
        </p:nvSpPr>
        <p:spPr>
          <a:xfrm>
            <a:off x="863798" y="7004893"/>
            <a:ext cx="172704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PRÉ-PREPARO E CORTES</a:t>
            </a:r>
            <a:endParaRPr lang="en-US" sz="870" dirty="0"/>
          </a:p>
        </p:txBody>
      </p:sp>
      <p:sp>
        <p:nvSpPr>
          <p:cNvPr id="24" name="Shape 22"/>
          <p:cNvSpPr/>
          <p:nvPr/>
        </p:nvSpPr>
        <p:spPr>
          <a:xfrm>
            <a:off x="873323" y="7289739"/>
            <a:ext cx="57150" cy="57150"/>
          </a:xfrm>
          <a:prstGeom prst="ellipse">
            <a:avLst/>
          </a:prstGeom>
          <a:solidFill>
            <a:srgbClr val="E5A82E"/>
          </a:solidFill>
          <a:ln/>
        </p:spPr>
      </p:sp>
      <p:sp>
        <p:nvSpPr>
          <p:cNvPr id="25" name="Text 23"/>
          <p:cNvSpPr txBox="1"/>
          <p:nvPr/>
        </p:nvSpPr>
        <p:spPr>
          <a:xfrm>
            <a:off x="1016198" y="7225605"/>
            <a:ext cx="591557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Seque bem com papel-toalha antes de qualquer preparo. Pele molhada não fica crocante.</a:t>
            </a:r>
            <a:endParaRPr lang="en-US" sz="1000" dirty="0"/>
          </a:p>
        </p:txBody>
      </p:sp>
      <p:sp>
        <p:nvSpPr>
          <p:cNvPr id="26" name="Shape 24"/>
          <p:cNvSpPr/>
          <p:nvPr/>
        </p:nvSpPr>
        <p:spPr>
          <a:xfrm>
            <a:off x="873323" y="7518190"/>
            <a:ext cx="57150" cy="57150"/>
          </a:xfrm>
          <a:prstGeom prst="ellipse">
            <a:avLst/>
          </a:prstGeom>
          <a:solidFill>
            <a:srgbClr val="E5A82E"/>
          </a:solidFill>
          <a:ln/>
        </p:spPr>
      </p:sp>
      <p:sp>
        <p:nvSpPr>
          <p:cNvPr id="27" name="Text 25"/>
          <p:cNvSpPr txBox="1"/>
          <p:nvPr/>
        </p:nvSpPr>
        <p:spPr>
          <a:xfrm>
            <a:off x="1016198" y="7454057"/>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Para desossar: com a pele para baixo, faça um corte ao longo do osso, raspe a carne em volta com a ponta da faca e solte a articulação. Guarde o osso no freezer para o caldo.</a:t>
            </a:r>
            <a:endParaRPr lang="en-US" sz="1000" dirty="0"/>
          </a:p>
        </p:txBody>
      </p:sp>
      <p:sp>
        <p:nvSpPr>
          <p:cNvPr id="28" name="Shape 26"/>
          <p:cNvSpPr/>
          <p:nvPr/>
        </p:nvSpPr>
        <p:spPr>
          <a:xfrm>
            <a:off x="873323" y="7936992"/>
            <a:ext cx="57150" cy="57150"/>
          </a:xfrm>
          <a:prstGeom prst="ellipse">
            <a:avLst/>
          </a:prstGeom>
          <a:solidFill>
            <a:srgbClr val="E5A82E"/>
          </a:solidFill>
          <a:ln/>
        </p:spPr>
      </p:sp>
      <p:sp>
        <p:nvSpPr>
          <p:cNvPr id="29" name="Text 27"/>
          <p:cNvSpPr txBox="1"/>
          <p:nvPr/>
        </p:nvSpPr>
        <p:spPr>
          <a:xfrm>
            <a:off x="1016198" y="7872859"/>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Salga antecipada: 1 colher (chá) de sal para cada 500 g, de 1 hora até 24 horas antes, na geladeira e descoberta. A carne fica mais temperada e a pele, mais seca.</a:t>
            </a:r>
            <a:endParaRPr lang="en-US" sz="1000" dirty="0"/>
          </a:p>
        </p:txBody>
      </p:sp>
      <p:sp>
        <p:nvSpPr>
          <p:cNvPr id="30" name="Text 28"/>
          <p:cNvSpPr txBox="1"/>
          <p:nvPr/>
        </p:nvSpPr>
        <p:spPr>
          <a:xfrm>
            <a:off x="863798" y="8440936"/>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31" name="Text 29"/>
          <p:cNvSpPr txBox="1"/>
          <p:nvPr/>
        </p:nvSpPr>
        <p:spPr>
          <a:xfrm>
            <a:off x="6554093" y="8440936"/>
            <a:ext cx="256282"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26</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6655743"/>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444823"/>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01</a:t>
            </a:r>
            <a:endParaRPr lang="en-US" sz="750" dirty="0"/>
          </a:p>
        </p:txBody>
      </p:sp>
      <p:sp>
        <p:nvSpPr>
          <p:cNvPr id="4" name="Text 2"/>
          <p:cNvSpPr txBox="1"/>
          <p:nvPr/>
        </p:nvSpPr>
        <p:spPr>
          <a:xfrm>
            <a:off x="1043880" y="1748099"/>
            <a:ext cx="2515939"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SOBRECOXA CROCANTE</a:t>
            </a:r>
            <a:endParaRPr lang="en-US" sz="3200" dirty="0"/>
          </a:p>
        </p:txBody>
      </p:sp>
      <p:sp>
        <p:nvSpPr>
          <p:cNvPr id="5" name="Text 3"/>
          <p:cNvSpPr txBox="1"/>
          <p:nvPr/>
        </p:nvSpPr>
        <p:spPr>
          <a:xfrm>
            <a:off x="1043880" y="2769096"/>
            <a:ext cx="2515939"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Sobrecoxa desossada com pele ultracrocante ao molho rústico de limão e alho</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3-1.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2907655"/>
          </a:xfrm>
          <a:prstGeom prst="roundRect">
            <a:avLst>
              <a:gd name="adj" fmla="val 1947"/>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237846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sobrecoxas desossadas, com pele</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15513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pimenta-do-reino</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13998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óleo</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16730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dentes de alho fatiados</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23679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100 ml de caldo de frango (ou água)</a:t>
            </a:r>
            <a:endParaRPr lang="en-US" sz="1000" dirty="0"/>
          </a:p>
        </p:txBody>
      </p:sp>
      <p:sp>
        <p:nvSpPr>
          <p:cNvPr id="20" name="Shape 17"/>
          <p:cNvSpPr/>
          <p:nvPr/>
        </p:nvSpPr>
        <p:spPr>
          <a:xfrm>
            <a:off x="1403747" y="5891221"/>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5860107"/>
            <a:ext cx="160703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e raspas de 1 limão</a:t>
            </a:r>
            <a:endParaRPr lang="en-US" sz="1000" dirty="0"/>
          </a:p>
        </p:txBody>
      </p:sp>
      <p:sp>
        <p:nvSpPr>
          <p:cNvPr id="22" name="Shape 19"/>
          <p:cNvSpPr/>
          <p:nvPr/>
        </p:nvSpPr>
        <p:spPr>
          <a:xfrm>
            <a:off x="1403747" y="6110148"/>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079034"/>
            <a:ext cx="247197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manteiga gelada</a:t>
            </a:r>
            <a:endParaRPr lang="en-US" sz="1000" dirty="0"/>
          </a:p>
        </p:txBody>
      </p:sp>
      <p:sp>
        <p:nvSpPr>
          <p:cNvPr id="24" name="Shape 21"/>
          <p:cNvSpPr/>
          <p:nvPr/>
        </p:nvSpPr>
        <p:spPr>
          <a:xfrm>
            <a:off x="1403747" y="6329074"/>
            <a:ext cx="114300" cy="114300"/>
          </a:xfrm>
          <a:prstGeom prst="roundRect">
            <a:avLst>
              <a:gd name="adj" fmla="val 166667"/>
            </a:avLst>
          </a:prstGeom>
          <a:ln w="9525">
            <a:solidFill>
              <a:srgbClr val="C8501F"/>
            </a:solidFill>
            <a:prstDash val="solid"/>
          </a:ln>
        </p:spPr>
      </p:sp>
      <p:sp>
        <p:nvSpPr>
          <p:cNvPr id="25" name="Text 22"/>
          <p:cNvSpPr txBox="1"/>
          <p:nvPr/>
        </p:nvSpPr>
        <p:spPr>
          <a:xfrm>
            <a:off x="1594247" y="6297960"/>
            <a:ext cx="102855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Salsinha picada</a:t>
            </a:r>
            <a:endParaRPr lang="en-US" sz="1000" dirty="0"/>
          </a:p>
        </p:txBody>
      </p:sp>
      <p:sp>
        <p:nvSpPr>
          <p:cNvPr id="26" name="Text 23"/>
          <p:cNvSpPr txBox="1"/>
          <p:nvPr/>
        </p:nvSpPr>
        <p:spPr>
          <a:xfrm>
            <a:off x="1403747" y="6574036"/>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710654"/>
            <a:ext cx="6696075" cy="927065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097012"/>
            <a:ext cx="2151602"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01 · FRANGO</a:t>
            </a:r>
            <a:endParaRPr lang="en-US" sz="750" dirty="0"/>
          </a:p>
        </p:txBody>
      </p:sp>
      <p:sp>
        <p:nvSpPr>
          <p:cNvPr id="4" name="Text 2"/>
          <p:cNvSpPr txBox="1"/>
          <p:nvPr/>
        </p:nvSpPr>
        <p:spPr>
          <a:xfrm>
            <a:off x="863798" y="1289163"/>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SOBRECOXA DESOSSADA COM PELE ULTRACROCANTE AO MOLHO RÚSTICO DE LIMÃO E ALHO</a:t>
            </a:r>
            <a:endParaRPr lang="en-US" sz="2200" dirty="0"/>
          </a:p>
        </p:txBody>
      </p:sp>
      <p:sp>
        <p:nvSpPr>
          <p:cNvPr id="5" name="Text 3"/>
          <p:cNvSpPr txBox="1"/>
          <p:nvPr/>
        </p:nvSpPr>
        <p:spPr>
          <a:xfrm>
            <a:off x="863798" y="2330797"/>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TÉCNICA DA FRIGIDEIRA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(a pele mais crocante que você já fez)</a:t>
            </a:r>
            <a:endParaRPr lang="en-US" sz="800" dirty="0"/>
          </a:p>
        </p:txBody>
      </p:sp>
      <p:sp>
        <p:nvSpPr>
          <p:cNvPr id="6" name="Shape 4"/>
          <p:cNvSpPr/>
          <p:nvPr/>
        </p:nvSpPr>
        <p:spPr>
          <a:xfrm>
            <a:off x="863798" y="2605683"/>
            <a:ext cx="1893243" cy="422523"/>
          </a:xfrm>
          <a:prstGeom prst="roundRect">
            <a:avLst>
              <a:gd name="adj" fmla="val 55317"/>
            </a:avLst>
          </a:prstGeom>
          <a:solidFill>
            <a:srgbClr val="F8EED9"/>
          </a:solidFill>
          <a:ln/>
        </p:spPr>
      </p:sp>
      <p:sp>
        <p:nvSpPr>
          <p:cNvPr id="7" name="Text 5"/>
          <p:cNvSpPr txBox="1"/>
          <p:nvPr/>
        </p:nvSpPr>
        <p:spPr>
          <a:xfrm>
            <a:off x="968573" y="2672358"/>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796629"/>
            <a:ext cx="4975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10 min</a:t>
            </a:r>
            <a:endParaRPr lang="en-US" sz="1000" dirty="0"/>
          </a:p>
        </p:txBody>
      </p:sp>
      <p:sp>
        <p:nvSpPr>
          <p:cNvPr id="9" name="Shape 7"/>
          <p:cNvSpPr/>
          <p:nvPr/>
        </p:nvSpPr>
        <p:spPr>
          <a:xfrm>
            <a:off x="2833241" y="2605683"/>
            <a:ext cx="1893243" cy="422523"/>
          </a:xfrm>
          <a:prstGeom prst="roundRect">
            <a:avLst>
              <a:gd name="adj" fmla="val 55317"/>
            </a:avLst>
          </a:prstGeom>
          <a:solidFill>
            <a:srgbClr val="F8EED9"/>
          </a:solidFill>
          <a:ln/>
        </p:spPr>
      </p:sp>
      <p:sp>
        <p:nvSpPr>
          <p:cNvPr id="10" name="Text 8"/>
          <p:cNvSpPr txBox="1"/>
          <p:nvPr/>
        </p:nvSpPr>
        <p:spPr>
          <a:xfrm>
            <a:off x="2938016" y="2672358"/>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796629"/>
            <a:ext cx="5194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25 min</a:t>
            </a:r>
            <a:endParaRPr lang="en-US" sz="1000" dirty="0"/>
          </a:p>
        </p:txBody>
      </p:sp>
      <p:sp>
        <p:nvSpPr>
          <p:cNvPr id="12" name="Shape 10"/>
          <p:cNvSpPr/>
          <p:nvPr/>
        </p:nvSpPr>
        <p:spPr>
          <a:xfrm>
            <a:off x="4802684" y="2605683"/>
            <a:ext cx="1893243" cy="422523"/>
          </a:xfrm>
          <a:prstGeom prst="roundRect">
            <a:avLst>
              <a:gd name="adj" fmla="val 55317"/>
            </a:avLst>
          </a:prstGeom>
          <a:solidFill>
            <a:srgbClr val="F8EED9"/>
          </a:solidFill>
          <a:ln/>
        </p:spPr>
      </p:sp>
      <p:sp>
        <p:nvSpPr>
          <p:cNvPr id="13" name="Text 11"/>
          <p:cNvSpPr txBox="1"/>
          <p:nvPr/>
        </p:nvSpPr>
        <p:spPr>
          <a:xfrm>
            <a:off x="4907459" y="2672358"/>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796629"/>
            <a:ext cx="92615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2 a 4 porções</a:t>
            </a:r>
            <a:endParaRPr lang="en-US" sz="1000" dirty="0"/>
          </a:p>
        </p:txBody>
      </p:sp>
      <p:sp>
        <p:nvSpPr>
          <p:cNvPr id="15" name="Shape 13"/>
          <p:cNvSpPr/>
          <p:nvPr/>
        </p:nvSpPr>
        <p:spPr>
          <a:xfrm>
            <a:off x="863798" y="3161556"/>
            <a:ext cx="5832277" cy="1705868"/>
          </a:xfrm>
          <a:prstGeom prst="roundRect">
            <a:avLst>
              <a:gd name="adj" fmla="val 4525"/>
            </a:avLst>
          </a:prstGeom>
          <a:solidFill>
            <a:srgbClr val="FBF4E4"/>
          </a:solidFill>
          <a:ln w="9525">
            <a:solidFill>
              <a:srgbClr val="EADFC6"/>
            </a:solidFill>
            <a:prstDash val="solid"/>
          </a:ln>
        </p:spPr>
      </p:sp>
      <p:sp>
        <p:nvSpPr>
          <p:cNvPr id="16" name="Text 14"/>
          <p:cNvSpPr txBox="1"/>
          <p:nvPr/>
        </p:nvSpPr>
        <p:spPr>
          <a:xfrm>
            <a:off x="1006673" y="3256806"/>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Text 15"/>
          <p:cNvSpPr txBox="1"/>
          <p:nvPr/>
        </p:nvSpPr>
        <p:spPr>
          <a:xfrm>
            <a:off x="1006673" y="3542556"/>
            <a:ext cx="64591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FRANGO</a:t>
            </a:r>
            <a:endParaRPr lang="en-US" sz="870" dirty="0"/>
          </a:p>
        </p:txBody>
      </p:sp>
      <p:sp>
        <p:nvSpPr>
          <p:cNvPr id="18" name="Shape 16"/>
          <p:cNvSpPr/>
          <p:nvPr/>
        </p:nvSpPr>
        <p:spPr>
          <a:xfrm>
            <a:off x="1006673" y="3794382"/>
            <a:ext cx="114300" cy="114300"/>
          </a:xfrm>
          <a:prstGeom prst="roundRect">
            <a:avLst>
              <a:gd name="adj" fmla="val 166667"/>
            </a:avLst>
          </a:prstGeom>
          <a:ln w="9525">
            <a:solidFill>
              <a:srgbClr val="C8501F"/>
            </a:solidFill>
            <a:prstDash val="solid"/>
          </a:ln>
        </p:spPr>
      </p:sp>
      <p:sp>
        <p:nvSpPr>
          <p:cNvPr id="19" name="Text 17"/>
          <p:cNvSpPr txBox="1"/>
          <p:nvPr/>
        </p:nvSpPr>
        <p:spPr>
          <a:xfrm>
            <a:off x="1197173" y="3763268"/>
            <a:ext cx="237846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sobrecoxas desossadas, com pele</a:t>
            </a:r>
            <a:endParaRPr lang="en-US" sz="1000" dirty="0"/>
          </a:p>
        </p:txBody>
      </p:sp>
      <p:sp>
        <p:nvSpPr>
          <p:cNvPr id="20" name="Shape 18"/>
          <p:cNvSpPr/>
          <p:nvPr/>
        </p:nvSpPr>
        <p:spPr>
          <a:xfrm>
            <a:off x="1006673" y="4013308"/>
            <a:ext cx="114300" cy="114300"/>
          </a:xfrm>
          <a:prstGeom prst="roundRect">
            <a:avLst>
              <a:gd name="adj" fmla="val 166667"/>
            </a:avLst>
          </a:prstGeom>
          <a:ln w="9525">
            <a:solidFill>
              <a:srgbClr val="C8501F"/>
            </a:solidFill>
            <a:prstDash val="solid"/>
          </a:ln>
        </p:spPr>
      </p:sp>
      <p:sp>
        <p:nvSpPr>
          <p:cNvPr id="21" name="Text 19"/>
          <p:cNvSpPr txBox="1"/>
          <p:nvPr/>
        </p:nvSpPr>
        <p:spPr>
          <a:xfrm>
            <a:off x="1197173" y="3982194"/>
            <a:ext cx="15513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pimenta-do-reino</a:t>
            </a:r>
            <a:endParaRPr lang="en-US" sz="1000" dirty="0"/>
          </a:p>
        </p:txBody>
      </p:sp>
      <p:sp>
        <p:nvSpPr>
          <p:cNvPr id="22" name="Shape 20"/>
          <p:cNvSpPr/>
          <p:nvPr/>
        </p:nvSpPr>
        <p:spPr>
          <a:xfrm>
            <a:off x="1006673" y="4232234"/>
            <a:ext cx="114300" cy="114300"/>
          </a:xfrm>
          <a:prstGeom prst="roundRect">
            <a:avLst>
              <a:gd name="adj" fmla="val 166667"/>
            </a:avLst>
          </a:prstGeom>
          <a:ln w="9525">
            <a:solidFill>
              <a:srgbClr val="C8501F"/>
            </a:solidFill>
            <a:prstDash val="solid"/>
          </a:ln>
        </p:spPr>
      </p:sp>
      <p:sp>
        <p:nvSpPr>
          <p:cNvPr id="23" name="Text 21"/>
          <p:cNvSpPr txBox="1"/>
          <p:nvPr/>
        </p:nvSpPr>
        <p:spPr>
          <a:xfrm>
            <a:off x="1197173" y="4201120"/>
            <a:ext cx="13998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óleo</a:t>
            </a:r>
            <a:endParaRPr lang="en-US" sz="1000" dirty="0"/>
          </a:p>
        </p:txBody>
      </p:sp>
      <p:sp>
        <p:nvSpPr>
          <p:cNvPr id="24" name="Text 22"/>
          <p:cNvSpPr txBox="1"/>
          <p:nvPr/>
        </p:nvSpPr>
        <p:spPr>
          <a:xfrm>
            <a:off x="3884712" y="3542556"/>
            <a:ext cx="583555"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MOLHO</a:t>
            </a:r>
            <a:endParaRPr lang="en-US" sz="870" dirty="0"/>
          </a:p>
        </p:txBody>
      </p:sp>
      <p:sp>
        <p:nvSpPr>
          <p:cNvPr id="25" name="Shape 23"/>
          <p:cNvSpPr/>
          <p:nvPr/>
        </p:nvSpPr>
        <p:spPr>
          <a:xfrm>
            <a:off x="3884712" y="3794382"/>
            <a:ext cx="114300" cy="114300"/>
          </a:xfrm>
          <a:prstGeom prst="roundRect">
            <a:avLst>
              <a:gd name="adj" fmla="val 166667"/>
            </a:avLst>
          </a:prstGeom>
          <a:ln w="9525">
            <a:solidFill>
              <a:srgbClr val="C8501F"/>
            </a:solidFill>
            <a:prstDash val="solid"/>
          </a:ln>
        </p:spPr>
      </p:sp>
      <p:sp>
        <p:nvSpPr>
          <p:cNvPr id="26" name="Text 24"/>
          <p:cNvSpPr txBox="1"/>
          <p:nvPr/>
        </p:nvSpPr>
        <p:spPr>
          <a:xfrm>
            <a:off x="4075212" y="3763268"/>
            <a:ext cx="16730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dentes de alho fatiados</a:t>
            </a:r>
            <a:endParaRPr lang="en-US" sz="1000" dirty="0"/>
          </a:p>
        </p:txBody>
      </p:sp>
      <p:sp>
        <p:nvSpPr>
          <p:cNvPr id="27" name="Shape 25"/>
          <p:cNvSpPr/>
          <p:nvPr/>
        </p:nvSpPr>
        <p:spPr>
          <a:xfrm>
            <a:off x="3884712" y="4013308"/>
            <a:ext cx="114300" cy="114300"/>
          </a:xfrm>
          <a:prstGeom prst="roundRect">
            <a:avLst>
              <a:gd name="adj" fmla="val 166667"/>
            </a:avLst>
          </a:prstGeom>
          <a:ln w="9525">
            <a:solidFill>
              <a:srgbClr val="C8501F"/>
            </a:solidFill>
            <a:prstDash val="solid"/>
          </a:ln>
        </p:spPr>
      </p:sp>
      <p:sp>
        <p:nvSpPr>
          <p:cNvPr id="28" name="Text 26"/>
          <p:cNvSpPr txBox="1"/>
          <p:nvPr/>
        </p:nvSpPr>
        <p:spPr>
          <a:xfrm>
            <a:off x="4075212" y="3982194"/>
            <a:ext cx="23679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100 ml de caldo de frango (ou água)</a:t>
            </a:r>
            <a:endParaRPr lang="en-US" sz="1000" dirty="0"/>
          </a:p>
        </p:txBody>
      </p:sp>
      <p:sp>
        <p:nvSpPr>
          <p:cNvPr id="29" name="Shape 27"/>
          <p:cNvSpPr/>
          <p:nvPr/>
        </p:nvSpPr>
        <p:spPr>
          <a:xfrm>
            <a:off x="3884712" y="4232234"/>
            <a:ext cx="114300" cy="114300"/>
          </a:xfrm>
          <a:prstGeom prst="roundRect">
            <a:avLst>
              <a:gd name="adj" fmla="val 166667"/>
            </a:avLst>
          </a:prstGeom>
          <a:ln w="9525">
            <a:solidFill>
              <a:srgbClr val="C8501F"/>
            </a:solidFill>
            <a:prstDash val="solid"/>
          </a:ln>
        </p:spPr>
      </p:sp>
      <p:sp>
        <p:nvSpPr>
          <p:cNvPr id="30" name="Text 28"/>
          <p:cNvSpPr txBox="1"/>
          <p:nvPr/>
        </p:nvSpPr>
        <p:spPr>
          <a:xfrm>
            <a:off x="4075212" y="4201120"/>
            <a:ext cx="160703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e raspas de 1 limão</a:t>
            </a:r>
            <a:endParaRPr lang="en-US" sz="1000" dirty="0"/>
          </a:p>
        </p:txBody>
      </p:sp>
      <p:sp>
        <p:nvSpPr>
          <p:cNvPr id="31" name="Shape 29"/>
          <p:cNvSpPr/>
          <p:nvPr/>
        </p:nvSpPr>
        <p:spPr>
          <a:xfrm>
            <a:off x="3884712" y="4451160"/>
            <a:ext cx="114300" cy="114300"/>
          </a:xfrm>
          <a:prstGeom prst="roundRect">
            <a:avLst>
              <a:gd name="adj" fmla="val 166667"/>
            </a:avLst>
          </a:prstGeom>
          <a:ln w="9525">
            <a:solidFill>
              <a:srgbClr val="C8501F"/>
            </a:solidFill>
            <a:prstDash val="solid"/>
          </a:ln>
        </p:spPr>
      </p:sp>
      <p:sp>
        <p:nvSpPr>
          <p:cNvPr id="32" name="Text 30"/>
          <p:cNvSpPr txBox="1"/>
          <p:nvPr/>
        </p:nvSpPr>
        <p:spPr>
          <a:xfrm>
            <a:off x="4075212" y="4420046"/>
            <a:ext cx="247197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manteiga gelada</a:t>
            </a:r>
            <a:endParaRPr lang="en-US" sz="1000" dirty="0"/>
          </a:p>
        </p:txBody>
      </p:sp>
      <p:sp>
        <p:nvSpPr>
          <p:cNvPr id="33" name="Shape 31"/>
          <p:cNvSpPr/>
          <p:nvPr/>
        </p:nvSpPr>
        <p:spPr>
          <a:xfrm>
            <a:off x="3884712" y="4670087"/>
            <a:ext cx="114300" cy="114300"/>
          </a:xfrm>
          <a:prstGeom prst="roundRect">
            <a:avLst>
              <a:gd name="adj" fmla="val 166667"/>
            </a:avLst>
          </a:prstGeom>
          <a:ln w="9525">
            <a:solidFill>
              <a:srgbClr val="C8501F"/>
            </a:solidFill>
            <a:prstDash val="solid"/>
          </a:ln>
        </p:spPr>
      </p:sp>
      <p:sp>
        <p:nvSpPr>
          <p:cNvPr id="34" name="Text 32"/>
          <p:cNvSpPr txBox="1"/>
          <p:nvPr/>
        </p:nvSpPr>
        <p:spPr>
          <a:xfrm>
            <a:off x="4075212" y="4638973"/>
            <a:ext cx="102855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Salsinha picada</a:t>
            </a:r>
            <a:endParaRPr lang="en-US" sz="1000" dirty="0"/>
          </a:p>
        </p:txBody>
      </p:sp>
      <p:sp>
        <p:nvSpPr>
          <p:cNvPr id="35" name="Text 33"/>
          <p:cNvSpPr txBox="1"/>
          <p:nvPr/>
        </p:nvSpPr>
        <p:spPr>
          <a:xfrm>
            <a:off x="863798" y="4991249"/>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6" name="Shape 34"/>
          <p:cNvSpPr/>
          <p:nvPr/>
        </p:nvSpPr>
        <p:spPr>
          <a:xfrm>
            <a:off x="863798" y="5334149"/>
            <a:ext cx="190500" cy="190500"/>
          </a:xfrm>
          <a:prstGeom prst="ellipse">
            <a:avLst/>
          </a:prstGeom>
          <a:solidFill>
            <a:srgbClr val="2F4A22"/>
          </a:solidFill>
          <a:ln/>
        </p:spPr>
      </p:sp>
      <p:sp>
        <p:nvSpPr>
          <p:cNvPr id="37" name="Text 35"/>
          <p:cNvSpPr txBox="1"/>
          <p:nvPr/>
        </p:nvSpPr>
        <p:spPr>
          <a:xfrm>
            <a:off x="883295" y="5362724"/>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8" name="Text 36"/>
          <p:cNvSpPr txBox="1"/>
          <p:nvPr/>
        </p:nvSpPr>
        <p:spPr>
          <a:xfrm>
            <a:off x="1149548" y="5334149"/>
            <a:ext cx="513580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Seque muito bem as sobrecoxas e tempere com sal e pimenta dos dois lados.</a:t>
            </a:r>
            <a:endParaRPr lang="en-US" sz="1000" dirty="0"/>
          </a:p>
        </p:txBody>
      </p:sp>
      <p:sp>
        <p:nvSpPr>
          <p:cNvPr id="39" name="Shape 37"/>
          <p:cNvSpPr/>
          <p:nvPr/>
        </p:nvSpPr>
        <p:spPr>
          <a:xfrm>
            <a:off x="863798" y="5581799"/>
            <a:ext cx="190500" cy="190500"/>
          </a:xfrm>
          <a:prstGeom prst="ellipse">
            <a:avLst/>
          </a:prstGeom>
          <a:solidFill>
            <a:srgbClr val="2F4A22"/>
          </a:solidFill>
          <a:ln/>
        </p:spPr>
      </p:sp>
      <p:sp>
        <p:nvSpPr>
          <p:cNvPr id="40" name="Text 38"/>
          <p:cNvSpPr txBox="1"/>
          <p:nvPr/>
        </p:nvSpPr>
        <p:spPr>
          <a:xfrm>
            <a:off x="872579" y="5610374"/>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1" name="Text 39"/>
          <p:cNvSpPr txBox="1"/>
          <p:nvPr/>
        </p:nvSpPr>
        <p:spPr>
          <a:xfrm>
            <a:off x="1149548" y="5581799"/>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Coloque o óleo numa frigideira de fundo grosso e disponha as sobrecoxas com a pele para baixo, ainda com a frigideira fria. Ligue em fogo médio.</a:t>
            </a:r>
            <a:endParaRPr lang="en-US" sz="1000" dirty="0"/>
          </a:p>
        </p:txBody>
      </p:sp>
      <p:sp>
        <p:nvSpPr>
          <p:cNvPr id="42" name="Shape 40"/>
          <p:cNvSpPr/>
          <p:nvPr/>
        </p:nvSpPr>
        <p:spPr>
          <a:xfrm>
            <a:off x="863798" y="6010126"/>
            <a:ext cx="190500" cy="190500"/>
          </a:xfrm>
          <a:prstGeom prst="ellipse">
            <a:avLst/>
          </a:prstGeom>
          <a:solidFill>
            <a:srgbClr val="2F4A22"/>
          </a:solidFill>
          <a:ln/>
        </p:spPr>
      </p:sp>
      <p:sp>
        <p:nvSpPr>
          <p:cNvPr id="43" name="Text 41"/>
          <p:cNvSpPr txBox="1"/>
          <p:nvPr/>
        </p:nvSpPr>
        <p:spPr>
          <a:xfrm>
            <a:off x="871240" y="6038701"/>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4" name="Text 42"/>
          <p:cNvSpPr txBox="1"/>
          <p:nvPr/>
        </p:nvSpPr>
        <p:spPr>
          <a:xfrm>
            <a:off x="1149548" y="6010126"/>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Coloque um peso por cima (uma panela menor com água, por exemplo) e deixe por 12 a 15 minutos sem mexer. A gordura da pele derrete aos poucos e ela frita na própria gordura até ficar dourada e crocante.</a:t>
            </a:r>
            <a:endParaRPr lang="en-US" sz="1000" dirty="0"/>
          </a:p>
        </p:txBody>
      </p:sp>
      <p:sp>
        <p:nvSpPr>
          <p:cNvPr id="45" name="Shape 43"/>
          <p:cNvSpPr/>
          <p:nvPr/>
        </p:nvSpPr>
        <p:spPr>
          <a:xfrm>
            <a:off x="863798" y="6628805"/>
            <a:ext cx="190500" cy="190500"/>
          </a:xfrm>
          <a:prstGeom prst="ellipse">
            <a:avLst/>
          </a:prstGeom>
          <a:solidFill>
            <a:srgbClr val="2F4A22"/>
          </a:solidFill>
          <a:ln/>
        </p:spPr>
      </p:sp>
      <p:sp>
        <p:nvSpPr>
          <p:cNvPr id="46" name="Text 44"/>
          <p:cNvSpPr txBox="1"/>
          <p:nvPr/>
        </p:nvSpPr>
        <p:spPr>
          <a:xfrm>
            <a:off x="868859" y="6657380"/>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7" name="Text 45"/>
          <p:cNvSpPr txBox="1"/>
          <p:nvPr/>
        </p:nvSpPr>
        <p:spPr>
          <a:xfrm>
            <a:off x="1149548" y="662880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Vire e cozinhe por mais 4 a 6 minutos, até o centro atingir 75 °C ou o suco sair transparente ao furar.</a:t>
            </a:r>
            <a:endParaRPr lang="en-US" sz="1000" dirty="0"/>
          </a:p>
        </p:txBody>
      </p:sp>
      <p:sp>
        <p:nvSpPr>
          <p:cNvPr id="48" name="Shape 46"/>
          <p:cNvSpPr/>
          <p:nvPr/>
        </p:nvSpPr>
        <p:spPr>
          <a:xfrm>
            <a:off x="863798" y="7057132"/>
            <a:ext cx="190500" cy="190500"/>
          </a:xfrm>
          <a:prstGeom prst="ellipse">
            <a:avLst/>
          </a:prstGeom>
          <a:solidFill>
            <a:srgbClr val="2F4A22"/>
          </a:solidFill>
          <a:ln/>
        </p:spPr>
      </p:sp>
      <p:sp>
        <p:nvSpPr>
          <p:cNvPr id="49" name="Text 47"/>
          <p:cNvSpPr txBox="1"/>
          <p:nvPr/>
        </p:nvSpPr>
        <p:spPr>
          <a:xfrm>
            <a:off x="870198" y="7085707"/>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0" name="Text 48"/>
          <p:cNvSpPr txBox="1"/>
          <p:nvPr/>
        </p:nvSpPr>
        <p:spPr>
          <a:xfrm>
            <a:off x="1149548" y="7057132"/>
            <a:ext cx="569754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Transfira para uma grade ou prato, com a pele para cima, e deixe descansar 5 minutos.</a:t>
            </a:r>
            <a:endParaRPr lang="en-US" sz="1000" dirty="0"/>
          </a:p>
        </p:txBody>
      </p:sp>
      <p:sp>
        <p:nvSpPr>
          <p:cNvPr id="51" name="Shape 49"/>
          <p:cNvSpPr/>
          <p:nvPr/>
        </p:nvSpPr>
        <p:spPr>
          <a:xfrm>
            <a:off x="863798" y="7304782"/>
            <a:ext cx="190500" cy="190500"/>
          </a:xfrm>
          <a:prstGeom prst="ellipse">
            <a:avLst/>
          </a:prstGeom>
          <a:solidFill>
            <a:srgbClr val="2F4A22"/>
          </a:solidFill>
          <a:ln/>
        </p:spPr>
      </p:sp>
      <p:sp>
        <p:nvSpPr>
          <p:cNvPr id="52" name="Text 50"/>
          <p:cNvSpPr txBox="1"/>
          <p:nvPr/>
        </p:nvSpPr>
        <p:spPr>
          <a:xfrm>
            <a:off x="869603" y="7333357"/>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3" name="Text 51"/>
          <p:cNvSpPr txBox="1"/>
          <p:nvPr/>
        </p:nvSpPr>
        <p:spPr>
          <a:xfrm>
            <a:off x="1149548" y="7304782"/>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Retire o excesso de gordura da frigideira, deixando cerca de 1 colher. Em fogo baixo, doure o alho por 1 minuto.</a:t>
            </a:r>
            <a:endParaRPr lang="en-US" sz="1000" dirty="0"/>
          </a:p>
        </p:txBody>
      </p:sp>
      <p:sp>
        <p:nvSpPr>
          <p:cNvPr id="54" name="Shape 52"/>
          <p:cNvSpPr/>
          <p:nvPr/>
        </p:nvSpPr>
        <p:spPr>
          <a:xfrm>
            <a:off x="863798" y="7733109"/>
            <a:ext cx="190500" cy="190500"/>
          </a:xfrm>
          <a:prstGeom prst="ellipse">
            <a:avLst/>
          </a:prstGeom>
          <a:solidFill>
            <a:srgbClr val="2F4A22"/>
          </a:solidFill>
          <a:ln/>
        </p:spPr>
      </p:sp>
      <p:sp>
        <p:nvSpPr>
          <p:cNvPr id="55" name="Text 53"/>
          <p:cNvSpPr txBox="1"/>
          <p:nvPr/>
        </p:nvSpPr>
        <p:spPr>
          <a:xfrm>
            <a:off x="874514" y="7761684"/>
            <a:ext cx="16892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7</a:t>
            </a:r>
            <a:endParaRPr lang="en-US" sz="800" dirty="0"/>
          </a:p>
        </p:txBody>
      </p:sp>
      <p:sp>
        <p:nvSpPr>
          <p:cNvPr id="56" name="Text 54"/>
          <p:cNvSpPr txBox="1"/>
          <p:nvPr/>
        </p:nvSpPr>
        <p:spPr>
          <a:xfrm>
            <a:off x="1149548" y="7733109"/>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Junte o caldo e raspe bem o fundo com uma colher de pau. Deixe reduzir à metade. Desligue o fogo, junte o suco e as raspas de limão e a manteiga gelada, mexendo até o molho engrossar e brilhar. Finalize com salsinha.</a:t>
            </a:r>
            <a:endParaRPr lang="en-US" sz="1000" dirty="0"/>
          </a:p>
        </p:txBody>
      </p:sp>
      <p:sp>
        <p:nvSpPr>
          <p:cNvPr id="57" name="Shape 55"/>
          <p:cNvSpPr/>
          <p:nvPr/>
        </p:nvSpPr>
        <p:spPr>
          <a:xfrm>
            <a:off x="863798" y="8351788"/>
            <a:ext cx="190500" cy="190500"/>
          </a:xfrm>
          <a:prstGeom prst="ellipse">
            <a:avLst/>
          </a:prstGeom>
          <a:solidFill>
            <a:srgbClr val="2F4A22"/>
          </a:solidFill>
          <a:ln/>
        </p:spPr>
      </p:sp>
      <p:sp>
        <p:nvSpPr>
          <p:cNvPr id="58" name="Text 56"/>
          <p:cNvSpPr txBox="1"/>
          <p:nvPr/>
        </p:nvSpPr>
        <p:spPr>
          <a:xfrm>
            <a:off x="869752" y="8380363"/>
            <a:ext cx="178594"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8</a:t>
            </a:r>
            <a:endParaRPr lang="en-US" sz="800" dirty="0"/>
          </a:p>
        </p:txBody>
      </p:sp>
      <p:sp>
        <p:nvSpPr>
          <p:cNvPr id="59" name="Text 57"/>
          <p:cNvSpPr txBox="1"/>
          <p:nvPr/>
        </p:nvSpPr>
        <p:spPr>
          <a:xfrm>
            <a:off x="1149548" y="8351788"/>
            <a:ext cx="555719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Sirva o molho no fundo do prato e o frango por cima, para a pele continuar crocante.</a:t>
            </a:r>
            <a:endParaRPr lang="en-US" sz="1000" dirty="0"/>
          </a:p>
        </p:txBody>
      </p:sp>
      <p:sp>
        <p:nvSpPr>
          <p:cNvPr id="60" name="Shape 58"/>
          <p:cNvSpPr/>
          <p:nvPr/>
        </p:nvSpPr>
        <p:spPr>
          <a:xfrm>
            <a:off x="863798" y="8637538"/>
            <a:ext cx="5832277" cy="780604"/>
          </a:xfrm>
          <a:prstGeom prst="roundRect">
            <a:avLst>
              <a:gd name="adj" fmla="val 21609"/>
            </a:avLst>
          </a:prstGeom>
          <a:solidFill>
            <a:srgbClr val="2F4A22"/>
          </a:solidFill>
          <a:ln/>
        </p:spPr>
      </p:sp>
      <p:sp>
        <p:nvSpPr>
          <p:cNvPr id="61" name="Text 59"/>
          <p:cNvSpPr txBox="1"/>
          <p:nvPr/>
        </p:nvSpPr>
        <p:spPr>
          <a:xfrm>
            <a:off x="997148" y="8751838"/>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62" name="Text 60"/>
          <p:cNvSpPr txBox="1"/>
          <p:nvPr/>
        </p:nvSpPr>
        <p:spPr>
          <a:xfrm>
            <a:off x="2279749" y="8751838"/>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Aquele fundo grudado na frigideira é sabor puro. Soltá-lo com um líquido (deglaçar) transforma o que iria para a pia no melhor molho do prato.</a:t>
            </a:r>
            <a:endParaRPr lang="en-US" sz="1000" dirty="0"/>
          </a:p>
        </p:txBody>
      </p:sp>
      <p:sp>
        <p:nvSpPr>
          <p:cNvPr id="63" name="Text 61"/>
          <p:cNvSpPr txBox="1"/>
          <p:nvPr/>
        </p:nvSpPr>
        <p:spPr>
          <a:xfrm>
            <a:off x="863798" y="9615041"/>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4" name="Text 62"/>
          <p:cNvSpPr txBox="1"/>
          <p:nvPr/>
        </p:nvSpPr>
        <p:spPr>
          <a:xfrm>
            <a:off x="6554986" y="9615041"/>
            <a:ext cx="255389"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28</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7312521"/>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555254"/>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02</a:t>
            </a:r>
            <a:endParaRPr lang="en-US" sz="750" dirty="0"/>
          </a:p>
        </p:txBody>
      </p:sp>
      <p:sp>
        <p:nvSpPr>
          <p:cNvPr id="4" name="Text 2"/>
          <p:cNvSpPr txBox="1"/>
          <p:nvPr/>
        </p:nvSpPr>
        <p:spPr>
          <a:xfrm>
            <a:off x="1043880" y="1858529"/>
            <a:ext cx="2515939"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FRANGO DESFIADO</a:t>
            </a:r>
            <a:endParaRPr lang="en-US" sz="3200" dirty="0"/>
          </a:p>
        </p:txBody>
      </p:sp>
      <p:sp>
        <p:nvSpPr>
          <p:cNvPr id="5" name="Text 3"/>
          <p:cNvSpPr txBox="1"/>
          <p:nvPr/>
        </p:nvSpPr>
        <p:spPr>
          <a:xfrm>
            <a:off x="1043880" y="2879527"/>
            <a:ext cx="2515939"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Frango desfiado suculento ao molho de tomate caseiro e ervas</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3-2.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3564434"/>
          </a:xfrm>
          <a:prstGeom prst="roundRect">
            <a:avLst>
              <a:gd name="adj" fmla="val 1295"/>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298954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6 sobrecoxas com osso e pele (cerca de 1 kg)</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15513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pimenta-do-reino</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15951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azeite</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101858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picada</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16645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dentes de alho picados</a:t>
            </a:r>
            <a:endParaRPr lang="en-US" sz="1000" dirty="0"/>
          </a:p>
        </p:txBody>
      </p:sp>
      <p:sp>
        <p:nvSpPr>
          <p:cNvPr id="20" name="Shape 17"/>
          <p:cNvSpPr/>
          <p:nvPr/>
        </p:nvSpPr>
        <p:spPr>
          <a:xfrm>
            <a:off x="1403747" y="5891221"/>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5860107"/>
            <a:ext cx="10651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cenoura ralada</a:t>
            </a:r>
            <a:endParaRPr lang="en-US" sz="1000" dirty="0"/>
          </a:p>
        </p:txBody>
      </p:sp>
      <p:sp>
        <p:nvSpPr>
          <p:cNvPr id="22" name="Shape 19"/>
          <p:cNvSpPr/>
          <p:nvPr/>
        </p:nvSpPr>
        <p:spPr>
          <a:xfrm>
            <a:off x="1403747" y="6110148"/>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079034"/>
            <a:ext cx="23932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extrato de tomate</a:t>
            </a:r>
            <a:endParaRPr lang="en-US" sz="1000" dirty="0"/>
          </a:p>
        </p:txBody>
      </p:sp>
      <p:sp>
        <p:nvSpPr>
          <p:cNvPr id="24" name="Shape 21"/>
          <p:cNvSpPr/>
          <p:nvPr/>
        </p:nvSpPr>
        <p:spPr>
          <a:xfrm>
            <a:off x="1403747" y="6329074"/>
            <a:ext cx="114300" cy="114300"/>
          </a:xfrm>
          <a:prstGeom prst="roundRect">
            <a:avLst>
              <a:gd name="adj" fmla="val 166667"/>
            </a:avLst>
          </a:prstGeom>
          <a:ln w="9525">
            <a:solidFill>
              <a:srgbClr val="C8501F"/>
            </a:solidFill>
            <a:prstDash val="solid"/>
          </a:ln>
        </p:spPr>
      </p:sp>
      <p:sp>
        <p:nvSpPr>
          <p:cNvPr id="25" name="Text 22"/>
          <p:cNvSpPr txBox="1"/>
          <p:nvPr/>
        </p:nvSpPr>
        <p:spPr>
          <a:xfrm>
            <a:off x="1594247" y="6297960"/>
            <a:ext cx="405850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6 tomates bem maduros picados (ou 1 lata de tomate pelado)</a:t>
            </a:r>
            <a:endParaRPr lang="en-US" sz="1000" dirty="0"/>
          </a:p>
        </p:txBody>
      </p:sp>
      <p:sp>
        <p:nvSpPr>
          <p:cNvPr id="26" name="Shape 23"/>
          <p:cNvSpPr/>
          <p:nvPr/>
        </p:nvSpPr>
        <p:spPr>
          <a:xfrm>
            <a:off x="1403747" y="6548000"/>
            <a:ext cx="114300" cy="114300"/>
          </a:xfrm>
          <a:prstGeom prst="roundRect">
            <a:avLst>
              <a:gd name="adj" fmla="val 166667"/>
            </a:avLst>
          </a:prstGeom>
          <a:ln w="9525">
            <a:solidFill>
              <a:srgbClr val="C8501F"/>
            </a:solidFill>
            <a:prstDash val="solid"/>
          </a:ln>
        </p:spPr>
      </p:sp>
      <p:sp>
        <p:nvSpPr>
          <p:cNvPr id="27" name="Text 24"/>
          <p:cNvSpPr txBox="1"/>
          <p:nvPr/>
        </p:nvSpPr>
        <p:spPr>
          <a:xfrm>
            <a:off x="1594247" y="6516886"/>
            <a:ext cx="98940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folha de louro</a:t>
            </a:r>
            <a:endParaRPr lang="en-US" sz="1000" dirty="0"/>
          </a:p>
        </p:txBody>
      </p:sp>
      <p:sp>
        <p:nvSpPr>
          <p:cNvPr id="28" name="Shape 25"/>
          <p:cNvSpPr/>
          <p:nvPr/>
        </p:nvSpPr>
        <p:spPr>
          <a:xfrm>
            <a:off x="1403747" y="6766926"/>
            <a:ext cx="114300" cy="114300"/>
          </a:xfrm>
          <a:prstGeom prst="roundRect">
            <a:avLst>
              <a:gd name="adj" fmla="val 166667"/>
            </a:avLst>
          </a:prstGeom>
          <a:ln w="9525">
            <a:solidFill>
              <a:srgbClr val="C8501F"/>
            </a:solidFill>
            <a:prstDash val="solid"/>
          </a:ln>
        </p:spPr>
      </p:sp>
      <p:sp>
        <p:nvSpPr>
          <p:cNvPr id="29" name="Text 26"/>
          <p:cNvSpPr txBox="1"/>
          <p:nvPr/>
        </p:nvSpPr>
        <p:spPr>
          <a:xfrm>
            <a:off x="1594247" y="6735812"/>
            <a:ext cx="230745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ml de caldo de frango ou água</a:t>
            </a:r>
            <a:endParaRPr lang="en-US" sz="1000" dirty="0"/>
          </a:p>
        </p:txBody>
      </p:sp>
      <p:sp>
        <p:nvSpPr>
          <p:cNvPr id="30" name="Shape 27"/>
          <p:cNvSpPr/>
          <p:nvPr/>
        </p:nvSpPr>
        <p:spPr>
          <a:xfrm>
            <a:off x="1403747" y="6985852"/>
            <a:ext cx="114300" cy="114300"/>
          </a:xfrm>
          <a:prstGeom prst="roundRect">
            <a:avLst>
              <a:gd name="adj" fmla="val 166667"/>
            </a:avLst>
          </a:prstGeom>
          <a:ln w="9525">
            <a:solidFill>
              <a:srgbClr val="C8501F"/>
            </a:solidFill>
            <a:prstDash val="solid"/>
          </a:ln>
        </p:spPr>
      </p:sp>
      <p:sp>
        <p:nvSpPr>
          <p:cNvPr id="31" name="Text 28"/>
          <p:cNvSpPr txBox="1"/>
          <p:nvPr/>
        </p:nvSpPr>
        <p:spPr>
          <a:xfrm>
            <a:off x="1594247" y="6954738"/>
            <a:ext cx="289486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Orégano, manjericão e cheiro-verde a gosto</a:t>
            </a:r>
            <a:endParaRPr lang="en-US" sz="1000" dirty="0"/>
          </a:p>
        </p:txBody>
      </p:sp>
      <p:sp>
        <p:nvSpPr>
          <p:cNvPr id="32" name="Text 29"/>
          <p:cNvSpPr txBox="1"/>
          <p:nvPr/>
        </p:nvSpPr>
        <p:spPr>
          <a:xfrm>
            <a:off x="1403747" y="7230814"/>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431899"/>
            <a:ext cx="6696075" cy="982816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818257"/>
            <a:ext cx="2173938"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02 · FRANGO</a:t>
            </a:r>
            <a:endParaRPr lang="en-US" sz="750" dirty="0"/>
          </a:p>
        </p:txBody>
      </p:sp>
      <p:sp>
        <p:nvSpPr>
          <p:cNvPr id="4" name="Text 2"/>
          <p:cNvSpPr txBox="1"/>
          <p:nvPr/>
        </p:nvSpPr>
        <p:spPr>
          <a:xfrm>
            <a:off x="863798" y="1010408"/>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FRANGO DESFIADO SUCULENTO AO MOLHO DE TOMATE CASEIRO E ERVAS</a:t>
            </a:r>
            <a:endParaRPr lang="en-US" sz="2200" dirty="0"/>
          </a:p>
        </p:txBody>
      </p:sp>
      <p:sp>
        <p:nvSpPr>
          <p:cNvPr id="5" name="Text 3"/>
          <p:cNvSpPr txBox="1"/>
          <p:nvPr/>
        </p:nvSpPr>
        <p:spPr>
          <a:xfrm>
            <a:off x="863798" y="1739205"/>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COZIMENTO LENTO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(para massas, tortas e sanduíches)</a:t>
            </a:r>
            <a:endParaRPr lang="en-US" sz="800" dirty="0"/>
          </a:p>
        </p:txBody>
      </p:sp>
      <p:sp>
        <p:nvSpPr>
          <p:cNvPr id="6" name="Shape 4"/>
          <p:cNvSpPr/>
          <p:nvPr/>
        </p:nvSpPr>
        <p:spPr>
          <a:xfrm>
            <a:off x="863798" y="2014091"/>
            <a:ext cx="1893243" cy="422523"/>
          </a:xfrm>
          <a:prstGeom prst="roundRect">
            <a:avLst>
              <a:gd name="adj" fmla="val 55317"/>
            </a:avLst>
          </a:prstGeom>
          <a:solidFill>
            <a:srgbClr val="F8EED9"/>
          </a:solidFill>
          <a:ln/>
        </p:spPr>
      </p:sp>
      <p:sp>
        <p:nvSpPr>
          <p:cNvPr id="7" name="Text 5"/>
          <p:cNvSpPr txBox="1"/>
          <p:nvPr/>
        </p:nvSpPr>
        <p:spPr>
          <a:xfrm>
            <a:off x="968573" y="2080766"/>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205037"/>
            <a:ext cx="487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15 min</a:t>
            </a:r>
            <a:endParaRPr lang="en-US" sz="1000" dirty="0"/>
          </a:p>
        </p:txBody>
      </p:sp>
      <p:sp>
        <p:nvSpPr>
          <p:cNvPr id="9" name="Shape 7"/>
          <p:cNvSpPr/>
          <p:nvPr/>
        </p:nvSpPr>
        <p:spPr>
          <a:xfrm>
            <a:off x="2833241" y="2014091"/>
            <a:ext cx="1893243" cy="422523"/>
          </a:xfrm>
          <a:prstGeom prst="roundRect">
            <a:avLst>
              <a:gd name="adj" fmla="val 55317"/>
            </a:avLst>
          </a:prstGeom>
          <a:solidFill>
            <a:srgbClr val="F8EED9"/>
          </a:solidFill>
          <a:ln/>
        </p:spPr>
      </p:sp>
      <p:sp>
        <p:nvSpPr>
          <p:cNvPr id="10" name="Text 8"/>
          <p:cNvSpPr txBox="1"/>
          <p:nvPr/>
        </p:nvSpPr>
        <p:spPr>
          <a:xfrm>
            <a:off x="2938016" y="2080766"/>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205037"/>
            <a:ext cx="167837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1h05 (25 min na pressão)</a:t>
            </a:r>
            <a:endParaRPr lang="en-US" sz="1000" dirty="0"/>
          </a:p>
        </p:txBody>
      </p:sp>
      <p:sp>
        <p:nvSpPr>
          <p:cNvPr id="12" name="Shape 10"/>
          <p:cNvSpPr/>
          <p:nvPr/>
        </p:nvSpPr>
        <p:spPr>
          <a:xfrm>
            <a:off x="4802684" y="2014091"/>
            <a:ext cx="1893243" cy="422523"/>
          </a:xfrm>
          <a:prstGeom prst="roundRect">
            <a:avLst>
              <a:gd name="adj" fmla="val 55317"/>
            </a:avLst>
          </a:prstGeom>
          <a:solidFill>
            <a:srgbClr val="F8EED9"/>
          </a:solidFill>
          <a:ln/>
        </p:spPr>
      </p:sp>
      <p:sp>
        <p:nvSpPr>
          <p:cNvPr id="13" name="Text 11"/>
          <p:cNvSpPr txBox="1"/>
          <p:nvPr/>
        </p:nvSpPr>
        <p:spPr>
          <a:xfrm>
            <a:off x="4907459" y="2080766"/>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205037"/>
            <a:ext cx="71839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6 porções</a:t>
            </a:r>
            <a:endParaRPr lang="en-US" sz="1000" dirty="0"/>
          </a:p>
        </p:txBody>
      </p:sp>
      <p:sp>
        <p:nvSpPr>
          <p:cNvPr id="15" name="Shape 13"/>
          <p:cNvSpPr/>
          <p:nvPr/>
        </p:nvSpPr>
        <p:spPr>
          <a:xfrm>
            <a:off x="863798" y="2569964"/>
            <a:ext cx="5832277" cy="3388816"/>
          </a:xfrm>
          <a:prstGeom prst="roundRect">
            <a:avLst>
              <a:gd name="adj" fmla="val 1147"/>
            </a:avLst>
          </a:prstGeom>
          <a:solidFill>
            <a:srgbClr val="FBF4E4"/>
          </a:solidFill>
          <a:ln w="9525">
            <a:solidFill>
              <a:srgbClr val="EADFC6"/>
            </a:solidFill>
            <a:prstDash val="solid"/>
          </a:ln>
        </p:spPr>
      </p:sp>
      <p:sp>
        <p:nvSpPr>
          <p:cNvPr id="16" name="Text 14"/>
          <p:cNvSpPr txBox="1"/>
          <p:nvPr/>
        </p:nvSpPr>
        <p:spPr>
          <a:xfrm>
            <a:off x="1006673" y="2665214"/>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001128"/>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2970014"/>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6 sobrecoxas com osso e pele (cerca de 1 kg)</a:t>
            </a:r>
            <a:endParaRPr lang="en-US" sz="1000" dirty="0"/>
          </a:p>
        </p:txBody>
      </p:sp>
      <p:sp>
        <p:nvSpPr>
          <p:cNvPr id="19" name="Shape 17"/>
          <p:cNvSpPr/>
          <p:nvPr/>
        </p:nvSpPr>
        <p:spPr>
          <a:xfrm>
            <a:off x="1006673" y="3410405"/>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3379291"/>
            <a:ext cx="15513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pimenta-do-reino</a:t>
            </a:r>
            <a:endParaRPr lang="en-US" sz="1000" dirty="0"/>
          </a:p>
        </p:txBody>
      </p:sp>
      <p:sp>
        <p:nvSpPr>
          <p:cNvPr id="21" name="Shape 19"/>
          <p:cNvSpPr/>
          <p:nvPr/>
        </p:nvSpPr>
        <p:spPr>
          <a:xfrm>
            <a:off x="1006673" y="3629332"/>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3598218"/>
            <a:ext cx="15951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azeite</a:t>
            </a:r>
            <a:endParaRPr lang="en-US" sz="1000" dirty="0"/>
          </a:p>
        </p:txBody>
      </p:sp>
      <p:sp>
        <p:nvSpPr>
          <p:cNvPr id="23" name="Shape 21"/>
          <p:cNvSpPr/>
          <p:nvPr/>
        </p:nvSpPr>
        <p:spPr>
          <a:xfrm>
            <a:off x="1006673" y="3848258"/>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3817144"/>
            <a:ext cx="101858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picada</a:t>
            </a:r>
            <a:endParaRPr lang="en-US" sz="1000" dirty="0"/>
          </a:p>
        </p:txBody>
      </p:sp>
      <p:sp>
        <p:nvSpPr>
          <p:cNvPr id="25" name="Shape 23"/>
          <p:cNvSpPr/>
          <p:nvPr/>
        </p:nvSpPr>
        <p:spPr>
          <a:xfrm>
            <a:off x="1006673" y="4067184"/>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036070"/>
            <a:ext cx="16645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dentes de alho picados</a:t>
            </a:r>
            <a:endParaRPr lang="en-US" sz="1000" dirty="0"/>
          </a:p>
        </p:txBody>
      </p:sp>
      <p:sp>
        <p:nvSpPr>
          <p:cNvPr id="27" name="Shape 25"/>
          <p:cNvSpPr/>
          <p:nvPr/>
        </p:nvSpPr>
        <p:spPr>
          <a:xfrm>
            <a:off x="1006673" y="4286110"/>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4254996"/>
            <a:ext cx="10651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cenoura ralada</a:t>
            </a:r>
            <a:endParaRPr lang="en-US" sz="1000" dirty="0"/>
          </a:p>
        </p:txBody>
      </p:sp>
      <p:sp>
        <p:nvSpPr>
          <p:cNvPr id="29" name="Shape 27"/>
          <p:cNvSpPr/>
          <p:nvPr/>
        </p:nvSpPr>
        <p:spPr>
          <a:xfrm>
            <a:off x="1006673" y="4505036"/>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4473922"/>
            <a:ext cx="23932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extrato de tomate</a:t>
            </a:r>
            <a:endParaRPr lang="en-US" sz="1000" dirty="0"/>
          </a:p>
        </p:txBody>
      </p:sp>
      <p:sp>
        <p:nvSpPr>
          <p:cNvPr id="31" name="Shape 29"/>
          <p:cNvSpPr/>
          <p:nvPr/>
        </p:nvSpPr>
        <p:spPr>
          <a:xfrm>
            <a:off x="1006673" y="4723962"/>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4692848"/>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6 tomates bem maduros picados (ou 1 lata de tomate pelado)</a:t>
            </a:r>
            <a:endParaRPr lang="en-US" sz="1000" dirty="0"/>
          </a:p>
        </p:txBody>
      </p:sp>
      <p:sp>
        <p:nvSpPr>
          <p:cNvPr id="33" name="Shape 31"/>
          <p:cNvSpPr/>
          <p:nvPr/>
        </p:nvSpPr>
        <p:spPr>
          <a:xfrm>
            <a:off x="1006673" y="5133240"/>
            <a:ext cx="114300" cy="114300"/>
          </a:xfrm>
          <a:prstGeom prst="roundRect">
            <a:avLst>
              <a:gd name="adj" fmla="val 166667"/>
            </a:avLst>
          </a:prstGeom>
          <a:ln w="9525">
            <a:solidFill>
              <a:srgbClr val="C8501F"/>
            </a:solidFill>
            <a:prstDash val="solid"/>
          </a:ln>
        </p:spPr>
      </p:sp>
      <p:sp>
        <p:nvSpPr>
          <p:cNvPr id="34" name="Text 32"/>
          <p:cNvSpPr txBox="1"/>
          <p:nvPr/>
        </p:nvSpPr>
        <p:spPr>
          <a:xfrm>
            <a:off x="1197173" y="5102126"/>
            <a:ext cx="98940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folha de louro</a:t>
            </a:r>
            <a:endParaRPr lang="en-US" sz="1000" dirty="0"/>
          </a:p>
        </p:txBody>
      </p:sp>
      <p:sp>
        <p:nvSpPr>
          <p:cNvPr id="35" name="Shape 33"/>
          <p:cNvSpPr/>
          <p:nvPr/>
        </p:nvSpPr>
        <p:spPr>
          <a:xfrm>
            <a:off x="1006673" y="5352166"/>
            <a:ext cx="114300" cy="114300"/>
          </a:xfrm>
          <a:prstGeom prst="roundRect">
            <a:avLst>
              <a:gd name="adj" fmla="val 166667"/>
            </a:avLst>
          </a:prstGeom>
          <a:ln w="9525">
            <a:solidFill>
              <a:srgbClr val="C8501F"/>
            </a:solidFill>
            <a:prstDash val="solid"/>
          </a:ln>
        </p:spPr>
      </p:sp>
      <p:sp>
        <p:nvSpPr>
          <p:cNvPr id="36" name="Text 34"/>
          <p:cNvSpPr txBox="1"/>
          <p:nvPr/>
        </p:nvSpPr>
        <p:spPr>
          <a:xfrm>
            <a:off x="1197173" y="5321052"/>
            <a:ext cx="230745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ml de caldo de frango ou água</a:t>
            </a:r>
            <a:endParaRPr lang="en-US" sz="1000" dirty="0"/>
          </a:p>
        </p:txBody>
      </p:sp>
      <p:sp>
        <p:nvSpPr>
          <p:cNvPr id="37" name="Shape 35"/>
          <p:cNvSpPr/>
          <p:nvPr/>
        </p:nvSpPr>
        <p:spPr>
          <a:xfrm>
            <a:off x="1006673" y="5571092"/>
            <a:ext cx="114300" cy="114300"/>
          </a:xfrm>
          <a:prstGeom prst="roundRect">
            <a:avLst>
              <a:gd name="adj" fmla="val 166667"/>
            </a:avLst>
          </a:prstGeom>
          <a:ln w="9525">
            <a:solidFill>
              <a:srgbClr val="C8501F"/>
            </a:solidFill>
            <a:prstDash val="solid"/>
          </a:ln>
        </p:spPr>
      </p:sp>
      <p:sp>
        <p:nvSpPr>
          <p:cNvPr id="38" name="Text 36"/>
          <p:cNvSpPr txBox="1"/>
          <p:nvPr/>
        </p:nvSpPr>
        <p:spPr>
          <a:xfrm>
            <a:off x="1197173" y="5539978"/>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Orégano, manjericão e cheiro-verde a gosto</a:t>
            </a:r>
            <a:endParaRPr lang="en-US" sz="1000" dirty="0"/>
          </a:p>
        </p:txBody>
      </p:sp>
      <p:sp>
        <p:nvSpPr>
          <p:cNvPr id="39" name="Text 37"/>
          <p:cNvSpPr txBox="1"/>
          <p:nvPr/>
        </p:nvSpPr>
        <p:spPr>
          <a:xfrm>
            <a:off x="863798" y="6082605"/>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40" name="Shape 38"/>
          <p:cNvSpPr/>
          <p:nvPr/>
        </p:nvSpPr>
        <p:spPr>
          <a:xfrm>
            <a:off x="863798" y="6425505"/>
            <a:ext cx="190500" cy="190500"/>
          </a:xfrm>
          <a:prstGeom prst="ellipse">
            <a:avLst/>
          </a:prstGeom>
          <a:solidFill>
            <a:srgbClr val="2F4A22"/>
          </a:solidFill>
          <a:ln/>
        </p:spPr>
      </p:sp>
      <p:sp>
        <p:nvSpPr>
          <p:cNvPr id="41" name="Text 39"/>
          <p:cNvSpPr txBox="1"/>
          <p:nvPr/>
        </p:nvSpPr>
        <p:spPr>
          <a:xfrm>
            <a:off x="883295" y="6454080"/>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42" name="Text 40"/>
          <p:cNvSpPr txBox="1"/>
          <p:nvPr/>
        </p:nvSpPr>
        <p:spPr>
          <a:xfrm>
            <a:off x="1149548" y="642550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Seque e tempere as sobrecoxas com sal e pimenta. Doure no azeite, com a pele para baixo, por 6 a 8 minutos, até ficarem bem douradas. Vire, doure o outro lado por 2 minutos e reserve.</a:t>
            </a:r>
            <a:endParaRPr lang="en-US" sz="1000" dirty="0"/>
          </a:p>
        </p:txBody>
      </p:sp>
      <p:sp>
        <p:nvSpPr>
          <p:cNvPr id="43" name="Shape 41"/>
          <p:cNvSpPr/>
          <p:nvPr/>
        </p:nvSpPr>
        <p:spPr>
          <a:xfrm>
            <a:off x="863798" y="6853833"/>
            <a:ext cx="190500" cy="190500"/>
          </a:xfrm>
          <a:prstGeom prst="ellipse">
            <a:avLst/>
          </a:prstGeom>
          <a:solidFill>
            <a:srgbClr val="2F4A22"/>
          </a:solidFill>
          <a:ln/>
        </p:spPr>
      </p:sp>
      <p:sp>
        <p:nvSpPr>
          <p:cNvPr id="44" name="Text 42"/>
          <p:cNvSpPr txBox="1"/>
          <p:nvPr/>
        </p:nvSpPr>
        <p:spPr>
          <a:xfrm>
            <a:off x="872579" y="6882408"/>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5" name="Text 43"/>
          <p:cNvSpPr txBox="1"/>
          <p:nvPr/>
        </p:nvSpPr>
        <p:spPr>
          <a:xfrm>
            <a:off x="1149548" y="6853833"/>
            <a:ext cx="580622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Na gordura que ficou na panela, refogue a cebola, o alho e a cenoura até ficarem macios.</a:t>
            </a:r>
            <a:endParaRPr lang="en-US" sz="1000" dirty="0"/>
          </a:p>
        </p:txBody>
      </p:sp>
      <p:sp>
        <p:nvSpPr>
          <p:cNvPr id="46" name="Shape 44"/>
          <p:cNvSpPr/>
          <p:nvPr/>
        </p:nvSpPr>
        <p:spPr>
          <a:xfrm>
            <a:off x="863798" y="7101483"/>
            <a:ext cx="190500" cy="190500"/>
          </a:xfrm>
          <a:prstGeom prst="ellipse">
            <a:avLst/>
          </a:prstGeom>
          <a:solidFill>
            <a:srgbClr val="2F4A22"/>
          </a:solidFill>
          <a:ln/>
        </p:spPr>
      </p:sp>
      <p:sp>
        <p:nvSpPr>
          <p:cNvPr id="47" name="Text 45"/>
          <p:cNvSpPr txBox="1"/>
          <p:nvPr/>
        </p:nvSpPr>
        <p:spPr>
          <a:xfrm>
            <a:off x="871240" y="7130058"/>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8" name="Text 46"/>
          <p:cNvSpPr txBox="1"/>
          <p:nvPr/>
        </p:nvSpPr>
        <p:spPr>
          <a:xfrm>
            <a:off x="1149548" y="710148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Junte o extrato de tomate e mexa por 1 minuto, até ele escurecer levemente. Isso tira o gosto ácido de lata e aprofunda o sabor.</a:t>
            </a:r>
            <a:endParaRPr lang="en-US" sz="1000" dirty="0"/>
          </a:p>
        </p:txBody>
      </p:sp>
      <p:sp>
        <p:nvSpPr>
          <p:cNvPr id="49" name="Shape 47"/>
          <p:cNvSpPr/>
          <p:nvPr/>
        </p:nvSpPr>
        <p:spPr>
          <a:xfrm>
            <a:off x="863798" y="7529810"/>
            <a:ext cx="190500" cy="190500"/>
          </a:xfrm>
          <a:prstGeom prst="ellipse">
            <a:avLst/>
          </a:prstGeom>
          <a:solidFill>
            <a:srgbClr val="2F4A22"/>
          </a:solidFill>
          <a:ln/>
        </p:spPr>
      </p:sp>
      <p:sp>
        <p:nvSpPr>
          <p:cNvPr id="50" name="Text 48"/>
          <p:cNvSpPr txBox="1"/>
          <p:nvPr/>
        </p:nvSpPr>
        <p:spPr>
          <a:xfrm>
            <a:off x="868859" y="7558385"/>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51" name="Text 49"/>
          <p:cNvSpPr txBox="1"/>
          <p:nvPr/>
        </p:nvSpPr>
        <p:spPr>
          <a:xfrm>
            <a:off x="1149548" y="7529810"/>
            <a:ext cx="58568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Acrescente os tomates, o louro e o caldo, raspando o fundo. Volte o frango para a panela.</a:t>
            </a:r>
            <a:endParaRPr lang="en-US" sz="1000" dirty="0"/>
          </a:p>
        </p:txBody>
      </p:sp>
      <p:sp>
        <p:nvSpPr>
          <p:cNvPr id="52" name="Shape 50"/>
          <p:cNvSpPr/>
          <p:nvPr/>
        </p:nvSpPr>
        <p:spPr>
          <a:xfrm>
            <a:off x="863798" y="7777460"/>
            <a:ext cx="190500" cy="190500"/>
          </a:xfrm>
          <a:prstGeom prst="ellipse">
            <a:avLst/>
          </a:prstGeom>
          <a:solidFill>
            <a:srgbClr val="2F4A22"/>
          </a:solidFill>
          <a:ln/>
        </p:spPr>
      </p:sp>
      <p:sp>
        <p:nvSpPr>
          <p:cNvPr id="53" name="Text 51"/>
          <p:cNvSpPr txBox="1"/>
          <p:nvPr/>
        </p:nvSpPr>
        <p:spPr>
          <a:xfrm>
            <a:off x="870198" y="7806035"/>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4" name="Text 52"/>
          <p:cNvSpPr txBox="1"/>
          <p:nvPr/>
        </p:nvSpPr>
        <p:spPr>
          <a:xfrm>
            <a:off x="1149548" y="777746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Tampe e cozinhe em fogo baixo por 50 a 60 minutos (ou 20 minutos na panela de pressão), até a carne soltar do osso.</a:t>
            </a:r>
            <a:endParaRPr lang="en-US" sz="1000" dirty="0"/>
          </a:p>
        </p:txBody>
      </p:sp>
      <p:sp>
        <p:nvSpPr>
          <p:cNvPr id="55" name="Shape 53"/>
          <p:cNvSpPr/>
          <p:nvPr/>
        </p:nvSpPr>
        <p:spPr>
          <a:xfrm>
            <a:off x="863798" y="8205787"/>
            <a:ext cx="190500" cy="190500"/>
          </a:xfrm>
          <a:prstGeom prst="ellipse">
            <a:avLst/>
          </a:prstGeom>
          <a:solidFill>
            <a:srgbClr val="2F4A22"/>
          </a:solidFill>
          <a:ln/>
        </p:spPr>
      </p:sp>
      <p:sp>
        <p:nvSpPr>
          <p:cNvPr id="56" name="Text 54"/>
          <p:cNvSpPr txBox="1"/>
          <p:nvPr/>
        </p:nvSpPr>
        <p:spPr>
          <a:xfrm>
            <a:off x="869603" y="8234362"/>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7" name="Text 55"/>
          <p:cNvSpPr txBox="1"/>
          <p:nvPr/>
        </p:nvSpPr>
        <p:spPr>
          <a:xfrm>
            <a:off x="1149548" y="820578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Retire os ossos e a pele (guarde os ossos para o caldo). Desfie a carne com dois garfos dentro do próprio molho.</a:t>
            </a:r>
            <a:endParaRPr lang="en-US" sz="1000" dirty="0"/>
          </a:p>
        </p:txBody>
      </p:sp>
      <p:sp>
        <p:nvSpPr>
          <p:cNvPr id="58" name="Shape 56"/>
          <p:cNvSpPr/>
          <p:nvPr/>
        </p:nvSpPr>
        <p:spPr>
          <a:xfrm>
            <a:off x="863798" y="8634115"/>
            <a:ext cx="190500" cy="190500"/>
          </a:xfrm>
          <a:prstGeom prst="ellipse">
            <a:avLst/>
          </a:prstGeom>
          <a:solidFill>
            <a:srgbClr val="2F4A22"/>
          </a:solidFill>
          <a:ln/>
        </p:spPr>
      </p:sp>
      <p:sp>
        <p:nvSpPr>
          <p:cNvPr id="59" name="Text 57"/>
          <p:cNvSpPr txBox="1"/>
          <p:nvPr/>
        </p:nvSpPr>
        <p:spPr>
          <a:xfrm>
            <a:off x="874514" y="8662690"/>
            <a:ext cx="16892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7</a:t>
            </a:r>
            <a:endParaRPr lang="en-US" sz="800" dirty="0"/>
          </a:p>
        </p:txBody>
      </p:sp>
      <p:sp>
        <p:nvSpPr>
          <p:cNvPr id="60" name="Text 58"/>
          <p:cNvSpPr txBox="1"/>
          <p:nvPr/>
        </p:nvSpPr>
        <p:spPr>
          <a:xfrm>
            <a:off x="1149548" y="8634115"/>
            <a:ext cx="579955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Cozinhe destampado até o molho envolver o frango. Finalize com as ervas e acerte o sal.</a:t>
            </a:r>
            <a:endParaRPr lang="en-US" sz="1000" dirty="0"/>
          </a:p>
        </p:txBody>
      </p:sp>
      <p:sp>
        <p:nvSpPr>
          <p:cNvPr id="61" name="Shape 59"/>
          <p:cNvSpPr/>
          <p:nvPr/>
        </p:nvSpPr>
        <p:spPr>
          <a:xfrm>
            <a:off x="863798" y="8919865"/>
            <a:ext cx="5832277" cy="780604"/>
          </a:xfrm>
          <a:prstGeom prst="roundRect">
            <a:avLst>
              <a:gd name="adj" fmla="val 21609"/>
            </a:avLst>
          </a:prstGeom>
          <a:solidFill>
            <a:srgbClr val="2F4A22"/>
          </a:solidFill>
          <a:ln/>
        </p:spPr>
      </p:sp>
      <p:sp>
        <p:nvSpPr>
          <p:cNvPr id="62" name="Text 60"/>
          <p:cNvSpPr txBox="1"/>
          <p:nvPr/>
        </p:nvSpPr>
        <p:spPr>
          <a:xfrm>
            <a:off x="997148" y="9034165"/>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63" name="Text 61"/>
          <p:cNvSpPr txBox="1"/>
          <p:nvPr/>
        </p:nvSpPr>
        <p:spPr>
          <a:xfrm>
            <a:off x="2279749" y="9034165"/>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Desfiar dentro do molho faz a carne absorver o líquido e continuar suculenta. Use em sanduíches, massas, tortas, panquecas ou sobre polenta mole.</a:t>
            </a:r>
            <a:endParaRPr lang="en-US" sz="1000" dirty="0"/>
          </a:p>
        </p:txBody>
      </p:sp>
      <p:sp>
        <p:nvSpPr>
          <p:cNvPr id="64" name="Text 62"/>
          <p:cNvSpPr txBox="1"/>
          <p:nvPr/>
        </p:nvSpPr>
        <p:spPr>
          <a:xfrm>
            <a:off x="863798" y="9897368"/>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5" name="Text 63"/>
          <p:cNvSpPr txBox="1"/>
          <p:nvPr/>
        </p:nvSpPr>
        <p:spPr>
          <a:xfrm>
            <a:off x="6545014" y="9897368"/>
            <a:ext cx="265361"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30</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7093595"/>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348085"/>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03</a:t>
            </a:r>
            <a:endParaRPr lang="en-US" sz="750" dirty="0"/>
          </a:p>
        </p:txBody>
      </p:sp>
      <p:sp>
        <p:nvSpPr>
          <p:cNvPr id="4" name="Text 2"/>
          <p:cNvSpPr txBox="1"/>
          <p:nvPr/>
        </p:nvSpPr>
        <p:spPr>
          <a:xfrm>
            <a:off x="1043880" y="1651360"/>
            <a:ext cx="2515939"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SOBRECOXA NO IOGURTE</a:t>
            </a:r>
            <a:endParaRPr lang="en-US" sz="3200" dirty="0"/>
          </a:p>
        </p:txBody>
      </p:sp>
      <p:sp>
        <p:nvSpPr>
          <p:cNvPr id="5" name="Text 3"/>
          <p:cNvSpPr txBox="1"/>
          <p:nvPr/>
        </p:nvSpPr>
        <p:spPr>
          <a:xfrm>
            <a:off x="1043880" y="3086844"/>
            <a:ext cx="2515939"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Sobrecoxa marinada no iogurte com especiarias, assada até dourar</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3-3.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3345507"/>
          </a:xfrm>
          <a:prstGeom prst="roundRect">
            <a:avLst>
              <a:gd name="adj" fmla="val 1471"/>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259515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170 g de iogurte natural integral (1 pote)</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16217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dentes de alho ralados</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214110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gengibre ralado</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19929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páprica doce</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21492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cominho em pó</a:t>
            </a:r>
            <a:endParaRPr lang="en-US" sz="1000" dirty="0"/>
          </a:p>
        </p:txBody>
      </p:sp>
      <p:sp>
        <p:nvSpPr>
          <p:cNvPr id="20" name="Shape 17"/>
          <p:cNvSpPr/>
          <p:nvPr/>
        </p:nvSpPr>
        <p:spPr>
          <a:xfrm>
            <a:off x="1403747" y="5891221"/>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5860107"/>
            <a:ext cx="175988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colher (chá) de cúrcuma</a:t>
            </a:r>
            <a:endParaRPr lang="en-US" sz="1000" dirty="0"/>
          </a:p>
        </p:txBody>
      </p:sp>
      <p:sp>
        <p:nvSpPr>
          <p:cNvPr id="22" name="Shape 19"/>
          <p:cNvSpPr/>
          <p:nvPr/>
        </p:nvSpPr>
        <p:spPr>
          <a:xfrm>
            <a:off x="1403747" y="6110148"/>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079034"/>
            <a:ext cx="16685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e raspas de ½ limão</a:t>
            </a:r>
            <a:endParaRPr lang="en-US" sz="1000" dirty="0"/>
          </a:p>
        </p:txBody>
      </p:sp>
      <p:sp>
        <p:nvSpPr>
          <p:cNvPr id="24" name="Shape 21"/>
          <p:cNvSpPr/>
          <p:nvPr/>
        </p:nvSpPr>
        <p:spPr>
          <a:xfrm>
            <a:off x="1403747" y="6329074"/>
            <a:ext cx="114300" cy="114300"/>
          </a:xfrm>
          <a:prstGeom prst="roundRect">
            <a:avLst>
              <a:gd name="adj" fmla="val 166667"/>
            </a:avLst>
          </a:prstGeom>
          <a:ln w="9525">
            <a:solidFill>
              <a:srgbClr val="C8501F"/>
            </a:solidFill>
            <a:prstDash val="solid"/>
          </a:ln>
        </p:spPr>
      </p:sp>
      <p:sp>
        <p:nvSpPr>
          <p:cNvPr id="25" name="Text 22"/>
          <p:cNvSpPr txBox="1"/>
          <p:nvPr/>
        </p:nvSpPr>
        <p:spPr>
          <a:xfrm>
            <a:off x="1594247" y="6297960"/>
            <a:ext cx="129916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sal</a:t>
            </a:r>
            <a:endParaRPr lang="en-US" sz="1000" dirty="0"/>
          </a:p>
        </p:txBody>
      </p:sp>
      <p:sp>
        <p:nvSpPr>
          <p:cNvPr id="26" name="Shape 23"/>
          <p:cNvSpPr/>
          <p:nvPr/>
        </p:nvSpPr>
        <p:spPr>
          <a:xfrm>
            <a:off x="1403747" y="6548000"/>
            <a:ext cx="114300" cy="114300"/>
          </a:xfrm>
          <a:prstGeom prst="roundRect">
            <a:avLst>
              <a:gd name="adj" fmla="val 166667"/>
            </a:avLst>
          </a:prstGeom>
          <a:ln w="9525">
            <a:solidFill>
              <a:srgbClr val="C8501F"/>
            </a:solidFill>
            <a:prstDash val="solid"/>
          </a:ln>
        </p:spPr>
      </p:sp>
      <p:sp>
        <p:nvSpPr>
          <p:cNvPr id="27" name="Text 24"/>
          <p:cNvSpPr txBox="1"/>
          <p:nvPr/>
        </p:nvSpPr>
        <p:spPr>
          <a:xfrm>
            <a:off x="1594247" y="6516886"/>
            <a:ext cx="15951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azeite</a:t>
            </a:r>
            <a:endParaRPr lang="en-US" sz="1000" dirty="0"/>
          </a:p>
        </p:txBody>
      </p:sp>
      <p:sp>
        <p:nvSpPr>
          <p:cNvPr id="28" name="Shape 25"/>
          <p:cNvSpPr/>
          <p:nvPr/>
        </p:nvSpPr>
        <p:spPr>
          <a:xfrm>
            <a:off x="1403747" y="6766926"/>
            <a:ext cx="114300" cy="114300"/>
          </a:xfrm>
          <a:prstGeom prst="roundRect">
            <a:avLst>
              <a:gd name="adj" fmla="val 166667"/>
            </a:avLst>
          </a:prstGeom>
          <a:ln w="9525">
            <a:solidFill>
              <a:srgbClr val="C8501F"/>
            </a:solidFill>
            <a:prstDash val="solid"/>
          </a:ln>
        </p:spPr>
      </p:sp>
      <p:sp>
        <p:nvSpPr>
          <p:cNvPr id="29" name="Text 26"/>
          <p:cNvSpPr txBox="1"/>
          <p:nvPr/>
        </p:nvSpPr>
        <p:spPr>
          <a:xfrm>
            <a:off x="1594247" y="6735812"/>
            <a:ext cx="200208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6 sobrecoxas com osso e pele</a:t>
            </a:r>
            <a:endParaRPr lang="en-US" sz="1000" dirty="0"/>
          </a:p>
        </p:txBody>
      </p:sp>
      <p:sp>
        <p:nvSpPr>
          <p:cNvPr id="30" name="Text 27"/>
          <p:cNvSpPr txBox="1"/>
          <p:nvPr/>
        </p:nvSpPr>
        <p:spPr>
          <a:xfrm>
            <a:off x="1403747" y="7011888"/>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796230"/>
            <a:ext cx="6696075" cy="9099352"/>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182588"/>
            <a:ext cx="2177105"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03 · FRANGO</a:t>
            </a:r>
            <a:endParaRPr lang="en-US" sz="750" dirty="0"/>
          </a:p>
        </p:txBody>
      </p:sp>
      <p:sp>
        <p:nvSpPr>
          <p:cNvPr id="4" name="Text 2"/>
          <p:cNvSpPr txBox="1"/>
          <p:nvPr/>
        </p:nvSpPr>
        <p:spPr>
          <a:xfrm>
            <a:off x="863798" y="1374739"/>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SOBRECOXA MARINADA NO IOGURTE COM ESPECIARIAS, ASSADA ATÉ DOURAR</a:t>
            </a:r>
            <a:endParaRPr lang="en-US" sz="2200" dirty="0"/>
          </a:p>
        </p:txBody>
      </p:sp>
      <p:sp>
        <p:nvSpPr>
          <p:cNvPr id="5" name="Text 3"/>
          <p:cNvSpPr txBox="1"/>
          <p:nvPr/>
        </p:nvSpPr>
        <p:spPr>
          <a:xfrm>
            <a:off x="863798" y="2416373"/>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ASSADO TECNOLÓGICO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(maciez extrema, no forno ou na airfryer)</a:t>
            </a:r>
            <a:endParaRPr lang="en-US" sz="800" dirty="0"/>
          </a:p>
        </p:txBody>
      </p:sp>
      <p:sp>
        <p:nvSpPr>
          <p:cNvPr id="6" name="Shape 4"/>
          <p:cNvSpPr/>
          <p:nvPr/>
        </p:nvSpPr>
        <p:spPr>
          <a:xfrm>
            <a:off x="863798" y="2691259"/>
            <a:ext cx="1893243" cy="422523"/>
          </a:xfrm>
          <a:prstGeom prst="roundRect">
            <a:avLst>
              <a:gd name="adj" fmla="val 55317"/>
            </a:avLst>
          </a:prstGeom>
          <a:solidFill>
            <a:srgbClr val="F8EED9"/>
          </a:solidFill>
          <a:ln/>
        </p:spPr>
      </p:sp>
      <p:sp>
        <p:nvSpPr>
          <p:cNvPr id="7" name="Text 5"/>
          <p:cNvSpPr txBox="1"/>
          <p:nvPr/>
        </p:nvSpPr>
        <p:spPr>
          <a:xfrm>
            <a:off x="968573" y="2757934"/>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882205"/>
            <a:ext cx="165937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10 min + 2 h de marinada</a:t>
            </a:r>
            <a:endParaRPr lang="en-US" sz="1000" dirty="0"/>
          </a:p>
        </p:txBody>
      </p:sp>
      <p:sp>
        <p:nvSpPr>
          <p:cNvPr id="9" name="Shape 7"/>
          <p:cNvSpPr/>
          <p:nvPr/>
        </p:nvSpPr>
        <p:spPr>
          <a:xfrm>
            <a:off x="2833241" y="2691259"/>
            <a:ext cx="1893243" cy="422523"/>
          </a:xfrm>
          <a:prstGeom prst="roundRect">
            <a:avLst>
              <a:gd name="adj" fmla="val 55317"/>
            </a:avLst>
          </a:prstGeom>
          <a:solidFill>
            <a:srgbClr val="F8EED9"/>
          </a:solidFill>
          <a:ln/>
        </p:spPr>
      </p:sp>
      <p:sp>
        <p:nvSpPr>
          <p:cNvPr id="10" name="Text 8"/>
          <p:cNvSpPr txBox="1"/>
          <p:nvPr/>
        </p:nvSpPr>
        <p:spPr>
          <a:xfrm>
            <a:off x="2938016" y="2757934"/>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882205"/>
            <a:ext cx="5347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40 min</a:t>
            </a:r>
            <a:endParaRPr lang="en-US" sz="1000" dirty="0"/>
          </a:p>
        </p:txBody>
      </p:sp>
      <p:sp>
        <p:nvSpPr>
          <p:cNvPr id="12" name="Shape 10"/>
          <p:cNvSpPr/>
          <p:nvPr/>
        </p:nvSpPr>
        <p:spPr>
          <a:xfrm>
            <a:off x="4802684" y="2691259"/>
            <a:ext cx="1893243" cy="422523"/>
          </a:xfrm>
          <a:prstGeom prst="roundRect">
            <a:avLst>
              <a:gd name="adj" fmla="val 55317"/>
            </a:avLst>
          </a:prstGeom>
          <a:solidFill>
            <a:srgbClr val="F8EED9"/>
          </a:solidFill>
          <a:ln/>
        </p:spPr>
      </p:sp>
      <p:sp>
        <p:nvSpPr>
          <p:cNvPr id="13" name="Text 11"/>
          <p:cNvSpPr txBox="1"/>
          <p:nvPr/>
        </p:nvSpPr>
        <p:spPr>
          <a:xfrm>
            <a:off x="4907459" y="2757934"/>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882205"/>
            <a:ext cx="93300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 a 6 porções</a:t>
            </a:r>
            <a:endParaRPr lang="en-US" sz="1000" dirty="0"/>
          </a:p>
        </p:txBody>
      </p:sp>
      <p:sp>
        <p:nvSpPr>
          <p:cNvPr id="15" name="Shape 13"/>
          <p:cNvSpPr/>
          <p:nvPr/>
        </p:nvSpPr>
        <p:spPr>
          <a:xfrm>
            <a:off x="863798" y="3247132"/>
            <a:ext cx="5832277" cy="2581573"/>
          </a:xfrm>
          <a:prstGeom prst="roundRect">
            <a:avLst>
              <a:gd name="adj" fmla="val 1976"/>
            </a:avLst>
          </a:prstGeom>
          <a:solidFill>
            <a:srgbClr val="FBF4E4"/>
          </a:solidFill>
          <a:ln w="9525">
            <a:solidFill>
              <a:srgbClr val="EADFC6"/>
            </a:solidFill>
            <a:prstDash val="solid"/>
          </a:ln>
        </p:spPr>
      </p:sp>
      <p:sp>
        <p:nvSpPr>
          <p:cNvPr id="16" name="Text 14"/>
          <p:cNvSpPr txBox="1"/>
          <p:nvPr/>
        </p:nvSpPr>
        <p:spPr>
          <a:xfrm>
            <a:off x="1006673" y="3342382"/>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Text 15"/>
          <p:cNvSpPr txBox="1"/>
          <p:nvPr/>
        </p:nvSpPr>
        <p:spPr>
          <a:xfrm>
            <a:off x="1006673" y="3628132"/>
            <a:ext cx="79265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MARINADA</a:t>
            </a:r>
            <a:endParaRPr lang="en-US" sz="870" dirty="0"/>
          </a:p>
        </p:txBody>
      </p:sp>
      <p:sp>
        <p:nvSpPr>
          <p:cNvPr id="18" name="Shape 16"/>
          <p:cNvSpPr/>
          <p:nvPr/>
        </p:nvSpPr>
        <p:spPr>
          <a:xfrm>
            <a:off x="1006673" y="3879958"/>
            <a:ext cx="114300" cy="114300"/>
          </a:xfrm>
          <a:prstGeom prst="roundRect">
            <a:avLst>
              <a:gd name="adj" fmla="val 166667"/>
            </a:avLst>
          </a:prstGeom>
          <a:ln w="9525">
            <a:solidFill>
              <a:srgbClr val="C8501F"/>
            </a:solidFill>
            <a:prstDash val="solid"/>
          </a:ln>
        </p:spPr>
      </p:sp>
      <p:sp>
        <p:nvSpPr>
          <p:cNvPr id="19" name="Text 17"/>
          <p:cNvSpPr txBox="1"/>
          <p:nvPr/>
        </p:nvSpPr>
        <p:spPr>
          <a:xfrm>
            <a:off x="1197173" y="3848844"/>
            <a:ext cx="259515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170 g de iogurte natural integral (1 pote)</a:t>
            </a:r>
            <a:endParaRPr lang="en-US" sz="1000" dirty="0"/>
          </a:p>
        </p:txBody>
      </p:sp>
      <p:sp>
        <p:nvSpPr>
          <p:cNvPr id="20" name="Shape 18"/>
          <p:cNvSpPr/>
          <p:nvPr/>
        </p:nvSpPr>
        <p:spPr>
          <a:xfrm>
            <a:off x="1006673" y="4098884"/>
            <a:ext cx="114300" cy="114300"/>
          </a:xfrm>
          <a:prstGeom prst="roundRect">
            <a:avLst>
              <a:gd name="adj" fmla="val 166667"/>
            </a:avLst>
          </a:prstGeom>
          <a:ln w="9525">
            <a:solidFill>
              <a:srgbClr val="C8501F"/>
            </a:solidFill>
            <a:prstDash val="solid"/>
          </a:ln>
        </p:spPr>
      </p:sp>
      <p:sp>
        <p:nvSpPr>
          <p:cNvPr id="21" name="Text 19"/>
          <p:cNvSpPr txBox="1"/>
          <p:nvPr/>
        </p:nvSpPr>
        <p:spPr>
          <a:xfrm>
            <a:off x="1197173" y="4067770"/>
            <a:ext cx="16217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dentes de alho ralados</a:t>
            </a:r>
            <a:endParaRPr lang="en-US" sz="1000" dirty="0"/>
          </a:p>
        </p:txBody>
      </p:sp>
      <p:sp>
        <p:nvSpPr>
          <p:cNvPr id="22" name="Shape 20"/>
          <p:cNvSpPr/>
          <p:nvPr/>
        </p:nvSpPr>
        <p:spPr>
          <a:xfrm>
            <a:off x="1006673" y="4317810"/>
            <a:ext cx="114300" cy="114300"/>
          </a:xfrm>
          <a:prstGeom prst="roundRect">
            <a:avLst>
              <a:gd name="adj" fmla="val 166667"/>
            </a:avLst>
          </a:prstGeom>
          <a:ln w="9525">
            <a:solidFill>
              <a:srgbClr val="C8501F"/>
            </a:solidFill>
            <a:prstDash val="solid"/>
          </a:ln>
        </p:spPr>
      </p:sp>
      <p:sp>
        <p:nvSpPr>
          <p:cNvPr id="23" name="Text 21"/>
          <p:cNvSpPr txBox="1"/>
          <p:nvPr/>
        </p:nvSpPr>
        <p:spPr>
          <a:xfrm>
            <a:off x="1197173" y="4286696"/>
            <a:ext cx="214110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gengibre ralado</a:t>
            </a:r>
            <a:endParaRPr lang="en-US" sz="1000" dirty="0"/>
          </a:p>
        </p:txBody>
      </p:sp>
      <p:sp>
        <p:nvSpPr>
          <p:cNvPr id="24" name="Shape 22"/>
          <p:cNvSpPr/>
          <p:nvPr/>
        </p:nvSpPr>
        <p:spPr>
          <a:xfrm>
            <a:off x="1006673" y="4536737"/>
            <a:ext cx="114300" cy="114300"/>
          </a:xfrm>
          <a:prstGeom prst="roundRect">
            <a:avLst>
              <a:gd name="adj" fmla="val 166667"/>
            </a:avLst>
          </a:prstGeom>
          <a:ln w="9525">
            <a:solidFill>
              <a:srgbClr val="C8501F"/>
            </a:solidFill>
            <a:prstDash val="solid"/>
          </a:ln>
        </p:spPr>
      </p:sp>
      <p:sp>
        <p:nvSpPr>
          <p:cNvPr id="25" name="Text 23"/>
          <p:cNvSpPr txBox="1"/>
          <p:nvPr/>
        </p:nvSpPr>
        <p:spPr>
          <a:xfrm>
            <a:off x="1197173" y="4505623"/>
            <a:ext cx="19929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páprica doce</a:t>
            </a:r>
            <a:endParaRPr lang="en-US" sz="1000" dirty="0"/>
          </a:p>
        </p:txBody>
      </p:sp>
      <p:sp>
        <p:nvSpPr>
          <p:cNvPr id="26" name="Shape 24"/>
          <p:cNvSpPr/>
          <p:nvPr/>
        </p:nvSpPr>
        <p:spPr>
          <a:xfrm>
            <a:off x="1006673" y="4755663"/>
            <a:ext cx="114300" cy="114300"/>
          </a:xfrm>
          <a:prstGeom prst="roundRect">
            <a:avLst>
              <a:gd name="adj" fmla="val 166667"/>
            </a:avLst>
          </a:prstGeom>
          <a:ln w="9525">
            <a:solidFill>
              <a:srgbClr val="C8501F"/>
            </a:solidFill>
            <a:prstDash val="solid"/>
          </a:ln>
        </p:spPr>
      </p:sp>
      <p:sp>
        <p:nvSpPr>
          <p:cNvPr id="27" name="Text 25"/>
          <p:cNvSpPr txBox="1"/>
          <p:nvPr/>
        </p:nvSpPr>
        <p:spPr>
          <a:xfrm>
            <a:off x="1197173" y="4724549"/>
            <a:ext cx="21492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cominho em pó</a:t>
            </a:r>
            <a:endParaRPr lang="en-US" sz="1000" dirty="0"/>
          </a:p>
        </p:txBody>
      </p:sp>
      <p:sp>
        <p:nvSpPr>
          <p:cNvPr id="28" name="Shape 26"/>
          <p:cNvSpPr/>
          <p:nvPr/>
        </p:nvSpPr>
        <p:spPr>
          <a:xfrm>
            <a:off x="1006673" y="4974589"/>
            <a:ext cx="114300" cy="114300"/>
          </a:xfrm>
          <a:prstGeom prst="roundRect">
            <a:avLst>
              <a:gd name="adj" fmla="val 166667"/>
            </a:avLst>
          </a:prstGeom>
          <a:ln w="9525">
            <a:solidFill>
              <a:srgbClr val="C8501F"/>
            </a:solidFill>
            <a:prstDash val="solid"/>
          </a:ln>
        </p:spPr>
      </p:sp>
      <p:sp>
        <p:nvSpPr>
          <p:cNvPr id="29" name="Text 27"/>
          <p:cNvSpPr txBox="1"/>
          <p:nvPr/>
        </p:nvSpPr>
        <p:spPr>
          <a:xfrm>
            <a:off x="1197173" y="4943475"/>
            <a:ext cx="175988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colher (chá) de cúrcuma</a:t>
            </a:r>
            <a:endParaRPr lang="en-US" sz="1000" dirty="0"/>
          </a:p>
        </p:txBody>
      </p:sp>
      <p:sp>
        <p:nvSpPr>
          <p:cNvPr id="30" name="Shape 28"/>
          <p:cNvSpPr/>
          <p:nvPr/>
        </p:nvSpPr>
        <p:spPr>
          <a:xfrm>
            <a:off x="1006673" y="5193515"/>
            <a:ext cx="114300" cy="114300"/>
          </a:xfrm>
          <a:prstGeom prst="roundRect">
            <a:avLst>
              <a:gd name="adj" fmla="val 166667"/>
            </a:avLst>
          </a:prstGeom>
          <a:ln w="9525">
            <a:solidFill>
              <a:srgbClr val="C8501F"/>
            </a:solidFill>
            <a:prstDash val="solid"/>
          </a:ln>
        </p:spPr>
      </p:sp>
      <p:sp>
        <p:nvSpPr>
          <p:cNvPr id="31" name="Text 29"/>
          <p:cNvSpPr txBox="1"/>
          <p:nvPr/>
        </p:nvSpPr>
        <p:spPr>
          <a:xfrm>
            <a:off x="1197173" y="5162401"/>
            <a:ext cx="16685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e raspas de ½ limão</a:t>
            </a:r>
            <a:endParaRPr lang="en-US" sz="1000" dirty="0"/>
          </a:p>
        </p:txBody>
      </p:sp>
      <p:sp>
        <p:nvSpPr>
          <p:cNvPr id="32" name="Shape 30"/>
          <p:cNvSpPr/>
          <p:nvPr/>
        </p:nvSpPr>
        <p:spPr>
          <a:xfrm>
            <a:off x="1006673" y="5412441"/>
            <a:ext cx="114300" cy="114300"/>
          </a:xfrm>
          <a:prstGeom prst="roundRect">
            <a:avLst>
              <a:gd name="adj" fmla="val 166667"/>
            </a:avLst>
          </a:prstGeom>
          <a:ln w="9525">
            <a:solidFill>
              <a:srgbClr val="C8501F"/>
            </a:solidFill>
            <a:prstDash val="solid"/>
          </a:ln>
        </p:spPr>
      </p:sp>
      <p:sp>
        <p:nvSpPr>
          <p:cNvPr id="33" name="Text 31"/>
          <p:cNvSpPr txBox="1"/>
          <p:nvPr/>
        </p:nvSpPr>
        <p:spPr>
          <a:xfrm>
            <a:off x="1197173" y="5381327"/>
            <a:ext cx="129916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sal</a:t>
            </a:r>
            <a:endParaRPr lang="en-US" sz="1000" dirty="0"/>
          </a:p>
        </p:txBody>
      </p:sp>
      <p:sp>
        <p:nvSpPr>
          <p:cNvPr id="34" name="Shape 32"/>
          <p:cNvSpPr/>
          <p:nvPr/>
        </p:nvSpPr>
        <p:spPr>
          <a:xfrm>
            <a:off x="1006673" y="5631367"/>
            <a:ext cx="114300" cy="114300"/>
          </a:xfrm>
          <a:prstGeom prst="roundRect">
            <a:avLst>
              <a:gd name="adj" fmla="val 166667"/>
            </a:avLst>
          </a:prstGeom>
          <a:ln w="9525">
            <a:solidFill>
              <a:srgbClr val="C8501F"/>
            </a:solidFill>
            <a:prstDash val="solid"/>
          </a:ln>
        </p:spPr>
      </p:sp>
      <p:sp>
        <p:nvSpPr>
          <p:cNvPr id="35" name="Text 33"/>
          <p:cNvSpPr txBox="1"/>
          <p:nvPr/>
        </p:nvSpPr>
        <p:spPr>
          <a:xfrm>
            <a:off x="1197173" y="5600254"/>
            <a:ext cx="15951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azeite</a:t>
            </a:r>
            <a:endParaRPr lang="en-US" sz="1000" dirty="0"/>
          </a:p>
        </p:txBody>
      </p:sp>
      <p:sp>
        <p:nvSpPr>
          <p:cNvPr id="36" name="Text 34"/>
          <p:cNvSpPr txBox="1"/>
          <p:nvPr/>
        </p:nvSpPr>
        <p:spPr>
          <a:xfrm>
            <a:off x="3884712" y="3628132"/>
            <a:ext cx="64591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FRANGO</a:t>
            </a:r>
            <a:endParaRPr lang="en-US" sz="870" dirty="0"/>
          </a:p>
        </p:txBody>
      </p:sp>
      <p:sp>
        <p:nvSpPr>
          <p:cNvPr id="37" name="Shape 35"/>
          <p:cNvSpPr/>
          <p:nvPr/>
        </p:nvSpPr>
        <p:spPr>
          <a:xfrm>
            <a:off x="3884712" y="3879958"/>
            <a:ext cx="114300" cy="114300"/>
          </a:xfrm>
          <a:prstGeom prst="roundRect">
            <a:avLst>
              <a:gd name="adj" fmla="val 166667"/>
            </a:avLst>
          </a:prstGeom>
          <a:ln w="9525">
            <a:solidFill>
              <a:srgbClr val="C8501F"/>
            </a:solidFill>
            <a:prstDash val="solid"/>
          </a:ln>
        </p:spPr>
      </p:sp>
      <p:sp>
        <p:nvSpPr>
          <p:cNvPr id="38" name="Text 36"/>
          <p:cNvSpPr txBox="1"/>
          <p:nvPr/>
        </p:nvSpPr>
        <p:spPr>
          <a:xfrm>
            <a:off x="4075212" y="3848844"/>
            <a:ext cx="200208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6 sobrecoxas com osso e pele</a:t>
            </a:r>
            <a:endParaRPr lang="en-US" sz="1000" dirty="0"/>
          </a:p>
        </p:txBody>
      </p:sp>
      <p:sp>
        <p:nvSpPr>
          <p:cNvPr id="39" name="Text 37"/>
          <p:cNvSpPr txBox="1"/>
          <p:nvPr/>
        </p:nvSpPr>
        <p:spPr>
          <a:xfrm>
            <a:off x="863798" y="5952530"/>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40" name="Shape 38"/>
          <p:cNvSpPr/>
          <p:nvPr/>
        </p:nvSpPr>
        <p:spPr>
          <a:xfrm>
            <a:off x="863798" y="6295430"/>
            <a:ext cx="190500" cy="190500"/>
          </a:xfrm>
          <a:prstGeom prst="ellipse">
            <a:avLst/>
          </a:prstGeom>
          <a:solidFill>
            <a:srgbClr val="2F4A22"/>
          </a:solidFill>
          <a:ln/>
        </p:spPr>
      </p:sp>
      <p:sp>
        <p:nvSpPr>
          <p:cNvPr id="41" name="Text 39"/>
          <p:cNvSpPr txBox="1"/>
          <p:nvPr/>
        </p:nvSpPr>
        <p:spPr>
          <a:xfrm>
            <a:off x="883295" y="6324005"/>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42" name="Text 40"/>
          <p:cNvSpPr txBox="1"/>
          <p:nvPr/>
        </p:nvSpPr>
        <p:spPr>
          <a:xfrm>
            <a:off x="1149548" y="6295430"/>
            <a:ext cx="364462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Misture todos os ingredientes da marinada numa tigela.</a:t>
            </a:r>
            <a:endParaRPr lang="en-US" sz="1000" dirty="0"/>
          </a:p>
        </p:txBody>
      </p:sp>
      <p:sp>
        <p:nvSpPr>
          <p:cNvPr id="43" name="Shape 41"/>
          <p:cNvSpPr/>
          <p:nvPr/>
        </p:nvSpPr>
        <p:spPr>
          <a:xfrm>
            <a:off x="863798" y="6543080"/>
            <a:ext cx="190500" cy="190500"/>
          </a:xfrm>
          <a:prstGeom prst="ellipse">
            <a:avLst/>
          </a:prstGeom>
          <a:solidFill>
            <a:srgbClr val="2F4A22"/>
          </a:solidFill>
          <a:ln/>
        </p:spPr>
      </p:sp>
      <p:sp>
        <p:nvSpPr>
          <p:cNvPr id="44" name="Text 42"/>
          <p:cNvSpPr txBox="1"/>
          <p:nvPr/>
        </p:nvSpPr>
        <p:spPr>
          <a:xfrm>
            <a:off x="872579" y="6571655"/>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5" name="Text 43"/>
          <p:cNvSpPr txBox="1"/>
          <p:nvPr/>
        </p:nvSpPr>
        <p:spPr>
          <a:xfrm>
            <a:off x="1149548" y="654308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Faça 2 cortes rasos em cada sobrecoxa, do lado da pele, e envolva bem na marinada. Cubra e leve à geladeira por no mínimo 2 horas, idealmente de um dia para o outro.</a:t>
            </a:r>
            <a:endParaRPr lang="en-US" sz="1000" dirty="0"/>
          </a:p>
        </p:txBody>
      </p:sp>
      <p:sp>
        <p:nvSpPr>
          <p:cNvPr id="46" name="Shape 44"/>
          <p:cNvSpPr/>
          <p:nvPr/>
        </p:nvSpPr>
        <p:spPr>
          <a:xfrm>
            <a:off x="863798" y="6971407"/>
            <a:ext cx="190500" cy="190500"/>
          </a:xfrm>
          <a:prstGeom prst="ellipse">
            <a:avLst/>
          </a:prstGeom>
          <a:solidFill>
            <a:srgbClr val="2F4A22"/>
          </a:solidFill>
          <a:ln/>
        </p:spPr>
      </p:sp>
      <p:sp>
        <p:nvSpPr>
          <p:cNvPr id="47" name="Text 45"/>
          <p:cNvSpPr txBox="1"/>
          <p:nvPr/>
        </p:nvSpPr>
        <p:spPr>
          <a:xfrm>
            <a:off x="871240" y="6999982"/>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8" name="Text 46"/>
          <p:cNvSpPr txBox="1"/>
          <p:nvPr/>
        </p:nvSpPr>
        <p:spPr>
          <a:xfrm>
            <a:off x="1149548" y="697140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Retire o excesso de marinada e disponha as sobrecoxas com a pele para cima, sobre uma grade apoiada na assadeira (ou sobre papel-manteiga), bem espaçadas.</a:t>
            </a:r>
            <a:endParaRPr lang="en-US" sz="1000" dirty="0"/>
          </a:p>
        </p:txBody>
      </p:sp>
      <p:sp>
        <p:nvSpPr>
          <p:cNvPr id="49" name="Shape 47"/>
          <p:cNvSpPr/>
          <p:nvPr/>
        </p:nvSpPr>
        <p:spPr>
          <a:xfrm>
            <a:off x="863798" y="7399734"/>
            <a:ext cx="190500" cy="190500"/>
          </a:xfrm>
          <a:prstGeom prst="ellipse">
            <a:avLst/>
          </a:prstGeom>
          <a:solidFill>
            <a:srgbClr val="2F4A22"/>
          </a:solidFill>
          <a:ln/>
        </p:spPr>
      </p:sp>
      <p:sp>
        <p:nvSpPr>
          <p:cNvPr id="50" name="Text 48"/>
          <p:cNvSpPr txBox="1"/>
          <p:nvPr/>
        </p:nvSpPr>
        <p:spPr>
          <a:xfrm>
            <a:off x="868859" y="7428309"/>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51" name="Text 49"/>
          <p:cNvSpPr txBox="1"/>
          <p:nvPr/>
        </p:nvSpPr>
        <p:spPr>
          <a:xfrm>
            <a:off x="1149548" y="7399734"/>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No forno: asse a 220 °C por 35 a 40 minutos. Nos últimos 5 minutos, ligue o grill, se o seu forno tiver, para formar manchas tostadas.</a:t>
            </a:r>
            <a:endParaRPr lang="en-US" sz="1000" dirty="0"/>
          </a:p>
        </p:txBody>
      </p:sp>
      <p:sp>
        <p:nvSpPr>
          <p:cNvPr id="52" name="Shape 50"/>
          <p:cNvSpPr/>
          <p:nvPr/>
        </p:nvSpPr>
        <p:spPr>
          <a:xfrm>
            <a:off x="863798" y="7828062"/>
            <a:ext cx="190500" cy="190500"/>
          </a:xfrm>
          <a:prstGeom prst="ellipse">
            <a:avLst/>
          </a:prstGeom>
          <a:solidFill>
            <a:srgbClr val="2F4A22"/>
          </a:solidFill>
          <a:ln/>
        </p:spPr>
      </p:sp>
      <p:sp>
        <p:nvSpPr>
          <p:cNvPr id="53" name="Text 51"/>
          <p:cNvSpPr txBox="1"/>
          <p:nvPr/>
        </p:nvSpPr>
        <p:spPr>
          <a:xfrm>
            <a:off x="870198" y="7856637"/>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4" name="Text 52"/>
          <p:cNvSpPr txBox="1"/>
          <p:nvPr/>
        </p:nvSpPr>
        <p:spPr>
          <a:xfrm>
            <a:off x="1149548" y="7828062"/>
            <a:ext cx="460357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Na airfryer: 180 °C por 15 minutos, vire, e mais 8 a 10 minutos a 200 °C.</a:t>
            </a:r>
            <a:endParaRPr lang="en-US" sz="1000" dirty="0"/>
          </a:p>
        </p:txBody>
      </p:sp>
      <p:sp>
        <p:nvSpPr>
          <p:cNvPr id="55" name="Shape 53"/>
          <p:cNvSpPr/>
          <p:nvPr/>
        </p:nvSpPr>
        <p:spPr>
          <a:xfrm>
            <a:off x="863798" y="8075712"/>
            <a:ext cx="190500" cy="190500"/>
          </a:xfrm>
          <a:prstGeom prst="ellipse">
            <a:avLst/>
          </a:prstGeom>
          <a:solidFill>
            <a:srgbClr val="2F4A22"/>
          </a:solidFill>
          <a:ln/>
        </p:spPr>
      </p:sp>
      <p:sp>
        <p:nvSpPr>
          <p:cNvPr id="56" name="Text 54"/>
          <p:cNvSpPr txBox="1"/>
          <p:nvPr/>
        </p:nvSpPr>
        <p:spPr>
          <a:xfrm>
            <a:off x="869603" y="8104287"/>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7" name="Text 55"/>
          <p:cNvSpPr txBox="1"/>
          <p:nvPr/>
        </p:nvSpPr>
        <p:spPr>
          <a:xfrm>
            <a:off x="1149548" y="8075712"/>
            <a:ext cx="281468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Deixe descansar 5 minutos antes de servir.</a:t>
            </a:r>
            <a:endParaRPr lang="en-US" sz="1000" dirty="0"/>
          </a:p>
        </p:txBody>
      </p:sp>
      <p:sp>
        <p:nvSpPr>
          <p:cNvPr id="58" name="Shape 56"/>
          <p:cNvSpPr/>
          <p:nvPr/>
        </p:nvSpPr>
        <p:spPr>
          <a:xfrm>
            <a:off x="863798" y="8361462"/>
            <a:ext cx="5832277" cy="970955"/>
          </a:xfrm>
          <a:prstGeom prst="roundRect">
            <a:avLst>
              <a:gd name="adj" fmla="val 13967"/>
            </a:avLst>
          </a:prstGeom>
          <a:solidFill>
            <a:srgbClr val="2F4A22"/>
          </a:solidFill>
          <a:ln/>
        </p:spPr>
      </p:sp>
      <p:sp>
        <p:nvSpPr>
          <p:cNvPr id="59" name="Text 57"/>
          <p:cNvSpPr txBox="1"/>
          <p:nvPr/>
        </p:nvSpPr>
        <p:spPr>
          <a:xfrm>
            <a:off x="997148" y="8475762"/>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60" name="Text 58"/>
          <p:cNvSpPr txBox="1"/>
          <p:nvPr/>
        </p:nvSpPr>
        <p:spPr>
          <a:xfrm>
            <a:off x="2279749" y="8475762"/>
            <a:ext cx="4282976" cy="752029"/>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O ácido suave do iogurte amacia a carne sem deixá-la farinhenta (como acontece com marinadas muito ácidas), e os açúcares do leite ajudam a dourar. Sirva com arroz, salada de pepino e um molho de iogurte com hortelã.</a:t>
            </a:r>
            <a:endParaRPr lang="en-US" sz="1000" dirty="0"/>
          </a:p>
        </p:txBody>
      </p:sp>
      <p:sp>
        <p:nvSpPr>
          <p:cNvPr id="61" name="Text 59"/>
          <p:cNvSpPr txBox="1"/>
          <p:nvPr/>
        </p:nvSpPr>
        <p:spPr>
          <a:xfrm>
            <a:off x="863798" y="9529316"/>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2" name="Text 60"/>
          <p:cNvSpPr txBox="1"/>
          <p:nvPr/>
        </p:nvSpPr>
        <p:spPr>
          <a:xfrm>
            <a:off x="6557070" y="9529316"/>
            <a:ext cx="25330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32</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717774"/>
            <a:ext cx="6696075" cy="7256264"/>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104132"/>
            <a:ext cx="1881735"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O PULO DO CHEF · FRANGO</a:t>
            </a:r>
            <a:endParaRPr lang="en-US" sz="750" dirty="0"/>
          </a:p>
        </p:txBody>
      </p:sp>
      <p:sp>
        <p:nvSpPr>
          <p:cNvPr id="4" name="Text 2"/>
          <p:cNvSpPr txBox="1"/>
          <p:nvPr/>
        </p:nvSpPr>
        <p:spPr>
          <a:xfrm>
            <a:off x="863798" y="2284477"/>
            <a:ext cx="5844731"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PELE BORRACHUDA E FRANGO SECO</a:t>
            </a:r>
            <a:endParaRPr lang="en-US" sz="2200" dirty="0"/>
          </a:p>
        </p:txBody>
      </p:sp>
      <p:sp>
        <p:nvSpPr>
          <p:cNvPr id="5" name="Text 3"/>
          <p:cNvSpPr txBox="1"/>
          <p:nvPr/>
        </p:nvSpPr>
        <p:spPr>
          <a:xfrm>
            <a:off x="863798" y="2778919"/>
            <a:ext cx="8712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 ERRO</a:t>
            </a:r>
            <a:endParaRPr lang="en-US" sz="1500" dirty="0"/>
          </a:p>
        </p:txBody>
      </p:sp>
      <p:sp>
        <p:nvSpPr>
          <p:cNvPr id="6" name="Text 4"/>
          <p:cNvSpPr txBox="1"/>
          <p:nvPr/>
        </p:nvSpPr>
        <p:spPr>
          <a:xfrm>
            <a:off x="863798" y="3121819"/>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Tirar o frango molhado da embalagem direto para a frigideira, mexer o tempo todo e cortar assim que sai do fogo. A pele cozinha no vapor e fica mole; a carne perde o suco na tábua.</a:t>
            </a:r>
            <a:endParaRPr lang="en-US" sz="1000" dirty="0"/>
          </a:p>
        </p:txBody>
      </p:sp>
      <p:sp>
        <p:nvSpPr>
          <p:cNvPr id="7" name="Text 5"/>
          <p:cNvSpPr txBox="1"/>
          <p:nvPr/>
        </p:nvSpPr>
        <p:spPr>
          <a:xfrm>
            <a:off x="863798" y="3693021"/>
            <a:ext cx="1202317"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 TÉCNICA</a:t>
            </a:r>
            <a:endParaRPr lang="en-US" sz="1500" dirty="0"/>
          </a:p>
        </p:txBody>
      </p:sp>
      <p:sp>
        <p:nvSpPr>
          <p:cNvPr id="8" name="Shape 6"/>
          <p:cNvSpPr/>
          <p:nvPr/>
        </p:nvSpPr>
        <p:spPr>
          <a:xfrm>
            <a:off x="863798" y="4035921"/>
            <a:ext cx="190500" cy="190500"/>
          </a:xfrm>
          <a:prstGeom prst="ellipse">
            <a:avLst/>
          </a:prstGeom>
          <a:solidFill>
            <a:srgbClr val="2F4A22"/>
          </a:solidFill>
          <a:ln/>
        </p:spPr>
      </p:sp>
      <p:sp>
        <p:nvSpPr>
          <p:cNvPr id="9" name="Text 7"/>
          <p:cNvSpPr txBox="1"/>
          <p:nvPr/>
        </p:nvSpPr>
        <p:spPr>
          <a:xfrm>
            <a:off x="883295" y="4064496"/>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10" name="Text 8"/>
          <p:cNvSpPr txBox="1"/>
          <p:nvPr/>
        </p:nvSpPr>
        <p:spPr>
          <a:xfrm>
            <a:off x="1149548" y="4035921"/>
            <a:ext cx="610976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Seque e salgue antes: papel-toalha e, se der, sal com antecedência na geladeira, descoberto.</a:t>
            </a:r>
            <a:endParaRPr lang="en-US" sz="1000" dirty="0"/>
          </a:p>
        </p:txBody>
      </p:sp>
      <p:sp>
        <p:nvSpPr>
          <p:cNvPr id="11" name="Shape 9"/>
          <p:cNvSpPr/>
          <p:nvPr/>
        </p:nvSpPr>
        <p:spPr>
          <a:xfrm>
            <a:off x="863798" y="4283571"/>
            <a:ext cx="190500" cy="190500"/>
          </a:xfrm>
          <a:prstGeom prst="ellipse">
            <a:avLst/>
          </a:prstGeom>
          <a:solidFill>
            <a:srgbClr val="2F4A22"/>
          </a:solidFill>
          <a:ln/>
        </p:spPr>
      </p:sp>
      <p:sp>
        <p:nvSpPr>
          <p:cNvPr id="12" name="Text 10"/>
          <p:cNvSpPr txBox="1"/>
          <p:nvPr/>
        </p:nvSpPr>
        <p:spPr>
          <a:xfrm>
            <a:off x="872579" y="4312146"/>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13" name="Text 11"/>
          <p:cNvSpPr txBox="1"/>
          <p:nvPr/>
        </p:nvSpPr>
        <p:spPr>
          <a:xfrm>
            <a:off x="1149548" y="4283571"/>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Pele para baixo e paciência: fogo médio, peso por cima e nada de mexer até ela soltar sozinha da frigideira.</a:t>
            </a:r>
            <a:endParaRPr lang="en-US" sz="1000" dirty="0"/>
          </a:p>
        </p:txBody>
      </p:sp>
      <p:sp>
        <p:nvSpPr>
          <p:cNvPr id="14" name="Shape 12"/>
          <p:cNvSpPr/>
          <p:nvPr/>
        </p:nvSpPr>
        <p:spPr>
          <a:xfrm>
            <a:off x="863798" y="4711898"/>
            <a:ext cx="190500" cy="190500"/>
          </a:xfrm>
          <a:prstGeom prst="ellipse">
            <a:avLst/>
          </a:prstGeom>
          <a:solidFill>
            <a:srgbClr val="2F4A22"/>
          </a:solidFill>
          <a:ln/>
        </p:spPr>
      </p:sp>
      <p:sp>
        <p:nvSpPr>
          <p:cNvPr id="15" name="Text 13"/>
          <p:cNvSpPr txBox="1"/>
          <p:nvPr/>
        </p:nvSpPr>
        <p:spPr>
          <a:xfrm>
            <a:off x="871240" y="4740473"/>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16" name="Text 14"/>
          <p:cNvSpPr txBox="1"/>
          <p:nvPr/>
        </p:nvSpPr>
        <p:spPr>
          <a:xfrm>
            <a:off x="1149548" y="4711898"/>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Ponto pela temperatura: sobrecoxa fica melhor entre 75 °C e 80 °C. Um termômetro culinário custa menos que uma pizza e acaba com o achismo.</a:t>
            </a:r>
            <a:endParaRPr lang="en-US" sz="1000" dirty="0"/>
          </a:p>
        </p:txBody>
      </p:sp>
      <p:sp>
        <p:nvSpPr>
          <p:cNvPr id="17" name="Shape 15"/>
          <p:cNvSpPr/>
          <p:nvPr/>
        </p:nvSpPr>
        <p:spPr>
          <a:xfrm>
            <a:off x="863798" y="5140226"/>
            <a:ext cx="190500" cy="190500"/>
          </a:xfrm>
          <a:prstGeom prst="ellipse">
            <a:avLst/>
          </a:prstGeom>
          <a:solidFill>
            <a:srgbClr val="2F4A22"/>
          </a:solidFill>
          <a:ln/>
        </p:spPr>
      </p:sp>
      <p:sp>
        <p:nvSpPr>
          <p:cNvPr id="18" name="Text 16"/>
          <p:cNvSpPr txBox="1"/>
          <p:nvPr/>
        </p:nvSpPr>
        <p:spPr>
          <a:xfrm>
            <a:off x="868859" y="5168801"/>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19" name="Text 17"/>
          <p:cNvSpPr txBox="1"/>
          <p:nvPr/>
        </p:nvSpPr>
        <p:spPr>
          <a:xfrm>
            <a:off x="1149548" y="5140226"/>
            <a:ext cx="457957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Descanso: 5 minutos antes de cortar, para os sucos se redistribuírem.</a:t>
            </a:r>
            <a:endParaRPr lang="en-US" sz="1000" dirty="0"/>
          </a:p>
        </p:txBody>
      </p:sp>
      <p:sp>
        <p:nvSpPr>
          <p:cNvPr id="20" name="Text 18"/>
          <p:cNvSpPr txBox="1"/>
          <p:nvPr/>
        </p:nvSpPr>
        <p:spPr>
          <a:xfrm>
            <a:off x="863798" y="5530751"/>
            <a:ext cx="17003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NÃO TEM ISSO?</a:t>
            </a:r>
            <a:endParaRPr lang="en-US" sz="1500" dirty="0"/>
          </a:p>
        </p:txBody>
      </p:sp>
      <p:sp>
        <p:nvSpPr>
          <p:cNvPr id="21" name="Shape 19"/>
          <p:cNvSpPr/>
          <p:nvPr/>
        </p:nvSpPr>
        <p:spPr>
          <a:xfrm>
            <a:off x="863798" y="5864126"/>
            <a:ext cx="5832277" cy="2546747"/>
          </a:xfrm>
          <a:prstGeom prst="roundRect">
            <a:avLst>
              <a:gd name="adj" fmla="val 1523"/>
            </a:avLst>
          </a:prstGeom>
          <a:ln w="9525">
            <a:solidFill>
              <a:srgbClr val="EADFC6"/>
            </a:solidFill>
            <a:prstDash val="solid"/>
          </a:ln>
        </p:spPr>
      </p:sp>
      <p:sp>
        <p:nvSpPr>
          <p:cNvPr id="22" name="Shape 20"/>
          <p:cNvSpPr/>
          <p:nvPr/>
        </p:nvSpPr>
        <p:spPr>
          <a:xfrm>
            <a:off x="873323" y="5873651"/>
            <a:ext cx="1976437" cy="261937"/>
          </a:xfrm>
          <a:prstGeom prst="rect">
            <a:avLst/>
          </a:prstGeom>
          <a:solidFill>
            <a:srgbClr val="2F4A22"/>
          </a:solidFill>
          <a:ln/>
        </p:spPr>
      </p:sp>
      <p:sp>
        <p:nvSpPr>
          <p:cNvPr id="23" name="Text 21"/>
          <p:cNvSpPr txBox="1"/>
          <p:nvPr/>
        </p:nvSpPr>
        <p:spPr>
          <a:xfrm>
            <a:off x="978098" y="5940326"/>
            <a:ext cx="948184"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SE NÃO TIVER…</a:t>
            </a:r>
            <a:endParaRPr lang="en-US" sz="720" dirty="0"/>
          </a:p>
        </p:txBody>
      </p:sp>
      <p:sp>
        <p:nvSpPr>
          <p:cNvPr id="24" name="Shape 22"/>
          <p:cNvSpPr/>
          <p:nvPr/>
        </p:nvSpPr>
        <p:spPr>
          <a:xfrm>
            <a:off x="2849761" y="5873651"/>
            <a:ext cx="3836789" cy="261937"/>
          </a:xfrm>
          <a:prstGeom prst="rect">
            <a:avLst/>
          </a:prstGeom>
          <a:solidFill>
            <a:srgbClr val="2F4A22"/>
          </a:solidFill>
          <a:ln/>
        </p:spPr>
      </p:sp>
      <p:sp>
        <p:nvSpPr>
          <p:cNvPr id="25" name="Text 23"/>
          <p:cNvSpPr txBox="1"/>
          <p:nvPr/>
        </p:nvSpPr>
        <p:spPr>
          <a:xfrm>
            <a:off x="2954536" y="5940326"/>
            <a:ext cx="399008"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USE…</a:t>
            </a:r>
            <a:endParaRPr lang="en-US" sz="720" dirty="0"/>
          </a:p>
        </p:txBody>
      </p:sp>
      <p:sp>
        <p:nvSpPr>
          <p:cNvPr id="26" name="Shape 24"/>
          <p:cNvSpPr/>
          <p:nvPr/>
        </p:nvSpPr>
        <p:spPr>
          <a:xfrm>
            <a:off x="873323" y="6135588"/>
            <a:ext cx="1976437" cy="0"/>
          </a:xfrm>
          <a:prstGeom prst="line">
            <a:avLst/>
          </a:prstGeom>
          <a:noFill/>
          <a:ln w="9525">
            <a:solidFill>
              <a:srgbClr val="EADFC6"/>
            </a:solidFill>
            <a:prstDash val="solid"/>
          </a:ln>
        </p:spPr>
      </p:sp>
      <p:sp>
        <p:nvSpPr>
          <p:cNvPr id="27" name="Text 25"/>
          <p:cNvSpPr txBox="1"/>
          <p:nvPr/>
        </p:nvSpPr>
        <p:spPr>
          <a:xfrm>
            <a:off x="978098" y="6202263"/>
            <a:ext cx="787896"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Sobrecoxa</a:t>
            </a:r>
            <a:endParaRPr lang="en-US" sz="1050" dirty="0"/>
          </a:p>
        </p:txBody>
      </p:sp>
      <p:sp>
        <p:nvSpPr>
          <p:cNvPr id="28" name="Shape 26"/>
          <p:cNvSpPr/>
          <p:nvPr/>
        </p:nvSpPr>
        <p:spPr>
          <a:xfrm>
            <a:off x="2849761" y="6135588"/>
            <a:ext cx="3836789" cy="0"/>
          </a:xfrm>
          <a:prstGeom prst="line">
            <a:avLst/>
          </a:prstGeom>
          <a:noFill/>
          <a:ln w="9525">
            <a:solidFill>
              <a:srgbClr val="EADFC6"/>
            </a:solidFill>
            <a:prstDash val="solid"/>
          </a:ln>
        </p:spPr>
      </p:sp>
      <p:sp>
        <p:nvSpPr>
          <p:cNvPr id="29" name="Text 27"/>
          <p:cNvSpPr txBox="1"/>
          <p:nvPr/>
        </p:nvSpPr>
        <p:spPr>
          <a:xfrm>
            <a:off x="2954536" y="6211788"/>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Coxa (aumente um pouco o tempo) ou peito (reduza bastante o tempo e retire do fogo a 65 °C: ele resseca fácil).</a:t>
            </a:r>
            <a:endParaRPr lang="en-US" sz="1000" dirty="0"/>
          </a:p>
        </p:txBody>
      </p:sp>
      <p:sp>
        <p:nvSpPr>
          <p:cNvPr id="30" name="Shape 28"/>
          <p:cNvSpPr/>
          <p:nvPr/>
        </p:nvSpPr>
        <p:spPr>
          <a:xfrm>
            <a:off x="873323" y="6640116"/>
            <a:ext cx="1976437" cy="504527"/>
          </a:xfrm>
          <a:prstGeom prst="rect">
            <a:avLst/>
          </a:prstGeom>
          <a:solidFill>
            <a:srgbClr val="FBF4E4"/>
          </a:solidFill>
          <a:ln/>
        </p:spPr>
      </p:sp>
      <p:sp>
        <p:nvSpPr>
          <p:cNvPr id="31" name="Shape 29"/>
          <p:cNvSpPr/>
          <p:nvPr/>
        </p:nvSpPr>
        <p:spPr>
          <a:xfrm>
            <a:off x="873323" y="6640116"/>
            <a:ext cx="1976437" cy="0"/>
          </a:xfrm>
          <a:prstGeom prst="line">
            <a:avLst/>
          </a:prstGeom>
          <a:noFill/>
          <a:ln w="9525">
            <a:solidFill>
              <a:srgbClr val="EADFC6"/>
            </a:solidFill>
            <a:prstDash val="solid"/>
          </a:ln>
        </p:spPr>
      </p:sp>
      <p:sp>
        <p:nvSpPr>
          <p:cNvPr id="32" name="Text 30"/>
          <p:cNvSpPr txBox="1"/>
          <p:nvPr/>
        </p:nvSpPr>
        <p:spPr>
          <a:xfrm>
            <a:off x="978098" y="6706791"/>
            <a:ext cx="1104638"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Iogurte natural</a:t>
            </a:r>
            <a:endParaRPr lang="en-US" sz="1050" dirty="0"/>
          </a:p>
        </p:txBody>
      </p:sp>
      <p:sp>
        <p:nvSpPr>
          <p:cNvPr id="33" name="Shape 31"/>
          <p:cNvSpPr/>
          <p:nvPr/>
        </p:nvSpPr>
        <p:spPr>
          <a:xfrm>
            <a:off x="2849761" y="6640116"/>
            <a:ext cx="3836789" cy="504527"/>
          </a:xfrm>
          <a:prstGeom prst="rect">
            <a:avLst/>
          </a:prstGeom>
          <a:solidFill>
            <a:srgbClr val="FBF4E4"/>
          </a:solidFill>
          <a:ln/>
        </p:spPr>
      </p:sp>
      <p:sp>
        <p:nvSpPr>
          <p:cNvPr id="34" name="Shape 32"/>
          <p:cNvSpPr/>
          <p:nvPr/>
        </p:nvSpPr>
        <p:spPr>
          <a:xfrm>
            <a:off x="2849761" y="6640116"/>
            <a:ext cx="3836789" cy="0"/>
          </a:xfrm>
          <a:prstGeom prst="line">
            <a:avLst/>
          </a:prstGeom>
          <a:noFill/>
          <a:ln w="9525">
            <a:solidFill>
              <a:srgbClr val="EADFC6"/>
            </a:solidFill>
            <a:prstDash val="solid"/>
          </a:ln>
        </p:spPr>
      </p:sp>
      <p:sp>
        <p:nvSpPr>
          <p:cNvPr id="35" name="Text 33"/>
          <p:cNvSpPr txBox="1"/>
          <p:nvPr/>
        </p:nvSpPr>
        <p:spPr>
          <a:xfrm>
            <a:off x="2954536" y="6716316"/>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Coalhada seca, ou leite com suco de limão descansado por 10 minutos.</a:t>
            </a:r>
            <a:endParaRPr lang="en-US" sz="1000" dirty="0"/>
          </a:p>
        </p:txBody>
      </p:sp>
      <p:sp>
        <p:nvSpPr>
          <p:cNvPr id="36" name="Shape 34"/>
          <p:cNvSpPr/>
          <p:nvPr/>
        </p:nvSpPr>
        <p:spPr>
          <a:xfrm>
            <a:off x="873323" y="7144643"/>
            <a:ext cx="1976437" cy="0"/>
          </a:xfrm>
          <a:prstGeom prst="line">
            <a:avLst/>
          </a:prstGeom>
          <a:noFill/>
          <a:ln w="9525">
            <a:solidFill>
              <a:srgbClr val="EADFC6"/>
            </a:solidFill>
            <a:prstDash val="solid"/>
          </a:ln>
        </p:spPr>
      </p:sp>
      <p:sp>
        <p:nvSpPr>
          <p:cNvPr id="37" name="Text 35"/>
          <p:cNvSpPr txBox="1"/>
          <p:nvPr/>
        </p:nvSpPr>
        <p:spPr>
          <a:xfrm>
            <a:off x="978098" y="7211318"/>
            <a:ext cx="1139809"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Caldo de frango</a:t>
            </a:r>
            <a:endParaRPr lang="en-US" sz="1050" dirty="0"/>
          </a:p>
        </p:txBody>
      </p:sp>
      <p:sp>
        <p:nvSpPr>
          <p:cNvPr id="38" name="Shape 36"/>
          <p:cNvSpPr/>
          <p:nvPr/>
        </p:nvSpPr>
        <p:spPr>
          <a:xfrm>
            <a:off x="2849761" y="7144643"/>
            <a:ext cx="3836789" cy="0"/>
          </a:xfrm>
          <a:prstGeom prst="line">
            <a:avLst/>
          </a:prstGeom>
          <a:noFill/>
          <a:ln w="9525">
            <a:solidFill>
              <a:srgbClr val="EADFC6"/>
            </a:solidFill>
            <a:prstDash val="solid"/>
          </a:ln>
        </p:spPr>
      </p:sp>
      <p:sp>
        <p:nvSpPr>
          <p:cNvPr id="39" name="Text 37"/>
          <p:cNvSpPr txBox="1"/>
          <p:nvPr/>
        </p:nvSpPr>
        <p:spPr>
          <a:xfrm>
            <a:off x="2954536" y="7220843"/>
            <a:ext cx="321023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Água com as aparas e um ramo de cheiro-verde.</a:t>
            </a:r>
            <a:endParaRPr lang="en-US" sz="1000" dirty="0"/>
          </a:p>
        </p:txBody>
      </p:sp>
      <p:sp>
        <p:nvSpPr>
          <p:cNvPr id="40" name="Shape 38"/>
          <p:cNvSpPr/>
          <p:nvPr/>
        </p:nvSpPr>
        <p:spPr>
          <a:xfrm>
            <a:off x="873323" y="7458819"/>
            <a:ext cx="1976437" cy="314176"/>
          </a:xfrm>
          <a:prstGeom prst="rect">
            <a:avLst/>
          </a:prstGeom>
          <a:solidFill>
            <a:srgbClr val="FBF4E4"/>
          </a:solidFill>
          <a:ln/>
        </p:spPr>
      </p:sp>
      <p:sp>
        <p:nvSpPr>
          <p:cNvPr id="41" name="Shape 39"/>
          <p:cNvSpPr/>
          <p:nvPr/>
        </p:nvSpPr>
        <p:spPr>
          <a:xfrm>
            <a:off x="873323" y="7458819"/>
            <a:ext cx="1976437" cy="0"/>
          </a:xfrm>
          <a:prstGeom prst="line">
            <a:avLst/>
          </a:prstGeom>
          <a:noFill/>
          <a:ln w="9525">
            <a:solidFill>
              <a:srgbClr val="EADFC6"/>
            </a:solidFill>
            <a:prstDash val="solid"/>
          </a:ln>
        </p:spPr>
      </p:sp>
      <p:sp>
        <p:nvSpPr>
          <p:cNvPr id="42" name="Text 40"/>
          <p:cNvSpPr txBox="1"/>
          <p:nvPr/>
        </p:nvSpPr>
        <p:spPr>
          <a:xfrm>
            <a:off x="978098" y="7525494"/>
            <a:ext cx="1035546"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Tomate fresco</a:t>
            </a:r>
            <a:endParaRPr lang="en-US" sz="1050" dirty="0"/>
          </a:p>
        </p:txBody>
      </p:sp>
      <p:sp>
        <p:nvSpPr>
          <p:cNvPr id="43" name="Shape 41"/>
          <p:cNvSpPr/>
          <p:nvPr/>
        </p:nvSpPr>
        <p:spPr>
          <a:xfrm>
            <a:off x="2849761" y="7458819"/>
            <a:ext cx="3836789" cy="314176"/>
          </a:xfrm>
          <a:prstGeom prst="rect">
            <a:avLst/>
          </a:prstGeom>
          <a:solidFill>
            <a:srgbClr val="FBF4E4"/>
          </a:solidFill>
          <a:ln/>
        </p:spPr>
      </p:sp>
      <p:sp>
        <p:nvSpPr>
          <p:cNvPr id="44" name="Shape 42"/>
          <p:cNvSpPr/>
          <p:nvPr/>
        </p:nvSpPr>
        <p:spPr>
          <a:xfrm>
            <a:off x="2849761" y="7458819"/>
            <a:ext cx="3836789" cy="0"/>
          </a:xfrm>
          <a:prstGeom prst="line">
            <a:avLst/>
          </a:prstGeom>
          <a:noFill/>
          <a:ln w="9525">
            <a:solidFill>
              <a:srgbClr val="EADFC6"/>
            </a:solidFill>
            <a:prstDash val="solid"/>
          </a:ln>
        </p:spPr>
      </p:sp>
      <p:sp>
        <p:nvSpPr>
          <p:cNvPr id="45" name="Text 43"/>
          <p:cNvSpPr txBox="1"/>
          <p:nvPr/>
        </p:nvSpPr>
        <p:spPr>
          <a:xfrm>
            <a:off x="2954536" y="7535019"/>
            <a:ext cx="228845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Tomate pelado em lata ou passata.</a:t>
            </a:r>
            <a:endParaRPr lang="en-US" sz="1000" dirty="0"/>
          </a:p>
        </p:txBody>
      </p:sp>
      <p:sp>
        <p:nvSpPr>
          <p:cNvPr id="46" name="Shape 44"/>
          <p:cNvSpPr/>
          <p:nvPr/>
        </p:nvSpPr>
        <p:spPr>
          <a:xfrm>
            <a:off x="873323" y="7772995"/>
            <a:ext cx="1976437" cy="0"/>
          </a:xfrm>
          <a:prstGeom prst="line">
            <a:avLst/>
          </a:prstGeom>
          <a:noFill/>
          <a:ln w="9525">
            <a:solidFill>
              <a:srgbClr val="EADFC6"/>
            </a:solidFill>
            <a:prstDash val="solid"/>
          </a:ln>
        </p:spPr>
      </p:sp>
      <p:sp>
        <p:nvSpPr>
          <p:cNvPr id="47" name="Text 45"/>
          <p:cNvSpPr txBox="1"/>
          <p:nvPr/>
        </p:nvSpPr>
        <p:spPr>
          <a:xfrm>
            <a:off x="978098" y="7839670"/>
            <a:ext cx="1893070"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Manteiga gelada no molho</a:t>
            </a:r>
            <a:endParaRPr lang="en-US" sz="1050" dirty="0"/>
          </a:p>
        </p:txBody>
      </p:sp>
      <p:sp>
        <p:nvSpPr>
          <p:cNvPr id="48" name="Shape 46"/>
          <p:cNvSpPr/>
          <p:nvPr/>
        </p:nvSpPr>
        <p:spPr>
          <a:xfrm>
            <a:off x="2849761" y="7772995"/>
            <a:ext cx="3836789" cy="0"/>
          </a:xfrm>
          <a:prstGeom prst="line">
            <a:avLst/>
          </a:prstGeom>
          <a:noFill/>
          <a:ln w="9525">
            <a:solidFill>
              <a:srgbClr val="EADFC6"/>
            </a:solidFill>
            <a:prstDash val="solid"/>
          </a:ln>
        </p:spPr>
      </p:sp>
      <p:sp>
        <p:nvSpPr>
          <p:cNvPr id="49" name="Text 47"/>
          <p:cNvSpPr txBox="1"/>
          <p:nvPr/>
        </p:nvSpPr>
        <p:spPr>
          <a:xfrm>
            <a:off x="2954536" y="7849195"/>
            <a:ext cx="376230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Azeite (o molho fica mais fino, mas igualmente saboroso).</a:t>
            </a:r>
            <a:endParaRPr lang="en-US" sz="1000" dirty="0"/>
          </a:p>
        </p:txBody>
      </p:sp>
      <p:sp>
        <p:nvSpPr>
          <p:cNvPr id="50" name="Shape 48"/>
          <p:cNvSpPr/>
          <p:nvPr/>
        </p:nvSpPr>
        <p:spPr>
          <a:xfrm>
            <a:off x="873323" y="8087171"/>
            <a:ext cx="1976437" cy="314176"/>
          </a:xfrm>
          <a:prstGeom prst="rect">
            <a:avLst/>
          </a:prstGeom>
          <a:solidFill>
            <a:srgbClr val="FBF4E4"/>
          </a:solidFill>
          <a:ln/>
        </p:spPr>
      </p:sp>
      <p:sp>
        <p:nvSpPr>
          <p:cNvPr id="51" name="Shape 49"/>
          <p:cNvSpPr/>
          <p:nvPr/>
        </p:nvSpPr>
        <p:spPr>
          <a:xfrm>
            <a:off x="873323" y="8087171"/>
            <a:ext cx="1976437" cy="0"/>
          </a:xfrm>
          <a:prstGeom prst="line">
            <a:avLst/>
          </a:prstGeom>
          <a:noFill/>
          <a:ln w="9525">
            <a:solidFill>
              <a:srgbClr val="EADFC6"/>
            </a:solidFill>
            <a:prstDash val="solid"/>
          </a:ln>
        </p:spPr>
      </p:sp>
      <p:sp>
        <p:nvSpPr>
          <p:cNvPr id="52" name="Text 50"/>
          <p:cNvSpPr txBox="1"/>
          <p:nvPr/>
        </p:nvSpPr>
        <p:spPr>
          <a:xfrm>
            <a:off x="978098" y="8153846"/>
            <a:ext cx="711547"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Cúrcuma</a:t>
            </a:r>
            <a:endParaRPr lang="en-US" sz="1050" dirty="0"/>
          </a:p>
        </p:txBody>
      </p:sp>
      <p:sp>
        <p:nvSpPr>
          <p:cNvPr id="53" name="Shape 51"/>
          <p:cNvSpPr/>
          <p:nvPr/>
        </p:nvSpPr>
        <p:spPr>
          <a:xfrm>
            <a:off x="2849761" y="8087171"/>
            <a:ext cx="3836789" cy="314176"/>
          </a:xfrm>
          <a:prstGeom prst="rect">
            <a:avLst/>
          </a:prstGeom>
          <a:solidFill>
            <a:srgbClr val="FBF4E4"/>
          </a:solidFill>
          <a:ln/>
        </p:spPr>
      </p:sp>
      <p:sp>
        <p:nvSpPr>
          <p:cNvPr id="54" name="Shape 52"/>
          <p:cNvSpPr/>
          <p:nvPr/>
        </p:nvSpPr>
        <p:spPr>
          <a:xfrm>
            <a:off x="2849761" y="8087171"/>
            <a:ext cx="3836789" cy="0"/>
          </a:xfrm>
          <a:prstGeom prst="line">
            <a:avLst/>
          </a:prstGeom>
          <a:noFill/>
          <a:ln w="9525">
            <a:solidFill>
              <a:srgbClr val="EADFC6"/>
            </a:solidFill>
            <a:prstDash val="solid"/>
          </a:ln>
        </p:spPr>
      </p:sp>
      <p:sp>
        <p:nvSpPr>
          <p:cNvPr id="55" name="Text 53"/>
          <p:cNvSpPr txBox="1"/>
          <p:nvPr/>
        </p:nvSpPr>
        <p:spPr>
          <a:xfrm>
            <a:off x="2954536" y="8163371"/>
            <a:ext cx="29537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Uma pitada de açafrão-da-terra ou de curry.</a:t>
            </a:r>
            <a:endParaRPr lang="en-US" sz="1000" dirty="0"/>
          </a:p>
        </p:txBody>
      </p:sp>
      <p:sp>
        <p:nvSpPr>
          <p:cNvPr id="56" name="Text 54"/>
          <p:cNvSpPr txBox="1"/>
          <p:nvPr/>
        </p:nvSpPr>
        <p:spPr>
          <a:xfrm>
            <a:off x="863798" y="8607772"/>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7" name="Text 55"/>
          <p:cNvSpPr txBox="1"/>
          <p:nvPr/>
        </p:nvSpPr>
        <p:spPr>
          <a:xfrm>
            <a:off x="6554688" y="8607772"/>
            <a:ext cx="255687"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33</a:t>
            </a:r>
            <a:endParaRPr lang="en-US" sz="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2920157"/>
            <a:ext cx="6696075" cy="4851648"/>
          </a:xfrm>
          <a:prstGeom prst="roundRect">
            <a:avLst>
              <a:gd name="adj" fmla="val 699"/>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306514"/>
            <a:ext cx="2490978"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APROVEITA ISSO TAMBÉM · FRANGO</a:t>
            </a:r>
            <a:endParaRPr lang="en-US" sz="750" dirty="0"/>
          </a:p>
        </p:txBody>
      </p:sp>
      <p:sp>
        <p:nvSpPr>
          <p:cNvPr id="4" name="Text 2"/>
          <p:cNvSpPr txBox="1"/>
          <p:nvPr/>
        </p:nvSpPr>
        <p:spPr>
          <a:xfrm>
            <a:off x="863798" y="3486859"/>
            <a:ext cx="3681460"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NADA VAI PARA O LIXO</a:t>
            </a:r>
            <a:endParaRPr lang="en-US" sz="2200" dirty="0"/>
          </a:p>
        </p:txBody>
      </p:sp>
      <p:sp>
        <p:nvSpPr>
          <p:cNvPr id="5" name="Shape 3"/>
          <p:cNvSpPr/>
          <p:nvPr/>
        </p:nvSpPr>
        <p:spPr>
          <a:xfrm>
            <a:off x="4896148" y="3990826"/>
            <a:ext cx="1799927" cy="1799927"/>
          </a:xfrm>
          <a:prstGeom prst="ellipse">
            <a:avLst/>
          </a:prstGeom>
          <a:solidFill>
            <a:srgbClr val="FFFFFF"/>
          </a:solidFill>
          <a:ln/>
        </p:spPr>
      </p:sp>
      <p:pic>
        <p:nvPicPr>
          <p:cNvPr id="6" name="Image 0" descr="/home/user/ebook-receitas/versoes/VERSAO ESTAMPAS/fotos/aproveita3.jpg">    </p:cNvPr>
          <p:cNvPicPr>
            <a:picLocks noChangeAspect="1"/>
          </p:cNvPicPr>
          <p:nvPr/>
        </p:nvPicPr>
        <p:blipFill>
          <a:blip r:embed="rId2"/>
          <a:srcRect l="0" r="0" t="0" b="0"/>
          <a:stretch/>
        </p:blipFill>
        <p:spPr>
          <a:xfrm>
            <a:off x="4972348" y="4067026"/>
            <a:ext cx="1647527" cy="1647527"/>
          </a:xfrm>
          <a:prstGeom prst="ellipse">
            <a:avLst/>
          </a:prstGeom>
        </p:spPr>
      </p:pic>
      <p:sp>
        <p:nvSpPr>
          <p:cNvPr id="7" name="Text 4"/>
          <p:cNvSpPr txBox="1"/>
          <p:nvPr/>
        </p:nvSpPr>
        <p:spPr>
          <a:xfrm>
            <a:off x="863798" y="4019401"/>
            <a:ext cx="5832277" cy="485775"/>
          </a:xfrm>
          <a:prstGeom prst="rect">
            <a:avLst/>
          </a:prstGeom>
          <a:noFill/>
          <a:ln/>
        </p:spPr>
        <p:txBody>
          <a:bodyPr wrap="square" lIns="0" tIns="0" rIns="0" bIns="0" rtlCol="0" anchor="t"/>
          <a:lstStyle/>
          <a:p>
            <a:pPr algn="l" indent="0" marL="0">
              <a:lnSpc>
                <a:spcPts val="1800"/>
              </a:lnSpc>
              <a:buNone/>
            </a:pPr>
            <a:r>
              <a:rPr lang="en-US" sz="1500" dirty="0">
                <a:solidFill>
                  <a:srgbClr val="2F4A22"/>
                </a:solidFill>
                <a:latin typeface="Fraunces SemiBold" pitchFamily="34" charset="0"/>
                <a:ea typeface="Fraunces SemiBold" pitchFamily="34" charset="-122"/>
                <a:cs typeface="Fraunces SemiBold" pitchFamily="34" charset="-120"/>
              </a:rPr>
              <a:t>OSSOS E APARAS: FUNDO CASEIRO ULTRA-AROMÁTICO</a:t>
            </a:r>
            <a:endParaRPr lang="en-US" sz="1500" dirty="0"/>
          </a:p>
        </p:txBody>
      </p:sp>
      <p:sp>
        <p:nvSpPr>
          <p:cNvPr id="8" name="Text 5"/>
          <p:cNvSpPr txBox="1"/>
          <p:nvPr/>
        </p:nvSpPr>
        <p:spPr>
          <a:xfrm>
            <a:off x="863798" y="4590901"/>
            <a:ext cx="5832277" cy="1132731"/>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Junte os ossos, peles e aparas de 6 a 8 sobrecoxas (pode ir guardando no freezer). Para um caldo mais escuro e intenso, asse os ossos antes a 200 °C por 30 minutos. Coloque numa panela com 1 cebola cortada ao meio com casca, 1 cenoura com casca, talos de salsinha, 1 folha de louro, 6 grãos de pimenta e 2 litros de água fria.</a:t>
            </a:r>
            <a:endParaRPr lang="en-US" sz="1000" dirty="0"/>
          </a:p>
        </p:txBody>
      </p:sp>
      <p:sp>
        <p:nvSpPr>
          <p:cNvPr id="9" name="Text 6"/>
          <p:cNvSpPr txBox="1"/>
          <p:nvPr/>
        </p:nvSpPr>
        <p:spPr>
          <a:xfrm>
            <a:off x="863798" y="5923508"/>
            <a:ext cx="2233946"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 PONTO DO CALDO</a:t>
            </a:r>
            <a:endParaRPr lang="en-US" sz="1500" dirty="0"/>
          </a:p>
        </p:txBody>
      </p:sp>
      <p:sp>
        <p:nvSpPr>
          <p:cNvPr id="10" name="Text 7"/>
          <p:cNvSpPr txBox="1"/>
          <p:nvPr/>
        </p:nvSpPr>
        <p:spPr>
          <a:xfrm>
            <a:off x="863798" y="6266408"/>
            <a:ext cx="5832277" cy="942380"/>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Leve ao fogo baixo e nunca deixe ferver forte: a fervura turva o caldo. Retire a espuma que subir. Cozinhe por 2 a 3 horas, coe e leve à geladeira. A gordura endurece por cima: retire e guarde, ela é ótima para refogar. Congele o caldo em forminhas de gelo por até 3 meses e use um cubo para enriquecer arroz, feijão, molhos e sopas, como o caldo de mandioca do próximo capítulo. É o seu caldo caseiro, sem cubinhos industrializados.</a:t>
            </a:r>
            <a:endParaRPr lang="en-US" sz="1000" dirty="0"/>
          </a:p>
        </p:txBody>
      </p:sp>
      <p:sp>
        <p:nvSpPr>
          <p:cNvPr id="11" name="Text 8"/>
          <p:cNvSpPr txBox="1"/>
          <p:nvPr/>
        </p:nvSpPr>
        <p:spPr>
          <a:xfrm>
            <a:off x="863798" y="7405539"/>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12" name="Text 9"/>
          <p:cNvSpPr txBox="1"/>
          <p:nvPr/>
        </p:nvSpPr>
        <p:spPr>
          <a:xfrm>
            <a:off x="6550223" y="7405539"/>
            <a:ext cx="260152"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34</a:t>
            </a:r>
            <a:endParaRPr lang="en-US" sz="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5126534"/>
          </a:xfrm>
          <a:prstGeom prst="roundRect">
            <a:avLst>
              <a:gd name="adj" fmla="val 752"/>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142256"/>
            <a:ext cx="939850"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CAPÍTULO 04</a:t>
            </a:r>
            <a:endParaRPr lang="en-US" sz="750" dirty="0"/>
          </a:p>
        </p:txBody>
      </p:sp>
      <p:sp>
        <p:nvSpPr>
          <p:cNvPr id="4" name="Text 2"/>
          <p:cNvSpPr txBox="1"/>
          <p:nvPr/>
        </p:nvSpPr>
        <p:spPr>
          <a:xfrm>
            <a:off x="1043880" y="1248310"/>
            <a:ext cx="3827812" cy="759441"/>
          </a:xfrm>
          <a:prstGeom prst="rect">
            <a:avLst/>
          </a:prstGeom>
          <a:noFill/>
          <a:ln/>
        </p:spPr>
        <p:txBody>
          <a:bodyPr wrap="square" lIns="0" tIns="0" rIns="0" bIns="0" rtlCol="0" anchor="ctr"/>
          <a:lstStyle/>
          <a:p>
            <a:pPr algn="l" indent="0" marL="0">
              <a:buNone/>
            </a:pPr>
            <a:r>
              <a:rPr lang="en-US" sz="4600" b="1" spc="-92" kern="0" dirty="0">
                <a:solidFill>
                  <a:srgbClr val="F8EED9"/>
                </a:solidFill>
                <a:latin typeface="Fraunces" pitchFamily="34" charset="0"/>
                <a:ea typeface="Fraunces" pitchFamily="34" charset="-122"/>
                <a:cs typeface="Fraunces" pitchFamily="34" charset="-120"/>
              </a:rPr>
              <a:t>MANDIOCA</a:t>
            </a:r>
            <a:endParaRPr lang="en-US" sz="4600" dirty="0"/>
          </a:p>
        </p:txBody>
      </p:sp>
      <p:sp>
        <p:nvSpPr>
          <p:cNvPr id="5" name="Shape 3"/>
          <p:cNvSpPr/>
          <p:nvPr/>
        </p:nvSpPr>
        <p:spPr>
          <a:xfrm>
            <a:off x="1043880" y="2049512"/>
            <a:ext cx="533400" cy="28575"/>
          </a:xfrm>
          <a:prstGeom prst="rect">
            <a:avLst/>
          </a:prstGeom>
          <a:solidFill>
            <a:srgbClr val="E5A82E"/>
          </a:solidFill>
          <a:ln/>
        </p:spPr>
      </p:sp>
      <p:sp>
        <p:nvSpPr>
          <p:cNvPr id="6" name="Text 4"/>
          <p:cNvSpPr txBox="1"/>
          <p:nvPr/>
        </p:nvSpPr>
        <p:spPr>
          <a:xfrm>
            <a:off x="1043880" y="2278112"/>
            <a:ext cx="214543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AIPIM, MACAXEIRA</a:t>
            </a:r>
            <a:endParaRPr lang="en-US" sz="1500" dirty="0"/>
          </a:p>
        </p:txBody>
      </p:sp>
      <p:sp>
        <p:nvSpPr>
          <p:cNvPr id="7" name="Text 5"/>
          <p:cNvSpPr txBox="1"/>
          <p:nvPr/>
        </p:nvSpPr>
        <p:spPr>
          <a:xfrm>
            <a:off x="1043880" y="2621012"/>
            <a:ext cx="5472113"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A raiz do Brasil: rica em amido, acessível e um coringa técnico. Une sustentabilidade e brasilidade num ingrediente só.</a:t>
            </a:r>
            <a:endParaRPr lang="en-US" sz="1200" dirty="0"/>
          </a:p>
        </p:txBody>
      </p:sp>
      <p:sp>
        <p:nvSpPr>
          <p:cNvPr id="8" name="Text 6"/>
          <p:cNvSpPr txBox="1"/>
          <p:nvPr/>
        </p:nvSpPr>
        <p:spPr>
          <a:xfrm>
            <a:off x="1043880" y="3253234"/>
            <a:ext cx="233312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3 TRANSFORMAÇÕES</a:t>
            </a:r>
            <a:endParaRPr lang="en-US" sz="1500" dirty="0"/>
          </a:p>
        </p:txBody>
      </p:sp>
      <p:sp>
        <p:nvSpPr>
          <p:cNvPr id="9" name="Shape 7"/>
          <p:cNvSpPr/>
          <p:nvPr/>
        </p:nvSpPr>
        <p:spPr>
          <a:xfrm>
            <a:off x="1043880" y="3586609"/>
            <a:ext cx="5472113" cy="0"/>
          </a:xfrm>
          <a:prstGeom prst="line">
            <a:avLst/>
          </a:prstGeom>
          <a:noFill/>
          <a:ln w="9525">
            <a:solidFill>
              <a:srgbClr val="F8EED9"/>
            </a:solidFill>
            <a:prstDash val="solid"/>
          </a:ln>
        </p:spPr>
      </p:sp>
      <p:sp>
        <p:nvSpPr>
          <p:cNvPr id="10" name="Text 8"/>
          <p:cNvSpPr txBox="1"/>
          <p:nvPr/>
        </p:nvSpPr>
        <p:spPr>
          <a:xfrm>
            <a:off x="1043880" y="3681859"/>
            <a:ext cx="227409"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1</a:t>
            </a:r>
            <a:endParaRPr lang="en-US" sz="1900" dirty="0"/>
          </a:p>
        </p:txBody>
      </p:sp>
      <p:sp>
        <p:nvSpPr>
          <p:cNvPr id="11" name="Text 9"/>
          <p:cNvSpPr txBox="1"/>
          <p:nvPr/>
        </p:nvSpPr>
        <p:spPr>
          <a:xfrm>
            <a:off x="1539180" y="3719959"/>
            <a:ext cx="2015919"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CROCÂNCIA PERFEITA </a:t>
            </a:r>
            <a:pPr algn="l" indent="0" marL="0">
              <a:buNone/>
            </a:pPr>
            <a:r>
              <a:rPr lang="en-US" sz="870" b="1" spc="87" kern="0" dirty="0">
                <a:solidFill>
                  <a:srgbClr val="F8EED9"/>
                </a:solidFill>
                <a:latin typeface="DM Sans" pitchFamily="34" charset="0"/>
                <a:ea typeface="DM Sans" pitchFamily="34" charset="-122"/>
                <a:cs typeface="DM Sans" pitchFamily="34" charset="-120"/>
              </a:rPr>
              <a:t>37</a:t>
            </a:r>
            <a:endParaRPr lang="en-US" sz="870" dirty="0"/>
          </a:p>
        </p:txBody>
      </p:sp>
      <p:sp>
        <p:nvSpPr>
          <p:cNvPr id="12" name="Text 10"/>
          <p:cNvSpPr txBox="1"/>
          <p:nvPr/>
        </p:nvSpPr>
        <p:spPr>
          <a:xfrm>
            <a:off x="1539180" y="3921621"/>
            <a:ext cx="2700504"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Rösti de mandioca recheado na frigideira</a:t>
            </a:r>
            <a:endParaRPr lang="en-US" sz="1000" dirty="0"/>
          </a:p>
        </p:txBody>
      </p:sp>
      <p:sp>
        <p:nvSpPr>
          <p:cNvPr id="13" name="Shape 11"/>
          <p:cNvSpPr/>
          <p:nvPr/>
        </p:nvSpPr>
        <p:spPr>
          <a:xfrm>
            <a:off x="1043880" y="4216747"/>
            <a:ext cx="5472113" cy="0"/>
          </a:xfrm>
          <a:prstGeom prst="line">
            <a:avLst/>
          </a:prstGeom>
          <a:noFill/>
          <a:ln w="9525">
            <a:solidFill>
              <a:srgbClr val="F8EED9"/>
            </a:solidFill>
            <a:prstDash val="solid"/>
          </a:ln>
        </p:spPr>
      </p:sp>
      <p:sp>
        <p:nvSpPr>
          <p:cNvPr id="14" name="Text 12"/>
          <p:cNvSpPr txBox="1"/>
          <p:nvPr/>
        </p:nvSpPr>
        <p:spPr>
          <a:xfrm>
            <a:off x="1043880" y="4311997"/>
            <a:ext cx="263426"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2</a:t>
            </a:r>
            <a:endParaRPr lang="en-US" sz="1900" dirty="0"/>
          </a:p>
        </p:txBody>
      </p:sp>
      <p:sp>
        <p:nvSpPr>
          <p:cNvPr id="15" name="Text 13"/>
          <p:cNvSpPr txBox="1"/>
          <p:nvPr/>
        </p:nvSpPr>
        <p:spPr>
          <a:xfrm>
            <a:off x="1539180" y="4350097"/>
            <a:ext cx="2258282"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CULINÁRIA ACOLHEDORA </a:t>
            </a:r>
            <a:pPr algn="l" indent="0" marL="0">
              <a:buNone/>
            </a:pPr>
            <a:r>
              <a:rPr lang="en-US" sz="870" b="1" spc="87" kern="0" dirty="0">
                <a:solidFill>
                  <a:srgbClr val="F8EED9"/>
                </a:solidFill>
                <a:latin typeface="DM Sans" pitchFamily="34" charset="0"/>
                <a:ea typeface="DM Sans" pitchFamily="34" charset="-122"/>
                <a:cs typeface="DM Sans" pitchFamily="34" charset="-120"/>
              </a:rPr>
              <a:t>39</a:t>
            </a:r>
            <a:endParaRPr lang="en-US" sz="870" dirty="0"/>
          </a:p>
        </p:txBody>
      </p:sp>
      <p:sp>
        <p:nvSpPr>
          <p:cNvPr id="16" name="Text 14"/>
          <p:cNvSpPr txBox="1"/>
          <p:nvPr/>
        </p:nvSpPr>
        <p:spPr>
          <a:xfrm>
            <a:off x="1539180" y="4551759"/>
            <a:ext cx="4569238"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Caldo aveludado de mandioca com gengibre e bacon (ou cogumelos)</a:t>
            </a:r>
            <a:endParaRPr lang="en-US" sz="1000" dirty="0"/>
          </a:p>
        </p:txBody>
      </p:sp>
      <p:sp>
        <p:nvSpPr>
          <p:cNvPr id="17" name="Shape 15"/>
          <p:cNvSpPr/>
          <p:nvPr/>
        </p:nvSpPr>
        <p:spPr>
          <a:xfrm>
            <a:off x="1043880" y="4846886"/>
            <a:ext cx="5472113" cy="0"/>
          </a:xfrm>
          <a:prstGeom prst="line">
            <a:avLst/>
          </a:prstGeom>
          <a:noFill/>
          <a:ln w="9525">
            <a:solidFill>
              <a:srgbClr val="F8EED9"/>
            </a:solidFill>
            <a:prstDash val="solid"/>
          </a:ln>
        </p:spPr>
      </p:sp>
      <p:sp>
        <p:nvSpPr>
          <p:cNvPr id="18" name="Shape 16"/>
          <p:cNvSpPr/>
          <p:nvPr/>
        </p:nvSpPr>
        <p:spPr>
          <a:xfrm>
            <a:off x="1043880" y="5486549"/>
            <a:ext cx="5472113" cy="0"/>
          </a:xfrm>
          <a:prstGeom prst="line">
            <a:avLst/>
          </a:prstGeom>
          <a:noFill/>
          <a:ln w="9525">
            <a:solidFill>
              <a:srgbClr val="F8EED9"/>
            </a:solidFill>
            <a:prstDash val="solid"/>
          </a:ln>
        </p:spPr>
      </p:sp>
      <p:sp>
        <p:nvSpPr>
          <p:cNvPr id="19" name="Text 17"/>
          <p:cNvSpPr txBox="1"/>
          <p:nvPr/>
        </p:nvSpPr>
        <p:spPr>
          <a:xfrm>
            <a:off x="1043880" y="4942136"/>
            <a:ext cx="250627"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3</a:t>
            </a:r>
            <a:endParaRPr lang="en-US" sz="1900" dirty="0"/>
          </a:p>
        </p:txBody>
      </p:sp>
      <p:sp>
        <p:nvSpPr>
          <p:cNvPr id="20" name="Text 18"/>
          <p:cNvSpPr txBox="1"/>
          <p:nvPr/>
        </p:nvSpPr>
        <p:spPr>
          <a:xfrm>
            <a:off x="1539180" y="4980236"/>
            <a:ext cx="1169646"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SURPRESA </a:t>
            </a:r>
            <a:pPr algn="l" indent="0" marL="0">
              <a:buNone/>
            </a:pPr>
            <a:r>
              <a:rPr lang="en-US" sz="870" b="1" spc="87" kern="0" dirty="0">
                <a:solidFill>
                  <a:srgbClr val="F8EED9"/>
                </a:solidFill>
                <a:latin typeface="DM Sans" pitchFamily="34" charset="0"/>
                <a:ea typeface="DM Sans" pitchFamily="34" charset="-122"/>
                <a:cs typeface="DM Sans" pitchFamily="34" charset="-120"/>
              </a:rPr>
              <a:t>41</a:t>
            </a:r>
            <a:endParaRPr lang="en-US" sz="870" dirty="0"/>
          </a:p>
        </p:txBody>
      </p:sp>
      <p:sp>
        <p:nvSpPr>
          <p:cNvPr id="21" name="Text 19"/>
          <p:cNvSpPr txBox="1"/>
          <p:nvPr/>
        </p:nvSpPr>
        <p:spPr>
          <a:xfrm>
            <a:off x="1539180" y="5181898"/>
            <a:ext cx="2971871"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Biscoito de polvilho e mandioca de assadeira</a:t>
            </a:r>
            <a:endParaRPr lang="en-US" sz="1000" dirty="0"/>
          </a:p>
        </p:txBody>
      </p:sp>
      <p:sp>
        <p:nvSpPr>
          <p:cNvPr id="22" name="Shape 20"/>
          <p:cNvSpPr/>
          <p:nvPr/>
        </p:nvSpPr>
        <p:spPr>
          <a:xfrm>
            <a:off x="2267992" y="7092107"/>
            <a:ext cx="3023890" cy="3023890"/>
          </a:xfrm>
          <a:prstGeom prst="ellipse">
            <a:avLst/>
          </a:prstGeom>
          <a:solidFill>
            <a:srgbClr val="F8EED9"/>
          </a:solidFill>
          <a:ln/>
        </p:spPr>
      </p:sp>
      <p:pic>
        <p:nvPicPr>
          <p:cNvPr id="23" name="Image 0" descr="/home/user/ebook-receitas/versoes/VERSAO ESTAMPAS/fotos/cap4.jpg">    </p:cNvPr>
          <p:cNvPicPr>
            <a:picLocks noChangeAspect="1"/>
          </p:cNvPicPr>
          <p:nvPr/>
        </p:nvPicPr>
        <p:blipFill>
          <a:blip r:embed="rId2"/>
          <a:srcRect l="0" r="0" t="0" b="0"/>
          <a:stretch/>
        </p:blipFill>
        <p:spPr>
          <a:xfrm>
            <a:off x="2344192" y="7168307"/>
            <a:ext cx="2871490" cy="2871490"/>
          </a:xfrm>
          <a:prstGeom prst="ellipse">
            <a:avLst/>
          </a:prstGeom>
        </p:spPr>
      </p:pic>
      <p:sp>
        <p:nvSpPr>
          <p:cNvPr id="24" name="Shape 21"/>
          <p:cNvSpPr/>
          <p:nvPr/>
        </p:nvSpPr>
        <p:spPr>
          <a:xfrm>
            <a:off x="647998" y="323999"/>
            <a:ext cx="1200001" cy="190500"/>
          </a:xfrm>
          <a:prstGeom prst="ellipse">
            <a:avLst/>
          </a:prstGeom>
          <a:solidFill>
            <a:srgbClr val="1E4A2B"/>
          </a:solidFill>
          <a:ln/>
        </p:spPr>
      </p:sp>
      <p:sp>
        <p:nvSpPr>
          <p:cNvPr id="25" name="Text 22"/>
          <p:cNvSpPr txBox="1"/>
          <p:nvPr/>
        </p:nvSpPr>
        <p:spPr>
          <a:xfrm>
            <a:off x="733723" y="352574"/>
            <a:ext cx="1151977" cy="142875"/>
          </a:xfrm>
          <a:prstGeom prst="rect">
            <a:avLst/>
          </a:prstGeom>
          <a:noFill/>
          <a:ln/>
        </p:spPr>
        <p:txBody>
          <a:bodyPr wrap="square" lIns="0" tIns="0" rIns="0" bIns="0" rtlCol="0" anchor="ctr"/>
          <a:lstStyle/>
          <a:p>
            <a:pPr algn="l" indent="0" marL="0">
              <a:buNone/>
            </a:pPr>
            <a:r>
              <a:rPr lang="en-US" sz="750" spc="105" kern="0" dirty="0">
                <a:solidFill>
                  <a:srgbClr val="F8EED9"/>
                </a:solidFill>
                <a:latin typeface="DM Sans Medium" pitchFamily="34" charset="0"/>
                <a:ea typeface="DM Sans Medium" pitchFamily="34" charset="-122"/>
                <a:cs typeface="DM Sans Medium" pitchFamily="34" charset="-120"/>
              </a:rPr>
              <a:t>COZINHA MAMEDE</a:t>
            </a:r>
            <a:endParaRPr lang="en-US" sz="750" dirty="0"/>
          </a:p>
        </p:txBody>
      </p:sp>
      <p:sp>
        <p:nvSpPr>
          <p:cNvPr id="26" name="Shape 23"/>
          <p:cNvSpPr/>
          <p:nvPr/>
        </p:nvSpPr>
        <p:spPr>
          <a:xfrm>
            <a:off x="6597253" y="323999"/>
            <a:ext cx="314623" cy="190500"/>
          </a:xfrm>
          <a:prstGeom prst="ellipse">
            <a:avLst/>
          </a:prstGeom>
          <a:solidFill>
            <a:srgbClr val="1E4A2B"/>
          </a:solidFill>
          <a:ln/>
        </p:spPr>
      </p:sp>
      <p:sp>
        <p:nvSpPr>
          <p:cNvPr id="27" name="Text 24"/>
          <p:cNvSpPr txBox="1"/>
          <p:nvPr/>
        </p:nvSpPr>
        <p:spPr>
          <a:xfrm>
            <a:off x="6682978" y="352574"/>
            <a:ext cx="257473" cy="142875"/>
          </a:xfrm>
          <a:prstGeom prst="rect">
            <a:avLst/>
          </a:prstGeom>
          <a:noFill/>
          <a:ln/>
        </p:spPr>
        <p:txBody>
          <a:bodyPr wrap="square" lIns="0" tIns="0" rIns="0" bIns="0" rtlCol="0" anchor="ctr"/>
          <a:lstStyle/>
          <a:p>
            <a:pPr algn="l" indent="0" marL="0">
              <a:buNone/>
            </a:pPr>
            <a:r>
              <a:rPr lang="en-US" sz="750" b="1" spc="105" kern="0" dirty="0">
                <a:solidFill>
                  <a:srgbClr val="E5A82E"/>
                </a:solidFill>
                <a:latin typeface="DM Sans" pitchFamily="34" charset="0"/>
                <a:ea typeface="DM Sans" pitchFamily="34" charset="-122"/>
                <a:cs typeface="DM Sans" pitchFamily="34" charset="-120"/>
              </a:rPr>
              <a:t>35</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770459"/>
            <a:ext cx="6696075" cy="7150894"/>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156817"/>
            <a:ext cx="1824895"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CAPÍTULO 04 · MANDIOCA</a:t>
            </a:r>
            <a:endParaRPr lang="en-US" sz="750" dirty="0"/>
          </a:p>
        </p:txBody>
      </p:sp>
      <p:sp>
        <p:nvSpPr>
          <p:cNvPr id="4" name="Text 2"/>
          <p:cNvSpPr txBox="1"/>
          <p:nvPr/>
        </p:nvSpPr>
        <p:spPr>
          <a:xfrm>
            <a:off x="863798" y="2337162"/>
            <a:ext cx="2579656"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 INGREDIENTE</a:t>
            </a:r>
            <a:endParaRPr lang="en-US" sz="2200" dirty="0"/>
          </a:p>
        </p:txBody>
      </p:sp>
      <p:sp>
        <p:nvSpPr>
          <p:cNvPr id="5" name="Text 3"/>
          <p:cNvSpPr txBox="1"/>
          <p:nvPr/>
        </p:nvSpPr>
        <p:spPr>
          <a:xfrm>
            <a:off x="863798" y="2850654"/>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Poucos ingredientes são tão brasileiros e tão subestimados. A mandioca costuma ficar presa a dois papéis: cozida na manteiga ou frita como acompanhamento.</a:t>
            </a:r>
            <a:endParaRPr lang="en-US" sz="1000" dirty="0"/>
          </a:p>
        </p:txBody>
      </p:sp>
      <p:sp>
        <p:nvSpPr>
          <p:cNvPr id="6" name="Text 4"/>
          <p:cNvSpPr txBox="1"/>
          <p:nvPr/>
        </p:nvSpPr>
        <p:spPr>
          <a:xfrm>
            <a:off x="863798" y="3326606"/>
            <a:ext cx="583227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Mas é justamente o amido dela que a torna um coringa técnico. Ralada crua, ela se une sozinha e fica crocante na frigideira. Cozida e batida, vira um creme aveludado sem precisar de creme de leite. Misturada com queijo, vira biscoito.</a:t>
            </a:r>
            <a:endParaRPr lang="en-US" sz="1000" dirty="0"/>
          </a:p>
        </p:txBody>
      </p:sp>
      <p:sp>
        <p:nvSpPr>
          <p:cNvPr id="7" name="Text 5"/>
          <p:cNvSpPr txBox="1"/>
          <p:nvPr/>
        </p:nvSpPr>
        <p:spPr>
          <a:xfrm>
            <a:off x="863798" y="3992910"/>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Um aviso importante: a mandioca vendida no mercado e na feira é a mandioca mansa, de mesa. Mesmo assim, ela deve ser sempre bem cozida antes de comer. Nunca consuma mandioca crua.</a:t>
            </a:r>
            <a:endParaRPr lang="en-US" sz="1000" dirty="0"/>
          </a:p>
        </p:txBody>
      </p:sp>
      <p:sp>
        <p:nvSpPr>
          <p:cNvPr id="8" name="Text 6"/>
          <p:cNvSpPr txBox="1"/>
          <p:nvPr/>
        </p:nvSpPr>
        <p:spPr>
          <a:xfrm>
            <a:off x="863798" y="4564112"/>
            <a:ext cx="205209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ANTES DA PANELA</a:t>
            </a:r>
            <a:endParaRPr lang="en-US" sz="1500" dirty="0"/>
          </a:p>
        </p:txBody>
      </p:sp>
      <p:sp>
        <p:nvSpPr>
          <p:cNvPr id="9" name="Text 7"/>
          <p:cNvSpPr txBox="1"/>
          <p:nvPr/>
        </p:nvSpPr>
        <p:spPr>
          <a:xfrm>
            <a:off x="863798" y="4887962"/>
            <a:ext cx="166237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NA HORA DE ESCOLHER</a:t>
            </a:r>
            <a:endParaRPr lang="en-US" sz="870" dirty="0"/>
          </a:p>
        </p:txBody>
      </p:sp>
      <p:sp>
        <p:nvSpPr>
          <p:cNvPr id="10" name="Shape 8"/>
          <p:cNvSpPr/>
          <p:nvPr/>
        </p:nvSpPr>
        <p:spPr>
          <a:xfrm>
            <a:off x="873323" y="5172807"/>
            <a:ext cx="57150" cy="57150"/>
          </a:xfrm>
          <a:prstGeom prst="ellipse">
            <a:avLst/>
          </a:prstGeom>
          <a:solidFill>
            <a:srgbClr val="E5A82E"/>
          </a:solidFill>
          <a:ln/>
        </p:spPr>
      </p:sp>
      <p:sp>
        <p:nvSpPr>
          <p:cNvPr id="11" name="Text 9"/>
          <p:cNvSpPr txBox="1"/>
          <p:nvPr/>
        </p:nvSpPr>
        <p:spPr>
          <a:xfrm>
            <a:off x="1016198" y="5108674"/>
            <a:ext cx="490778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Casca marrom, que se solta com facilidade, e ponta que estala ao quebrar.</a:t>
            </a:r>
            <a:endParaRPr lang="en-US" sz="1000" dirty="0"/>
          </a:p>
        </p:txBody>
      </p:sp>
      <p:sp>
        <p:nvSpPr>
          <p:cNvPr id="12" name="Shape 10"/>
          <p:cNvSpPr/>
          <p:nvPr/>
        </p:nvSpPr>
        <p:spPr>
          <a:xfrm>
            <a:off x="873323" y="5401259"/>
            <a:ext cx="57150" cy="57150"/>
          </a:xfrm>
          <a:prstGeom prst="ellipse">
            <a:avLst/>
          </a:prstGeom>
          <a:solidFill>
            <a:srgbClr val="E5A82E"/>
          </a:solidFill>
          <a:ln/>
        </p:spPr>
      </p:sp>
      <p:sp>
        <p:nvSpPr>
          <p:cNvPr id="13" name="Text 11"/>
          <p:cNvSpPr txBox="1"/>
          <p:nvPr/>
        </p:nvSpPr>
        <p:spPr>
          <a:xfrm>
            <a:off x="1016198" y="5337125"/>
            <a:ext cx="561353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Polpa branca ou amarelada, uniforme, sem estrias escuras, azuladas ou pontos moles.</a:t>
            </a:r>
            <a:endParaRPr lang="en-US" sz="1000" dirty="0"/>
          </a:p>
        </p:txBody>
      </p:sp>
      <p:sp>
        <p:nvSpPr>
          <p:cNvPr id="14" name="Shape 12"/>
          <p:cNvSpPr/>
          <p:nvPr/>
        </p:nvSpPr>
        <p:spPr>
          <a:xfrm>
            <a:off x="873323" y="5629710"/>
            <a:ext cx="57150" cy="57150"/>
          </a:xfrm>
          <a:prstGeom prst="ellipse">
            <a:avLst/>
          </a:prstGeom>
          <a:solidFill>
            <a:srgbClr val="E5A82E"/>
          </a:solidFill>
          <a:ln/>
        </p:spPr>
      </p:sp>
      <p:sp>
        <p:nvSpPr>
          <p:cNvPr id="15" name="Text 13"/>
          <p:cNvSpPr txBox="1"/>
          <p:nvPr/>
        </p:nvSpPr>
        <p:spPr>
          <a:xfrm>
            <a:off x="1016198" y="5565577"/>
            <a:ext cx="422669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Raízes médias costumam ser mais macias que as muito grossas.</a:t>
            </a:r>
            <a:endParaRPr lang="en-US" sz="1000" dirty="0"/>
          </a:p>
        </p:txBody>
      </p:sp>
      <p:sp>
        <p:nvSpPr>
          <p:cNvPr id="16" name="Shape 14"/>
          <p:cNvSpPr/>
          <p:nvPr/>
        </p:nvSpPr>
        <p:spPr>
          <a:xfrm>
            <a:off x="873323" y="5858161"/>
            <a:ext cx="57150" cy="57150"/>
          </a:xfrm>
          <a:prstGeom prst="ellipse">
            <a:avLst/>
          </a:prstGeom>
          <a:solidFill>
            <a:srgbClr val="E5A82E"/>
          </a:solidFill>
          <a:ln/>
        </p:spPr>
      </p:sp>
      <p:sp>
        <p:nvSpPr>
          <p:cNvPr id="17" name="Text 15"/>
          <p:cNvSpPr txBox="1"/>
          <p:nvPr/>
        </p:nvSpPr>
        <p:spPr>
          <a:xfrm>
            <a:off x="1016198" y="5794028"/>
            <a:ext cx="529499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Mandioca boa cozinha rápido. Se demorar demais, o problema é a raiz, não você.</a:t>
            </a:r>
            <a:endParaRPr lang="en-US" sz="1000" dirty="0"/>
          </a:p>
        </p:txBody>
      </p:sp>
      <p:sp>
        <p:nvSpPr>
          <p:cNvPr id="18" name="Text 16"/>
          <p:cNvSpPr txBox="1"/>
          <p:nvPr/>
        </p:nvSpPr>
        <p:spPr>
          <a:xfrm>
            <a:off x="863798" y="6117729"/>
            <a:ext cx="116947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COMO GUARDAR</a:t>
            </a:r>
            <a:endParaRPr lang="en-US" sz="870" dirty="0"/>
          </a:p>
        </p:txBody>
      </p:sp>
      <p:sp>
        <p:nvSpPr>
          <p:cNvPr id="19" name="Shape 17"/>
          <p:cNvSpPr/>
          <p:nvPr/>
        </p:nvSpPr>
        <p:spPr>
          <a:xfrm>
            <a:off x="873323" y="6402574"/>
            <a:ext cx="57150" cy="57150"/>
          </a:xfrm>
          <a:prstGeom prst="ellipse">
            <a:avLst/>
          </a:prstGeom>
          <a:solidFill>
            <a:srgbClr val="E5A82E"/>
          </a:solidFill>
          <a:ln/>
        </p:spPr>
      </p:sp>
      <p:sp>
        <p:nvSpPr>
          <p:cNvPr id="20" name="Text 18"/>
          <p:cNvSpPr txBox="1"/>
          <p:nvPr/>
        </p:nvSpPr>
        <p:spPr>
          <a:xfrm>
            <a:off x="1016198" y="6338441"/>
            <a:ext cx="371663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Com casca, fora da geladeira, ela estraga em 2 ou 3 dias.</a:t>
            </a:r>
            <a:endParaRPr lang="en-US" sz="1000" dirty="0"/>
          </a:p>
        </p:txBody>
      </p:sp>
      <p:sp>
        <p:nvSpPr>
          <p:cNvPr id="21" name="Shape 19"/>
          <p:cNvSpPr/>
          <p:nvPr/>
        </p:nvSpPr>
        <p:spPr>
          <a:xfrm>
            <a:off x="873323" y="6631025"/>
            <a:ext cx="57150" cy="57150"/>
          </a:xfrm>
          <a:prstGeom prst="ellipse">
            <a:avLst/>
          </a:prstGeom>
          <a:solidFill>
            <a:srgbClr val="E5A82E"/>
          </a:solidFill>
          <a:ln/>
        </p:spPr>
      </p:sp>
      <p:sp>
        <p:nvSpPr>
          <p:cNvPr id="22" name="Text 20"/>
          <p:cNvSpPr txBox="1"/>
          <p:nvPr/>
        </p:nvSpPr>
        <p:spPr>
          <a:xfrm>
            <a:off x="1016198" y="6566892"/>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 melhor caminho: descasque, lave, corte em pedaços e congele crua em sacos por até 3 meses. Ela cozinha ainda melhor depois de congelada.</a:t>
            </a:r>
            <a:endParaRPr lang="en-US" sz="1000" dirty="0"/>
          </a:p>
        </p:txBody>
      </p:sp>
      <p:sp>
        <p:nvSpPr>
          <p:cNvPr id="23" name="Shape 21"/>
          <p:cNvSpPr/>
          <p:nvPr/>
        </p:nvSpPr>
        <p:spPr>
          <a:xfrm>
            <a:off x="873323" y="7049828"/>
            <a:ext cx="57150" cy="57150"/>
          </a:xfrm>
          <a:prstGeom prst="ellipse">
            <a:avLst/>
          </a:prstGeom>
          <a:solidFill>
            <a:srgbClr val="E5A82E"/>
          </a:solidFill>
          <a:ln/>
        </p:spPr>
      </p:sp>
      <p:sp>
        <p:nvSpPr>
          <p:cNvPr id="24" name="Text 22"/>
          <p:cNvSpPr txBox="1"/>
          <p:nvPr/>
        </p:nvSpPr>
        <p:spPr>
          <a:xfrm>
            <a:off x="1016198" y="6985695"/>
            <a:ext cx="499695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Cozida: na geladeira por até 3 dias, coberta pela própria água do cozimento.</a:t>
            </a:r>
            <a:endParaRPr lang="en-US" sz="1000" dirty="0"/>
          </a:p>
        </p:txBody>
      </p:sp>
      <p:sp>
        <p:nvSpPr>
          <p:cNvPr id="25" name="Text 23"/>
          <p:cNvSpPr txBox="1"/>
          <p:nvPr/>
        </p:nvSpPr>
        <p:spPr>
          <a:xfrm>
            <a:off x="863798" y="7309396"/>
            <a:ext cx="172704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PRÉ-PREPARO E CORTES</a:t>
            </a:r>
            <a:endParaRPr lang="en-US" sz="870" dirty="0"/>
          </a:p>
        </p:txBody>
      </p:sp>
      <p:sp>
        <p:nvSpPr>
          <p:cNvPr id="26" name="Shape 24"/>
          <p:cNvSpPr/>
          <p:nvPr/>
        </p:nvSpPr>
        <p:spPr>
          <a:xfrm>
            <a:off x="873323" y="7594241"/>
            <a:ext cx="57150" cy="57150"/>
          </a:xfrm>
          <a:prstGeom prst="ellipse">
            <a:avLst/>
          </a:prstGeom>
          <a:solidFill>
            <a:srgbClr val="E5A82E"/>
          </a:solidFill>
          <a:ln/>
        </p:spPr>
      </p:sp>
      <p:sp>
        <p:nvSpPr>
          <p:cNvPr id="27" name="Text 25"/>
          <p:cNvSpPr txBox="1"/>
          <p:nvPr/>
        </p:nvSpPr>
        <p:spPr>
          <a:xfrm>
            <a:off x="1016198" y="7530108"/>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Corte em toras de 8 a 10 cm. Faça um talho no comprimento e solte a casca marrom junto com a entrecasca rosada, de uma vez.</a:t>
            </a:r>
            <a:endParaRPr lang="en-US" sz="1000" dirty="0"/>
          </a:p>
        </p:txBody>
      </p:sp>
      <p:sp>
        <p:nvSpPr>
          <p:cNvPr id="28" name="Shape 26"/>
          <p:cNvSpPr/>
          <p:nvPr/>
        </p:nvSpPr>
        <p:spPr>
          <a:xfrm>
            <a:off x="873323" y="8013043"/>
            <a:ext cx="57150" cy="57150"/>
          </a:xfrm>
          <a:prstGeom prst="ellipse">
            <a:avLst/>
          </a:prstGeom>
          <a:solidFill>
            <a:srgbClr val="E5A82E"/>
          </a:solidFill>
          <a:ln/>
        </p:spPr>
      </p:sp>
      <p:sp>
        <p:nvSpPr>
          <p:cNvPr id="29" name="Text 27"/>
          <p:cNvSpPr txBox="1"/>
          <p:nvPr/>
        </p:nvSpPr>
        <p:spPr>
          <a:xfrm>
            <a:off x="1016198" y="7948910"/>
            <a:ext cx="43447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Depois de cozida, abra ao meio e retire o fio central, que é fibroso.</a:t>
            </a:r>
            <a:endParaRPr lang="en-US" sz="1000" dirty="0"/>
          </a:p>
        </p:txBody>
      </p:sp>
      <p:sp>
        <p:nvSpPr>
          <p:cNvPr id="30" name="Shape 28"/>
          <p:cNvSpPr/>
          <p:nvPr/>
        </p:nvSpPr>
        <p:spPr>
          <a:xfrm>
            <a:off x="873323" y="8241494"/>
            <a:ext cx="57150" cy="57150"/>
          </a:xfrm>
          <a:prstGeom prst="ellipse">
            <a:avLst/>
          </a:prstGeom>
          <a:solidFill>
            <a:srgbClr val="E5A82E"/>
          </a:solidFill>
          <a:ln/>
        </p:spPr>
      </p:sp>
      <p:sp>
        <p:nvSpPr>
          <p:cNvPr id="31" name="Text 29"/>
          <p:cNvSpPr txBox="1"/>
          <p:nvPr/>
        </p:nvSpPr>
        <p:spPr>
          <a:xfrm>
            <a:off x="1016198" y="8177361"/>
            <a:ext cx="515847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Corte sempre em pedaços de tamanho parecido, para tudo cozinhar por igual.</a:t>
            </a:r>
            <a:endParaRPr lang="en-US" sz="1000" dirty="0"/>
          </a:p>
        </p:txBody>
      </p:sp>
      <p:sp>
        <p:nvSpPr>
          <p:cNvPr id="32" name="Text 30"/>
          <p:cNvSpPr txBox="1"/>
          <p:nvPr/>
        </p:nvSpPr>
        <p:spPr>
          <a:xfrm>
            <a:off x="863798" y="855508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33" name="Text 31"/>
          <p:cNvSpPr txBox="1"/>
          <p:nvPr/>
        </p:nvSpPr>
        <p:spPr>
          <a:xfrm>
            <a:off x="6551712" y="8555087"/>
            <a:ext cx="25866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36</a:t>
            </a:r>
            <a:endParaRPr lang="en-US" sz="7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5998964"/>
          </a:xfrm>
          <a:prstGeom prst="roundRect">
            <a:avLst>
              <a:gd name="adj" fmla="val 549"/>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555254"/>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01</a:t>
            </a:r>
            <a:endParaRPr lang="en-US" sz="750" dirty="0"/>
          </a:p>
        </p:txBody>
      </p:sp>
      <p:sp>
        <p:nvSpPr>
          <p:cNvPr id="4" name="Text 2"/>
          <p:cNvSpPr txBox="1"/>
          <p:nvPr/>
        </p:nvSpPr>
        <p:spPr>
          <a:xfrm>
            <a:off x="1043880" y="1858529"/>
            <a:ext cx="2515939"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RÖSTI DE MANDIOCA</a:t>
            </a:r>
            <a:endParaRPr lang="en-US" sz="3200" dirty="0"/>
          </a:p>
        </p:txBody>
      </p:sp>
      <p:sp>
        <p:nvSpPr>
          <p:cNvPr id="5" name="Text 3"/>
          <p:cNvSpPr txBox="1"/>
          <p:nvPr/>
        </p:nvSpPr>
        <p:spPr>
          <a:xfrm>
            <a:off x="1043880" y="2879527"/>
            <a:ext cx="2515939"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Rösti de mandioca recheado na frigideira</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4-1.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2250877"/>
          </a:xfrm>
          <a:prstGeom prst="roundRect">
            <a:avLst>
              <a:gd name="adj" fmla="val 3249"/>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246080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500 g de mandioca crua descascada</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15513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pimenta-do-reino</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438671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manteiga (ou metade manteiga, metade óleo)</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480876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150 g de carne-seca dessalgada, cozida e desfiada, refogada com cebola</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439054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ou 150 g de muçarela com 3 colheres (sopa) de requeijão cremoso</a:t>
            </a:r>
            <a:endParaRPr lang="en-US" sz="1000" dirty="0"/>
          </a:p>
        </p:txBody>
      </p:sp>
      <p:sp>
        <p:nvSpPr>
          <p:cNvPr id="20" name="Text 17"/>
          <p:cNvSpPr txBox="1"/>
          <p:nvPr/>
        </p:nvSpPr>
        <p:spPr>
          <a:xfrm>
            <a:off x="1403747" y="5917257"/>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086892"/>
            <a:ext cx="6696075" cy="8518178"/>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473250"/>
            <a:ext cx="2336959"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01 · MANDIOCA</a:t>
            </a:r>
            <a:endParaRPr lang="en-US" sz="750" dirty="0"/>
          </a:p>
        </p:txBody>
      </p:sp>
      <p:sp>
        <p:nvSpPr>
          <p:cNvPr id="4" name="Text 2"/>
          <p:cNvSpPr txBox="1"/>
          <p:nvPr/>
        </p:nvSpPr>
        <p:spPr>
          <a:xfrm>
            <a:off x="863798" y="1665400"/>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RÖSTI DE MANDIOCA RECHEADO NA FRIGIDEIRA</a:t>
            </a:r>
            <a:endParaRPr lang="en-US" sz="2200" dirty="0"/>
          </a:p>
        </p:txBody>
      </p:sp>
      <p:sp>
        <p:nvSpPr>
          <p:cNvPr id="5" name="Text 3"/>
          <p:cNvSpPr txBox="1"/>
          <p:nvPr/>
        </p:nvSpPr>
        <p:spPr>
          <a:xfrm>
            <a:off x="863798" y="2394198"/>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CROCÂNCIA PERFEITA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(crosta dourada por fora, cremoso por dentro)</a:t>
            </a:r>
            <a:endParaRPr lang="en-US" sz="800" dirty="0"/>
          </a:p>
        </p:txBody>
      </p:sp>
      <p:sp>
        <p:nvSpPr>
          <p:cNvPr id="6" name="Shape 4"/>
          <p:cNvSpPr/>
          <p:nvPr/>
        </p:nvSpPr>
        <p:spPr>
          <a:xfrm>
            <a:off x="863798" y="2669084"/>
            <a:ext cx="1893243" cy="587425"/>
          </a:xfrm>
          <a:prstGeom prst="roundRect">
            <a:avLst>
              <a:gd name="adj" fmla="val 28619"/>
            </a:avLst>
          </a:prstGeom>
          <a:solidFill>
            <a:srgbClr val="F8EED9"/>
          </a:solidFill>
          <a:ln/>
        </p:spPr>
      </p:sp>
      <p:sp>
        <p:nvSpPr>
          <p:cNvPr id="7" name="Text 5"/>
          <p:cNvSpPr txBox="1"/>
          <p:nvPr/>
        </p:nvSpPr>
        <p:spPr>
          <a:xfrm>
            <a:off x="968573" y="2735759"/>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860030"/>
            <a:ext cx="487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15 min</a:t>
            </a:r>
            <a:endParaRPr lang="en-US" sz="1000" dirty="0"/>
          </a:p>
        </p:txBody>
      </p:sp>
      <p:sp>
        <p:nvSpPr>
          <p:cNvPr id="9" name="Shape 7"/>
          <p:cNvSpPr/>
          <p:nvPr/>
        </p:nvSpPr>
        <p:spPr>
          <a:xfrm>
            <a:off x="2833241" y="2669084"/>
            <a:ext cx="1893243" cy="587425"/>
          </a:xfrm>
          <a:prstGeom prst="roundRect">
            <a:avLst>
              <a:gd name="adj" fmla="val 28619"/>
            </a:avLst>
          </a:prstGeom>
          <a:solidFill>
            <a:srgbClr val="F8EED9"/>
          </a:solidFill>
          <a:ln/>
        </p:spPr>
      </p:sp>
      <p:sp>
        <p:nvSpPr>
          <p:cNvPr id="10" name="Text 8"/>
          <p:cNvSpPr txBox="1"/>
          <p:nvPr/>
        </p:nvSpPr>
        <p:spPr>
          <a:xfrm>
            <a:off x="2938016" y="2735759"/>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860030"/>
            <a:ext cx="5313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30 min</a:t>
            </a:r>
            <a:endParaRPr lang="en-US" sz="1000" dirty="0"/>
          </a:p>
        </p:txBody>
      </p:sp>
      <p:sp>
        <p:nvSpPr>
          <p:cNvPr id="12" name="Shape 10"/>
          <p:cNvSpPr/>
          <p:nvPr/>
        </p:nvSpPr>
        <p:spPr>
          <a:xfrm>
            <a:off x="4802684" y="2669084"/>
            <a:ext cx="1893243" cy="587425"/>
          </a:xfrm>
          <a:prstGeom prst="roundRect">
            <a:avLst>
              <a:gd name="adj" fmla="val 28619"/>
            </a:avLst>
          </a:prstGeom>
          <a:solidFill>
            <a:srgbClr val="F8EED9"/>
          </a:solidFill>
          <a:ln/>
        </p:spPr>
      </p:sp>
      <p:sp>
        <p:nvSpPr>
          <p:cNvPr id="13" name="Text 11"/>
          <p:cNvSpPr txBox="1"/>
          <p:nvPr/>
        </p:nvSpPr>
        <p:spPr>
          <a:xfrm>
            <a:off x="4907459" y="2735759"/>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860030"/>
            <a:ext cx="1163985" cy="345877"/>
          </a:xfrm>
          <a:prstGeom prst="rect">
            <a:avLst/>
          </a:prstGeom>
          <a:noFill/>
          <a:ln/>
        </p:spPr>
        <p:txBody>
          <a:bodyPr wrap="square" lIns="0" tIns="0" rIns="0" bIns="0" rtlCol="0" anchor="t"/>
          <a:lstStyle/>
          <a:p>
            <a:pPr algn="l" indent="0" marL="0">
              <a:lnSpc>
                <a:spcPts val="1300"/>
              </a:lnSpc>
              <a:buNone/>
            </a:pPr>
            <a:r>
              <a:rPr lang="en-US" sz="1000" dirty="0">
                <a:solidFill>
                  <a:srgbClr val="2B2A22"/>
                </a:solidFill>
                <a:latin typeface="DM Sans Medium" pitchFamily="34" charset="0"/>
                <a:ea typeface="DM Sans Medium" pitchFamily="34" charset="-122"/>
                <a:cs typeface="DM Sans Medium" pitchFamily="34" charset="-120"/>
              </a:rPr>
              <a:t>1 rösti grande (2 a 4 porções)</a:t>
            </a:r>
            <a:endParaRPr lang="en-US" sz="1000" dirty="0"/>
          </a:p>
        </p:txBody>
      </p:sp>
      <p:sp>
        <p:nvSpPr>
          <p:cNvPr id="15" name="Shape 13"/>
          <p:cNvSpPr/>
          <p:nvPr/>
        </p:nvSpPr>
        <p:spPr>
          <a:xfrm>
            <a:off x="863798" y="3389858"/>
            <a:ext cx="5832277" cy="1539329"/>
          </a:xfrm>
          <a:prstGeom prst="roundRect">
            <a:avLst>
              <a:gd name="adj" fmla="val 5557"/>
            </a:avLst>
          </a:prstGeom>
          <a:solidFill>
            <a:srgbClr val="FBF4E4"/>
          </a:solidFill>
          <a:ln w="9525">
            <a:solidFill>
              <a:srgbClr val="EADFC6"/>
            </a:solidFill>
            <a:prstDash val="solid"/>
          </a:ln>
        </p:spPr>
      </p:sp>
      <p:sp>
        <p:nvSpPr>
          <p:cNvPr id="16" name="Text 14"/>
          <p:cNvSpPr txBox="1"/>
          <p:nvPr/>
        </p:nvSpPr>
        <p:spPr>
          <a:xfrm>
            <a:off x="1006673" y="3485108"/>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Text 15"/>
          <p:cNvSpPr txBox="1"/>
          <p:nvPr/>
        </p:nvSpPr>
        <p:spPr>
          <a:xfrm>
            <a:off x="1006673" y="3770858"/>
            <a:ext cx="559891"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MASSA</a:t>
            </a:r>
            <a:endParaRPr lang="en-US" sz="870" dirty="0"/>
          </a:p>
        </p:txBody>
      </p:sp>
      <p:sp>
        <p:nvSpPr>
          <p:cNvPr id="18" name="Shape 16"/>
          <p:cNvSpPr/>
          <p:nvPr/>
        </p:nvSpPr>
        <p:spPr>
          <a:xfrm>
            <a:off x="1006673" y="4022684"/>
            <a:ext cx="114300" cy="114300"/>
          </a:xfrm>
          <a:prstGeom prst="roundRect">
            <a:avLst>
              <a:gd name="adj" fmla="val 166667"/>
            </a:avLst>
          </a:prstGeom>
          <a:ln w="9525">
            <a:solidFill>
              <a:srgbClr val="C8501F"/>
            </a:solidFill>
            <a:prstDash val="solid"/>
          </a:ln>
        </p:spPr>
      </p:sp>
      <p:sp>
        <p:nvSpPr>
          <p:cNvPr id="19" name="Text 17"/>
          <p:cNvSpPr txBox="1"/>
          <p:nvPr/>
        </p:nvSpPr>
        <p:spPr>
          <a:xfrm>
            <a:off x="1197173" y="3991570"/>
            <a:ext cx="246080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500 g de mandioca crua descascada</a:t>
            </a:r>
            <a:endParaRPr lang="en-US" sz="1000" dirty="0"/>
          </a:p>
        </p:txBody>
      </p:sp>
      <p:sp>
        <p:nvSpPr>
          <p:cNvPr id="20" name="Shape 18"/>
          <p:cNvSpPr/>
          <p:nvPr/>
        </p:nvSpPr>
        <p:spPr>
          <a:xfrm>
            <a:off x="1006673" y="4241610"/>
            <a:ext cx="114300" cy="114300"/>
          </a:xfrm>
          <a:prstGeom prst="roundRect">
            <a:avLst>
              <a:gd name="adj" fmla="val 166667"/>
            </a:avLst>
          </a:prstGeom>
          <a:ln w="9525">
            <a:solidFill>
              <a:srgbClr val="C8501F"/>
            </a:solidFill>
            <a:prstDash val="solid"/>
          </a:ln>
        </p:spPr>
      </p:sp>
      <p:sp>
        <p:nvSpPr>
          <p:cNvPr id="21" name="Text 19"/>
          <p:cNvSpPr txBox="1"/>
          <p:nvPr/>
        </p:nvSpPr>
        <p:spPr>
          <a:xfrm>
            <a:off x="1197173" y="4210496"/>
            <a:ext cx="15513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pimenta-do-reino</a:t>
            </a:r>
            <a:endParaRPr lang="en-US" sz="1000" dirty="0"/>
          </a:p>
        </p:txBody>
      </p:sp>
      <p:sp>
        <p:nvSpPr>
          <p:cNvPr id="22" name="Shape 20"/>
          <p:cNvSpPr/>
          <p:nvPr/>
        </p:nvSpPr>
        <p:spPr>
          <a:xfrm>
            <a:off x="1006673" y="4460537"/>
            <a:ext cx="114300" cy="114300"/>
          </a:xfrm>
          <a:prstGeom prst="roundRect">
            <a:avLst>
              <a:gd name="adj" fmla="val 166667"/>
            </a:avLst>
          </a:prstGeom>
          <a:ln w="9525">
            <a:solidFill>
              <a:srgbClr val="C8501F"/>
            </a:solidFill>
            <a:prstDash val="solid"/>
          </a:ln>
        </p:spPr>
      </p:sp>
      <p:sp>
        <p:nvSpPr>
          <p:cNvPr id="23" name="Text 21"/>
          <p:cNvSpPr txBox="1"/>
          <p:nvPr/>
        </p:nvSpPr>
        <p:spPr>
          <a:xfrm>
            <a:off x="1197173" y="4429423"/>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3 colheres (sopa) de manteiga (ou metade manteiga, metade óleo)</a:t>
            </a:r>
            <a:endParaRPr lang="en-US" sz="1000" dirty="0"/>
          </a:p>
        </p:txBody>
      </p:sp>
      <p:sp>
        <p:nvSpPr>
          <p:cNvPr id="24" name="Text 22"/>
          <p:cNvSpPr txBox="1"/>
          <p:nvPr/>
        </p:nvSpPr>
        <p:spPr>
          <a:xfrm>
            <a:off x="3884712" y="3770858"/>
            <a:ext cx="172204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RECHEIO (ESCOLHA UM)</a:t>
            </a:r>
            <a:endParaRPr lang="en-US" sz="870" dirty="0"/>
          </a:p>
        </p:txBody>
      </p:sp>
      <p:sp>
        <p:nvSpPr>
          <p:cNvPr id="25" name="Shape 23"/>
          <p:cNvSpPr/>
          <p:nvPr/>
        </p:nvSpPr>
        <p:spPr>
          <a:xfrm>
            <a:off x="3884712" y="4022684"/>
            <a:ext cx="114300" cy="114300"/>
          </a:xfrm>
          <a:prstGeom prst="roundRect">
            <a:avLst>
              <a:gd name="adj" fmla="val 166667"/>
            </a:avLst>
          </a:prstGeom>
          <a:ln w="9525">
            <a:solidFill>
              <a:srgbClr val="C8501F"/>
            </a:solidFill>
            <a:prstDash val="solid"/>
          </a:ln>
        </p:spPr>
      </p:sp>
      <p:sp>
        <p:nvSpPr>
          <p:cNvPr id="26" name="Text 24"/>
          <p:cNvSpPr txBox="1"/>
          <p:nvPr/>
        </p:nvSpPr>
        <p:spPr>
          <a:xfrm>
            <a:off x="4075212" y="3991570"/>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150 g de carne-seca dessalgada, cozida e desfiada, refogada com cebola</a:t>
            </a:r>
            <a:endParaRPr lang="en-US" sz="1000" dirty="0"/>
          </a:p>
        </p:txBody>
      </p:sp>
      <p:sp>
        <p:nvSpPr>
          <p:cNvPr id="27" name="Shape 25"/>
          <p:cNvSpPr/>
          <p:nvPr/>
        </p:nvSpPr>
        <p:spPr>
          <a:xfrm>
            <a:off x="3884712" y="4431962"/>
            <a:ext cx="114300" cy="114300"/>
          </a:xfrm>
          <a:prstGeom prst="roundRect">
            <a:avLst>
              <a:gd name="adj" fmla="val 166667"/>
            </a:avLst>
          </a:prstGeom>
          <a:ln w="9525">
            <a:solidFill>
              <a:srgbClr val="C8501F"/>
            </a:solidFill>
            <a:prstDash val="solid"/>
          </a:ln>
        </p:spPr>
      </p:sp>
      <p:sp>
        <p:nvSpPr>
          <p:cNvPr id="28" name="Text 26"/>
          <p:cNvSpPr txBox="1"/>
          <p:nvPr/>
        </p:nvSpPr>
        <p:spPr>
          <a:xfrm>
            <a:off x="4075212" y="4400848"/>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ou 150 g de muçarela com 3 colheres (sopa) de requeijão cremoso</a:t>
            </a:r>
            <a:endParaRPr lang="en-US" sz="1000" dirty="0"/>
          </a:p>
        </p:txBody>
      </p:sp>
      <p:sp>
        <p:nvSpPr>
          <p:cNvPr id="29" name="Text 27"/>
          <p:cNvSpPr txBox="1"/>
          <p:nvPr/>
        </p:nvSpPr>
        <p:spPr>
          <a:xfrm>
            <a:off x="863798" y="5053012"/>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0" name="Shape 28"/>
          <p:cNvSpPr/>
          <p:nvPr/>
        </p:nvSpPr>
        <p:spPr>
          <a:xfrm>
            <a:off x="863798" y="5395912"/>
            <a:ext cx="190500" cy="190500"/>
          </a:xfrm>
          <a:prstGeom prst="ellipse">
            <a:avLst/>
          </a:prstGeom>
          <a:solidFill>
            <a:srgbClr val="2F4A22"/>
          </a:solidFill>
          <a:ln/>
        </p:spPr>
      </p:sp>
      <p:sp>
        <p:nvSpPr>
          <p:cNvPr id="31" name="Text 29"/>
          <p:cNvSpPr txBox="1"/>
          <p:nvPr/>
        </p:nvSpPr>
        <p:spPr>
          <a:xfrm>
            <a:off x="883295" y="5424487"/>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2" name="Text 30"/>
          <p:cNvSpPr txBox="1"/>
          <p:nvPr/>
        </p:nvSpPr>
        <p:spPr>
          <a:xfrm>
            <a:off x="1149548" y="5395912"/>
            <a:ext cx="314706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Rale a mandioca crua no lado grosso do ralador.</a:t>
            </a:r>
            <a:endParaRPr lang="en-US" sz="1000" dirty="0"/>
          </a:p>
        </p:txBody>
      </p:sp>
      <p:sp>
        <p:nvSpPr>
          <p:cNvPr id="33" name="Shape 31"/>
          <p:cNvSpPr/>
          <p:nvPr/>
        </p:nvSpPr>
        <p:spPr>
          <a:xfrm>
            <a:off x="863798" y="5643563"/>
            <a:ext cx="190500" cy="190500"/>
          </a:xfrm>
          <a:prstGeom prst="ellipse">
            <a:avLst/>
          </a:prstGeom>
          <a:solidFill>
            <a:srgbClr val="2F4A22"/>
          </a:solidFill>
          <a:ln/>
        </p:spPr>
      </p:sp>
      <p:sp>
        <p:nvSpPr>
          <p:cNvPr id="34" name="Text 32"/>
          <p:cNvSpPr txBox="1"/>
          <p:nvPr/>
        </p:nvSpPr>
        <p:spPr>
          <a:xfrm>
            <a:off x="872579" y="5672138"/>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5" name="Text 33"/>
          <p:cNvSpPr txBox="1"/>
          <p:nvPr/>
        </p:nvSpPr>
        <p:spPr>
          <a:xfrm>
            <a:off x="1149548" y="564356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Coloque num pano de prato limpo e torça com força para retirar o máximo de líquido. Descarte o líquido. Este é o passo que garante a crocância.</a:t>
            </a:r>
            <a:endParaRPr lang="en-US" sz="1000" dirty="0"/>
          </a:p>
        </p:txBody>
      </p:sp>
      <p:sp>
        <p:nvSpPr>
          <p:cNvPr id="36" name="Shape 34"/>
          <p:cNvSpPr/>
          <p:nvPr/>
        </p:nvSpPr>
        <p:spPr>
          <a:xfrm>
            <a:off x="863798" y="6071890"/>
            <a:ext cx="190500" cy="190500"/>
          </a:xfrm>
          <a:prstGeom prst="ellipse">
            <a:avLst/>
          </a:prstGeom>
          <a:solidFill>
            <a:srgbClr val="2F4A22"/>
          </a:solidFill>
          <a:ln/>
        </p:spPr>
      </p:sp>
      <p:sp>
        <p:nvSpPr>
          <p:cNvPr id="37" name="Text 35"/>
          <p:cNvSpPr txBox="1"/>
          <p:nvPr/>
        </p:nvSpPr>
        <p:spPr>
          <a:xfrm>
            <a:off x="871240" y="6100465"/>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38" name="Text 36"/>
          <p:cNvSpPr txBox="1"/>
          <p:nvPr/>
        </p:nvSpPr>
        <p:spPr>
          <a:xfrm>
            <a:off x="1149548" y="6071890"/>
            <a:ext cx="310138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Tempere a mandioca ralada com sal e pimenta.</a:t>
            </a:r>
            <a:endParaRPr lang="en-US" sz="1000" dirty="0"/>
          </a:p>
        </p:txBody>
      </p:sp>
      <p:sp>
        <p:nvSpPr>
          <p:cNvPr id="39" name="Shape 37"/>
          <p:cNvSpPr/>
          <p:nvPr/>
        </p:nvSpPr>
        <p:spPr>
          <a:xfrm>
            <a:off x="863798" y="6319540"/>
            <a:ext cx="190500" cy="190500"/>
          </a:xfrm>
          <a:prstGeom prst="ellipse">
            <a:avLst/>
          </a:prstGeom>
          <a:solidFill>
            <a:srgbClr val="2F4A22"/>
          </a:solidFill>
          <a:ln/>
        </p:spPr>
      </p:sp>
      <p:sp>
        <p:nvSpPr>
          <p:cNvPr id="40" name="Text 38"/>
          <p:cNvSpPr txBox="1"/>
          <p:nvPr/>
        </p:nvSpPr>
        <p:spPr>
          <a:xfrm>
            <a:off x="868859" y="6348115"/>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1" name="Text 39"/>
          <p:cNvSpPr txBox="1"/>
          <p:nvPr/>
        </p:nvSpPr>
        <p:spPr>
          <a:xfrm>
            <a:off x="1149548" y="6319540"/>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Aqueça metade da manteiga numa frigideira antiaderente de 20 a 22 cm, em fogo médio. Espalhe metade da mandioca, pressionando com uma espátula para formar uma base compacta.</a:t>
            </a:r>
            <a:endParaRPr lang="en-US" sz="1000" dirty="0"/>
          </a:p>
        </p:txBody>
      </p:sp>
      <p:sp>
        <p:nvSpPr>
          <p:cNvPr id="42" name="Shape 40"/>
          <p:cNvSpPr/>
          <p:nvPr/>
        </p:nvSpPr>
        <p:spPr>
          <a:xfrm>
            <a:off x="863798" y="6938218"/>
            <a:ext cx="190500" cy="190500"/>
          </a:xfrm>
          <a:prstGeom prst="ellipse">
            <a:avLst/>
          </a:prstGeom>
          <a:solidFill>
            <a:srgbClr val="2F4A22"/>
          </a:solidFill>
          <a:ln/>
        </p:spPr>
      </p:sp>
      <p:sp>
        <p:nvSpPr>
          <p:cNvPr id="43" name="Text 41"/>
          <p:cNvSpPr txBox="1"/>
          <p:nvPr/>
        </p:nvSpPr>
        <p:spPr>
          <a:xfrm>
            <a:off x="870198" y="6966793"/>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4" name="Text 42"/>
          <p:cNvSpPr txBox="1"/>
          <p:nvPr/>
        </p:nvSpPr>
        <p:spPr>
          <a:xfrm>
            <a:off x="1149548" y="6938218"/>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Distribua o recheio, deixando 1 cm livre na borda. Cubra com o restante da mandioca, pressione e feche bem as bordas.</a:t>
            </a:r>
            <a:endParaRPr lang="en-US" sz="1000" dirty="0"/>
          </a:p>
        </p:txBody>
      </p:sp>
      <p:sp>
        <p:nvSpPr>
          <p:cNvPr id="45" name="Shape 43"/>
          <p:cNvSpPr/>
          <p:nvPr/>
        </p:nvSpPr>
        <p:spPr>
          <a:xfrm>
            <a:off x="863798" y="7366546"/>
            <a:ext cx="190500" cy="190500"/>
          </a:xfrm>
          <a:prstGeom prst="ellipse">
            <a:avLst/>
          </a:prstGeom>
          <a:solidFill>
            <a:srgbClr val="2F4A22"/>
          </a:solidFill>
          <a:ln/>
        </p:spPr>
      </p:sp>
      <p:sp>
        <p:nvSpPr>
          <p:cNvPr id="46" name="Text 44"/>
          <p:cNvSpPr txBox="1"/>
          <p:nvPr/>
        </p:nvSpPr>
        <p:spPr>
          <a:xfrm>
            <a:off x="869603" y="7395121"/>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47" name="Text 45"/>
          <p:cNvSpPr txBox="1"/>
          <p:nvPr/>
        </p:nvSpPr>
        <p:spPr>
          <a:xfrm>
            <a:off x="1149548" y="7366546"/>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Tampe e cozinhe em fogo médio-baixo por 12 a 15 minutos, até a base ficar dourada e firme (dá para levantar a borda com a espátula para conferir).</a:t>
            </a:r>
            <a:endParaRPr lang="en-US" sz="1000" dirty="0"/>
          </a:p>
        </p:txBody>
      </p:sp>
      <p:sp>
        <p:nvSpPr>
          <p:cNvPr id="48" name="Shape 46"/>
          <p:cNvSpPr/>
          <p:nvPr/>
        </p:nvSpPr>
        <p:spPr>
          <a:xfrm>
            <a:off x="863798" y="7794873"/>
            <a:ext cx="190500" cy="190500"/>
          </a:xfrm>
          <a:prstGeom prst="ellipse">
            <a:avLst/>
          </a:prstGeom>
          <a:solidFill>
            <a:srgbClr val="2F4A22"/>
          </a:solidFill>
          <a:ln/>
        </p:spPr>
      </p:sp>
      <p:sp>
        <p:nvSpPr>
          <p:cNvPr id="49" name="Text 47"/>
          <p:cNvSpPr txBox="1"/>
          <p:nvPr/>
        </p:nvSpPr>
        <p:spPr>
          <a:xfrm>
            <a:off x="874514" y="7823448"/>
            <a:ext cx="16892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7</a:t>
            </a:r>
            <a:endParaRPr lang="en-US" sz="800" dirty="0"/>
          </a:p>
        </p:txBody>
      </p:sp>
      <p:sp>
        <p:nvSpPr>
          <p:cNvPr id="50" name="Text 48"/>
          <p:cNvSpPr txBox="1"/>
          <p:nvPr/>
        </p:nvSpPr>
        <p:spPr>
          <a:xfrm>
            <a:off x="1149548" y="779487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Deslize o rösti para um prato, cubra com outro prato, vire e devolva à frigideira com o restante da manteiga. Cozinhe destampado por mais 12 a 15 minutos, até dourar.</a:t>
            </a:r>
            <a:endParaRPr lang="en-US" sz="1000" dirty="0"/>
          </a:p>
        </p:txBody>
      </p:sp>
      <p:sp>
        <p:nvSpPr>
          <p:cNvPr id="51" name="Shape 49"/>
          <p:cNvSpPr/>
          <p:nvPr/>
        </p:nvSpPr>
        <p:spPr>
          <a:xfrm>
            <a:off x="863798" y="8261300"/>
            <a:ext cx="5832277" cy="780604"/>
          </a:xfrm>
          <a:prstGeom prst="roundRect">
            <a:avLst>
              <a:gd name="adj" fmla="val 21609"/>
            </a:avLst>
          </a:prstGeom>
          <a:solidFill>
            <a:srgbClr val="2F4A22"/>
          </a:solidFill>
          <a:ln/>
        </p:spPr>
      </p:sp>
      <p:sp>
        <p:nvSpPr>
          <p:cNvPr id="52" name="Text 50"/>
          <p:cNvSpPr txBox="1"/>
          <p:nvPr/>
        </p:nvSpPr>
        <p:spPr>
          <a:xfrm>
            <a:off x="997148" y="8375600"/>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3" name="Text 51"/>
          <p:cNvSpPr txBox="1"/>
          <p:nvPr/>
        </p:nvSpPr>
        <p:spPr>
          <a:xfrm>
            <a:off x="2279749" y="8375600"/>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Fogo alto doura por fora e deixa a mandioca crua por dentro. O segredo é fogo médio-baixo e tempo: por fora ela fica dourada, por dentro, cremosa.</a:t>
            </a:r>
            <a:endParaRPr lang="en-US" sz="1000" dirty="0"/>
          </a:p>
        </p:txBody>
      </p:sp>
      <p:sp>
        <p:nvSpPr>
          <p:cNvPr id="54" name="Text 52"/>
          <p:cNvSpPr txBox="1"/>
          <p:nvPr/>
        </p:nvSpPr>
        <p:spPr>
          <a:xfrm>
            <a:off x="863798" y="9238804"/>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5" name="Text 53"/>
          <p:cNvSpPr txBox="1"/>
          <p:nvPr/>
        </p:nvSpPr>
        <p:spPr>
          <a:xfrm>
            <a:off x="6551712" y="9238804"/>
            <a:ext cx="25866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38</a:t>
            </a:r>
            <a:endParaRPr lang="en-US" sz="7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6846094"/>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555254"/>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02</a:t>
            </a:r>
            <a:endParaRPr lang="en-US" sz="750" dirty="0"/>
          </a:p>
        </p:txBody>
      </p:sp>
      <p:sp>
        <p:nvSpPr>
          <p:cNvPr id="4" name="Text 2"/>
          <p:cNvSpPr txBox="1"/>
          <p:nvPr/>
        </p:nvSpPr>
        <p:spPr>
          <a:xfrm>
            <a:off x="1043880" y="1858529"/>
            <a:ext cx="2515939"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CALDO DE MANDIOCA</a:t>
            </a:r>
            <a:endParaRPr lang="en-US" sz="3200" dirty="0"/>
          </a:p>
        </p:txBody>
      </p:sp>
      <p:sp>
        <p:nvSpPr>
          <p:cNvPr id="5" name="Text 3"/>
          <p:cNvSpPr txBox="1"/>
          <p:nvPr/>
        </p:nvSpPr>
        <p:spPr>
          <a:xfrm>
            <a:off x="1043880" y="2879527"/>
            <a:ext cx="2515939"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Caldo aveludado de mandioca com gengibre e bacon (ou cogumelos)</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4-2.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3098006"/>
          </a:xfrm>
          <a:prstGeom prst="roundRect">
            <a:avLst>
              <a:gd name="adj" fmla="val 1715"/>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30122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800 g de mandioca descascada, em pedaços</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4561880"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150 g de bacon em cubinhos (ou 200 g de cogumelos fatiados, na versão vegetariana)</a:t>
            </a:r>
            <a:endParaRPr lang="en-US" sz="1000" dirty="0"/>
          </a:p>
        </p:txBody>
      </p:sp>
      <p:sp>
        <p:nvSpPr>
          <p:cNvPr id="14" name="Shape 11"/>
          <p:cNvSpPr/>
          <p:nvPr/>
        </p:nvSpPr>
        <p:spPr>
          <a:xfrm>
            <a:off x="1403747" y="5424794"/>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393680"/>
            <a:ext cx="101858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picada</a:t>
            </a:r>
            <a:endParaRPr lang="en-US" sz="1000" dirty="0"/>
          </a:p>
        </p:txBody>
      </p:sp>
      <p:sp>
        <p:nvSpPr>
          <p:cNvPr id="16" name="Shape 13"/>
          <p:cNvSpPr/>
          <p:nvPr/>
        </p:nvSpPr>
        <p:spPr>
          <a:xfrm>
            <a:off x="1403747" y="5643720"/>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612606"/>
            <a:ext cx="16645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dentes de alho picados</a:t>
            </a:r>
            <a:endParaRPr lang="en-US" sz="1000" dirty="0"/>
          </a:p>
        </p:txBody>
      </p:sp>
      <p:sp>
        <p:nvSpPr>
          <p:cNvPr id="18" name="Shape 15"/>
          <p:cNvSpPr/>
          <p:nvPr/>
        </p:nvSpPr>
        <p:spPr>
          <a:xfrm>
            <a:off x="1403747" y="5862646"/>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831532"/>
            <a:ext cx="267950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gengibre fresco ralado</a:t>
            </a:r>
            <a:endParaRPr lang="en-US" sz="1000" dirty="0"/>
          </a:p>
        </p:txBody>
      </p:sp>
      <p:sp>
        <p:nvSpPr>
          <p:cNvPr id="20" name="Shape 17"/>
          <p:cNvSpPr/>
          <p:nvPr/>
        </p:nvSpPr>
        <p:spPr>
          <a:xfrm>
            <a:off x="1403747" y="6081573"/>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6050459"/>
            <a:ext cx="35149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1,2 litro de caldo de frango (capítulo 3) ou de legumes</a:t>
            </a:r>
            <a:endParaRPr lang="en-US" sz="1000" dirty="0"/>
          </a:p>
        </p:txBody>
      </p:sp>
      <p:sp>
        <p:nvSpPr>
          <p:cNvPr id="22" name="Shape 19"/>
          <p:cNvSpPr/>
          <p:nvPr/>
        </p:nvSpPr>
        <p:spPr>
          <a:xfrm>
            <a:off x="1403747" y="6300499"/>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269385"/>
            <a:ext cx="316022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pimenta-do-reino e algumas gotas de limão</a:t>
            </a:r>
            <a:endParaRPr lang="en-US" sz="1000" dirty="0"/>
          </a:p>
        </p:txBody>
      </p:sp>
      <p:sp>
        <p:nvSpPr>
          <p:cNvPr id="24" name="Shape 21"/>
          <p:cNvSpPr/>
          <p:nvPr/>
        </p:nvSpPr>
        <p:spPr>
          <a:xfrm>
            <a:off x="1403747" y="6519425"/>
            <a:ext cx="114300" cy="114300"/>
          </a:xfrm>
          <a:prstGeom prst="roundRect">
            <a:avLst>
              <a:gd name="adj" fmla="val 166667"/>
            </a:avLst>
          </a:prstGeom>
          <a:ln w="9525">
            <a:solidFill>
              <a:srgbClr val="C8501F"/>
            </a:solidFill>
            <a:prstDash val="solid"/>
          </a:ln>
        </p:spPr>
      </p:sp>
      <p:sp>
        <p:nvSpPr>
          <p:cNvPr id="25" name="Text 22"/>
          <p:cNvSpPr txBox="1"/>
          <p:nvPr/>
        </p:nvSpPr>
        <p:spPr>
          <a:xfrm>
            <a:off x="1594247" y="6488311"/>
            <a:ext cx="256898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Cebolinha picada e azeite para finalizar</a:t>
            </a:r>
            <a:endParaRPr lang="en-US" sz="1000" dirty="0"/>
          </a:p>
        </p:txBody>
      </p:sp>
      <p:sp>
        <p:nvSpPr>
          <p:cNvPr id="26" name="Text 23"/>
          <p:cNvSpPr txBox="1"/>
          <p:nvPr/>
        </p:nvSpPr>
        <p:spPr>
          <a:xfrm>
            <a:off x="1403747" y="6764387"/>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506462"/>
            <a:ext cx="6696075" cy="9679037"/>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892820"/>
            <a:ext cx="2359295"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02 · MANDIOCA</a:t>
            </a:r>
            <a:endParaRPr lang="en-US" sz="750" dirty="0"/>
          </a:p>
        </p:txBody>
      </p:sp>
      <p:sp>
        <p:nvSpPr>
          <p:cNvPr id="4" name="Text 2"/>
          <p:cNvSpPr txBox="1"/>
          <p:nvPr/>
        </p:nvSpPr>
        <p:spPr>
          <a:xfrm>
            <a:off x="863798" y="1084971"/>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CALDO AVELUDADO DE MANDIOCA COM GENGIBRE E BACON (OU COGUMELOS)</a:t>
            </a:r>
            <a:endParaRPr lang="en-US" sz="2200" dirty="0"/>
          </a:p>
        </p:txBody>
      </p:sp>
      <p:sp>
        <p:nvSpPr>
          <p:cNvPr id="5" name="Text 3"/>
          <p:cNvSpPr txBox="1"/>
          <p:nvPr/>
        </p:nvSpPr>
        <p:spPr>
          <a:xfrm>
            <a:off x="863798" y="1813768"/>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CULINÁRIA ACOLHEDORA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(abraço em forma de prato)</a:t>
            </a:r>
            <a:endParaRPr lang="en-US" sz="800" dirty="0"/>
          </a:p>
        </p:txBody>
      </p:sp>
      <p:sp>
        <p:nvSpPr>
          <p:cNvPr id="6" name="Shape 4"/>
          <p:cNvSpPr/>
          <p:nvPr/>
        </p:nvSpPr>
        <p:spPr>
          <a:xfrm>
            <a:off x="863798" y="2088654"/>
            <a:ext cx="1893243" cy="422523"/>
          </a:xfrm>
          <a:prstGeom prst="roundRect">
            <a:avLst>
              <a:gd name="adj" fmla="val 55317"/>
            </a:avLst>
          </a:prstGeom>
          <a:solidFill>
            <a:srgbClr val="F8EED9"/>
          </a:solidFill>
          <a:ln/>
        </p:spPr>
      </p:sp>
      <p:sp>
        <p:nvSpPr>
          <p:cNvPr id="7" name="Text 5"/>
          <p:cNvSpPr txBox="1"/>
          <p:nvPr/>
        </p:nvSpPr>
        <p:spPr>
          <a:xfrm>
            <a:off x="968573" y="2155329"/>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279600"/>
            <a:ext cx="487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15 min</a:t>
            </a:r>
            <a:endParaRPr lang="en-US" sz="1000" dirty="0"/>
          </a:p>
        </p:txBody>
      </p:sp>
      <p:sp>
        <p:nvSpPr>
          <p:cNvPr id="9" name="Shape 7"/>
          <p:cNvSpPr/>
          <p:nvPr/>
        </p:nvSpPr>
        <p:spPr>
          <a:xfrm>
            <a:off x="2833241" y="2088654"/>
            <a:ext cx="1893243" cy="422523"/>
          </a:xfrm>
          <a:prstGeom prst="roundRect">
            <a:avLst>
              <a:gd name="adj" fmla="val 55317"/>
            </a:avLst>
          </a:prstGeom>
          <a:solidFill>
            <a:srgbClr val="F8EED9"/>
          </a:solidFill>
          <a:ln/>
        </p:spPr>
      </p:sp>
      <p:sp>
        <p:nvSpPr>
          <p:cNvPr id="10" name="Text 8"/>
          <p:cNvSpPr txBox="1"/>
          <p:nvPr/>
        </p:nvSpPr>
        <p:spPr>
          <a:xfrm>
            <a:off x="2938016" y="2155329"/>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279600"/>
            <a:ext cx="178905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30 min (12 min na pressão)</a:t>
            </a:r>
            <a:endParaRPr lang="en-US" sz="1000" dirty="0"/>
          </a:p>
        </p:txBody>
      </p:sp>
      <p:sp>
        <p:nvSpPr>
          <p:cNvPr id="12" name="Shape 10"/>
          <p:cNvSpPr/>
          <p:nvPr/>
        </p:nvSpPr>
        <p:spPr>
          <a:xfrm>
            <a:off x="4802684" y="2088654"/>
            <a:ext cx="1893243" cy="422523"/>
          </a:xfrm>
          <a:prstGeom prst="roundRect">
            <a:avLst>
              <a:gd name="adj" fmla="val 55317"/>
            </a:avLst>
          </a:prstGeom>
          <a:solidFill>
            <a:srgbClr val="F8EED9"/>
          </a:solidFill>
          <a:ln/>
        </p:spPr>
      </p:sp>
      <p:sp>
        <p:nvSpPr>
          <p:cNvPr id="13" name="Text 11"/>
          <p:cNvSpPr txBox="1"/>
          <p:nvPr/>
        </p:nvSpPr>
        <p:spPr>
          <a:xfrm>
            <a:off x="4907459" y="2155329"/>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279600"/>
            <a:ext cx="93300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 a 6 porções</a:t>
            </a:r>
            <a:endParaRPr lang="en-US" sz="1000" dirty="0"/>
          </a:p>
        </p:txBody>
      </p:sp>
      <p:sp>
        <p:nvSpPr>
          <p:cNvPr id="15" name="Shape 13"/>
          <p:cNvSpPr/>
          <p:nvPr/>
        </p:nvSpPr>
        <p:spPr>
          <a:xfrm>
            <a:off x="863798" y="2644527"/>
            <a:ext cx="5832277" cy="3112740"/>
          </a:xfrm>
          <a:prstGeom prst="roundRect">
            <a:avLst>
              <a:gd name="adj" fmla="val 1359"/>
            </a:avLst>
          </a:prstGeom>
          <a:solidFill>
            <a:srgbClr val="FBF4E4"/>
          </a:solidFill>
          <a:ln w="9525">
            <a:solidFill>
              <a:srgbClr val="EADFC6"/>
            </a:solidFill>
            <a:prstDash val="solid"/>
          </a:ln>
        </p:spPr>
      </p:sp>
      <p:sp>
        <p:nvSpPr>
          <p:cNvPr id="16" name="Text 14"/>
          <p:cNvSpPr txBox="1"/>
          <p:nvPr/>
        </p:nvSpPr>
        <p:spPr>
          <a:xfrm>
            <a:off x="1006673" y="27397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075691"/>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044577"/>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800 g de mandioca descascada, em pedaços</a:t>
            </a:r>
            <a:endParaRPr lang="en-US" sz="1000" dirty="0"/>
          </a:p>
        </p:txBody>
      </p:sp>
      <p:sp>
        <p:nvSpPr>
          <p:cNvPr id="19" name="Shape 17"/>
          <p:cNvSpPr/>
          <p:nvPr/>
        </p:nvSpPr>
        <p:spPr>
          <a:xfrm>
            <a:off x="1006673" y="3484968"/>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3453854"/>
            <a:ext cx="2477988"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150 g de bacon em cubinhos (ou 200 g de cogumelos fatiados, na versão vegetariana)</a:t>
            </a:r>
            <a:endParaRPr lang="en-US" sz="1000" dirty="0"/>
          </a:p>
        </p:txBody>
      </p:sp>
      <p:sp>
        <p:nvSpPr>
          <p:cNvPr id="21" name="Shape 19"/>
          <p:cNvSpPr/>
          <p:nvPr/>
        </p:nvSpPr>
        <p:spPr>
          <a:xfrm>
            <a:off x="1006673" y="4084597"/>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053483"/>
            <a:ext cx="101858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picada</a:t>
            </a:r>
            <a:endParaRPr lang="en-US" sz="1000" dirty="0"/>
          </a:p>
        </p:txBody>
      </p:sp>
      <p:sp>
        <p:nvSpPr>
          <p:cNvPr id="23" name="Shape 21"/>
          <p:cNvSpPr/>
          <p:nvPr/>
        </p:nvSpPr>
        <p:spPr>
          <a:xfrm>
            <a:off x="1006673" y="4303523"/>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272409"/>
            <a:ext cx="16645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dentes de alho picados</a:t>
            </a:r>
            <a:endParaRPr lang="en-US" sz="1000" dirty="0"/>
          </a:p>
        </p:txBody>
      </p:sp>
      <p:sp>
        <p:nvSpPr>
          <p:cNvPr id="25" name="Shape 23"/>
          <p:cNvSpPr/>
          <p:nvPr/>
        </p:nvSpPr>
        <p:spPr>
          <a:xfrm>
            <a:off x="1006673" y="4522449"/>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491335"/>
            <a:ext cx="267950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gengibre fresco ralado</a:t>
            </a:r>
            <a:endParaRPr lang="en-US" sz="1000" dirty="0"/>
          </a:p>
        </p:txBody>
      </p:sp>
      <p:sp>
        <p:nvSpPr>
          <p:cNvPr id="27" name="Shape 25"/>
          <p:cNvSpPr/>
          <p:nvPr/>
        </p:nvSpPr>
        <p:spPr>
          <a:xfrm>
            <a:off x="1006673" y="4741375"/>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4710261"/>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1,2 litro de caldo de frango (capítulo 3) ou de legumes</a:t>
            </a:r>
            <a:endParaRPr lang="en-US" sz="1000" dirty="0"/>
          </a:p>
        </p:txBody>
      </p:sp>
      <p:sp>
        <p:nvSpPr>
          <p:cNvPr id="29" name="Shape 27"/>
          <p:cNvSpPr/>
          <p:nvPr/>
        </p:nvSpPr>
        <p:spPr>
          <a:xfrm>
            <a:off x="1006673" y="5150653"/>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119539"/>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Sal, pimenta-do-reino e algumas gotas de limão</a:t>
            </a:r>
            <a:endParaRPr lang="en-US" sz="1000" dirty="0"/>
          </a:p>
        </p:txBody>
      </p:sp>
      <p:sp>
        <p:nvSpPr>
          <p:cNvPr id="31" name="Shape 29"/>
          <p:cNvSpPr/>
          <p:nvPr/>
        </p:nvSpPr>
        <p:spPr>
          <a:xfrm>
            <a:off x="1006673" y="5559930"/>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5528816"/>
            <a:ext cx="256898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Cebolinha picada e azeite para finalizar</a:t>
            </a:r>
            <a:endParaRPr lang="en-US" sz="1000" dirty="0"/>
          </a:p>
        </p:txBody>
      </p:sp>
      <p:sp>
        <p:nvSpPr>
          <p:cNvPr id="33" name="Text 31"/>
          <p:cNvSpPr txBox="1"/>
          <p:nvPr/>
        </p:nvSpPr>
        <p:spPr>
          <a:xfrm>
            <a:off x="863798" y="5881092"/>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4" name="Shape 32"/>
          <p:cNvSpPr/>
          <p:nvPr/>
        </p:nvSpPr>
        <p:spPr>
          <a:xfrm>
            <a:off x="863798" y="6223992"/>
            <a:ext cx="190500" cy="190500"/>
          </a:xfrm>
          <a:prstGeom prst="ellipse">
            <a:avLst/>
          </a:prstGeom>
          <a:solidFill>
            <a:srgbClr val="2F4A22"/>
          </a:solidFill>
          <a:ln/>
        </p:spPr>
      </p:sp>
      <p:sp>
        <p:nvSpPr>
          <p:cNvPr id="35" name="Text 33"/>
          <p:cNvSpPr txBox="1"/>
          <p:nvPr/>
        </p:nvSpPr>
        <p:spPr>
          <a:xfrm>
            <a:off x="883295" y="6252567"/>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6" name="Text 34"/>
          <p:cNvSpPr txBox="1"/>
          <p:nvPr/>
        </p:nvSpPr>
        <p:spPr>
          <a:xfrm>
            <a:off x="1149548" y="6223992"/>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Numa panela, doure o bacon em fogo médio até ficar crocante. Retire com escumadeira e reserve, deixando a gordura na panela. (Na versão com cogumelos, doure-os em 1 colher de manteiga e reserve.)</a:t>
            </a:r>
            <a:endParaRPr lang="en-US" sz="1000" dirty="0"/>
          </a:p>
        </p:txBody>
      </p:sp>
      <p:sp>
        <p:nvSpPr>
          <p:cNvPr id="37" name="Shape 35"/>
          <p:cNvSpPr/>
          <p:nvPr/>
        </p:nvSpPr>
        <p:spPr>
          <a:xfrm>
            <a:off x="863798" y="6842671"/>
            <a:ext cx="190500" cy="190500"/>
          </a:xfrm>
          <a:prstGeom prst="ellipse">
            <a:avLst/>
          </a:prstGeom>
          <a:solidFill>
            <a:srgbClr val="2F4A22"/>
          </a:solidFill>
          <a:ln/>
        </p:spPr>
      </p:sp>
      <p:sp>
        <p:nvSpPr>
          <p:cNvPr id="38" name="Text 36"/>
          <p:cNvSpPr txBox="1"/>
          <p:nvPr/>
        </p:nvSpPr>
        <p:spPr>
          <a:xfrm>
            <a:off x="872579" y="6871246"/>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9" name="Text 37"/>
          <p:cNvSpPr txBox="1"/>
          <p:nvPr/>
        </p:nvSpPr>
        <p:spPr>
          <a:xfrm>
            <a:off x="1149548" y="6842671"/>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Na mesma panela, refogue a cebola até ficar transparente. Junte o alho e o gengibre e refogue por 1 minuto.</a:t>
            </a:r>
            <a:endParaRPr lang="en-US" sz="1000" dirty="0"/>
          </a:p>
        </p:txBody>
      </p:sp>
      <p:sp>
        <p:nvSpPr>
          <p:cNvPr id="40" name="Shape 38"/>
          <p:cNvSpPr/>
          <p:nvPr/>
        </p:nvSpPr>
        <p:spPr>
          <a:xfrm>
            <a:off x="863798" y="7270998"/>
            <a:ext cx="190500" cy="190500"/>
          </a:xfrm>
          <a:prstGeom prst="ellipse">
            <a:avLst/>
          </a:prstGeom>
          <a:solidFill>
            <a:srgbClr val="2F4A22"/>
          </a:solidFill>
          <a:ln/>
        </p:spPr>
      </p:sp>
      <p:sp>
        <p:nvSpPr>
          <p:cNvPr id="41" name="Text 39"/>
          <p:cNvSpPr txBox="1"/>
          <p:nvPr/>
        </p:nvSpPr>
        <p:spPr>
          <a:xfrm>
            <a:off x="871240" y="7299573"/>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2" name="Text 40"/>
          <p:cNvSpPr txBox="1"/>
          <p:nvPr/>
        </p:nvSpPr>
        <p:spPr>
          <a:xfrm>
            <a:off x="1149548" y="7270998"/>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Acrescente a mandioca e o caldo. Cozinhe tampado até a mandioca começar a desmanchar: 25 a 30 minutos na panela comum ou 12 minutos na pressão.</a:t>
            </a:r>
            <a:endParaRPr lang="en-US" sz="1000" dirty="0"/>
          </a:p>
        </p:txBody>
      </p:sp>
      <p:sp>
        <p:nvSpPr>
          <p:cNvPr id="43" name="Shape 41"/>
          <p:cNvSpPr/>
          <p:nvPr/>
        </p:nvSpPr>
        <p:spPr>
          <a:xfrm>
            <a:off x="863798" y="7699325"/>
            <a:ext cx="190500" cy="190500"/>
          </a:xfrm>
          <a:prstGeom prst="ellipse">
            <a:avLst/>
          </a:prstGeom>
          <a:solidFill>
            <a:srgbClr val="2F4A22"/>
          </a:solidFill>
          <a:ln/>
        </p:spPr>
      </p:sp>
      <p:sp>
        <p:nvSpPr>
          <p:cNvPr id="44" name="Text 42"/>
          <p:cNvSpPr txBox="1"/>
          <p:nvPr/>
        </p:nvSpPr>
        <p:spPr>
          <a:xfrm>
            <a:off x="868859" y="7727900"/>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5" name="Text 43"/>
          <p:cNvSpPr txBox="1"/>
          <p:nvPr/>
        </p:nvSpPr>
        <p:spPr>
          <a:xfrm>
            <a:off x="1149548" y="769932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Retire os fios centrais da mandioca. Bata no liquidificador, em levas e com a tampa entreaberta coberta por um pano (o vapor empurra a tampa). Bata só até ficar liso.</a:t>
            </a:r>
            <a:endParaRPr lang="en-US" sz="1000" dirty="0"/>
          </a:p>
        </p:txBody>
      </p:sp>
      <p:sp>
        <p:nvSpPr>
          <p:cNvPr id="46" name="Shape 44"/>
          <p:cNvSpPr/>
          <p:nvPr/>
        </p:nvSpPr>
        <p:spPr>
          <a:xfrm>
            <a:off x="863798" y="8127653"/>
            <a:ext cx="190500" cy="190500"/>
          </a:xfrm>
          <a:prstGeom prst="ellipse">
            <a:avLst/>
          </a:prstGeom>
          <a:solidFill>
            <a:srgbClr val="2F4A22"/>
          </a:solidFill>
          <a:ln/>
        </p:spPr>
      </p:sp>
      <p:sp>
        <p:nvSpPr>
          <p:cNvPr id="47" name="Text 45"/>
          <p:cNvSpPr txBox="1"/>
          <p:nvPr/>
        </p:nvSpPr>
        <p:spPr>
          <a:xfrm>
            <a:off x="870198" y="8156228"/>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8" name="Text 46"/>
          <p:cNvSpPr txBox="1"/>
          <p:nvPr/>
        </p:nvSpPr>
        <p:spPr>
          <a:xfrm>
            <a:off x="1149548" y="812765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Volte à panela, ajuste a consistência com mais caldo, se precisar, e tempere com sal, pimenta e gotas de limão.</a:t>
            </a:r>
            <a:endParaRPr lang="en-US" sz="1000" dirty="0"/>
          </a:p>
        </p:txBody>
      </p:sp>
      <p:sp>
        <p:nvSpPr>
          <p:cNvPr id="49" name="Shape 47"/>
          <p:cNvSpPr/>
          <p:nvPr/>
        </p:nvSpPr>
        <p:spPr>
          <a:xfrm>
            <a:off x="863798" y="8555980"/>
            <a:ext cx="190500" cy="190500"/>
          </a:xfrm>
          <a:prstGeom prst="ellipse">
            <a:avLst/>
          </a:prstGeom>
          <a:solidFill>
            <a:srgbClr val="2F4A22"/>
          </a:solidFill>
          <a:ln/>
        </p:spPr>
      </p:sp>
      <p:sp>
        <p:nvSpPr>
          <p:cNvPr id="50" name="Text 48"/>
          <p:cNvSpPr txBox="1"/>
          <p:nvPr/>
        </p:nvSpPr>
        <p:spPr>
          <a:xfrm>
            <a:off x="869603" y="8584555"/>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1" name="Text 49"/>
          <p:cNvSpPr txBox="1"/>
          <p:nvPr/>
        </p:nvSpPr>
        <p:spPr>
          <a:xfrm>
            <a:off x="1149548" y="8555980"/>
            <a:ext cx="56620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Sirva com o bacon (ou os cogumelos) crocante por cima, cebolinha e um fio de azeite.</a:t>
            </a:r>
            <a:endParaRPr lang="en-US" sz="1000" dirty="0"/>
          </a:p>
        </p:txBody>
      </p:sp>
      <p:sp>
        <p:nvSpPr>
          <p:cNvPr id="52" name="Shape 50"/>
          <p:cNvSpPr/>
          <p:nvPr/>
        </p:nvSpPr>
        <p:spPr>
          <a:xfrm>
            <a:off x="863798" y="8841730"/>
            <a:ext cx="5832277" cy="780604"/>
          </a:xfrm>
          <a:prstGeom prst="roundRect">
            <a:avLst>
              <a:gd name="adj" fmla="val 21609"/>
            </a:avLst>
          </a:prstGeom>
          <a:solidFill>
            <a:srgbClr val="2F4A22"/>
          </a:solidFill>
          <a:ln/>
        </p:spPr>
      </p:sp>
      <p:sp>
        <p:nvSpPr>
          <p:cNvPr id="53" name="Text 51"/>
          <p:cNvSpPr txBox="1"/>
          <p:nvPr/>
        </p:nvSpPr>
        <p:spPr>
          <a:xfrm>
            <a:off x="997148" y="8956030"/>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4" name="Text 52"/>
          <p:cNvSpPr txBox="1"/>
          <p:nvPr/>
        </p:nvSpPr>
        <p:spPr>
          <a:xfrm>
            <a:off x="2279749" y="8956030"/>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O gengibre e as gotas de limão no final são o que tiram o caldo do “pesado” e levam ao “aconchegante”. A crocância por cima faz contraste com o creme.</a:t>
            </a:r>
            <a:endParaRPr lang="en-US" sz="1000" dirty="0"/>
          </a:p>
        </p:txBody>
      </p:sp>
      <p:sp>
        <p:nvSpPr>
          <p:cNvPr id="55" name="Text 53"/>
          <p:cNvSpPr txBox="1"/>
          <p:nvPr/>
        </p:nvSpPr>
        <p:spPr>
          <a:xfrm>
            <a:off x="863798" y="9819233"/>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6" name="Text 54"/>
          <p:cNvSpPr txBox="1"/>
          <p:nvPr/>
        </p:nvSpPr>
        <p:spPr>
          <a:xfrm>
            <a:off x="6540550" y="9819233"/>
            <a:ext cx="26982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40</a:t>
            </a:r>
            <a:endParaRPr lang="en-US" sz="7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6436816"/>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348085"/>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03</a:t>
            </a:r>
            <a:endParaRPr lang="en-US" sz="750" dirty="0"/>
          </a:p>
        </p:txBody>
      </p:sp>
      <p:sp>
        <p:nvSpPr>
          <p:cNvPr id="4" name="Text 2"/>
          <p:cNvSpPr txBox="1"/>
          <p:nvPr/>
        </p:nvSpPr>
        <p:spPr>
          <a:xfrm>
            <a:off x="1043880" y="1651360"/>
            <a:ext cx="2515939"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BISCOITO DE MANDIOCA</a:t>
            </a:r>
            <a:endParaRPr lang="en-US" sz="3200" dirty="0"/>
          </a:p>
        </p:txBody>
      </p:sp>
      <p:sp>
        <p:nvSpPr>
          <p:cNvPr id="5" name="Text 3"/>
          <p:cNvSpPr txBox="1"/>
          <p:nvPr/>
        </p:nvSpPr>
        <p:spPr>
          <a:xfrm>
            <a:off x="1043880" y="3086844"/>
            <a:ext cx="2515939"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Biscoito de polvilho e mandioca de assadeira</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4-3.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2688729"/>
          </a:xfrm>
          <a:prstGeom prst="roundRect">
            <a:avLst>
              <a:gd name="adj" fmla="val 2277"/>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420652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mandioca cozida, sem os fios, amassada ainda quente</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153119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120 g de polvilho azedo</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302837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80 g de queijo meia-cura ou parmesão ralado</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398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ovo</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167354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óleo</a:t>
            </a:r>
            <a:endParaRPr lang="en-US" sz="1000" dirty="0"/>
          </a:p>
        </p:txBody>
      </p:sp>
      <p:sp>
        <p:nvSpPr>
          <p:cNvPr id="20" name="Shape 17"/>
          <p:cNvSpPr/>
          <p:nvPr/>
        </p:nvSpPr>
        <p:spPr>
          <a:xfrm>
            <a:off x="1403747" y="5891221"/>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5860107"/>
            <a:ext cx="161570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rasa de sal</a:t>
            </a:r>
            <a:endParaRPr lang="en-US" sz="1000" dirty="0"/>
          </a:p>
        </p:txBody>
      </p:sp>
      <p:sp>
        <p:nvSpPr>
          <p:cNvPr id="22" name="Shape 19"/>
          <p:cNvSpPr/>
          <p:nvPr/>
        </p:nvSpPr>
        <p:spPr>
          <a:xfrm>
            <a:off x="1403747" y="6110148"/>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079034"/>
            <a:ext cx="111147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Leite, se precisar</a:t>
            </a:r>
            <a:endParaRPr lang="en-US" sz="1000" dirty="0"/>
          </a:p>
        </p:txBody>
      </p:sp>
      <p:sp>
        <p:nvSpPr>
          <p:cNvPr id="24" name="Text 21"/>
          <p:cNvSpPr txBox="1"/>
          <p:nvPr/>
        </p:nvSpPr>
        <p:spPr>
          <a:xfrm>
            <a:off x="1403747" y="6355110"/>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267569"/>
            <a:ext cx="6696075" cy="8156674"/>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653927"/>
            <a:ext cx="2362462"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03 · MANDIOCA</a:t>
            </a:r>
            <a:endParaRPr lang="en-US" sz="750" dirty="0"/>
          </a:p>
        </p:txBody>
      </p:sp>
      <p:sp>
        <p:nvSpPr>
          <p:cNvPr id="4" name="Text 2"/>
          <p:cNvSpPr txBox="1"/>
          <p:nvPr/>
        </p:nvSpPr>
        <p:spPr>
          <a:xfrm>
            <a:off x="863798" y="1846078"/>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BISCOITO DE POLVILHO E MANDIOCA DE ASSADEIRA</a:t>
            </a:r>
            <a:endParaRPr lang="en-US" sz="2200" dirty="0"/>
          </a:p>
        </p:txBody>
      </p:sp>
      <p:sp>
        <p:nvSpPr>
          <p:cNvPr id="5" name="Text 3"/>
          <p:cNvSpPr txBox="1"/>
          <p:nvPr/>
        </p:nvSpPr>
        <p:spPr>
          <a:xfrm>
            <a:off x="863798" y="2574875"/>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SURPRESA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(rápido para o lanche da tarde)</a:t>
            </a:r>
            <a:endParaRPr lang="en-US" sz="800" dirty="0"/>
          </a:p>
        </p:txBody>
      </p:sp>
      <p:sp>
        <p:nvSpPr>
          <p:cNvPr id="6" name="Shape 4"/>
          <p:cNvSpPr/>
          <p:nvPr/>
        </p:nvSpPr>
        <p:spPr>
          <a:xfrm>
            <a:off x="863798" y="2849761"/>
            <a:ext cx="1893243" cy="422523"/>
          </a:xfrm>
          <a:prstGeom prst="roundRect">
            <a:avLst>
              <a:gd name="adj" fmla="val 55317"/>
            </a:avLst>
          </a:prstGeom>
          <a:solidFill>
            <a:srgbClr val="F8EED9"/>
          </a:solidFill>
          <a:ln/>
        </p:spPr>
      </p:sp>
      <p:sp>
        <p:nvSpPr>
          <p:cNvPr id="7" name="Text 5"/>
          <p:cNvSpPr txBox="1"/>
          <p:nvPr/>
        </p:nvSpPr>
        <p:spPr>
          <a:xfrm>
            <a:off x="968573" y="2916436"/>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3040707"/>
            <a:ext cx="5280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20 min</a:t>
            </a:r>
            <a:endParaRPr lang="en-US" sz="1000" dirty="0"/>
          </a:p>
        </p:txBody>
      </p:sp>
      <p:sp>
        <p:nvSpPr>
          <p:cNvPr id="9" name="Shape 7"/>
          <p:cNvSpPr/>
          <p:nvPr/>
        </p:nvSpPr>
        <p:spPr>
          <a:xfrm>
            <a:off x="2833241" y="2849761"/>
            <a:ext cx="1893243" cy="422523"/>
          </a:xfrm>
          <a:prstGeom prst="roundRect">
            <a:avLst>
              <a:gd name="adj" fmla="val 55317"/>
            </a:avLst>
          </a:prstGeom>
          <a:solidFill>
            <a:srgbClr val="F8EED9"/>
          </a:solidFill>
          <a:ln/>
        </p:spPr>
      </p:sp>
      <p:sp>
        <p:nvSpPr>
          <p:cNvPr id="10" name="Text 8"/>
          <p:cNvSpPr txBox="1"/>
          <p:nvPr/>
        </p:nvSpPr>
        <p:spPr>
          <a:xfrm>
            <a:off x="2938016" y="2916436"/>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3040707"/>
            <a:ext cx="5313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30 min</a:t>
            </a:r>
            <a:endParaRPr lang="en-US" sz="1000" dirty="0"/>
          </a:p>
        </p:txBody>
      </p:sp>
      <p:sp>
        <p:nvSpPr>
          <p:cNvPr id="12" name="Shape 10"/>
          <p:cNvSpPr/>
          <p:nvPr/>
        </p:nvSpPr>
        <p:spPr>
          <a:xfrm>
            <a:off x="4802684" y="2849761"/>
            <a:ext cx="1893243" cy="422523"/>
          </a:xfrm>
          <a:prstGeom prst="roundRect">
            <a:avLst>
              <a:gd name="adj" fmla="val 55317"/>
            </a:avLst>
          </a:prstGeom>
          <a:solidFill>
            <a:srgbClr val="F8EED9"/>
          </a:solidFill>
          <a:ln/>
        </p:spPr>
      </p:sp>
      <p:sp>
        <p:nvSpPr>
          <p:cNvPr id="13" name="Text 11"/>
          <p:cNvSpPr txBox="1"/>
          <p:nvPr/>
        </p:nvSpPr>
        <p:spPr>
          <a:xfrm>
            <a:off x="4907459" y="2916436"/>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3040707"/>
            <a:ext cx="14595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cerca de 30 biscoitos</a:t>
            </a:r>
            <a:endParaRPr lang="en-US" sz="1000" dirty="0"/>
          </a:p>
        </p:txBody>
      </p:sp>
      <p:sp>
        <p:nvSpPr>
          <p:cNvPr id="15" name="Shape 13"/>
          <p:cNvSpPr/>
          <p:nvPr/>
        </p:nvSpPr>
        <p:spPr>
          <a:xfrm>
            <a:off x="863798" y="3405634"/>
            <a:ext cx="5832277" cy="2322761"/>
          </a:xfrm>
          <a:prstGeom prst="roundRect">
            <a:avLst>
              <a:gd name="adj" fmla="val 2441"/>
            </a:avLst>
          </a:prstGeom>
          <a:solidFill>
            <a:srgbClr val="FBF4E4"/>
          </a:solidFill>
          <a:ln w="9525">
            <a:solidFill>
              <a:srgbClr val="EADFC6"/>
            </a:solidFill>
            <a:prstDash val="solid"/>
          </a:ln>
        </p:spPr>
      </p:sp>
      <p:sp>
        <p:nvSpPr>
          <p:cNvPr id="16" name="Text 14"/>
          <p:cNvSpPr txBox="1"/>
          <p:nvPr/>
        </p:nvSpPr>
        <p:spPr>
          <a:xfrm>
            <a:off x="1006673" y="3500884"/>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836798"/>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805684"/>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300 g de mandioca cozida, sem os fios, amassada ainda quente</a:t>
            </a:r>
            <a:endParaRPr lang="en-US" sz="1000" dirty="0"/>
          </a:p>
        </p:txBody>
      </p:sp>
      <p:sp>
        <p:nvSpPr>
          <p:cNvPr id="19" name="Shape 17"/>
          <p:cNvSpPr/>
          <p:nvPr/>
        </p:nvSpPr>
        <p:spPr>
          <a:xfrm>
            <a:off x="1006673" y="4246075"/>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4214961"/>
            <a:ext cx="153119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120 g de polvilho azedo</a:t>
            </a:r>
            <a:endParaRPr lang="en-US" sz="1000" dirty="0"/>
          </a:p>
        </p:txBody>
      </p:sp>
      <p:sp>
        <p:nvSpPr>
          <p:cNvPr id="21" name="Shape 19"/>
          <p:cNvSpPr/>
          <p:nvPr/>
        </p:nvSpPr>
        <p:spPr>
          <a:xfrm>
            <a:off x="1006673" y="4465001"/>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433888"/>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80 g de queijo meia-cura ou parmesão ralado</a:t>
            </a:r>
            <a:endParaRPr lang="en-US" sz="1000" dirty="0"/>
          </a:p>
        </p:txBody>
      </p:sp>
      <p:sp>
        <p:nvSpPr>
          <p:cNvPr id="23" name="Shape 21"/>
          <p:cNvSpPr/>
          <p:nvPr/>
        </p:nvSpPr>
        <p:spPr>
          <a:xfrm>
            <a:off x="1006673" y="4874279"/>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843165"/>
            <a:ext cx="398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ovo</a:t>
            </a:r>
            <a:endParaRPr lang="en-US" sz="1000" dirty="0"/>
          </a:p>
        </p:txBody>
      </p:sp>
      <p:sp>
        <p:nvSpPr>
          <p:cNvPr id="25" name="Shape 23"/>
          <p:cNvSpPr/>
          <p:nvPr/>
        </p:nvSpPr>
        <p:spPr>
          <a:xfrm>
            <a:off x="1006673" y="5093205"/>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5062091"/>
            <a:ext cx="167354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óleo</a:t>
            </a:r>
            <a:endParaRPr lang="en-US" sz="1000" dirty="0"/>
          </a:p>
        </p:txBody>
      </p:sp>
      <p:sp>
        <p:nvSpPr>
          <p:cNvPr id="27" name="Shape 25"/>
          <p:cNvSpPr/>
          <p:nvPr/>
        </p:nvSpPr>
        <p:spPr>
          <a:xfrm>
            <a:off x="1006673" y="5312131"/>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5281017"/>
            <a:ext cx="161570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rasa de sal</a:t>
            </a:r>
            <a:endParaRPr lang="en-US" sz="1000" dirty="0"/>
          </a:p>
        </p:txBody>
      </p:sp>
      <p:sp>
        <p:nvSpPr>
          <p:cNvPr id="29" name="Shape 27"/>
          <p:cNvSpPr/>
          <p:nvPr/>
        </p:nvSpPr>
        <p:spPr>
          <a:xfrm>
            <a:off x="1006673" y="5531057"/>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499943"/>
            <a:ext cx="111147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Leite, se precisar</a:t>
            </a:r>
            <a:endParaRPr lang="en-US" sz="1000" dirty="0"/>
          </a:p>
        </p:txBody>
      </p:sp>
      <p:sp>
        <p:nvSpPr>
          <p:cNvPr id="31" name="Text 29"/>
          <p:cNvSpPr txBox="1"/>
          <p:nvPr/>
        </p:nvSpPr>
        <p:spPr>
          <a:xfrm>
            <a:off x="863798" y="5852220"/>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2" name="Shape 30"/>
          <p:cNvSpPr/>
          <p:nvPr/>
        </p:nvSpPr>
        <p:spPr>
          <a:xfrm>
            <a:off x="863798" y="6195120"/>
            <a:ext cx="190500" cy="190500"/>
          </a:xfrm>
          <a:prstGeom prst="ellipse">
            <a:avLst/>
          </a:prstGeom>
          <a:solidFill>
            <a:srgbClr val="2F4A22"/>
          </a:solidFill>
          <a:ln/>
        </p:spPr>
      </p:sp>
      <p:sp>
        <p:nvSpPr>
          <p:cNvPr id="33" name="Text 31"/>
          <p:cNvSpPr txBox="1"/>
          <p:nvPr/>
        </p:nvSpPr>
        <p:spPr>
          <a:xfrm>
            <a:off x="883295" y="6223695"/>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4" name="Text 32"/>
          <p:cNvSpPr txBox="1"/>
          <p:nvPr/>
        </p:nvSpPr>
        <p:spPr>
          <a:xfrm>
            <a:off x="1149548" y="6195120"/>
            <a:ext cx="473942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Preaqueça o forno a 200 °C e forre uma assadeira com papel-manteiga.</a:t>
            </a:r>
            <a:endParaRPr lang="en-US" sz="1000" dirty="0"/>
          </a:p>
        </p:txBody>
      </p:sp>
      <p:sp>
        <p:nvSpPr>
          <p:cNvPr id="35" name="Shape 33"/>
          <p:cNvSpPr/>
          <p:nvPr/>
        </p:nvSpPr>
        <p:spPr>
          <a:xfrm>
            <a:off x="863798" y="6442770"/>
            <a:ext cx="190500" cy="190500"/>
          </a:xfrm>
          <a:prstGeom prst="ellipse">
            <a:avLst/>
          </a:prstGeom>
          <a:solidFill>
            <a:srgbClr val="2F4A22"/>
          </a:solidFill>
          <a:ln/>
        </p:spPr>
      </p:sp>
      <p:sp>
        <p:nvSpPr>
          <p:cNvPr id="36" name="Text 34"/>
          <p:cNvSpPr txBox="1"/>
          <p:nvPr/>
        </p:nvSpPr>
        <p:spPr>
          <a:xfrm>
            <a:off x="872579" y="6471345"/>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7" name="Text 35"/>
          <p:cNvSpPr txBox="1"/>
          <p:nvPr/>
        </p:nvSpPr>
        <p:spPr>
          <a:xfrm>
            <a:off x="1149548" y="6442770"/>
            <a:ext cx="566737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Amasse a mandioca ainda quente até virar um purê liso. Junte o óleo e o sal e misture.</a:t>
            </a:r>
            <a:endParaRPr lang="en-US" sz="1000" dirty="0"/>
          </a:p>
        </p:txBody>
      </p:sp>
      <p:sp>
        <p:nvSpPr>
          <p:cNvPr id="38" name="Shape 36"/>
          <p:cNvSpPr/>
          <p:nvPr/>
        </p:nvSpPr>
        <p:spPr>
          <a:xfrm>
            <a:off x="863798" y="6690420"/>
            <a:ext cx="190500" cy="190500"/>
          </a:xfrm>
          <a:prstGeom prst="ellipse">
            <a:avLst/>
          </a:prstGeom>
          <a:solidFill>
            <a:srgbClr val="2F4A22"/>
          </a:solidFill>
          <a:ln/>
        </p:spPr>
      </p:sp>
      <p:sp>
        <p:nvSpPr>
          <p:cNvPr id="39" name="Text 37"/>
          <p:cNvSpPr txBox="1"/>
          <p:nvPr/>
        </p:nvSpPr>
        <p:spPr>
          <a:xfrm>
            <a:off x="871240" y="6718995"/>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0" name="Text 38"/>
          <p:cNvSpPr txBox="1"/>
          <p:nvPr/>
        </p:nvSpPr>
        <p:spPr>
          <a:xfrm>
            <a:off x="1149548" y="669042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Acrescente o polvilho e misture bem (o calor da mandioca escalda o polvilho e deixa a massa elástica).</a:t>
            </a:r>
            <a:endParaRPr lang="en-US" sz="1000" dirty="0"/>
          </a:p>
        </p:txBody>
      </p:sp>
      <p:sp>
        <p:nvSpPr>
          <p:cNvPr id="41" name="Shape 39"/>
          <p:cNvSpPr/>
          <p:nvPr/>
        </p:nvSpPr>
        <p:spPr>
          <a:xfrm>
            <a:off x="863798" y="7118747"/>
            <a:ext cx="190500" cy="190500"/>
          </a:xfrm>
          <a:prstGeom prst="ellipse">
            <a:avLst/>
          </a:prstGeom>
          <a:solidFill>
            <a:srgbClr val="2F4A22"/>
          </a:solidFill>
          <a:ln/>
        </p:spPr>
      </p:sp>
      <p:sp>
        <p:nvSpPr>
          <p:cNvPr id="42" name="Text 40"/>
          <p:cNvSpPr txBox="1"/>
          <p:nvPr/>
        </p:nvSpPr>
        <p:spPr>
          <a:xfrm>
            <a:off x="868859" y="7147322"/>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3" name="Text 41"/>
          <p:cNvSpPr txBox="1"/>
          <p:nvPr/>
        </p:nvSpPr>
        <p:spPr>
          <a:xfrm>
            <a:off x="1149548" y="711874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Junte o ovo e o queijo e amasse até formar uma massa macia que não grude nas mãos. Se ficar seca, pingue leite, uma colher por vez.</a:t>
            </a:r>
            <a:endParaRPr lang="en-US" sz="1000" dirty="0"/>
          </a:p>
        </p:txBody>
      </p:sp>
      <p:sp>
        <p:nvSpPr>
          <p:cNvPr id="44" name="Shape 42"/>
          <p:cNvSpPr/>
          <p:nvPr/>
        </p:nvSpPr>
        <p:spPr>
          <a:xfrm>
            <a:off x="863798" y="7547074"/>
            <a:ext cx="190500" cy="190500"/>
          </a:xfrm>
          <a:prstGeom prst="ellipse">
            <a:avLst/>
          </a:prstGeom>
          <a:solidFill>
            <a:srgbClr val="2F4A22"/>
          </a:solidFill>
          <a:ln/>
        </p:spPr>
      </p:sp>
      <p:sp>
        <p:nvSpPr>
          <p:cNvPr id="45" name="Text 43"/>
          <p:cNvSpPr txBox="1"/>
          <p:nvPr/>
        </p:nvSpPr>
        <p:spPr>
          <a:xfrm>
            <a:off x="870198" y="7575649"/>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6" name="Text 44"/>
          <p:cNvSpPr txBox="1"/>
          <p:nvPr/>
        </p:nvSpPr>
        <p:spPr>
          <a:xfrm>
            <a:off x="1149548" y="7547074"/>
            <a:ext cx="553669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Modele palitos de 8 cm ou bolinhas e disponha na assadeira com espaço entre eles.</a:t>
            </a:r>
            <a:endParaRPr lang="en-US" sz="1000" dirty="0"/>
          </a:p>
        </p:txBody>
      </p:sp>
      <p:sp>
        <p:nvSpPr>
          <p:cNvPr id="47" name="Shape 45"/>
          <p:cNvSpPr/>
          <p:nvPr/>
        </p:nvSpPr>
        <p:spPr>
          <a:xfrm>
            <a:off x="863798" y="7794724"/>
            <a:ext cx="190500" cy="190500"/>
          </a:xfrm>
          <a:prstGeom prst="ellipse">
            <a:avLst/>
          </a:prstGeom>
          <a:solidFill>
            <a:srgbClr val="2F4A22"/>
          </a:solidFill>
          <a:ln/>
        </p:spPr>
      </p:sp>
      <p:sp>
        <p:nvSpPr>
          <p:cNvPr id="48" name="Text 46"/>
          <p:cNvSpPr txBox="1"/>
          <p:nvPr/>
        </p:nvSpPr>
        <p:spPr>
          <a:xfrm>
            <a:off x="869603" y="7823299"/>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49" name="Text 47"/>
          <p:cNvSpPr txBox="1"/>
          <p:nvPr/>
        </p:nvSpPr>
        <p:spPr>
          <a:xfrm>
            <a:off x="1149548" y="7794724"/>
            <a:ext cx="551969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Asse por 25 a 30 minutos, até dourarem. Não abra o forno nos primeiros 15 minutos.</a:t>
            </a:r>
            <a:endParaRPr lang="en-US" sz="1000" dirty="0"/>
          </a:p>
        </p:txBody>
      </p:sp>
      <p:sp>
        <p:nvSpPr>
          <p:cNvPr id="50" name="Shape 48"/>
          <p:cNvSpPr/>
          <p:nvPr/>
        </p:nvSpPr>
        <p:spPr>
          <a:xfrm>
            <a:off x="863798" y="8080474"/>
            <a:ext cx="5832277" cy="780604"/>
          </a:xfrm>
          <a:prstGeom prst="roundRect">
            <a:avLst>
              <a:gd name="adj" fmla="val 21609"/>
            </a:avLst>
          </a:prstGeom>
          <a:solidFill>
            <a:srgbClr val="2F4A22"/>
          </a:solidFill>
          <a:ln/>
        </p:spPr>
      </p:sp>
      <p:sp>
        <p:nvSpPr>
          <p:cNvPr id="51" name="Text 49"/>
          <p:cNvSpPr txBox="1"/>
          <p:nvPr/>
        </p:nvSpPr>
        <p:spPr>
          <a:xfrm>
            <a:off x="997148" y="8194774"/>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2" name="Text 50"/>
          <p:cNvSpPr txBox="1"/>
          <p:nvPr/>
        </p:nvSpPr>
        <p:spPr>
          <a:xfrm>
            <a:off x="2279749" y="8194774"/>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É um ótimo destino para a mandioca que sobrou do almoço. A massa crua pode ser congelada já modelada e assada direto do freezer (acrescente 5 a 10 minutos).</a:t>
            </a:r>
            <a:endParaRPr lang="en-US" sz="1000" dirty="0"/>
          </a:p>
        </p:txBody>
      </p:sp>
      <p:sp>
        <p:nvSpPr>
          <p:cNvPr id="53" name="Text 51"/>
          <p:cNvSpPr txBox="1"/>
          <p:nvPr/>
        </p:nvSpPr>
        <p:spPr>
          <a:xfrm>
            <a:off x="863798" y="905797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4" name="Text 52"/>
          <p:cNvSpPr txBox="1"/>
          <p:nvPr/>
        </p:nvSpPr>
        <p:spPr>
          <a:xfrm>
            <a:off x="6552605" y="9057977"/>
            <a:ext cx="257770"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42</a:t>
            </a:r>
            <a:endParaRPr lang="en-US" sz="7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442442"/>
            <a:ext cx="6696075" cy="7807077"/>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828800"/>
            <a:ext cx="2067092"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O PULO DO CHEF · MANDIOCA</a:t>
            </a:r>
            <a:endParaRPr lang="en-US" sz="750" dirty="0"/>
          </a:p>
        </p:txBody>
      </p:sp>
      <p:sp>
        <p:nvSpPr>
          <p:cNvPr id="4" name="Text 2"/>
          <p:cNvSpPr txBox="1"/>
          <p:nvPr/>
        </p:nvSpPr>
        <p:spPr>
          <a:xfrm>
            <a:off x="863798" y="2020951"/>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MANDIOCA QUE NÃO COZINHA (OU QUE DESMANCHA O RÖSTI)</a:t>
            </a:r>
            <a:endParaRPr lang="en-US" sz="2200" dirty="0"/>
          </a:p>
        </p:txBody>
      </p:sp>
      <p:sp>
        <p:nvSpPr>
          <p:cNvPr id="5" name="Text 3"/>
          <p:cNvSpPr txBox="1"/>
          <p:nvPr/>
        </p:nvSpPr>
        <p:spPr>
          <a:xfrm>
            <a:off x="863798" y="2816423"/>
            <a:ext cx="8712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 ERRO</a:t>
            </a:r>
            <a:endParaRPr lang="en-US" sz="1500" dirty="0"/>
          </a:p>
        </p:txBody>
      </p:sp>
      <p:sp>
        <p:nvSpPr>
          <p:cNvPr id="6" name="Text 4"/>
          <p:cNvSpPr txBox="1"/>
          <p:nvPr/>
        </p:nvSpPr>
        <p:spPr>
          <a:xfrm>
            <a:off x="863798" y="3159323"/>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Comprar sem critério, cortar em pedaços de tamanhos diferentes e insistir no fogo por horas. E, no rösti, ralar e levar direto para a frigideira, com toda a água da raiz.</a:t>
            </a:r>
            <a:endParaRPr lang="en-US" sz="1000" dirty="0"/>
          </a:p>
        </p:txBody>
      </p:sp>
      <p:sp>
        <p:nvSpPr>
          <p:cNvPr id="7" name="Text 5"/>
          <p:cNvSpPr txBox="1"/>
          <p:nvPr/>
        </p:nvSpPr>
        <p:spPr>
          <a:xfrm>
            <a:off x="863798" y="3730526"/>
            <a:ext cx="1202317"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 TÉCNICA</a:t>
            </a:r>
            <a:endParaRPr lang="en-US" sz="1500" dirty="0"/>
          </a:p>
        </p:txBody>
      </p:sp>
      <p:sp>
        <p:nvSpPr>
          <p:cNvPr id="8" name="Shape 6"/>
          <p:cNvSpPr/>
          <p:nvPr/>
        </p:nvSpPr>
        <p:spPr>
          <a:xfrm>
            <a:off x="863798" y="4073426"/>
            <a:ext cx="190500" cy="190500"/>
          </a:xfrm>
          <a:prstGeom prst="ellipse">
            <a:avLst/>
          </a:prstGeom>
          <a:solidFill>
            <a:srgbClr val="2F4A22"/>
          </a:solidFill>
          <a:ln/>
        </p:spPr>
      </p:sp>
      <p:sp>
        <p:nvSpPr>
          <p:cNvPr id="9" name="Text 7"/>
          <p:cNvSpPr txBox="1"/>
          <p:nvPr/>
        </p:nvSpPr>
        <p:spPr>
          <a:xfrm>
            <a:off x="883295" y="4102001"/>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10" name="Text 8"/>
          <p:cNvSpPr txBox="1"/>
          <p:nvPr/>
        </p:nvSpPr>
        <p:spPr>
          <a:xfrm>
            <a:off x="1149548" y="4073426"/>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Escolha bem: ponta que estala e polpa uniforme. Raiz velha ou fibrosa não amolece, não importa o tempo.</a:t>
            </a:r>
            <a:endParaRPr lang="en-US" sz="1000" dirty="0"/>
          </a:p>
        </p:txBody>
      </p:sp>
      <p:sp>
        <p:nvSpPr>
          <p:cNvPr id="11" name="Shape 9"/>
          <p:cNvSpPr/>
          <p:nvPr/>
        </p:nvSpPr>
        <p:spPr>
          <a:xfrm>
            <a:off x="863798" y="4501753"/>
            <a:ext cx="190500" cy="190500"/>
          </a:xfrm>
          <a:prstGeom prst="ellipse">
            <a:avLst/>
          </a:prstGeom>
          <a:solidFill>
            <a:srgbClr val="2F4A22"/>
          </a:solidFill>
          <a:ln/>
        </p:spPr>
      </p:sp>
      <p:sp>
        <p:nvSpPr>
          <p:cNvPr id="12" name="Text 10"/>
          <p:cNvSpPr txBox="1"/>
          <p:nvPr/>
        </p:nvSpPr>
        <p:spPr>
          <a:xfrm>
            <a:off x="872579" y="4530328"/>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13" name="Text 11"/>
          <p:cNvSpPr txBox="1"/>
          <p:nvPr/>
        </p:nvSpPr>
        <p:spPr>
          <a:xfrm>
            <a:off x="1149548" y="450175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Congele crua: os cristais de gelo rompem as fibras e ela cozinha mais rápido e fica mais macia.</a:t>
            </a:r>
            <a:endParaRPr lang="en-US" sz="1000" dirty="0"/>
          </a:p>
        </p:txBody>
      </p:sp>
      <p:sp>
        <p:nvSpPr>
          <p:cNvPr id="14" name="Shape 12"/>
          <p:cNvSpPr/>
          <p:nvPr/>
        </p:nvSpPr>
        <p:spPr>
          <a:xfrm>
            <a:off x="863798" y="4930080"/>
            <a:ext cx="190500" cy="190500"/>
          </a:xfrm>
          <a:prstGeom prst="ellipse">
            <a:avLst/>
          </a:prstGeom>
          <a:solidFill>
            <a:srgbClr val="2F4A22"/>
          </a:solidFill>
          <a:ln/>
        </p:spPr>
      </p:sp>
      <p:sp>
        <p:nvSpPr>
          <p:cNvPr id="15" name="Text 13"/>
          <p:cNvSpPr txBox="1"/>
          <p:nvPr/>
        </p:nvSpPr>
        <p:spPr>
          <a:xfrm>
            <a:off x="871240" y="4958655"/>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16" name="Text 14"/>
          <p:cNvSpPr txBox="1"/>
          <p:nvPr/>
        </p:nvSpPr>
        <p:spPr>
          <a:xfrm>
            <a:off x="1149548" y="4930080"/>
            <a:ext cx="388748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Pedaços iguais e panela de pressão quando a pressa bater.</a:t>
            </a:r>
            <a:endParaRPr lang="en-US" sz="1000" dirty="0"/>
          </a:p>
        </p:txBody>
      </p:sp>
      <p:sp>
        <p:nvSpPr>
          <p:cNvPr id="17" name="Shape 15"/>
          <p:cNvSpPr/>
          <p:nvPr/>
        </p:nvSpPr>
        <p:spPr>
          <a:xfrm>
            <a:off x="863798" y="5177730"/>
            <a:ext cx="190500" cy="190500"/>
          </a:xfrm>
          <a:prstGeom prst="ellipse">
            <a:avLst/>
          </a:prstGeom>
          <a:solidFill>
            <a:srgbClr val="2F4A22"/>
          </a:solidFill>
          <a:ln/>
        </p:spPr>
      </p:sp>
      <p:sp>
        <p:nvSpPr>
          <p:cNvPr id="18" name="Text 16"/>
          <p:cNvSpPr txBox="1"/>
          <p:nvPr/>
        </p:nvSpPr>
        <p:spPr>
          <a:xfrm>
            <a:off x="868859" y="5206305"/>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19" name="Text 17"/>
          <p:cNvSpPr txBox="1"/>
          <p:nvPr/>
        </p:nvSpPr>
        <p:spPr>
          <a:xfrm>
            <a:off x="1149548" y="517773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Esprema a mandioca ralada no pano: menos água, mais crocância e um rösti que não desmancha.</a:t>
            </a:r>
            <a:endParaRPr lang="en-US" sz="1000" dirty="0"/>
          </a:p>
        </p:txBody>
      </p:sp>
      <p:sp>
        <p:nvSpPr>
          <p:cNvPr id="20" name="Shape 18"/>
          <p:cNvSpPr/>
          <p:nvPr/>
        </p:nvSpPr>
        <p:spPr>
          <a:xfrm>
            <a:off x="863798" y="5606058"/>
            <a:ext cx="190500" cy="190500"/>
          </a:xfrm>
          <a:prstGeom prst="ellipse">
            <a:avLst/>
          </a:prstGeom>
          <a:solidFill>
            <a:srgbClr val="2F4A22"/>
          </a:solidFill>
          <a:ln/>
        </p:spPr>
      </p:sp>
      <p:sp>
        <p:nvSpPr>
          <p:cNvPr id="21" name="Text 19"/>
          <p:cNvSpPr txBox="1"/>
          <p:nvPr/>
        </p:nvSpPr>
        <p:spPr>
          <a:xfrm>
            <a:off x="870198" y="5634633"/>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22" name="Text 20"/>
          <p:cNvSpPr txBox="1"/>
          <p:nvPr/>
        </p:nvSpPr>
        <p:spPr>
          <a:xfrm>
            <a:off x="1149548" y="5606058"/>
            <a:ext cx="440738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Não amoleceu? Não jogue fora: ela ainda serve para o caldo batido.</a:t>
            </a:r>
            <a:endParaRPr lang="en-US" sz="1000" dirty="0"/>
          </a:p>
        </p:txBody>
      </p:sp>
      <p:sp>
        <p:nvSpPr>
          <p:cNvPr id="23" name="Text 21"/>
          <p:cNvSpPr txBox="1"/>
          <p:nvPr/>
        </p:nvSpPr>
        <p:spPr>
          <a:xfrm>
            <a:off x="863798" y="5996583"/>
            <a:ext cx="17003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NÃO TEM ISSO?</a:t>
            </a:r>
            <a:endParaRPr lang="en-US" sz="1500" dirty="0"/>
          </a:p>
        </p:txBody>
      </p:sp>
      <p:sp>
        <p:nvSpPr>
          <p:cNvPr id="24" name="Shape 22"/>
          <p:cNvSpPr/>
          <p:nvPr/>
        </p:nvSpPr>
        <p:spPr>
          <a:xfrm>
            <a:off x="863798" y="6329958"/>
            <a:ext cx="5832277" cy="2356396"/>
          </a:xfrm>
          <a:prstGeom prst="roundRect">
            <a:avLst>
              <a:gd name="adj" fmla="val 1779"/>
            </a:avLst>
          </a:prstGeom>
          <a:ln w="9525">
            <a:solidFill>
              <a:srgbClr val="EADFC6"/>
            </a:solidFill>
            <a:prstDash val="solid"/>
          </a:ln>
        </p:spPr>
      </p:sp>
      <p:sp>
        <p:nvSpPr>
          <p:cNvPr id="25" name="Shape 23"/>
          <p:cNvSpPr/>
          <p:nvPr/>
        </p:nvSpPr>
        <p:spPr>
          <a:xfrm>
            <a:off x="873323" y="6339483"/>
            <a:ext cx="1976437" cy="261937"/>
          </a:xfrm>
          <a:prstGeom prst="rect">
            <a:avLst/>
          </a:prstGeom>
          <a:solidFill>
            <a:srgbClr val="2F4A22"/>
          </a:solidFill>
          <a:ln/>
        </p:spPr>
      </p:sp>
      <p:sp>
        <p:nvSpPr>
          <p:cNvPr id="26" name="Text 24"/>
          <p:cNvSpPr txBox="1"/>
          <p:nvPr/>
        </p:nvSpPr>
        <p:spPr>
          <a:xfrm>
            <a:off x="978098" y="6406158"/>
            <a:ext cx="948184"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SE NÃO TIVER…</a:t>
            </a:r>
            <a:endParaRPr lang="en-US" sz="720" dirty="0"/>
          </a:p>
        </p:txBody>
      </p:sp>
      <p:sp>
        <p:nvSpPr>
          <p:cNvPr id="27" name="Shape 25"/>
          <p:cNvSpPr/>
          <p:nvPr/>
        </p:nvSpPr>
        <p:spPr>
          <a:xfrm>
            <a:off x="2849761" y="6339483"/>
            <a:ext cx="3836789" cy="261937"/>
          </a:xfrm>
          <a:prstGeom prst="rect">
            <a:avLst/>
          </a:prstGeom>
          <a:solidFill>
            <a:srgbClr val="2F4A22"/>
          </a:solidFill>
          <a:ln/>
        </p:spPr>
      </p:sp>
      <p:sp>
        <p:nvSpPr>
          <p:cNvPr id="28" name="Text 26"/>
          <p:cNvSpPr txBox="1"/>
          <p:nvPr/>
        </p:nvSpPr>
        <p:spPr>
          <a:xfrm>
            <a:off x="2954536" y="6406158"/>
            <a:ext cx="399008"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USE…</a:t>
            </a:r>
            <a:endParaRPr lang="en-US" sz="720" dirty="0"/>
          </a:p>
        </p:txBody>
      </p:sp>
      <p:sp>
        <p:nvSpPr>
          <p:cNvPr id="29" name="Shape 27"/>
          <p:cNvSpPr/>
          <p:nvPr/>
        </p:nvSpPr>
        <p:spPr>
          <a:xfrm>
            <a:off x="873323" y="6601420"/>
            <a:ext cx="1976437" cy="0"/>
          </a:xfrm>
          <a:prstGeom prst="line">
            <a:avLst/>
          </a:prstGeom>
          <a:noFill/>
          <a:ln w="9525">
            <a:solidFill>
              <a:srgbClr val="EADFC6"/>
            </a:solidFill>
            <a:prstDash val="solid"/>
          </a:ln>
        </p:spPr>
      </p:sp>
      <p:sp>
        <p:nvSpPr>
          <p:cNvPr id="30" name="Text 28"/>
          <p:cNvSpPr txBox="1"/>
          <p:nvPr/>
        </p:nvSpPr>
        <p:spPr>
          <a:xfrm>
            <a:off x="978098" y="6668095"/>
            <a:ext cx="1184981"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Mandioca fresca</a:t>
            </a:r>
            <a:endParaRPr lang="en-US" sz="1050" dirty="0"/>
          </a:p>
        </p:txBody>
      </p:sp>
      <p:sp>
        <p:nvSpPr>
          <p:cNvPr id="31" name="Shape 29"/>
          <p:cNvSpPr/>
          <p:nvPr/>
        </p:nvSpPr>
        <p:spPr>
          <a:xfrm>
            <a:off x="2849761" y="6601420"/>
            <a:ext cx="3836789" cy="0"/>
          </a:xfrm>
          <a:prstGeom prst="line">
            <a:avLst/>
          </a:prstGeom>
          <a:noFill/>
          <a:ln w="9525">
            <a:solidFill>
              <a:srgbClr val="EADFC6"/>
            </a:solidFill>
            <a:prstDash val="solid"/>
          </a:ln>
        </p:spPr>
      </p:sp>
      <p:sp>
        <p:nvSpPr>
          <p:cNvPr id="32" name="Text 30"/>
          <p:cNvSpPr txBox="1"/>
          <p:nvPr/>
        </p:nvSpPr>
        <p:spPr>
          <a:xfrm>
            <a:off x="2954536" y="6677620"/>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Mandioca congelada já descascada (funciona muito bem nas três receitas).</a:t>
            </a:r>
            <a:endParaRPr lang="en-US" sz="1000" dirty="0"/>
          </a:p>
        </p:txBody>
      </p:sp>
      <p:sp>
        <p:nvSpPr>
          <p:cNvPr id="33" name="Shape 31"/>
          <p:cNvSpPr/>
          <p:nvPr/>
        </p:nvSpPr>
        <p:spPr>
          <a:xfrm>
            <a:off x="873323" y="7105948"/>
            <a:ext cx="1976437" cy="314176"/>
          </a:xfrm>
          <a:prstGeom prst="rect">
            <a:avLst/>
          </a:prstGeom>
          <a:solidFill>
            <a:srgbClr val="FBF4E4"/>
          </a:solidFill>
          <a:ln/>
        </p:spPr>
      </p:sp>
      <p:sp>
        <p:nvSpPr>
          <p:cNvPr id="34" name="Shape 32"/>
          <p:cNvSpPr/>
          <p:nvPr/>
        </p:nvSpPr>
        <p:spPr>
          <a:xfrm>
            <a:off x="873323" y="7105948"/>
            <a:ext cx="1976437" cy="0"/>
          </a:xfrm>
          <a:prstGeom prst="line">
            <a:avLst/>
          </a:prstGeom>
          <a:noFill/>
          <a:ln w="9525">
            <a:solidFill>
              <a:srgbClr val="EADFC6"/>
            </a:solidFill>
            <a:prstDash val="solid"/>
          </a:ln>
        </p:spPr>
      </p:sp>
      <p:sp>
        <p:nvSpPr>
          <p:cNvPr id="35" name="Text 33"/>
          <p:cNvSpPr txBox="1"/>
          <p:nvPr/>
        </p:nvSpPr>
        <p:spPr>
          <a:xfrm>
            <a:off x="978098" y="7172623"/>
            <a:ext cx="517922"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Bacon</a:t>
            </a:r>
            <a:endParaRPr lang="en-US" sz="1050" dirty="0"/>
          </a:p>
        </p:txBody>
      </p:sp>
      <p:sp>
        <p:nvSpPr>
          <p:cNvPr id="36" name="Shape 34"/>
          <p:cNvSpPr/>
          <p:nvPr/>
        </p:nvSpPr>
        <p:spPr>
          <a:xfrm>
            <a:off x="2849761" y="7105948"/>
            <a:ext cx="3836789" cy="314176"/>
          </a:xfrm>
          <a:prstGeom prst="rect">
            <a:avLst/>
          </a:prstGeom>
          <a:solidFill>
            <a:srgbClr val="FBF4E4"/>
          </a:solidFill>
          <a:ln/>
        </p:spPr>
      </p:sp>
      <p:sp>
        <p:nvSpPr>
          <p:cNvPr id="37" name="Shape 35"/>
          <p:cNvSpPr/>
          <p:nvPr/>
        </p:nvSpPr>
        <p:spPr>
          <a:xfrm>
            <a:off x="2849761" y="7105948"/>
            <a:ext cx="3836789" cy="0"/>
          </a:xfrm>
          <a:prstGeom prst="line">
            <a:avLst/>
          </a:prstGeom>
          <a:noFill/>
          <a:ln w="9525">
            <a:solidFill>
              <a:srgbClr val="EADFC6"/>
            </a:solidFill>
            <a:prstDash val="solid"/>
          </a:ln>
        </p:spPr>
      </p:sp>
      <p:sp>
        <p:nvSpPr>
          <p:cNvPr id="38" name="Text 36"/>
          <p:cNvSpPr txBox="1"/>
          <p:nvPr/>
        </p:nvSpPr>
        <p:spPr>
          <a:xfrm>
            <a:off x="2954536" y="7182148"/>
            <a:ext cx="37618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Linguiça calabresa em cubinhos ou cogumelos dourados.</a:t>
            </a:r>
            <a:endParaRPr lang="en-US" sz="1000" dirty="0"/>
          </a:p>
        </p:txBody>
      </p:sp>
      <p:sp>
        <p:nvSpPr>
          <p:cNvPr id="39" name="Shape 37"/>
          <p:cNvSpPr/>
          <p:nvPr/>
        </p:nvSpPr>
        <p:spPr>
          <a:xfrm>
            <a:off x="873323" y="7420124"/>
            <a:ext cx="1976437" cy="0"/>
          </a:xfrm>
          <a:prstGeom prst="line">
            <a:avLst/>
          </a:prstGeom>
          <a:noFill/>
          <a:ln w="9525">
            <a:solidFill>
              <a:srgbClr val="EADFC6"/>
            </a:solidFill>
            <a:prstDash val="solid"/>
          </a:ln>
        </p:spPr>
      </p:sp>
      <p:sp>
        <p:nvSpPr>
          <p:cNvPr id="40" name="Text 38"/>
          <p:cNvSpPr txBox="1"/>
          <p:nvPr/>
        </p:nvSpPr>
        <p:spPr>
          <a:xfrm>
            <a:off x="978098" y="7486799"/>
            <a:ext cx="1053703"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Polvilho azedo</a:t>
            </a:r>
            <a:endParaRPr lang="en-US" sz="1050" dirty="0"/>
          </a:p>
        </p:txBody>
      </p:sp>
      <p:sp>
        <p:nvSpPr>
          <p:cNvPr id="41" name="Shape 39"/>
          <p:cNvSpPr/>
          <p:nvPr/>
        </p:nvSpPr>
        <p:spPr>
          <a:xfrm>
            <a:off x="2849761" y="7420124"/>
            <a:ext cx="3836789" cy="0"/>
          </a:xfrm>
          <a:prstGeom prst="line">
            <a:avLst/>
          </a:prstGeom>
          <a:noFill/>
          <a:ln w="9525">
            <a:solidFill>
              <a:srgbClr val="EADFC6"/>
            </a:solidFill>
            <a:prstDash val="solid"/>
          </a:ln>
        </p:spPr>
      </p:sp>
      <p:sp>
        <p:nvSpPr>
          <p:cNvPr id="42" name="Text 40"/>
          <p:cNvSpPr txBox="1"/>
          <p:nvPr/>
        </p:nvSpPr>
        <p:spPr>
          <a:xfrm>
            <a:off x="2954536" y="7496324"/>
            <a:ext cx="385548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Polvilho doce (o biscoito fica menos aerado e mais macio).</a:t>
            </a:r>
            <a:endParaRPr lang="en-US" sz="1000" dirty="0"/>
          </a:p>
        </p:txBody>
      </p:sp>
      <p:sp>
        <p:nvSpPr>
          <p:cNvPr id="43" name="Shape 41"/>
          <p:cNvSpPr/>
          <p:nvPr/>
        </p:nvSpPr>
        <p:spPr>
          <a:xfrm>
            <a:off x="873323" y="7734300"/>
            <a:ext cx="1976437" cy="314176"/>
          </a:xfrm>
          <a:prstGeom prst="rect">
            <a:avLst/>
          </a:prstGeom>
          <a:solidFill>
            <a:srgbClr val="FBF4E4"/>
          </a:solidFill>
          <a:ln/>
        </p:spPr>
      </p:sp>
      <p:sp>
        <p:nvSpPr>
          <p:cNvPr id="44" name="Shape 42"/>
          <p:cNvSpPr/>
          <p:nvPr/>
        </p:nvSpPr>
        <p:spPr>
          <a:xfrm>
            <a:off x="873323" y="7734300"/>
            <a:ext cx="1976437" cy="0"/>
          </a:xfrm>
          <a:prstGeom prst="line">
            <a:avLst/>
          </a:prstGeom>
          <a:noFill/>
          <a:ln w="9525">
            <a:solidFill>
              <a:srgbClr val="EADFC6"/>
            </a:solidFill>
            <a:prstDash val="solid"/>
          </a:ln>
        </p:spPr>
      </p:sp>
      <p:sp>
        <p:nvSpPr>
          <p:cNvPr id="45" name="Text 43"/>
          <p:cNvSpPr txBox="1"/>
          <p:nvPr/>
        </p:nvSpPr>
        <p:spPr>
          <a:xfrm>
            <a:off x="978098" y="7800975"/>
            <a:ext cx="1249823"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Queijo meia-cura</a:t>
            </a:r>
            <a:endParaRPr lang="en-US" sz="1050" dirty="0"/>
          </a:p>
        </p:txBody>
      </p:sp>
      <p:sp>
        <p:nvSpPr>
          <p:cNvPr id="46" name="Shape 44"/>
          <p:cNvSpPr/>
          <p:nvPr/>
        </p:nvSpPr>
        <p:spPr>
          <a:xfrm>
            <a:off x="2849761" y="7734300"/>
            <a:ext cx="3836789" cy="314176"/>
          </a:xfrm>
          <a:prstGeom prst="rect">
            <a:avLst/>
          </a:prstGeom>
          <a:solidFill>
            <a:srgbClr val="FBF4E4"/>
          </a:solidFill>
          <a:ln/>
        </p:spPr>
      </p:sp>
      <p:sp>
        <p:nvSpPr>
          <p:cNvPr id="47" name="Shape 45"/>
          <p:cNvSpPr/>
          <p:nvPr/>
        </p:nvSpPr>
        <p:spPr>
          <a:xfrm>
            <a:off x="2849761" y="7734300"/>
            <a:ext cx="3836789" cy="0"/>
          </a:xfrm>
          <a:prstGeom prst="line">
            <a:avLst/>
          </a:prstGeom>
          <a:noFill/>
          <a:ln w="9525">
            <a:solidFill>
              <a:srgbClr val="EADFC6"/>
            </a:solidFill>
            <a:prstDash val="solid"/>
          </a:ln>
        </p:spPr>
      </p:sp>
      <p:sp>
        <p:nvSpPr>
          <p:cNvPr id="48" name="Text 46"/>
          <p:cNvSpPr txBox="1"/>
          <p:nvPr/>
        </p:nvSpPr>
        <p:spPr>
          <a:xfrm>
            <a:off x="2954536" y="7810500"/>
            <a:ext cx="193307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Parmesão ou queijo canastra.</a:t>
            </a:r>
            <a:endParaRPr lang="en-US" sz="1000" dirty="0"/>
          </a:p>
        </p:txBody>
      </p:sp>
      <p:sp>
        <p:nvSpPr>
          <p:cNvPr id="49" name="Shape 47"/>
          <p:cNvSpPr/>
          <p:nvPr/>
        </p:nvSpPr>
        <p:spPr>
          <a:xfrm>
            <a:off x="873323" y="8048476"/>
            <a:ext cx="1976437" cy="0"/>
          </a:xfrm>
          <a:prstGeom prst="line">
            <a:avLst/>
          </a:prstGeom>
          <a:noFill/>
          <a:ln w="9525">
            <a:solidFill>
              <a:srgbClr val="EADFC6"/>
            </a:solidFill>
            <a:prstDash val="solid"/>
          </a:ln>
        </p:spPr>
      </p:sp>
      <p:sp>
        <p:nvSpPr>
          <p:cNvPr id="50" name="Text 48"/>
          <p:cNvSpPr txBox="1"/>
          <p:nvPr/>
        </p:nvSpPr>
        <p:spPr>
          <a:xfrm>
            <a:off x="978098" y="8115151"/>
            <a:ext cx="1146810"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Gengibre fresco</a:t>
            </a:r>
            <a:endParaRPr lang="en-US" sz="1050" dirty="0"/>
          </a:p>
        </p:txBody>
      </p:sp>
      <p:sp>
        <p:nvSpPr>
          <p:cNvPr id="51" name="Shape 49"/>
          <p:cNvSpPr/>
          <p:nvPr/>
        </p:nvSpPr>
        <p:spPr>
          <a:xfrm>
            <a:off x="2849761" y="8048476"/>
            <a:ext cx="3836789" cy="0"/>
          </a:xfrm>
          <a:prstGeom prst="line">
            <a:avLst/>
          </a:prstGeom>
          <a:noFill/>
          <a:ln w="9525">
            <a:solidFill>
              <a:srgbClr val="EADFC6"/>
            </a:solidFill>
            <a:prstDash val="solid"/>
          </a:ln>
        </p:spPr>
      </p:sp>
      <p:sp>
        <p:nvSpPr>
          <p:cNvPr id="52" name="Text 50"/>
          <p:cNvSpPr txBox="1"/>
          <p:nvPr/>
        </p:nvSpPr>
        <p:spPr>
          <a:xfrm>
            <a:off x="2954536" y="8124676"/>
            <a:ext cx="339792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Pimenta-do-reino moída na hora e raspas de limão.</a:t>
            </a:r>
            <a:endParaRPr lang="en-US" sz="1000" dirty="0"/>
          </a:p>
        </p:txBody>
      </p:sp>
      <p:sp>
        <p:nvSpPr>
          <p:cNvPr id="53" name="Shape 51"/>
          <p:cNvSpPr/>
          <p:nvPr/>
        </p:nvSpPr>
        <p:spPr>
          <a:xfrm>
            <a:off x="873323" y="8362652"/>
            <a:ext cx="1976437" cy="314176"/>
          </a:xfrm>
          <a:prstGeom prst="rect">
            <a:avLst/>
          </a:prstGeom>
          <a:solidFill>
            <a:srgbClr val="FBF4E4"/>
          </a:solidFill>
          <a:ln/>
        </p:spPr>
      </p:sp>
      <p:sp>
        <p:nvSpPr>
          <p:cNvPr id="54" name="Shape 52"/>
          <p:cNvSpPr/>
          <p:nvPr/>
        </p:nvSpPr>
        <p:spPr>
          <a:xfrm>
            <a:off x="873323" y="8362652"/>
            <a:ext cx="1976437" cy="0"/>
          </a:xfrm>
          <a:prstGeom prst="line">
            <a:avLst/>
          </a:prstGeom>
          <a:noFill/>
          <a:ln w="9525">
            <a:solidFill>
              <a:srgbClr val="EADFC6"/>
            </a:solidFill>
            <a:prstDash val="solid"/>
          </a:ln>
        </p:spPr>
      </p:sp>
      <p:sp>
        <p:nvSpPr>
          <p:cNvPr id="55" name="Text 53"/>
          <p:cNvSpPr txBox="1"/>
          <p:nvPr/>
        </p:nvSpPr>
        <p:spPr>
          <a:xfrm>
            <a:off x="978098" y="8429327"/>
            <a:ext cx="838051"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Carne-seca</a:t>
            </a:r>
            <a:endParaRPr lang="en-US" sz="1050" dirty="0"/>
          </a:p>
        </p:txBody>
      </p:sp>
      <p:sp>
        <p:nvSpPr>
          <p:cNvPr id="56" name="Shape 54"/>
          <p:cNvSpPr/>
          <p:nvPr/>
        </p:nvSpPr>
        <p:spPr>
          <a:xfrm>
            <a:off x="2849761" y="8362652"/>
            <a:ext cx="3836789" cy="314176"/>
          </a:xfrm>
          <a:prstGeom prst="rect">
            <a:avLst/>
          </a:prstGeom>
          <a:solidFill>
            <a:srgbClr val="FBF4E4"/>
          </a:solidFill>
          <a:ln/>
        </p:spPr>
      </p:sp>
      <p:sp>
        <p:nvSpPr>
          <p:cNvPr id="57" name="Shape 55"/>
          <p:cNvSpPr/>
          <p:nvPr/>
        </p:nvSpPr>
        <p:spPr>
          <a:xfrm>
            <a:off x="2849761" y="8362652"/>
            <a:ext cx="3836789" cy="0"/>
          </a:xfrm>
          <a:prstGeom prst="line">
            <a:avLst/>
          </a:prstGeom>
          <a:noFill/>
          <a:ln w="9525">
            <a:solidFill>
              <a:srgbClr val="EADFC6"/>
            </a:solidFill>
            <a:prstDash val="solid"/>
          </a:ln>
        </p:spPr>
      </p:sp>
      <p:sp>
        <p:nvSpPr>
          <p:cNvPr id="58" name="Text 56"/>
          <p:cNvSpPr txBox="1"/>
          <p:nvPr/>
        </p:nvSpPr>
        <p:spPr>
          <a:xfrm>
            <a:off x="2954536" y="8438852"/>
            <a:ext cx="324023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Frango desfiado (capítulo 3) ou linguiça refogada.</a:t>
            </a:r>
            <a:endParaRPr lang="en-US" sz="1000" dirty="0"/>
          </a:p>
        </p:txBody>
      </p:sp>
      <p:sp>
        <p:nvSpPr>
          <p:cNvPr id="59" name="Text 57"/>
          <p:cNvSpPr txBox="1"/>
          <p:nvPr/>
        </p:nvSpPr>
        <p:spPr>
          <a:xfrm>
            <a:off x="863798" y="8883253"/>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0" name="Text 58"/>
          <p:cNvSpPr txBox="1"/>
          <p:nvPr/>
        </p:nvSpPr>
        <p:spPr>
          <a:xfrm>
            <a:off x="6550223" y="8883253"/>
            <a:ext cx="260152"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43</a:t>
            </a:r>
            <a:endParaRPr lang="en-US" sz="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2843808"/>
            <a:ext cx="6696075" cy="5004346"/>
          </a:xfrm>
          <a:prstGeom prst="roundRect">
            <a:avLst>
              <a:gd name="adj" fmla="val 65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230166"/>
            <a:ext cx="2676335"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APROVEITA ISSO TAMBÉM · MANDIOCA</a:t>
            </a:r>
            <a:endParaRPr lang="en-US" sz="750" dirty="0"/>
          </a:p>
        </p:txBody>
      </p:sp>
      <p:sp>
        <p:nvSpPr>
          <p:cNvPr id="4" name="Text 2"/>
          <p:cNvSpPr txBox="1"/>
          <p:nvPr/>
        </p:nvSpPr>
        <p:spPr>
          <a:xfrm>
            <a:off x="863798" y="3410510"/>
            <a:ext cx="3681460"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NADA VAI PARA O LIXO</a:t>
            </a:r>
            <a:endParaRPr lang="en-US" sz="2200" dirty="0"/>
          </a:p>
        </p:txBody>
      </p:sp>
      <p:sp>
        <p:nvSpPr>
          <p:cNvPr id="5" name="Shape 3"/>
          <p:cNvSpPr/>
          <p:nvPr/>
        </p:nvSpPr>
        <p:spPr>
          <a:xfrm>
            <a:off x="4896148" y="3914477"/>
            <a:ext cx="1799927" cy="1799927"/>
          </a:xfrm>
          <a:prstGeom prst="ellipse">
            <a:avLst/>
          </a:prstGeom>
          <a:solidFill>
            <a:srgbClr val="FFFFFF"/>
          </a:solidFill>
          <a:ln/>
        </p:spPr>
      </p:sp>
      <p:pic>
        <p:nvPicPr>
          <p:cNvPr id="6" name="Image 0" descr="/home/user/ebook-receitas/versoes/VERSAO ESTAMPAS/fotos/aproveita4.jpg">    </p:cNvPr>
          <p:cNvPicPr>
            <a:picLocks noChangeAspect="1"/>
          </p:cNvPicPr>
          <p:nvPr/>
        </p:nvPicPr>
        <p:blipFill>
          <a:blip r:embed="rId2"/>
          <a:srcRect l="0" r="0" t="0" b="0"/>
          <a:stretch/>
        </p:blipFill>
        <p:spPr>
          <a:xfrm>
            <a:off x="4972348" y="3990677"/>
            <a:ext cx="1647527" cy="1647527"/>
          </a:xfrm>
          <a:prstGeom prst="ellipse">
            <a:avLst/>
          </a:prstGeom>
        </p:spPr>
      </p:pic>
      <p:sp>
        <p:nvSpPr>
          <p:cNvPr id="7" name="Text 4"/>
          <p:cNvSpPr txBox="1"/>
          <p:nvPr/>
        </p:nvSpPr>
        <p:spPr>
          <a:xfrm>
            <a:off x="863798" y="3943052"/>
            <a:ext cx="4307372"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ÁGUA DO COZIMENTO, RICA EM AMIDO</a:t>
            </a:r>
            <a:endParaRPr lang="en-US" sz="1500" dirty="0"/>
          </a:p>
        </p:txBody>
      </p:sp>
      <p:sp>
        <p:nvSpPr>
          <p:cNvPr id="8" name="Text 5"/>
          <p:cNvSpPr txBox="1"/>
          <p:nvPr/>
        </p:nvSpPr>
        <p:spPr>
          <a:xfrm>
            <a:off x="863798" y="4285952"/>
            <a:ext cx="5832277" cy="752029"/>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 água em que a mandioca cozinhou fica rica em amido. Guarde (na geladeira por até 2 dias) e use para dar ponto e cremosidade a molhos, ensopados e ao próprio caldo, no lugar da água ou de parte do creme de leite.</a:t>
            </a:r>
            <a:endParaRPr lang="en-US" sz="1000" dirty="0"/>
          </a:p>
        </p:txBody>
      </p:sp>
      <p:sp>
        <p:nvSpPr>
          <p:cNvPr id="9" name="Text 6"/>
          <p:cNvSpPr txBox="1"/>
          <p:nvPr/>
        </p:nvSpPr>
        <p:spPr>
          <a:xfrm>
            <a:off x="863798" y="5237857"/>
            <a:ext cx="5832277" cy="485775"/>
          </a:xfrm>
          <a:prstGeom prst="rect">
            <a:avLst/>
          </a:prstGeom>
          <a:noFill/>
          <a:ln/>
        </p:spPr>
        <p:txBody>
          <a:bodyPr wrap="square" lIns="0" tIns="0" rIns="0" bIns="0" rtlCol="0" anchor="t"/>
          <a:lstStyle/>
          <a:p>
            <a:pPr algn="l" indent="0" marL="0">
              <a:lnSpc>
                <a:spcPts val="1800"/>
              </a:lnSpc>
              <a:buNone/>
            </a:pPr>
            <a:r>
              <a:rPr lang="en-US" sz="1500" dirty="0">
                <a:solidFill>
                  <a:srgbClr val="2F4A22"/>
                </a:solidFill>
                <a:latin typeface="Fraunces SemiBold" pitchFamily="34" charset="0"/>
                <a:ea typeface="Fraunces SemiBold" pitchFamily="34" charset="-122"/>
                <a:cs typeface="Fraunces SemiBold" pitchFamily="34" charset="-120"/>
              </a:rPr>
              <a:t>“FARIÑA” CROCANTE DE FRIGIDEIRA COM AS APARAS</a:t>
            </a:r>
            <a:endParaRPr lang="en-US" sz="1500" dirty="0"/>
          </a:p>
        </p:txBody>
      </p:sp>
      <p:sp>
        <p:nvSpPr>
          <p:cNvPr id="10" name="Text 7"/>
          <p:cNvSpPr txBox="1"/>
          <p:nvPr/>
        </p:nvSpPr>
        <p:spPr>
          <a:xfrm>
            <a:off x="863798" y="5809357"/>
            <a:ext cx="5832277" cy="752029"/>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Pontas, pedaços quebrados e sobras de mandioca já cozida viram crocância. Rale fino e espalhe numa frigideira com 1 colher de manteiga. Toste em fogo médio, mexendo de vez em quando, até ficar dourada e soltinha. Tempere com sal e use como uma farofa fresca sobre o caldo, saladas, feijão ou ovos.</a:t>
            </a:r>
            <a:endParaRPr lang="en-US" sz="1000" dirty="0"/>
          </a:p>
        </p:txBody>
      </p:sp>
      <p:sp>
        <p:nvSpPr>
          <p:cNvPr id="11" name="Text 8"/>
          <p:cNvSpPr txBox="1"/>
          <p:nvPr/>
        </p:nvSpPr>
        <p:spPr>
          <a:xfrm>
            <a:off x="863798" y="6761262"/>
            <a:ext cx="1503688"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E AS CASCAS?</a:t>
            </a:r>
            <a:endParaRPr lang="en-US" sz="1500" dirty="0"/>
          </a:p>
        </p:txBody>
      </p:sp>
      <p:sp>
        <p:nvSpPr>
          <p:cNvPr id="12" name="Text 9"/>
          <p:cNvSpPr txBox="1"/>
          <p:nvPr/>
        </p:nvSpPr>
        <p:spPr>
          <a:xfrm>
            <a:off x="863798" y="7104162"/>
            <a:ext cx="491461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As cascas da mandioca não são comestíveis. Mande para a compostagem.</a:t>
            </a:r>
            <a:endParaRPr lang="en-US" sz="1000" dirty="0"/>
          </a:p>
        </p:txBody>
      </p:sp>
      <p:sp>
        <p:nvSpPr>
          <p:cNvPr id="13" name="Text 10"/>
          <p:cNvSpPr txBox="1"/>
          <p:nvPr/>
        </p:nvSpPr>
        <p:spPr>
          <a:xfrm>
            <a:off x="863798" y="748188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14" name="Text 11"/>
          <p:cNvSpPr txBox="1"/>
          <p:nvPr/>
        </p:nvSpPr>
        <p:spPr>
          <a:xfrm>
            <a:off x="6545759" y="7481887"/>
            <a:ext cx="264616"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44</a:t>
            </a:r>
            <a:endParaRPr lang="en-US" sz="7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5126534"/>
          </a:xfrm>
          <a:prstGeom prst="roundRect">
            <a:avLst>
              <a:gd name="adj" fmla="val 752"/>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142256"/>
            <a:ext cx="937171"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CAPÍTULO 05</a:t>
            </a:r>
            <a:endParaRPr lang="en-US" sz="750" dirty="0"/>
          </a:p>
        </p:txBody>
      </p:sp>
      <p:sp>
        <p:nvSpPr>
          <p:cNvPr id="4" name="Text 2"/>
          <p:cNvSpPr txBox="1"/>
          <p:nvPr/>
        </p:nvSpPr>
        <p:spPr>
          <a:xfrm>
            <a:off x="1043880" y="1248310"/>
            <a:ext cx="3356086" cy="759441"/>
          </a:xfrm>
          <a:prstGeom prst="rect">
            <a:avLst/>
          </a:prstGeom>
          <a:noFill/>
          <a:ln/>
        </p:spPr>
        <p:txBody>
          <a:bodyPr wrap="square" lIns="0" tIns="0" rIns="0" bIns="0" rtlCol="0" anchor="ctr"/>
          <a:lstStyle/>
          <a:p>
            <a:pPr algn="l" indent="0" marL="0">
              <a:buNone/>
            </a:pPr>
            <a:r>
              <a:rPr lang="en-US" sz="4600" b="1" spc="-92" kern="0" dirty="0">
                <a:solidFill>
                  <a:srgbClr val="F8EED9"/>
                </a:solidFill>
                <a:latin typeface="Fraunces" pitchFamily="34" charset="0"/>
                <a:ea typeface="Fraunces" pitchFamily="34" charset="-122"/>
                <a:cs typeface="Fraunces" pitchFamily="34" charset="-120"/>
              </a:rPr>
              <a:t>CENOURA</a:t>
            </a:r>
            <a:endParaRPr lang="en-US" sz="4600" dirty="0"/>
          </a:p>
        </p:txBody>
      </p:sp>
      <p:sp>
        <p:nvSpPr>
          <p:cNvPr id="5" name="Shape 3"/>
          <p:cNvSpPr/>
          <p:nvPr/>
        </p:nvSpPr>
        <p:spPr>
          <a:xfrm>
            <a:off x="1043880" y="2049512"/>
            <a:ext cx="533400" cy="28575"/>
          </a:xfrm>
          <a:prstGeom prst="rect">
            <a:avLst/>
          </a:prstGeom>
          <a:solidFill>
            <a:srgbClr val="E5A82E"/>
          </a:solidFill>
          <a:ln/>
        </p:spPr>
      </p:sp>
      <p:sp>
        <p:nvSpPr>
          <p:cNvPr id="6" name="Text 4"/>
          <p:cNvSpPr txBox="1"/>
          <p:nvPr/>
        </p:nvSpPr>
        <p:spPr>
          <a:xfrm>
            <a:off x="1043880" y="2278112"/>
            <a:ext cx="1836563"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DA RAIZ À RAMA</a:t>
            </a:r>
            <a:endParaRPr lang="en-US" sz="1500" dirty="0"/>
          </a:p>
        </p:txBody>
      </p:sp>
      <p:sp>
        <p:nvSpPr>
          <p:cNvPr id="7" name="Text 5"/>
          <p:cNvSpPr txBox="1"/>
          <p:nvPr/>
        </p:nvSpPr>
        <p:spPr>
          <a:xfrm>
            <a:off x="1043880" y="2621012"/>
            <a:ext cx="5472113"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Está em quase toda geladeira, mas costuma ficar presa à salada ralada ou ao bolo de sempre. Aqui ela vira protagonista.</a:t>
            </a:r>
            <a:endParaRPr lang="en-US" sz="1200" dirty="0"/>
          </a:p>
        </p:txBody>
      </p:sp>
      <p:sp>
        <p:nvSpPr>
          <p:cNvPr id="8" name="Text 6"/>
          <p:cNvSpPr txBox="1"/>
          <p:nvPr/>
        </p:nvSpPr>
        <p:spPr>
          <a:xfrm>
            <a:off x="1043880" y="3253234"/>
            <a:ext cx="233312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3 TRANSFORMAÇÕES</a:t>
            </a:r>
            <a:endParaRPr lang="en-US" sz="1500" dirty="0"/>
          </a:p>
        </p:txBody>
      </p:sp>
      <p:sp>
        <p:nvSpPr>
          <p:cNvPr id="9" name="Shape 7"/>
          <p:cNvSpPr/>
          <p:nvPr/>
        </p:nvSpPr>
        <p:spPr>
          <a:xfrm>
            <a:off x="1043880" y="3586609"/>
            <a:ext cx="5472113" cy="0"/>
          </a:xfrm>
          <a:prstGeom prst="line">
            <a:avLst/>
          </a:prstGeom>
          <a:noFill/>
          <a:ln w="9525">
            <a:solidFill>
              <a:srgbClr val="F8EED9"/>
            </a:solidFill>
            <a:prstDash val="solid"/>
          </a:ln>
        </p:spPr>
      </p:sp>
      <p:sp>
        <p:nvSpPr>
          <p:cNvPr id="10" name="Text 8"/>
          <p:cNvSpPr txBox="1"/>
          <p:nvPr/>
        </p:nvSpPr>
        <p:spPr>
          <a:xfrm>
            <a:off x="1043880" y="3681859"/>
            <a:ext cx="227409"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1</a:t>
            </a:r>
            <a:endParaRPr lang="en-US" sz="1900" dirty="0"/>
          </a:p>
        </p:txBody>
      </p:sp>
      <p:sp>
        <p:nvSpPr>
          <p:cNvPr id="11" name="Text 9"/>
          <p:cNvSpPr txBox="1"/>
          <p:nvPr/>
        </p:nvSpPr>
        <p:spPr>
          <a:xfrm>
            <a:off x="1539180" y="3719959"/>
            <a:ext cx="1721382"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ASSADO INTENSO </a:t>
            </a:r>
            <a:pPr algn="l" indent="0" marL="0">
              <a:buNone/>
            </a:pPr>
            <a:r>
              <a:rPr lang="en-US" sz="870" b="1" spc="87" kern="0" dirty="0">
                <a:solidFill>
                  <a:srgbClr val="F8EED9"/>
                </a:solidFill>
                <a:latin typeface="DM Sans" pitchFamily="34" charset="0"/>
                <a:ea typeface="DM Sans" pitchFamily="34" charset="-122"/>
                <a:cs typeface="DM Sans" pitchFamily="34" charset="-120"/>
              </a:rPr>
              <a:t>47</a:t>
            </a:r>
            <a:endParaRPr lang="en-US" sz="870" dirty="0"/>
          </a:p>
        </p:txBody>
      </p:sp>
      <p:sp>
        <p:nvSpPr>
          <p:cNvPr id="12" name="Text 10"/>
          <p:cNvSpPr txBox="1"/>
          <p:nvPr/>
        </p:nvSpPr>
        <p:spPr>
          <a:xfrm>
            <a:off x="1539180" y="3921621"/>
            <a:ext cx="5351336"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Cenouras assadas inteiras, caramelizadas no mel ou melaço com azeite e tomilho</a:t>
            </a:r>
            <a:endParaRPr lang="en-US" sz="1000" dirty="0"/>
          </a:p>
        </p:txBody>
      </p:sp>
      <p:sp>
        <p:nvSpPr>
          <p:cNvPr id="13" name="Shape 11"/>
          <p:cNvSpPr/>
          <p:nvPr/>
        </p:nvSpPr>
        <p:spPr>
          <a:xfrm>
            <a:off x="1043880" y="4216747"/>
            <a:ext cx="5472113" cy="0"/>
          </a:xfrm>
          <a:prstGeom prst="line">
            <a:avLst/>
          </a:prstGeom>
          <a:noFill/>
          <a:ln w="9525">
            <a:solidFill>
              <a:srgbClr val="F8EED9"/>
            </a:solidFill>
            <a:prstDash val="solid"/>
          </a:ln>
        </p:spPr>
      </p:sp>
      <p:sp>
        <p:nvSpPr>
          <p:cNvPr id="14" name="Text 12"/>
          <p:cNvSpPr txBox="1"/>
          <p:nvPr/>
        </p:nvSpPr>
        <p:spPr>
          <a:xfrm>
            <a:off x="1043880" y="4311997"/>
            <a:ext cx="263426"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2</a:t>
            </a:r>
            <a:endParaRPr lang="en-US" sz="1900" dirty="0"/>
          </a:p>
        </p:txBody>
      </p:sp>
      <p:sp>
        <p:nvSpPr>
          <p:cNvPr id="15" name="Text 13"/>
          <p:cNvSpPr txBox="1"/>
          <p:nvPr/>
        </p:nvSpPr>
        <p:spPr>
          <a:xfrm>
            <a:off x="1539180" y="4350097"/>
            <a:ext cx="1731883"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PRATO PRINCIPAL </a:t>
            </a:r>
            <a:pPr algn="l" indent="0" marL="0">
              <a:buNone/>
            </a:pPr>
            <a:r>
              <a:rPr lang="en-US" sz="870" b="1" spc="87" kern="0" dirty="0">
                <a:solidFill>
                  <a:srgbClr val="F8EED9"/>
                </a:solidFill>
                <a:latin typeface="DM Sans" pitchFamily="34" charset="0"/>
                <a:ea typeface="DM Sans" pitchFamily="34" charset="-122"/>
                <a:cs typeface="DM Sans" pitchFamily="34" charset="-120"/>
              </a:rPr>
              <a:t>49</a:t>
            </a:r>
            <a:endParaRPr lang="en-US" sz="870" dirty="0"/>
          </a:p>
        </p:txBody>
      </p:sp>
      <p:sp>
        <p:nvSpPr>
          <p:cNvPr id="16" name="Text 14"/>
          <p:cNvSpPr txBox="1"/>
          <p:nvPr/>
        </p:nvSpPr>
        <p:spPr>
          <a:xfrm>
            <a:off x="1539180" y="4551759"/>
            <a:ext cx="4438221"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Hambúrguer rústico ou bolinho de cenoura com aveia e especiarias</a:t>
            </a:r>
            <a:endParaRPr lang="en-US" sz="1000" dirty="0"/>
          </a:p>
        </p:txBody>
      </p:sp>
      <p:sp>
        <p:nvSpPr>
          <p:cNvPr id="17" name="Shape 15"/>
          <p:cNvSpPr/>
          <p:nvPr/>
        </p:nvSpPr>
        <p:spPr>
          <a:xfrm>
            <a:off x="1043880" y="4846886"/>
            <a:ext cx="5472113" cy="0"/>
          </a:xfrm>
          <a:prstGeom prst="line">
            <a:avLst/>
          </a:prstGeom>
          <a:noFill/>
          <a:ln w="9525">
            <a:solidFill>
              <a:srgbClr val="F8EED9"/>
            </a:solidFill>
            <a:prstDash val="solid"/>
          </a:ln>
        </p:spPr>
      </p:sp>
      <p:sp>
        <p:nvSpPr>
          <p:cNvPr id="18" name="Shape 16"/>
          <p:cNvSpPr/>
          <p:nvPr/>
        </p:nvSpPr>
        <p:spPr>
          <a:xfrm>
            <a:off x="1043880" y="5486549"/>
            <a:ext cx="5472113" cy="0"/>
          </a:xfrm>
          <a:prstGeom prst="line">
            <a:avLst/>
          </a:prstGeom>
          <a:noFill/>
          <a:ln w="9525">
            <a:solidFill>
              <a:srgbClr val="F8EED9"/>
            </a:solidFill>
            <a:prstDash val="solid"/>
          </a:ln>
        </p:spPr>
      </p:sp>
      <p:sp>
        <p:nvSpPr>
          <p:cNvPr id="19" name="Text 17"/>
          <p:cNvSpPr txBox="1"/>
          <p:nvPr/>
        </p:nvSpPr>
        <p:spPr>
          <a:xfrm>
            <a:off x="1043880" y="4942136"/>
            <a:ext cx="250627"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3</a:t>
            </a:r>
            <a:endParaRPr lang="en-US" sz="1900" dirty="0"/>
          </a:p>
        </p:txBody>
      </p:sp>
      <p:sp>
        <p:nvSpPr>
          <p:cNvPr id="20" name="Text 18"/>
          <p:cNvSpPr txBox="1"/>
          <p:nvPr/>
        </p:nvSpPr>
        <p:spPr>
          <a:xfrm>
            <a:off x="1539180" y="4980236"/>
            <a:ext cx="224394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SOBREMESA DE RESPEITO </a:t>
            </a:r>
            <a:pPr algn="l" indent="0" marL="0">
              <a:buNone/>
            </a:pPr>
            <a:r>
              <a:rPr lang="en-US" sz="870" b="1" spc="87" kern="0" dirty="0">
                <a:solidFill>
                  <a:srgbClr val="F8EED9"/>
                </a:solidFill>
                <a:latin typeface="DM Sans" pitchFamily="34" charset="0"/>
                <a:ea typeface="DM Sans" pitchFamily="34" charset="-122"/>
                <a:cs typeface="DM Sans" pitchFamily="34" charset="-120"/>
              </a:rPr>
              <a:t>51</a:t>
            </a:r>
            <a:endParaRPr lang="en-US" sz="870" dirty="0"/>
          </a:p>
        </p:txBody>
      </p:sp>
      <p:sp>
        <p:nvSpPr>
          <p:cNvPr id="21" name="Text 19"/>
          <p:cNvSpPr txBox="1"/>
          <p:nvPr/>
        </p:nvSpPr>
        <p:spPr>
          <a:xfrm>
            <a:off x="1539180" y="5181898"/>
            <a:ext cx="5147643"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Bolo de cenoura da vovó com técnica de chef e calda de chocolate espelhada</a:t>
            </a:r>
            <a:endParaRPr lang="en-US" sz="1000" dirty="0"/>
          </a:p>
        </p:txBody>
      </p:sp>
      <p:sp>
        <p:nvSpPr>
          <p:cNvPr id="22" name="Shape 20"/>
          <p:cNvSpPr/>
          <p:nvPr/>
        </p:nvSpPr>
        <p:spPr>
          <a:xfrm>
            <a:off x="2267992" y="7092107"/>
            <a:ext cx="3023890" cy="3023890"/>
          </a:xfrm>
          <a:prstGeom prst="ellipse">
            <a:avLst/>
          </a:prstGeom>
          <a:solidFill>
            <a:srgbClr val="F8EED9"/>
          </a:solidFill>
          <a:ln/>
        </p:spPr>
      </p:sp>
      <p:pic>
        <p:nvPicPr>
          <p:cNvPr id="23" name="Image 0" descr="/home/user/ebook-receitas/versoes/VERSAO ESTAMPAS/fotos/cap5.jpg">    </p:cNvPr>
          <p:cNvPicPr>
            <a:picLocks noChangeAspect="1"/>
          </p:cNvPicPr>
          <p:nvPr/>
        </p:nvPicPr>
        <p:blipFill>
          <a:blip r:embed="rId2"/>
          <a:srcRect l="0" r="0" t="0" b="0"/>
          <a:stretch/>
        </p:blipFill>
        <p:spPr>
          <a:xfrm>
            <a:off x="2344192" y="7168307"/>
            <a:ext cx="2871490" cy="2871490"/>
          </a:xfrm>
          <a:prstGeom prst="ellipse">
            <a:avLst/>
          </a:prstGeom>
        </p:spPr>
      </p:pic>
      <p:sp>
        <p:nvSpPr>
          <p:cNvPr id="24" name="Shape 21"/>
          <p:cNvSpPr/>
          <p:nvPr/>
        </p:nvSpPr>
        <p:spPr>
          <a:xfrm>
            <a:off x="647998" y="323999"/>
            <a:ext cx="1200001" cy="190500"/>
          </a:xfrm>
          <a:prstGeom prst="ellipse">
            <a:avLst/>
          </a:prstGeom>
          <a:solidFill>
            <a:srgbClr val="1E4A2B"/>
          </a:solidFill>
          <a:ln/>
        </p:spPr>
      </p:sp>
      <p:sp>
        <p:nvSpPr>
          <p:cNvPr id="25" name="Text 22"/>
          <p:cNvSpPr txBox="1"/>
          <p:nvPr/>
        </p:nvSpPr>
        <p:spPr>
          <a:xfrm>
            <a:off x="733723" y="352574"/>
            <a:ext cx="1151977" cy="142875"/>
          </a:xfrm>
          <a:prstGeom prst="rect">
            <a:avLst/>
          </a:prstGeom>
          <a:noFill/>
          <a:ln/>
        </p:spPr>
        <p:txBody>
          <a:bodyPr wrap="square" lIns="0" tIns="0" rIns="0" bIns="0" rtlCol="0" anchor="ctr"/>
          <a:lstStyle/>
          <a:p>
            <a:pPr algn="l" indent="0" marL="0">
              <a:buNone/>
            </a:pPr>
            <a:r>
              <a:rPr lang="en-US" sz="750" spc="105" kern="0" dirty="0">
                <a:solidFill>
                  <a:srgbClr val="F8EED9"/>
                </a:solidFill>
                <a:latin typeface="DM Sans Medium" pitchFamily="34" charset="0"/>
                <a:ea typeface="DM Sans Medium" pitchFamily="34" charset="-122"/>
                <a:cs typeface="DM Sans Medium" pitchFamily="34" charset="-120"/>
              </a:rPr>
              <a:t>COZINHA MAMEDE</a:t>
            </a:r>
            <a:endParaRPr lang="en-US" sz="750" dirty="0"/>
          </a:p>
        </p:txBody>
      </p:sp>
      <p:sp>
        <p:nvSpPr>
          <p:cNvPr id="26" name="Shape 23"/>
          <p:cNvSpPr/>
          <p:nvPr/>
        </p:nvSpPr>
        <p:spPr>
          <a:xfrm>
            <a:off x="6592639" y="323999"/>
            <a:ext cx="319236" cy="190500"/>
          </a:xfrm>
          <a:prstGeom prst="ellipse">
            <a:avLst/>
          </a:prstGeom>
          <a:solidFill>
            <a:srgbClr val="1E4A2B"/>
          </a:solidFill>
          <a:ln/>
        </p:spPr>
      </p:sp>
      <p:sp>
        <p:nvSpPr>
          <p:cNvPr id="27" name="Text 24"/>
          <p:cNvSpPr txBox="1"/>
          <p:nvPr/>
        </p:nvSpPr>
        <p:spPr>
          <a:xfrm>
            <a:off x="6678364" y="352574"/>
            <a:ext cx="262086" cy="142875"/>
          </a:xfrm>
          <a:prstGeom prst="rect">
            <a:avLst/>
          </a:prstGeom>
          <a:noFill/>
          <a:ln/>
        </p:spPr>
        <p:txBody>
          <a:bodyPr wrap="square" lIns="0" tIns="0" rIns="0" bIns="0" rtlCol="0" anchor="ctr"/>
          <a:lstStyle/>
          <a:p>
            <a:pPr algn="l" indent="0" marL="0">
              <a:buNone/>
            </a:pPr>
            <a:r>
              <a:rPr lang="en-US" sz="750" b="1" spc="105" kern="0" dirty="0">
                <a:solidFill>
                  <a:srgbClr val="E5A82E"/>
                </a:solidFill>
                <a:latin typeface="DM Sans" pitchFamily="34" charset="0"/>
                <a:ea typeface="DM Sans" pitchFamily="34" charset="-122"/>
                <a:cs typeface="DM Sans" pitchFamily="34" charset="-120"/>
              </a:rPr>
              <a:t>45</a:t>
            </a:r>
            <a:endParaRPr lang="en-US" sz="7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884759"/>
            <a:ext cx="6696075" cy="692244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271117"/>
            <a:ext cx="1729549"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CAPÍTULO 05 · CENOURA</a:t>
            </a:r>
            <a:endParaRPr lang="en-US" sz="750" dirty="0"/>
          </a:p>
        </p:txBody>
      </p:sp>
      <p:sp>
        <p:nvSpPr>
          <p:cNvPr id="4" name="Text 2"/>
          <p:cNvSpPr txBox="1"/>
          <p:nvPr/>
        </p:nvSpPr>
        <p:spPr>
          <a:xfrm>
            <a:off x="863798" y="2451462"/>
            <a:ext cx="2579656"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 INGREDIENTE</a:t>
            </a:r>
            <a:endParaRPr lang="en-US" sz="2200" dirty="0"/>
          </a:p>
        </p:txBody>
      </p:sp>
      <p:sp>
        <p:nvSpPr>
          <p:cNvPr id="5" name="Text 3"/>
          <p:cNvSpPr txBox="1"/>
          <p:nvPr/>
        </p:nvSpPr>
        <p:spPr>
          <a:xfrm>
            <a:off x="863798" y="2964954"/>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 cenoura está em quase todo refogado, quase toda salada e quase todo lanche da tarde. E quase sempre como coadjuvante.</a:t>
            </a:r>
            <a:endParaRPr lang="en-US" sz="1000" dirty="0"/>
          </a:p>
        </p:txBody>
      </p:sp>
      <p:sp>
        <p:nvSpPr>
          <p:cNvPr id="6" name="Text 4"/>
          <p:cNvSpPr txBox="1"/>
          <p:nvPr/>
        </p:nvSpPr>
        <p:spPr>
          <a:xfrm>
            <a:off x="863798" y="3440906"/>
            <a:ext cx="583227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Ela tem açúcar natural de sobra e, quando encontra calor seco, carameliza e ganha um sabor profundo, quase de castanha. Ralada e bem refogada, vira a base de um hambúrguer. E, num bolo, ela é que garante a umidade.</a:t>
            </a:r>
            <a:endParaRPr lang="en-US" sz="1000" dirty="0"/>
          </a:p>
        </p:txBody>
      </p:sp>
      <p:sp>
        <p:nvSpPr>
          <p:cNvPr id="7" name="Text 5"/>
          <p:cNvSpPr txBox="1"/>
          <p:nvPr/>
        </p:nvSpPr>
        <p:spPr>
          <a:xfrm>
            <a:off x="863798" y="4107210"/>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Nada se perde: a casca é fina e comestível, e a rama, aquelas folhas que quase sempre vão para o lixo, é um tempero fresco e potente.</a:t>
            </a:r>
            <a:endParaRPr lang="en-US" sz="1000" dirty="0"/>
          </a:p>
        </p:txBody>
      </p:sp>
      <p:sp>
        <p:nvSpPr>
          <p:cNvPr id="8" name="Text 6"/>
          <p:cNvSpPr txBox="1"/>
          <p:nvPr/>
        </p:nvSpPr>
        <p:spPr>
          <a:xfrm>
            <a:off x="863798" y="4678412"/>
            <a:ext cx="205209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ANTES DA PANELA</a:t>
            </a:r>
            <a:endParaRPr lang="en-US" sz="1500" dirty="0"/>
          </a:p>
        </p:txBody>
      </p:sp>
      <p:sp>
        <p:nvSpPr>
          <p:cNvPr id="9" name="Text 7"/>
          <p:cNvSpPr txBox="1"/>
          <p:nvPr/>
        </p:nvSpPr>
        <p:spPr>
          <a:xfrm>
            <a:off x="863798" y="5002262"/>
            <a:ext cx="166237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NA HORA DE ESCOLHER</a:t>
            </a:r>
            <a:endParaRPr lang="en-US" sz="870" dirty="0"/>
          </a:p>
        </p:txBody>
      </p:sp>
      <p:sp>
        <p:nvSpPr>
          <p:cNvPr id="10" name="Shape 8"/>
          <p:cNvSpPr/>
          <p:nvPr/>
        </p:nvSpPr>
        <p:spPr>
          <a:xfrm>
            <a:off x="873323" y="5287107"/>
            <a:ext cx="57150" cy="57150"/>
          </a:xfrm>
          <a:prstGeom prst="ellipse">
            <a:avLst/>
          </a:prstGeom>
          <a:solidFill>
            <a:srgbClr val="E5A82E"/>
          </a:solidFill>
          <a:ln/>
        </p:spPr>
      </p:sp>
      <p:sp>
        <p:nvSpPr>
          <p:cNvPr id="11" name="Text 9"/>
          <p:cNvSpPr txBox="1"/>
          <p:nvPr/>
        </p:nvSpPr>
        <p:spPr>
          <a:xfrm>
            <a:off x="1016198" y="5222974"/>
            <a:ext cx="40723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Firme, lisa, de cor laranja intensa, sem rachaduras nem brotos.</a:t>
            </a:r>
            <a:endParaRPr lang="en-US" sz="1000" dirty="0"/>
          </a:p>
        </p:txBody>
      </p:sp>
      <p:sp>
        <p:nvSpPr>
          <p:cNvPr id="12" name="Shape 10"/>
          <p:cNvSpPr/>
          <p:nvPr/>
        </p:nvSpPr>
        <p:spPr>
          <a:xfrm>
            <a:off x="873323" y="5515559"/>
            <a:ext cx="57150" cy="57150"/>
          </a:xfrm>
          <a:prstGeom prst="ellipse">
            <a:avLst/>
          </a:prstGeom>
          <a:solidFill>
            <a:srgbClr val="E5A82E"/>
          </a:solidFill>
          <a:ln/>
        </p:spPr>
      </p:sp>
      <p:sp>
        <p:nvSpPr>
          <p:cNvPr id="13" name="Text 11"/>
          <p:cNvSpPr txBox="1"/>
          <p:nvPr/>
        </p:nvSpPr>
        <p:spPr>
          <a:xfrm>
            <a:off x="1016198" y="5451425"/>
            <a:ext cx="384064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Evite cenouras moles ou com a parte de cima esverdeada.</a:t>
            </a:r>
            <a:endParaRPr lang="en-US" sz="1000" dirty="0"/>
          </a:p>
        </p:txBody>
      </p:sp>
      <p:sp>
        <p:nvSpPr>
          <p:cNvPr id="14" name="Shape 12"/>
          <p:cNvSpPr/>
          <p:nvPr/>
        </p:nvSpPr>
        <p:spPr>
          <a:xfrm>
            <a:off x="873323" y="5744010"/>
            <a:ext cx="57150" cy="57150"/>
          </a:xfrm>
          <a:prstGeom prst="ellipse">
            <a:avLst/>
          </a:prstGeom>
          <a:solidFill>
            <a:srgbClr val="E5A82E"/>
          </a:solidFill>
          <a:ln/>
        </p:spPr>
      </p:sp>
      <p:sp>
        <p:nvSpPr>
          <p:cNvPr id="15" name="Text 13"/>
          <p:cNvSpPr txBox="1"/>
          <p:nvPr/>
        </p:nvSpPr>
        <p:spPr>
          <a:xfrm>
            <a:off x="1016198" y="5679877"/>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Se encontrar com rama, compre: rama verde e viçosa é sinal de cenoura fresca, e ainda vira pesto.</a:t>
            </a:r>
            <a:endParaRPr lang="en-US" sz="1000" dirty="0"/>
          </a:p>
        </p:txBody>
      </p:sp>
      <p:sp>
        <p:nvSpPr>
          <p:cNvPr id="16" name="Text 14"/>
          <p:cNvSpPr txBox="1"/>
          <p:nvPr/>
        </p:nvSpPr>
        <p:spPr>
          <a:xfrm>
            <a:off x="863798" y="6193929"/>
            <a:ext cx="116947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COMO GUARDAR</a:t>
            </a:r>
            <a:endParaRPr lang="en-US" sz="870" dirty="0"/>
          </a:p>
        </p:txBody>
      </p:sp>
      <p:sp>
        <p:nvSpPr>
          <p:cNvPr id="17" name="Shape 15"/>
          <p:cNvSpPr/>
          <p:nvPr/>
        </p:nvSpPr>
        <p:spPr>
          <a:xfrm>
            <a:off x="873323" y="6478774"/>
            <a:ext cx="57150" cy="57150"/>
          </a:xfrm>
          <a:prstGeom prst="ellipse">
            <a:avLst/>
          </a:prstGeom>
          <a:solidFill>
            <a:srgbClr val="E5A82E"/>
          </a:solidFill>
          <a:ln/>
        </p:spPr>
      </p:sp>
      <p:sp>
        <p:nvSpPr>
          <p:cNvPr id="18" name="Text 16"/>
          <p:cNvSpPr txBox="1"/>
          <p:nvPr/>
        </p:nvSpPr>
        <p:spPr>
          <a:xfrm>
            <a:off x="1016198" y="6414641"/>
            <a:ext cx="457957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Separe a rama assim que chegar em casa: ela puxa a umidade da raiz.</a:t>
            </a:r>
            <a:endParaRPr lang="en-US" sz="1000" dirty="0"/>
          </a:p>
        </p:txBody>
      </p:sp>
      <p:sp>
        <p:nvSpPr>
          <p:cNvPr id="19" name="Shape 17"/>
          <p:cNvSpPr/>
          <p:nvPr/>
        </p:nvSpPr>
        <p:spPr>
          <a:xfrm>
            <a:off x="873323" y="6707225"/>
            <a:ext cx="57150" cy="57150"/>
          </a:xfrm>
          <a:prstGeom prst="ellipse">
            <a:avLst/>
          </a:prstGeom>
          <a:solidFill>
            <a:srgbClr val="E5A82E"/>
          </a:solidFill>
          <a:ln/>
        </p:spPr>
      </p:sp>
      <p:sp>
        <p:nvSpPr>
          <p:cNvPr id="20" name="Text 18"/>
          <p:cNvSpPr txBox="1"/>
          <p:nvPr/>
        </p:nvSpPr>
        <p:spPr>
          <a:xfrm>
            <a:off x="1016198" y="6643092"/>
            <a:ext cx="483693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Raiz: em pote fechado com papel-toalha, na geladeira, por 3 a 4 semanas.</a:t>
            </a:r>
            <a:endParaRPr lang="en-US" sz="1000" dirty="0"/>
          </a:p>
        </p:txBody>
      </p:sp>
      <p:sp>
        <p:nvSpPr>
          <p:cNvPr id="21" name="Shape 19"/>
          <p:cNvSpPr/>
          <p:nvPr/>
        </p:nvSpPr>
        <p:spPr>
          <a:xfrm>
            <a:off x="873323" y="6935677"/>
            <a:ext cx="57150" cy="57150"/>
          </a:xfrm>
          <a:prstGeom prst="ellipse">
            <a:avLst/>
          </a:prstGeom>
          <a:solidFill>
            <a:srgbClr val="E5A82E"/>
          </a:solidFill>
          <a:ln/>
        </p:spPr>
      </p:sp>
      <p:sp>
        <p:nvSpPr>
          <p:cNvPr id="22" name="Text 20"/>
          <p:cNvSpPr txBox="1"/>
          <p:nvPr/>
        </p:nvSpPr>
        <p:spPr>
          <a:xfrm>
            <a:off x="1016198" y="6871543"/>
            <a:ext cx="441221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Rama: lavada, bem seca e enrolada em papel-toalha, por 3 a 4 dias.</a:t>
            </a:r>
            <a:endParaRPr lang="en-US" sz="1000" dirty="0"/>
          </a:p>
        </p:txBody>
      </p:sp>
      <p:sp>
        <p:nvSpPr>
          <p:cNvPr id="23" name="Text 21"/>
          <p:cNvSpPr txBox="1"/>
          <p:nvPr/>
        </p:nvSpPr>
        <p:spPr>
          <a:xfrm>
            <a:off x="863798" y="7195245"/>
            <a:ext cx="172704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PRÉ-PREPARO E CORTES</a:t>
            </a:r>
            <a:endParaRPr lang="en-US" sz="870" dirty="0"/>
          </a:p>
        </p:txBody>
      </p:sp>
      <p:sp>
        <p:nvSpPr>
          <p:cNvPr id="24" name="Shape 22"/>
          <p:cNvSpPr/>
          <p:nvPr/>
        </p:nvSpPr>
        <p:spPr>
          <a:xfrm>
            <a:off x="873323" y="7480090"/>
            <a:ext cx="57150" cy="57150"/>
          </a:xfrm>
          <a:prstGeom prst="ellipse">
            <a:avLst/>
          </a:prstGeom>
          <a:solidFill>
            <a:srgbClr val="E5A82E"/>
          </a:solidFill>
          <a:ln/>
        </p:spPr>
      </p:sp>
      <p:sp>
        <p:nvSpPr>
          <p:cNvPr id="25" name="Text 23"/>
          <p:cNvSpPr txBox="1"/>
          <p:nvPr/>
        </p:nvSpPr>
        <p:spPr>
          <a:xfrm>
            <a:off x="1016198" y="7415957"/>
            <a:ext cx="578989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Não precisa descascar: escove bem sob água corrente. Se descascar, guarde as cascas.</a:t>
            </a:r>
            <a:endParaRPr lang="en-US" sz="1000" dirty="0"/>
          </a:p>
        </p:txBody>
      </p:sp>
      <p:sp>
        <p:nvSpPr>
          <p:cNvPr id="26" name="Shape 24"/>
          <p:cNvSpPr/>
          <p:nvPr/>
        </p:nvSpPr>
        <p:spPr>
          <a:xfrm>
            <a:off x="873323" y="7708541"/>
            <a:ext cx="57150" cy="57150"/>
          </a:xfrm>
          <a:prstGeom prst="ellipse">
            <a:avLst/>
          </a:prstGeom>
          <a:solidFill>
            <a:srgbClr val="E5A82E"/>
          </a:solidFill>
          <a:ln/>
        </p:spPr>
      </p:sp>
      <p:sp>
        <p:nvSpPr>
          <p:cNvPr id="27" name="Text 25"/>
          <p:cNvSpPr txBox="1"/>
          <p:nvPr/>
        </p:nvSpPr>
        <p:spPr>
          <a:xfrm>
            <a:off x="1016198" y="7644408"/>
            <a:ext cx="40488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Rodelas em diagonal têm mais superfície e caramelizam mais.</a:t>
            </a:r>
            <a:endParaRPr lang="en-US" sz="1000" dirty="0"/>
          </a:p>
        </p:txBody>
      </p:sp>
      <p:sp>
        <p:nvSpPr>
          <p:cNvPr id="28" name="Shape 26"/>
          <p:cNvSpPr/>
          <p:nvPr/>
        </p:nvSpPr>
        <p:spPr>
          <a:xfrm>
            <a:off x="873323" y="7936992"/>
            <a:ext cx="57150" cy="57150"/>
          </a:xfrm>
          <a:prstGeom prst="ellipse">
            <a:avLst/>
          </a:prstGeom>
          <a:solidFill>
            <a:srgbClr val="E5A82E"/>
          </a:solidFill>
          <a:ln/>
        </p:spPr>
      </p:sp>
      <p:sp>
        <p:nvSpPr>
          <p:cNvPr id="29" name="Text 27"/>
          <p:cNvSpPr txBox="1"/>
          <p:nvPr/>
        </p:nvSpPr>
        <p:spPr>
          <a:xfrm>
            <a:off x="1016198" y="7872859"/>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Palitos e meia-lua para assar; ralada fina para bolinhos; em fitas (com o descascador) para saladas cruas.</a:t>
            </a:r>
            <a:endParaRPr lang="en-US" sz="1000" dirty="0"/>
          </a:p>
        </p:txBody>
      </p:sp>
      <p:sp>
        <p:nvSpPr>
          <p:cNvPr id="30" name="Text 28"/>
          <p:cNvSpPr txBox="1"/>
          <p:nvPr/>
        </p:nvSpPr>
        <p:spPr>
          <a:xfrm>
            <a:off x="863798" y="8440936"/>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31" name="Text 29"/>
          <p:cNvSpPr txBox="1"/>
          <p:nvPr/>
        </p:nvSpPr>
        <p:spPr>
          <a:xfrm>
            <a:off x="6547247" y="8440936"/>
            <a:ext cx="263128"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46</a:t>
            </a:r>
            <a:endParaRPr lang="en-US" sz="7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6436816"/>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237655"/>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01</a:t>
            </a:r>
            <a:endParaRPr lang="en-US" sz="750" dirty="0"/>
          </a:p>
        </p:txBody>
      </p:sp>
      <p:sp>
        <p:nvSpPr>
          <p:cNvPr id="4" name="Text 2"/>
          <p:cNvSpPr txBox="1"/>
          <p:nvPr/>
        </p:nvSpPr>
        <p:spPr>
          <a:xfrm>
            <a:off x="1043880" y="1540930"/>
            <a:ext cx="2515939"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CENOURAS ASSADAS NO MEL</a:t>
            </a:r>
            <a:endParaRPr lang="en-US" sz="3200" dirty="0"/>
          </a:p>
        </p:txBody>
      </p:sp>
      <p:sp>
        <p:nvSpPr>
          <p:cNvPr id="5" name="Text 3"/>
          <p:cNvSpPr txBox="1"/>
          <p:nvPr/>
        </p:nvSpPr>
        <p:spPr>
          <a:xfrm>
            <a:off x="1043880" y="2976414"/>
            <a:ext cx="2515939"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Cenouras assadas inteiras, caramelizadas no mel ou melaço com azeite e tomilho</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5-1.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2688729"/>
          </a:xfrm>
          <a:prstGeom prst="roundRect">
            <a:avLst>
              <a:gd name="adj" fmla="val 2277"/>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240763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8 cenouras médias (cerca de 600 g)</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178439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azeite</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244747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mel (ou melaço)</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173255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ramos de tomilho fresco</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202975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grosso e pimenta-do-reino</a:t>
            </a:r>
            <a:endParaRPr lang="en-US" sz="1000" dirty="0"/>
          </a:p>
        </p:txBody>
      </p:sp>
      <p:sp>
        <p:nvSpPr>
          <p:cNvPr id="20" name="Shape 17"/>
          <p:cNvSpPr/>
          <p:nvPr/>
        </p:nvSpPr>
        <p:spPr>
          <a:xfrm>
            <a:off x="1403747" y="5891221"/>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5860107"/>
            <a:ext cx="344926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vinagre de maçã ou suco de limão</a:t>
            </a:r>
            <a:endParaRPr lang="en-US" sz="1000" dirty="0"/>
          </a:p>
        </p:txBody>
      </p:sp>
      <p:sp>
        <p:nvSpPr>
          <p:cNvPr id="22" name="Shape 19"/>
          <p:cNvSpPr/>
          <p:nvPr/>
        </p:nvSpPr>
        <p:spPr>
          <a:xfrm>
            <a:off x="1403747" y="6110148"/>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079034"/>
            <a:ext cx="432670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Opcional: iogurte temperado com sal e limão, e amendoim picado</a:t>
            </a:r>
            <a:endParaRPr lang="en-US" sz="1000" dirty="0"/>
          </a:p>
        </p:txBody>
      </p:sp>
      <p:sp>
        <p:nvSpPr>
          <p:cNvPr id="24" name="Text 21"/>
          <p:cNvSpPr txBox="1"/>
          <p:nvPr/>
        </p:nvSpPr>
        <p:spPr>
          <a:xfrm>
            <a:off x="1403747" y="6355110"/>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020812"/>
            <a:ext cx="6696075" cy="8650188"/>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407170"/>
            <a:ext cx="2244614"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01 · CENOURA</a:t>
            </a:r>
            <a:endParaRPr lang="en-US" sz="750" dirty="0"/>
          </a:p>
        </p:txBody>
      </p:sp>
      <p:sp>
        <p:nvSpPr>
          <p:cNvPr id="4" name="Text 2"/>
          <p:cNvSpPr txBox="1"/>
          <p:nvPr/>
        </p:nvSpPr>
        <p:spPr>
          <a:xfrm>
            <a:off x="863798" y="1599321"/>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CENOURAS ASSADAS INTEIRAS, CARAMELIZADAS NO MEL OU MELAÇO COM AZEITE E TOMILHO</a:t>
            </a:r>
            <a:endParaRPr lang="en-US" sz="2200" dirty="0"/>
          </a:p>
        </p:txBody>
      </p:sp>
      <p:sp>
        <p:nvSpPr>
          <p:cNvPr id="5" name="Text 3"/>
          <p:cNvSpPr txBox="1"/>
          <p:nvPr/>
        </p:nvSpPr>
        <p:spPr>
          <a:xfrm>
            <a:off x="863798" y="2640955"/>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ASSADO INTENSO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(doçura natural levada ao máximo)</a:t>
            </a:r>
            <a:endParaRPr lang="en-US" sz="800" dirty="0"/>
          </a:p>
        </p:txBody>
      </p:sp>
      <p:sp>
        <p:nvSpPr>
          <p:cNvPr id="6" name="Shape 4"/>
          <p:cNvSpPr/>
          <p:nvPr/>
        </p:nvSpPr>
        <p:spPr>
          <a:xfrm>
            <a:off x="863798" y="2915841"/>
            <a:ext cx="1893243" cy="422523"/>
          </a:xfrm>
          <a:prstGeom prst="roundRect">
            <a:avLst>
              <a:gd name="adj" fmla="val 55317"/>
            </a:avLst>
          </a:prstGeom>
          <a:solidFill>
            <a:srgbClr val="F8EED9"/>
          </a:solidFill>
          <a:ln/>
        </p:spPr>
      </p:sp>
      <p:sp>
        <p:nvSpPr>
          <p:cNvPr id="7" name="Text 5"/>
          <p:cNvSpPr txBox="1"/>
          <p:nvPr/>
        </p:nvSpPr>
        <p:spPr>
          <a:xfrm>
            <a:off x="968573" y="2982516"/>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3106787"/>
            <a:ext cx="44618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5 min</a:t>
            </a:r>
            <a:endParaRPr lang="en-US" sz="1000" dirty="0"/>
          </a:p>
        </p:txBody>
      </p:sp>
      <p:sp>
        <p:nvSpPr>
          <p:cNvPr id="9" name="Shape 7"/>
          <p:cNvSpPr/>
          <p:nvPr/>
        </p:nvSpPr>
        <p:spPr>
          <a:xfrm>
            <a:off x="2833241" y="2915841"/>
            <a:ext cx="1893243" cy="422523"/>
          </a:xfrm>
          <a:prstGeom prst="roundRect">
            <a:avLst>
              <a:gd name="adj" fmla="val 55317"/>
            </a:avLst>
          </a:prstGeom>
          <a:solidFill>
            <a:srgbClr val="F8EED9"/>
          </a:solidFill>
          <a:ln/>
        </p:spPr>
      </p:sp>
      <p:sp>
        <p:nvSpPr>
          <p:cNvPr id="10" name="Text 8"/>
          <p:cNvSpPr txBox="1"/>
          <p:nvPr/>
        </p:nvSpPr>
        <p:spPr>
          <a:xfrm>
            <a:off x="2938016" y="2982516"/>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3106787"/>
            <a:ext cx="5347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40 min</a:t>
            </a:r>
            <a:endParaRPr lang="en-US" sz="1000" dirty="0"/>
          </a:p>
        </p:txBody>
      </p:sp>
      <p:sp>
        <p:nvSpPr>
          <p:cNvPr id="12" name="Shape 10"/>
          <p:cNvSpPr/>
          <p:nvPr/>
        </p:nvSpPr>
        <p:spPr>
          <a:xfrm>
            <a:off x="4802684" y="2915841"/>
            <a:ext cx="1893243" cy="422523"/>
          </a:xfrm>
          <a:prstGeom prst="roundRect">
            <a:avLst>
              <a:gd name="adj" fmla="val 55317"/>
            </a:avLst>
          </a:prstGeom>
          <a:solidFill>
            <a:srgbClr val="F8EED9"/>
          </a:solidFill>
          <a:ln/>
        </p:spPr>
      </p:sp>
      <p:sp>
        <p:nvSpPr>
          <p:cNvPr id="13" name="Text 11"/>
          <p:cNvSpPr txBox="1"/>
          <p:nvPr/>
        </p:nvSpPr>
        <p:spPr>
          <a:xfrm>
            <a:off x="4907459" y="2982516"/>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3106787"/>
            <a:ext cx="7172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 porções</a:t>
            </a:r>
            <a:endParaRPr lang="en-US" sz="1000" dirty="0"/>
          </a:p>
        </p:txBody>
      </p:sp>
      <p:sp>
        <p:nvSpPr>
          <p:cNvPr id="15" name="Shape 13"/>
          <p:cNvSpPr/>
          <p:nvPr/>
        </p:nvSpPr>
        <p:spPr>
          <a:xfrm>
            <a:off x="863798" y="3471714"/>
            <a:ext cx="5832277" cy="2322761"/>
          </a:xfrm>
          <a:prstGeom prst="roundRect">
            <a:avLst>
              <a:gd name="adj" fmla="val 2441"/>
            </a:avLst>
          </a:prstGeom>
          <a:solidFill>
            <a:srgbClr val="FBF4E4"/>
          </a:solidFill>
          <a:ln w="9525">
            <a:solidFill>
              <a:srgbClr val="EADFC6"/>
            </a:solidFill>
            <a:prstDash val="solid"/>
          </a:ln>
        </p:spPr>
      </p:sp>
      <p:sp>
        <p:nvSpPr>
          <p:cNvPr id="16" name="Text 14"/>
          <p:cNvSpPr txBox="1"/>
          <p:nvPr/>
        </p:nvSpPr>
        <p:spPr>
          <a:xfrm>
            <a:off x="1006673" y="3566964"/>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902878"/>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871764"/>
            <a:ext cx="240763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8 cenouras médias (cerca de 600 g)</a:t>
            </a:r>
            <a:endParaRPr lang="en-US" sz="1000" dirty="0"/>
          </a:p>
        </p:txBody>
      </p:sp>
      <p:sp>
        <p:nvSpPr>
          <p:cNvPr id="19" name="Shape 17"/>
          <p:cNvSpPr/>
          <p:nvPr/>
        </p:nvSpPr>
        <p:spPr>
          <a:xfrm>
            <a:off x="1006673" y="4121804"/>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4090690"/>
            <a:ext cx="178439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azeite</a:t>
            </a:r>
            <a:endParaRPr lang="en-US" sz="1000" dirty="0"/>
          </a:p>
        </p:txBody>
      </p:sp>
      <p:sp>
        <p:nvSpPr>
          <p:cNvPr id="21" name="Shape 19"/>
          <p:cNvSpPr/>
          <p:nvPr/>
        </p:nvSpPr>
        <p:spPr>
          <a:xfrm>
            <a:off x="1006673" y="4340730"/>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309616"/>
            <a:ext cx="244747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mel (ou melaço)</a:t>
            </a:r>
            <a:endParaRPr lang="en-US" sz="1000" dirty="0"/>
          </a:p>
        </p:txBody>
      </p:sp>
      <p:sp>
        <p:nvSpPr>
          <p:cNvPr id="23" name="Shape 21"/>
          <p:cNvSpPr/>
          <p:nvPr/>
        </p:nvSpPr>
        <p:spPr>
          <a:xfrm>
            <a:off x="1006673" y="4559656"/>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528542"/>
            <a:ext cx="173255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ramos de tomilho fresco</a:t>
            </a:r>
            <a:endParaRPr lang="en-US" sz="1000" dirty="0"/>
          </a:p>
        </p:txBody>
      </p:sp>
      <p:sp>
        <p:nvSpPr>
          <p:cNvPr id="25" name="Shape 23"/>
          <p:cNvSpPr/>
          <p:nvPr/>
        </p:nvSpPr>
        <p:spPr>
          <a:xfrm>
            <a:off x="1006673" y="4778582"/>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747468"/>
            <a:ext cx="202975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grosso e pimenta-do-reino</a:t>
            </a:r>
            <a:endParaRPr lang="en-US" sz="1000" dirty="0"/>
          </a:p>
        </p:txBody>
      </p:sp>
      <p:sp>
        <p:nvSpPr>
          <p:cNvPr id="27" name="Shape 25"/>
          <p:cNvSpPr/>
          <p:nvPr/>
        </p:nvSpPr>
        <p:spPr>
          <a:xfrm>
            <a:off x="1006673" y="4997509"/>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4966395"/>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 colher (sopa) de vinagre de maçã ou suco de limão</a:t>
            </a:r>
            <a:endParaRPr lang="en-US" sz="1000" dirty="0"/>
          </a:p>
        </p:txBody>
      </p:sp>
      <p:sp>
        <p:nvSpPr>
          <p:cNvPr id="29" name="Shape 27"/>
          <p:cNvSpPr/>
          <p:nvPr/>
        </p:nvSpPr>
        <p:spPr>
          <a:xfrm>
            <a:off x="1006673" y="5406786"/>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375672"/>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Opcional: iogurte temperado com sal e limão, e amendoim picado</a:t>
            </a:r>
            <a:endParaRPr lang="en-US" sz="1000" dirty="0"/>
          </a:p>
        </p:txBody>
      </p:sp>
      <p:sp>
        <p:nvSpPr>
          <p:cNvPr id="31" name="Text 29"/>
          <p:cNvSpPr txBox="1"/>
          <p:nvPr/>
        </p:nvSpPr>
        <p:spPr>
          <a:xfrm>
            <a:off x="863798" y="5918299"/>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2" name="Shape 30"/>
          <p:cNvSpPr/>
          <p:nvPr/>
        </p:nvSpPr>
        <p:spPr>
          <a:xfrm>
            <a:off x="863798" y="6261199"/>
            <a:ext cx="190500" cy="190500"/>
          </a:xfrm>
          <a:prstGeom prst="ellipse">
            <a:avLst/>
          </a:prstGeom>
          <a:solidFill>
            <a:srgbClr val="2F4A22"/>
          </a:solidFill>
          <a:ln/>
        </p:spPr>
      </p:sp>
      <p:sp>
        <p:nvSpPr>
          <p:cNvPr id="33" name="Text 31"/>
          <p:cNvSpPr txBox="1"/>
          <p:nvPr/>
        </p:nvSpPr>
        <p:spPr>
          <a:xfrm>
            <a:off x="883295" y="6289774"/>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4" name="Text 32"/>
          <p:cNvSpPr txBox="1"/>
          <p:nvPr/>
        </p:nvSpPr>
        <p:spPr>
          <a:xfrm>
            <a:off x="1149548" y="6261199"/>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Preaqueça o forno a 220 °C. Escove bem as cenouras. Se forem grossas, corte ao meio no sentido do comprimento.</a:t>
            </a:r>
            <a:endParaRPr lang="en-US" sz="1000" dirty="0"/>
          </a:p>
        </p:txBody>
      </p:sp>
      <p:sp>
        <p:nvSpPr>
          <p:cNvPr id="35" name="Shape 33"/>
          <p:cNvSpPr/>
          <p:nvPr/>
        </p:nvSpPr>
        <p:spPr>
          <a:xfrm>
            <a:off x="863798" y="6689527"/>
            <a:ext cx="190500" cy="190500"/>
          </a:xfrm>
          <a:prstGeom prst="ellipse">
            <a:avLst/>
          </a:prstGeom>
          <a:solidFill>
            <a:srgbClr val="2F4A22"/>
          </a:solidFill>
          <a:ln/>
        </p:spPr>
      </p:sp>
      <p:sp>
        <p:nvSpPr>
          <p:cNvPr id="36" name="Text 34"/>
          <p:cNvSpPr txBox="1"/>
          <p:nvPr/>
        </p:nvSpPr>
        <p:spPr>
          <a:xfrm>
            <a:off x="872579" y="6718102"/>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7" name="Text 35"/>
          <p:cNvSpPr txBox="1"/>
          <p:nvPr/>
        </p:nvSpPr>
        <p:spPr>
          <a:xfrm>
            <a:off x="1149548" y="668952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Numa assadeira grande, envolva as cenouras com o azeite, sal e pimenta. Deixe espaço entre elas: amontoadas, cozinham no vapor e não caramelizam.</a:t>
            </a:r>
            <a:endParaRPr lang="en-US" sz="1000" dirty="0"/>
          </a:p>
        </p:txBody>
      </p:sp>
      <p:sp>
        <p:nvSpPr>
          <p:cNvPr id="38" name="Shape 36"/>
          <p:cNvSpPr/>
          <p:nvPr/>
        </p:nvSpPr>
        <p:spPr>
          <a:xfrm>
            <a:off x="863798" y="7117854"/>
            <a:ext cx="190500" cy="190500"/>
          </a:xfrm>
          <a:prstGeom prst="ellipse">
            <a:avLst/>
          </a:prstGeom>
          <a:solidFill>
            <a:srgbClr val="2F4A22"/>
          </a:solidFill>
          <a:ln/>
        </p:spPr>
      </p:sp>
      <p:sp>
        <p:nvSpPr>
          <p:cNvPr id="39" name="Text 37"/>
          <p:cNvSpPr txBox="1"/>
          <p:nvPr/>
        </p:nvSpPr>
        <p:spPr>
          <a:xfrm>
            <a:off x="871240" y="7146429"/>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0" name="Text 38"/>
          <p:cNvSpPr txBox="1"/>
          <p:nvPr/>
        </p:nvSpPr>
        <p:spPr>
          <a:xfrm>
            <a:off x="1149548" y="7117854"/>
            <a:ext cx="307288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Asse por 25 minutos, até começarem a dourar.</a:t>
            </a:r>
            <a:endParaRPr lang="en-US" sz="1000" dirty="0"/>
          </a:p>
        </p:txBody>
      </p:sp>
      <p:sp>
        <p:nvSpPr>
          <p:cNvPr id="41" name="Shape 39"/>
          <p:cNvSpPr/>
          <p:nvPr/>
        </p:nvSpPr>
        <p:spPr>
          <a:xfrm>
            <a:off x="863798" y="7365504"/>
            <a:ext cx="190500" cy="190500"/>
          </a:xfrm>
          <a:prstGeom prst="ellipse">
            <a:avLst/>
          </a:prstGeom>
          <a:solidFill>
            <a:srgbClr val="2F4A22"/>
          </a:solidFill>
          <a:ln/>
        </p:spPr>
      </p:sp>
      <p:sp>
        <p:nvSpPr>
          <p:cNvPr id="42" name="Text 40"/>
          <p:cNvSpPr txBox="1"/>
          <p:nvPr/>
        </p:nvSpPr>
        <p:spPr>
          <a:xfrm>
            <a:off x="868859" y="7394079"/>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3" name="Text 41"/>
          <p:cNvSpPr txBox="1"/>
          <p:nvPr/>
        </p:nvSpPr>
        <p:spPr>
          <a:xfrm>
            <a:off x="1149548" y="7365504"/>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Regue com o mel, junte o tomilho, chacoalhe a assadeira e volte ao forno por mais 10 a 15 minutos, até as pontas tostarem e o mel virar uma camada brilhante.</a:t>
            </a:r>
            <a:endParaRPr lang="en-US" sz="1000" dirty="0"/>
          </a:p>
        </p:txBody>
      </p:sp>
      <p:sp>
        <p:nvSpPr>
          <p:cNvPr id="44" name="Shape 42"/>
          <p:cNvSpPr/>
          <p:nvPr/>
        </p:nvSpPr>
        <p:spPr>
          <a:xfrm>
            <a:off x="863798" y="7793831"/>
            <a:ext cx="190500" cy="190500"/>
          </a:xfrm>
          <a:prstGeom prst="ellipse">
            <a:avLst/>
          </a:prstGeom>
          <a:solidFill>
            <a:srgbClr val="2F4A22"/>
          </a:solidFill>
          <a:ln/>
        </p:spPr>
      </p:sp>
      <p:sp>
        <p:nvSpPr>
          <p:cNvPr id="45" name="Text 43"/>
          <p:cNvSpPr txBox="1"/>
          <p:nvPr/>
        </p:nvSpPr>
        <p:spPr>
          <a:xfrm>
            <a:off x="870198" y="7822406"/>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6" name="Text 44"/>
          <p:cNvSpPr txBox="1"/>
          <p:nvPr/>
        </p:nvSpPr>
        <p:spPr>
          <a:xfrm>
            <a:off x="1149548" y="7793831"/>
            <a:ext cx="399950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Retire do forno e regue com o vinagre ou limão ainda quente.</a:t>
            </a:r>
            <a:endParaRPr lang="en-US" sz="1000" dirty="0"/>
          </a:p>
        </p:txBody>
      </p:sp>
      <p:sp>
        <p:nvSpPr>
          <p:cNvPr id="47" name="Shape 45"/>
          <p:cNvSpPr/>
          <p:nvPr/>
        </p:nvSpPr>
        <p:spPr>
          <a:xfrm>
            <a:off x="863798" y="8041481"/>
            <a:ext cx="190500" cy="190500"/>
          </a:xfrm>
          <a:prstGeom prst="ellipse">
            <a:avLst/>
          </a:prstGeom>
          <a:solidFill>
            <a:srgbClr val="2F4A22"/>
          </a:solidFill>
          <a:ln/>
        </p:spPr>
      </p:sp>
      <p:sp>
        <p:nvSpPr>
          <p:cNvPr id="48" name="Text 46"/>
          <p:cNvSpPr txBox="1"/>
          <p:nvPr/>
        </p:nvSpPr>
        <p:spPr>
          <a:xfrm>
            <a:off x="869603" y="8070056"/>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49" name="Text 47"/>
          <p:cNvSpPr txBox="1"/>
          <p:nvPr/>
        </p:nvSpPr>
        <p:spPr>
          <a:xfrm>
            <a:off x="1149548" y="8041481"/>
            <a:ext cx="359128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Sirva sobre o iogurte, com amendoim picado por cima.</a:t>
            </a:r>
            <a:endParaRPr lang="en-US" sz="1000" dirty="0"/>
          </a:p>
        </p:txBody>
      </p:sp>
      <p:sp>
        <p:nvSpPr>
          <p:cNvPr id="50" name="Shape 48"/>
          <p:cNvSpPr/>
          <p:nvPr/>
        </p:nvSpPr>
        <p:spPr>
          <a:xfrm>
            <a:off x="863798" y="8327231"/>
            <a:ext cx="5832277" cy="780604"/>
          </a:xfrm>
          <a:prstGeom prst="roundRect">
            <a:avLst>
              <a:gd name="adj" fmla="val 21609"/>
            </a:avLst>
          </a:prstGeom>
          <a:solidFill>
            <a:srgbClr val="2F4A22"/>
          </a:solidFill>
          <a:ln/>
        </p:spPr>
      </p:sp>
      <p:sp>
        <p:nvSpPr>
          <p:cNvPr id="51" name="Text 49"/>
          <p:cNvSpPr txBox="1"/>
          <p:nvPr/>
        </p:nvSpPr>
        <p:spPr>
          <a:xfrm>
            <a:off x="997148" y="8441531"/>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2" name="Text 50"/>
          <p:cNvSpPr txBox="1"/>
          <p:nvPr/>
        </p:nvSpPr>
        <p:spPr>
          <a:xfrm>
            <a:off x="2279749" y="8441531"/>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O mel entra só no final: se for desde o início, queima antes de a cenoura ficar macia. O toque ácido no final equilibra o doce e acende todos os sabores.</a:t>
            </a:r>
            <a:endParaRPr lang="en-US" sz="1000" dirty="0"/>
          </a:p>
        </p:txBody>
      </p:sp>
      <p:sp>
        <p:nvSpPr>
          <p:cNvPr id="53" name="Text 51"/>
          <p:cNvSpPr txBox="1"/>
          <p:nvPr/>
        </p:nvSpPr>
        <p:spPr>
          <a:xfrm>
            <a:off x="863798" y="9304734"/>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4" name="Text 52"/>
          <p:cNvSpPr txBox="1"/>
          <p:nvPr/>
        </p:nvSpPr>
        <p:spPr>
          <a:xfrm>
            <a:off x="6547247" y="9304734"/>
            <a:ext cx="263128"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48</a:t>
            </a:r>
            <a:endParaRPr lang="en-US" sz="7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7093595"/>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348085"/>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02</a:t>
            </a:r>
            <a:endParaRPr lang="en-US" sz="750" dirty="0"/>
          </a:p>
        </p:txBody>
      </p:sp>
      <p:sp>
        <p:nvSpPr>
          <p:cNvPr id="4" name="Text 2"/>
          <p:cNvSpPr txBox="1"/>
          <p:nvPr/>
        </p:nvSpPr>
        <p:spPr>
          <a:xfrm>
            <a:off x="1043880" y="1651360"/>
            <a:ext cx="2515939"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HAMBÚRGUER DE CENOURA</a:t>
            </a:r>
            <a:endParaRPr lang="en-US" sz="3200" dirty="0"/>
          </a:p>
        </p:txBody>
      </p:sp>
      <p:sp>
        <p:nvSpPr>
          <p:cNvPr id="5" name="Text 3"/>
          <p:cNvSpPr txBox="1"/>
          <p:nvPr/>
        </p:nvSpPr>
        <p:spPr>
          <a:xfrm>
            <a:off x="1043880" y="3086844"/>
            <a:ext cx="2515939"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Hambúrguer rústico ou bolinho de cenoura com aveia e especiarias</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5-2.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3345507"/>
          </a:xfrm>
          <a:prstGeom prst="roundRect">
            <a:avLst>
              <a:gd name="adj" fmla="val 1471"/>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291469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cenouras médias raladas (cerca de 300 g)</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163087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pequena picada</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166237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dentes de alho picados</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21492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cominho em pó</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23891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colher (chá) de páprica defumada</a:t>
            </a:r>
            <a:endParaRPr lang="en-US" sz="1000" dirty="0"/>
          </a:p>
        </p:txBody>
      </p:sp>
      <p:sp>
        <p:nvSpPr>
          <p:cNvPr id="20" name="Shape 17"/>
          <p:cNvSpPr/>
          <p:nvPr/>
        </p:nvSpPr>
        <p:spPr>
          <a:xfrm>
            <a:off x="1403747" y="5891221"/>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5860107"/>
            <a:ext cx="218460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xícara (90 g) de aveia em flocos</a:t>
            </a:r>
            <a:endParaRPr lang="en-US" sz="1000" dirty="0"/>
          </a:p>
        </p:txBody>
      </p:sp>
      <p:sp>
        <p:nvSpPr>
          <p:cNvPr id="22" name="Shape 19"/>
          <p:cNvSpPr/>
          <p:nvPr/>
        </p:nvSpPr>
        <p:spPr>
          <a:xfrm>
            <a:off x="1403747" y="6110148"/>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079034"/>
            <a:ext cx="398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ovo</a:t>
            </a:r>
            <a:endParaRPr lang="en-US" sz="1000" dirty="0"/>
          </a:p>
        </p:txBody>
      </p:sp>
      <p:sp>
        <p:nvSpPr>
          <p:cNvPr id="24" name="Shape 21"/>
          <p:cNvSpPr/>
          <p:nvPr/>
        </p:nvSpPr>
        <p:spPr>
          <a:xfrm>
            <a:off x="1403747" y="6329074"/>
            <a:ext cx="114300" cy="114300"/>
          </a:xfrm>
          <a:prstGeom prst="roundRect">
            <a:avLst>
              <a:gd name="adj" fmla="val 166667"/>
            </a:avLst>
          </a:prstGeom>
          <a:ln w="9525">
            <a:solidFill>
              <a:srgbClr val="C8501F"/>
            </a:solidFill>
            <a:prstDash val="solid"/>
          </a:ln>
        </p:spPr>
      </p:sp>
      <p:sp>
        <p:nvSpPr>
          <p:cNvPr id="25" name="Text 22"/>
          <p:cNvSpPr txBox="1"/>
          <p:nvPr/>
        </p:nvSpPr>
        <p:spPr>
          <a:xfrm>
            <a:off x="1594247" y="6297960"/>
            <a:ext cx="21032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g de queijo ralado (opcional)</a:t>
            </a:r>
            <a:endParaRPr lang="en-US" sz="1000" dirty="0"/>
          </a:p>
        </p:txBody>
      </p:sp>
      <p:sp>
        <p:nvSpPr>
          <p:cNvPr id="26" name="Shape 23"/>
          <p:cNvSpPr/>
          <p:nvPr/>
        </p:nvSpPr>
        <p:spPr>
          <a:xfrm>
            <a:off x="1403747" y="6548000"/>
            <a:ext cx="114300" cy="114300"/>
          </a:xfrm>
          <a:prstGeom prst="roundRect">
            <a:avLst>
              <a:gd name="adj" fmla="val 166667"/>
            </a:avLst>
          </a:prstGeom>
          <a:ln w="9525">
            <a:solidFill>
              <a:srgbClr val="C8501F"/>
            </a:solidFill>
            <a:prstDash val="solid"/>
          </a:ln>
        </p:spPr>
      </p:sp>
      <p:sp>
        <p:nvSpPr>
          <p:cNvPr id="27" name="Text 24"/>
          <p:cNvSpPr txBox="1"/>
          <p:nvPr/>
        </p:nvSpPr>
        <p:spPr>
          <a:xfrm>
            <a:off x="1594247" y="6516886"/>
            <a:ext cx="27445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cheiro-verde picado</a:t>
            </a:r>
            <a:endParaRPr lang="en-US" sz="1000" dirty="0"/>
          </a:p>
        </p:txBody>
      </p:sp>
      <p:sp>
        <p:nvSpPr>
          <p:cNvPr id="28" name="Shape 25"/>
          <p:cNvSpPr/>
          <p:nvPr/>
        </p:nvSpPr>
        <p:spPr>
          <a:xfrm>
            <a:off x="1403747" y="6766926"/>
            <a:ext cx="114300" cy="114300"/>
          </a:xfrm>
          <a:prstGeom prst="roundRect">
            <a:avLst>
              <a:gd name="adj" fmla="val 166667"/>
            </a:avLst>
          </a:prstGeom>
          <a:ln w="9525">
            <a:solidFill>
              <a:srgbClr val="C8501F"/>
            </a:solidFill>
            <a:prstDash val="solid"/>
          </a:ln>
        </p:spPr>
      </p:sp>
      <p:sp>
        <p:nvSpPr>
          <p:cNvPr id="29" name="Text 26"/>
          <p:cNvSpPr txBox="1"/>
          <p:nvPr/>
        </p:nvSpPr>
        <p:spPr>
          <a:xfrm>
            <a:off x="1594247" y="6735812"/>
            <a:ext cx="134883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pimenta e azeite</a:t>
            </a:r>
            <a:endParaRPr lang="en-US" sz="1000" dirty="0"/>
          </a:p>
        </p:txBody>
      </p:sp>
      <p:sp>
        <p:nvSpPr>
          <p:cNvPr id="30" name="Text 27"/>
          <p:cNvSpPr txBox="1"/>
          <p:nvPr/>
        </p:nvSpPr>
        <p:spPr>
          <a:xfrm>
            <a:off x="1403747" y="7011888"/>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856804"/>
            <a:ext cx="6696075" cy="8978354"/>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243161"/>
            <a:ext cx="2266783"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02 · CENOURA</a:t>
            </a:r>
            <a:endParaRPr lang="en-US" sz="750" dirty="0"/>
          </a:p>
        </p:txBody>
      </p:sp>
      <p:sp>
        <p:nvSpPr>
          <p:cNvPr id="4" name="Text 2"/>
          <p:cNvSpPr txBox="1"/>
          <p:nvPr/>
        </p:nvSpPr>
        <p:spPr>
          <a:xfrm>
            <a:off x="863798" y="1435312"/>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HAMBÚRGUER RÚSTICO OU BOLINHO DE CENOURA COM AVEIA E ESPECIARIAS</a:t>
            </a:r>
            <a:endParaRPr lang="en-US" sz="2200" dirty="0"/>
          </a:p>
        </p:txBody>
      </p:sp>
      <p:sp>
        <p:nvSpPr>
          <p:cNvPr id="5" name="Text 3"/>
          <p:cNvSpPr txBox="1"/>
          <p:nvPr/>
        </p:nvSpPr>
        <p:spPr>
          <a:xfrm>
            <a:off x="863798" y="2164110"/>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PRATO PRINCIPAL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(saboroso e nutritivo)</a:t>
            </a:r>
            <a:endParaRPr lang="en-US" sz="800" dirty="0"/>
          </a:p>
        </p:txBody>
      </p:sp>
      <p:sp>
        <p:nvSpPr>
          <p:cNvPr id="6" name="Shape 4"/>
          <p:cNvSpPr/>
          <p:nvPr/>
        </p:nvSpPr>
        <p:spPr>
          <a:xfrm>
            <a:off x="863798" y="2438995"/>
            <a:ext cx="1893243" cy="587425"/>
          </a:xfrm>
          <a:prstGeom prst="roundRect">
            <a:avLst>
              <a:gd name="adj" fmla="val 28619"/>
            </a:avLst>
          </a:prstGeom>
          <a:solidFill>
            <a:srgbClr val="F8EED9"/>
          </a:solidFill>
          <a:ln/>
        </p:spPr>
      </p:sp>
      <p:sp>
        <p:nvSpPr>
          <p:cNvPr id="7" name="Text 5"/>
          <p:cNvSpPr txBox="1"/>
          <p:nvPr/>
        </p:nvSpPr>
        <p:spPr>
          <a:xfrm>
            <a:off x="968573" y="2505670"/>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629942"/>
            <a:ext cx="1141661" cy="345877"/>
          </a:xfrm>
          <a:prstGeom prst="rect">
            <a:avLst/>
          </a:prstGeom>
          <a:noFill/>
          <a:ln/>
        </p:spPr>
        <p:txBody>
          <a:bodyPr wrap="square" lIns="0" tIns="0" rIns="0" bIns="0" rtlCol="0" anchor="t"/>
          <a:lstStyle/>
          <a:p>
            <a:pPr algn="l" indent="0" marL="0">
              <a:lnSpc>
                <a:spcPts val="1300"/>
              </a:lnSpc>
              <a:buNone/>
            </a:pPr>
            <a:r>
              <a:rPr lang="en-US" sz="1000" dirty="0">
                <a:solidFill>
                  <a:srgbClr val="2B2A22"/>
                </a:solidFill>
                <a:latin typeface="DM Sans Medium" pitchFamily="34" charset="0"/>
                <a:ea typeface="DM Sans Medium" pitchFamily="34" charset="-122"/>
                <a:cs typeface="DM Sans Medium" pitchFamily="34" charset="-120"/>
              </a:rPr>
              <a:t>25 min + 20 min de geladeira</a:t>
            </a:r>
            <a:endParaRPr lang="en-US" sz="1000" dirty="0"/>
          </a:p>
        </p:txBody>
      </p:sp>
      <p:sp>
        <p:nvSpPr>
          <p:cNvPr id="9" name="Shape 7"/>
          <p:cNvSpPr/>
          <p:nvPr/>
        </p:nvSpPr>
        <p:spPr>
          <a:xfrm>
            <a:off x="2833241" y="2438995"/>
            <a:ext cx="1893243" cy="587425"/>
          </a:xfrm>
          <a:prstGeom prst="roundRect">
            <a:avLst>
              <a:gd name="adj" fmla="val 28619"/>
            </a:avLst>
          </a:prstGeom>
          <a:solidFill>
            <a:srgbClr val="F8EED9"/>
          </a:solidFill>
          <a:ln/>
        </p:spPr>
      </p:sp>
      <p:sp>
        <p:nvSpPr>
          <p:cNvPr id="10" name="Text 8"/>
          <p:cNvSpPr txBox="1"/>
          <p:nvPr/>
        </p:nvSpPr>
        <p:spPr>
          <a:xfrm>
            <a:off x="2938016" y="2505670"/>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629942"/>
            <a:ext cx="5280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20 min</a:t>
            </a:r>
            <a:endParaRPr lang="en-US" sz="1000" dirty="0"/>
          </a:p>
        </p:txBody>
      </p:sp>
      <p:sp>
        <p:nvSpPr>
          <p:cNvPr id="12" name="Shape 10"/>
          <p:cNvSpPr/>
          <p:nvPr/>
        </p:nvSpPr>
        <p:spPr>
          <a:xfrm>
            <a:off x="4802684" y="2438995"/>
            <a:ext cx="1893243" cy="587425"/>
          </a:xfrm>
          <a:prstGeom prst="roundRect">
            <a:avLst>
              <a:gd name="adj" fmla="val 28619"/>
            </a:avLst>
          </a:prstGeom>
          <a:solidFill>
            <a:srgbClr val="F8EED9"/>
          </a:solidFill>
          <a:ln/>
        </p:spPr>
      </p:sp>
      <p:sp>
        <p:nvSpPr>
          <p:cNvPr id="13" name="Text 11"/>
          <p:cNvSpPr txBox="1"/>
          <p:nvPr/>
        </p:nvSpPr>
        <p:spPr>
          <a:xfrm>
            <a:off x="4907459" y="2505670"/>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629942"/>
            <a:ext cx="109797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6 hambúrgueres</a:t>
            </a:r>
            <a:endParaRPr lang="en-US" sz="1000" dirty="0"/>
          </a:p>
        </p:txBody>
      </p:sp>
      <p:sp>
        <p:nvSpPr>
          <p:cNvPr id="15" name="Shape 13"/>
          <p:cNvSpPr/>
          <p:nvPr/>
        </p:nvSpPr>
        <p:spPr>
          <a:xfrm>
            <a:off x="863798" y="3159770"/>
            <a:ext cx="5832277" cy="2789188"/>
          </a:xfrm>
          <a:prstGeom prst="roundRect">
            <a:avLst>
              <a:gd name="adj" fmla="val 1693"/>
            </a:avLst>
          </a:prstGeom>
          <a:solidFill>
            <a:srgbClr val="FBF4E4"/>
          </a:solidFill>
          <a:ln w="9525">
            <a:solidFill>
              <a:srgbClr val="EADFC6"/>
            </a:solidFill>
            <a:prstDash val="solid"/>
          </a:ln>
        </p:spPr>
      </p:sp>
      <p:sp>
        <p:nvSpPr>
          <p:cNvPr id="16" name="Text 14"/>
          <p:cNvSpPr txBox="1"/>
          <p:nvPr/>
        </p:nvSpPr>
        <p:spPr>
          <a:xfrm>
            <a:off x="1006673" y="3255020"/>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590934"/>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559820"/>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3 cenouras médias raladas (cerca de 300 g)</a:t>
            </a:r>
            <a:endParaRPr lang="en-US" sz="1000" dirty="0"/>
          </a:p>
        </p:txBody>
      </p:sp>
      <p:sp>
        <p:nvSpPr>
          <p:cNvPr id="19" name="Shape 17"/>
          <p:cNvSpPr/>
          <p:nvPr/>
        </p:nvSpPr>
        <p:spPr>
          <a:xfrm>
            <a:off x="1006673" y="4000211"/>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3969097"/>
            <a:ext cx="163087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pequena picada</a:t>
            </a:r>
            <a:endParaRPr lang="en-US" sz="1000" dirty="0"/>
          </a:p>
        </p:txBody>
      </p:sp>
      <p:sp>
        <p:nvSpPr>
          <p:cNvPr id="21" name="Shape 19"/>
          <p:cNvSpPr/>
          <p:nvPr/>
        </p:nvSpPr>
        <p:spPr>
          <a:xfrm>
            <a:off x="1006673" y="4219137"/>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188023"/>
            <a:ext cx="166237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dentes de alho picados</a:t>
            </a:r>
            <a:endParaRPr lang="en-US" sz="1000" dirty="0"/>
          </a:p>
        </p:txBody>
      </p:sp>
      <p:sp>
        <p:nvSpPr>
          <p:cNvPr id="23" name="Shape 21"/>
          <p:cNvSpPr/>
          <p:nvPr/>
        </p:nvSpPr>
        <p:spPr>
          <a:xfrm>
            <a:off x="1006673" y="4438064"/>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406950"/>
            <a:ext cx="21492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cominho em pó</a:t>
            </a:r>
            <a:endParaRPr lang="en-US" sz="1000" dirty="0"/>
          </a:p>
        </p:txBody>
      </p:sp>
      <p:sp>
        <p:nvSpPr>
          <p:cNvPr id="25" name="Shape 23"/>
          <p:cNvSpPr/>
          <p:nvPr/>
        </p:nvSpPr>
        <p:spPr>
          <a:xfrm>
            <a:off x="1006673" y="4656990"/>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625876"/>
            <a:ext cx="23891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colher (chá) de páprica defumada</a:t>
            </a:r>
            <a:endParaRPr lang="en-US" sz="1000" dirty="0"/>
          </a:p>
        </p:txBody>
      </p:sp>
      <p:sp>
        <p:nvSpPr>
          <p:cNvPr id="27" name="Shape 25"/>
          <p:cNvSpPr/>
          <p:nvPr/>
        </p:nvSpPr>
        <p:spPr>
          <a:xfrm>
            <a:off x="1006673" y="4875916"/>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4844802"/>
            <a:ext cx="218460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xícara (90 g) de aveia em flocos</a:t>
            </a:r>
            <a:endParaRPr lang="en-US" sz="1000" dirty="0"/>
          </a:p>
        </p:txBody>
      </p:sp>
      <p:sp>
        <p:nvSpPr>
          <p:cNvPr id="29" name="Shape 27"/>
          <p:cNvSpPr/>
          <p:nvPr/>
        </p:nvSpPr>
        <p:spPr>
          <a:xfrm>
            <a:off x="1006673" y="5094842"/>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063728"/>
            <a:ext cx="398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ovo</a:t>
            </a:r>
            <a:endParaRPr lang="en-US" sz="1000" dirty="0"/>
          </a:p>
        </p:txBody>
      </p:sp>
      <p:sp>
        <p:nvSpPr>
          <p:cNvPr id="31" name="Shape 29"/>
          <p:cNvSpPr/>
          <p:nvPr/>
        </p:nvSpPr>
        <p:spPr>
          <a:xfrm>
            <a:off x="1006673" y="5313768"/>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5282654"/>
            <a:ext cx="21032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g de queijo ralado (opcional)</a:t>
            </a:r>
            <a:endParaRPr lang="en-US" sz="1000" dirty="0"/>
          </a:p>
        </p:txBody>
      </p:sp>
      <p:sp>
        <p:nvSpPr>
          <p:cNvPr id="33" name="Shape 31"/>
          <p:cNvSpPr/>
          <p:nvPr/>
        </p:nvSpPr>
        <p:spPr>
          <a:xfrm>
            <a:off x="1006673" y="5532694"/>
            <a:ext cx="114300" cy="114300"/>
          </a:xfrm>
          <a:prstGeom prst="roundRect">
            <a:avLst>
              <a:gd name="adj" fmla="val 166667"/>
            </a:avLst>
          </a:prstGeom>
          <a:ln w="9525">
            <a:solidFill>
              <a:srgbClr val="C8501F"/>
            </a:solidFill>
            <a:prstDash val="solid"/>
          </a:ln>
        </p:spPr>
      </p:sp>
      <p:sp>
        <p:nvSpPr>
          <p:cNvPr id="34" name="Text 32"/>
          <p:cNvSpPr txBox="1"/>
          <p:nvPr/>
        </p:nvSpPr>
        <p:spPr>
          <a:xfrm>
            <a:off x="1197173" y="5501580"/>
            <a:ext cx="27445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cheiro-verde picado</a:t>
            </a:r>
            <a:endParaRPr lang="en-US" sz="1000" dirty="0"/>
          </a:p>
        </p:txBody>
      </p:sp>
      <p:sp>
        <p:nvSpPr>
          <p:cNvPr id="35" name="Shape 33"/>
          <p:cNvSpPr/>
          <p:nvPr/>
        </p:nvSpPr>
        <p:spPr>
          <a:xfrm>
            <a:off x="1006673" y="5751621"/>
            <a:ext cx="114300" cy="114300"/>
          </a:xfrm>
          <a:prstGeom prst="roundRect">
            <a:avLst>
              <a:gd name="adj" fmla="val 166667"/>
            </a:avLst>
          </a:prstGeom>
          <a:ln w="9525">
            <a:solidFill>
              <a:srgbClr val="C8501F"/>
            </a:solidFill>
            <a:prstDash val="solid"/>
          </a:ln>
        </p:spPr>
      </p:sp>
      <p:sp>
        <p:nvSpPr>
          <p:cNvPr id="36" name="Text 34"/>
          <p:cNvSpPr txBox="1"/>
          <p:nvPr/>
        </p:nvSpPr>
        <p:spPr>
          <a:xfrm>
            <a:off x="1197173" y="5720507"/>
            <a:ext cx="134883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pimenta e azeite</a:t>
            </a:r>
            <a:endParaRPr lang="en-US" sz="1000" dirty="0"/>
          </a:p>
        </p:txBody>
      </p:sp>
      <p:sp>
        <p:nvSpPr>
          <p:cNvPr id="37" name="Text 35"/>
          <p:cNvSpPr txBox="1"/>
          <p:nvPr/>
        </p:nvSpPr>
        <p:spPr>
          <a:xfrm>
            <a:off x="863798" y="6072783"/>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8" name="Shape 36"/>
          <p:cNvSpPr/>
          <p:nvPr/>
        </p:nvSpPr>
        <p:spPr>
          <a:xfrm>
            <a:off x="863798" y="6415683"/>
            <a:ext cx="190500" cy="190500"/>
          </a:xfrm>
          <a:prstGeom prst="ellipse">
            <a:avLst/>
          </a:prstGeom>
          <a:solidFill>
            <a:srgbClr val="2F4A22"/>
          </a:solidFill>
          <a:ln/>
        </p:spPr>
      </p:sp>
      <p:sp>
        <p:nvSpPr>
          <p:cNvPr id="39" name="Text 37"/>
          <p:cNvSpPr txBox="1"/>
          <p:nvPr/>
        </p:nvSpPr>
        <p:spPr>
          <a:xfrm>
            <a:off x="883295" y="6444258"/>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40" name="Text 38"/>
          <p:cNvSpPr txBox="1"/>
          <p:nvPr/>
        </p:nvSpPr>
        <p:spPr>
          <a:xfrm>
            <a:off x="1149548" y="6415683"/>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Numa frigideira com um fio de azeite, refogue a cebola e o alho. Junte a cenoura ralada, o cominho e a páprica e refogue por cerca de 8 minutos, até a cenoura murchar e perder a água.</a:t>
            </a:r>
            <a:endParaRPr lang="en-US" sz="1000" dirty="0"/>
          </a:p>
        </p:txBody>
      </p:sp>
      <p:sp>
        <p:nvSpPr>
          <p:cNvPr id="41" name="Shape 39"/>
          <p:cNvSpPr/>
          <p:nvPr/>
        </p:nvSpPr>
        <p:spPr>
          <a:xfrm>
            <a:off x="863798" y="7034361"/>
            <a:ext cx="190500" cy="190500"/>
          </a:xfrm>
          <a:prstGeom prst="ellipse">
            <a:avLst/>
          </a:prstGeom>
          <a:solidFill>
            <a:srgbClr val="2F4A22"/>
          </a:solidFill>
          <a:ln/>
        </p:spPr>
      </p:sp>
      <p:sp>
        <p:nvSpPr>
          <p:cNvPr id="42" name="Text 40"/>
          <p:cNvSpPr txBox="1"/>
          <p:nvPr/>
        </p:nvSpPr>
        <p:spPr>
          <a:xfrm>
            <a:off x="872579" y="7062936"/>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3" name="Text 41"/>
          <p:cNvSpPr txBox="1"/>
          <p:nvPr/>
        </p:nvSpPr>
        <p:spPr>
          <a:xfrm>
            <a:off x="1149548" y="7034361"/>
            <a:ext cx="273767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Transfira para uma tigela e deixe amornar.</a:t>
            </a:r>
            <a:endParaRPr lang="en-US" sz="1000" dirty="0"/>
          </a:p>
        </p:txBody>
      </p:sp>
      <p:sp>
        <p:nvSpPr>
          <p:cNvPr id="44" name="Shape 42"/>
          <p:cNvSpPr/>
          <p:nvPr/>
        </p:nvSpPr>
        <p:spPr>
          <a:xfrm>
            <a:off x="863798" y="7282011"/>
            <a:ext cx="190500" cy="190500"/>
          </a:xfrm>
          <a:prstGeom prst="ellipse">
            <a:avLst/>
          </a:prstGeom>
          <a:solidFill>
            <a:srgbClr val="2F4A22"/>
          </a:solidFill>
          <a:ln/>
        </p:spPr>
      </p:sp>
      <p:sp>
        <p:nvSpPr>
          <p:cNvPr id="45" name="Text 43"/>
          <p:cNvSpPr txBox="1"/>
          <p:nvPr/>
        </p:nvSpPr>
        <p:spPr>
          <a:xfrm>
            <a:off x="871240" y="7310586"/>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6" name="Text 44"/>
          <p:cNvSpPr txBox="1"/>
          <p:nvPr/>
        </p:nvSpPr>
        <p:spPr>
          <a:xfrm>
            <a:off x="1149548" y="7282011"/>
            <a:ext cx="591890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Junte a aveia, o ovo, o queijo e o cheiro-verde. Tempere com sal e pimenta e misture bem.</a:t>
            </a:r>
            <a:endParaRPr lang="en-US" sz="1000" dirty="0"/>
          </a:p>
        </p:txBody>
      </p:sp>
      <p:sp>
        <p:nvSpPr>
          <p:cNvPr id="47" name="Shape 45"/>
          <p:cNvSpPr/>
          <p:nvPr/>
        </p:nvSpPr>
        <p:spPr>
          <a:xfrm>
            <a:off x="863798" y="7529661"/>
            <a:ext cx="190500" cy="190500"/>
          </a:xfrm>
          <a:prstGeom prst="ellipse">
            <a:avLst/>
          </a:prstGeom>
          <a:solidFill>
            <a:srgbClr val="2F4A22"/>
          </a:solidFill>
          <a:ln/>
        </p:spPr>
      </p:sp>
      <p:sp>
        <p:nvSpPr>
          <p:cNvPr id="48" name="Text 46"/>
          <p:cNvSpPr txBox="1"/>
          <p:nvPr/>
        </p:nvSpPr>
        <p:spPr>
          <a:xfrm>
            <a:off x="868859" y="7558236"/>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9" name="Text 47"/>
          <p:cNvSpPr txBox="1"/>
          <p:nvPr/>
        </p:nvSpPr>
        <p:spPr>
          <a:xfrm>
            <a:off x="1149548" y="7529661"/>
            <a:ext cx="473459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Deixe a massa descansar por 15 minutos, para a aveia hidratar e dar liga.</a:t>
            </a:r>
            <a:endParaRPr lang="en-US" sz="1000" dirty="0"/>
          </a:p>
        </p:txBody>
      </p:sp>
      <p:sp>
        <p:nvSpPr>
          <p:cNvPr id="50" name="Shape 48"/>
          <p:cNvSpPr/>
          <p:nvPr/>
        </p:nvSpPr>
        <p:spPr>
          <a:xfrm>
            <a:off x="863798" y="7777311"/>
            <a:ext cx="190500" cy="190500"/>
          </a:xfrm>
          <a:prstGeom prst="ellipse">
            <a:avLst/>
          </a:prstGeom>
          <a:solidFill>
            <a:srgbClr val="2F4A22"/>
          </a:solidFill>
          <a:ln/>
        </p:spPr>
      </p:sp>
      <p:sp>
        <p:nvSpPr>
          <p:cNvPr id="51" name="Text 49"/>
          <p:cNvSpPr txBox="1"/>
          <p:nvPr/>
        </p:nvSpPr>
        <p:spPr>
          <a:xfrm>
            <a:off x="870198" y="7805886"/>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2" name="Text 50"/>
          <p:cNvSpPr txBox="1"/>
          <p:nvPr/>
        </p:nvSpPr>
        <p:spPr>
          <a:xfrm>
            <a:off x="1149548" y="7777311"/>
            <a:ext cx="528432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Modele 6 hambúrgueres com as mãos úmidas e leve à geladeira por 20 minutos.</a:t>
            </a:r>
            <a:endParaRPr lang="en-US" sz="1000" dirty="0"/>
          </a:p>
        </p:txBody>
      </p:sp>
      <p:sp>
        <p:nvSpPr>
          <p:cNvPr id="53" name="Shape 51"/>
          <p:cNvSpPr/>
          <p:nvPr/>
        </p:nvSpPr>
        <p:spPr>
          <a:xfrm>
            <a:off x="863798" y="8024961"/>
            <a:ext cx="190500" cy="190500"/>
          </a:xfrm>
          <a:prstGeom prst="ellipse">
            <a:avLst/>
          </a:prstGeom>
          <a:solidFill>
            <a:srgbClr val="2F4A22"/>
          </a:solidFill>
          <a:ln/>
        </p:spPr>
      </p:sp>
      <p:sp>
        <p:nvSpPr>
          <p:cNvPr id="54" name="Text 52"/>
          <p:cNvSpPr txBox="1"/>
          <p:nvPr/>
        </p:nvSpPr>
        <p:spPr>
          <a:xfrm>
            <a:off x="869603" y="8053536"/>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5" name="Text 53"/>
          <p:cNvSpPr txBox="1"/>
          <p:nvPr/>
        </p:nvSpPr>
        <p:spPr>
          <a:xfrm>
            <a:off x="1149548" y="8024961"/>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Doure numa frigideira com azeite, em fogo médio, por 4 minutos de cada lado, virando com cuidado. Ou asse a 200 °C por 20 minutos, virando na metade.</a:t>
            </a:r>
            <a:endParaRPr lang="en-US" sz="1000" dirty="0"/>
          </a:p>
        </p:txBody>
      </p:sp>
      <p:sp>
        <p:nvSpPr>
          <p:cNvPr id="56" name="Shape 54"/>
          <p:cNvSpPr/>
          <p:nvPr/>
        </p:nvSpPr>
        <p:spPr>
          <a:xfrm>
            <a:off x="863798" y="8491389"/>
            <a:ext cx="5832277" cy="780604"/>
          </a:xfrm>
          <a:prstGeom prst="roundRect">
            <a:avLst>
              <a:gd name="adj" fmla="val 21609"/>
            </a:avLst>
          </a:prstGeom>
          <a:solidFill>
            <a:srgbClr val="2F4A22"/>
          </a:solidFill>
          <a:ln/>
        </p:spPr>
      </p:sp>
      <p:sp>
        <p:nvSpPr>
          <p:cNvPr id="57" name="Text 55"/>
          <p:cNvSpPr txBox="1"/>
          <p:nvPr/>
        </p:nvSpPr>
        <p:spPr>
          <a:xfrm>
            <a:off x="997148" y="8605689"/>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8" name="Text 56"/>
          <p:cNvSpPr txBox="1"/>
          <p:nvPr/>
        </p:nvSpPr>
        <p:spPr>
          <a:xfrm>
            <a:off x="2279749" y="8605689"/>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Refogar a cenoura antes é o passo que separa um hambúrguer firme e saboroso de um que desmancha na frigideira. Sirva no pão com o pesto de rama (página “Aproveita Isso Também”).</a:t>
            </a:r>
            <a:endParaRPr lang="en-US" sz="1000" dirty="0"/>
          </a:p>
        </p:txBody>
      </p:sp>
      <p:sp>
        <p:nvSpPr>
          <p:cNvPr id="59" name="Text 57"/>
          <p:cNvSpPr txBox="1"/>
          <p:nvPr/>
        </p:nvSpPr>
        <p:spPr>
          <a:xfrm>
            <a:off x="863798" y="9468892"/>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0" name="Text 58"/>
          <p:cNvSpPr txBox="1"/>
          <p:nvPr/>
        </p:nvSpPr>
        <p:spPr>
          <a:xfrm>
            <a:off x="6543229" y="9468892"/>
            <a:ext cx="267146"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50</a:t>
            </a:r>
            <a:endParaRPr lang="en-US" sz="7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7312521"/>
          </a:xfrm>
          <a:prstGeom prst="roundRect">
            <a:avLst>
              <a:gd name="adj" fmla="val 481"/>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444823"/>
            <a:ext cx="2515939" cy="257175"/>
          </a:xfrm>
          <a:prstGeom prst="rect">
            <a:avLst/>
          </a:prstGeom>
          <a:noFill/>
          <a:ln/>
        </p:spPr>
        <p:txBody>
          <a:bodyPr wrap="square" lIns="0" tIns="0" rIns="0" bIns="0" rtlCol="0" anchor="t"/>
          <a:lstStyle/>
          <a:p>
            <a:pPr algn="l" indent="0" marL="0">
              <a:lnSpc>
                <a:spcPts val="900"/>
              </a:lnSpc>
              <a:buNone/>
            </a:pPr>
            <a:r>
              <a:rPr lang="en-US" sz="750" b="1" spc="150" kern="0" dirty="0">
                <a:solidFill>
                  <a:srgbClr val="E5A82E"/>
                </a:solidFill>
                <a:latin typeface="DM Sans" pitchFamily="34" charset="0"/>
                <a:ea typeface="DM Sans" pitchFamily="34" charset="-122"/>
                <a:cs typeface="DM Sans" pitchFamily="34" charset="-120"/>
              </a:rPr>
              <a:t>#COZINHAMAMEDE · TRANSFORMAÇÃO 03</a:t>
            </a:r>
            <a:endParaRPr lang="en-US" sz="750" dirty="0"/>
          </a:p>
        </p:txBody>
      </p:sp>
      <p:sp>
        <p:nvSpPr>
          <p:cNvPr id="4" name="Text 2"/>
          <p:cNvSpPr txBox="1"/>
          <p:nvPr/>
        </p:nvSpPr>
        <p:spPr>
          <a:xfrm>
            <a:off x="1043880" y="1748099"/>
            <a:ext cx="2515939"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BOLO DE CENOURA</a:t>
            </a:r>
            <a:endParaRPr lang="en-US" sz="3200" dirty="0"/>
          </a:p>
        </p:txBody>
      </p:sp>
      <p:sp>
        <p:nvSpPr>
          <p:cNvPr id="5" name="Text 3"/>
          <p:cNvSpPr txBox="1"/>
          <p:nvPr/>
        </p:nvSpPr>
        <p:spPr>
          <a:xfrm>
            <a:off x="1043880" y="2769096"/>
            <a:ext cx="2515939"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Bolo de cenoura da vovó com técnica de chef e calda de chocolate espelhada</a:t>
            </a:r>
            <a:endParaRPr lang="en-US" sz="1200" dirty="0"/>
          </a:p>
        </p:txBody>
      </p:sp>
      <p:sp>
        <p:nvSpPr>
          <p:cNvPr id="6" name="Shape 4"/>
          <p:cNvSpPr/>
          <p:nvPr/>
        </p:nvSpPr>
        <p:spPr>
          <a:xfrm>
            <a:off x="3847802" y="1151781"/>
            <a:ext cx="2668339" cy="2668339"/>
          </a:xfrm>
          <a:prstGeom prst="ellipse">
            <a:avLst/>
          </a:prstGeom>
          <a:solidFill>
            <a:srgbClr val="F8EED9"/>
          </a:solidFill>
          <a:ln/>
        </p:spPr>
      </p:sp>
      <p:pic>
        <p:nvPicPr>
          <p:cNvPr id="7" name="Image 0" descr="/home/user/ebook-receitas/versoes/VERSAO ESTAMPAS/fotos/r5-3.jpg">    </p:cNvPr>
          <p:cNvPicPr>
            <a:picLocks noChangeAspect="1"/>
          </p:cNvPicPr>
          <p:nvPr/>
        </p:nvPicPr>
        <p:blipFill>
          <a:blip r:embed="rId2"/>
          <a:srcRect l="0" r="0" t="0" b="0"/>
          <a:stretch/>
        </p:blipFill>
        <p:spPr>
          <a:xfrm>
            <a:off x="3924002" y="1227981"/>
            <a:ext cx="2515939" cy="2515939"/>
          </a:xfrm>
          <a:prstGeom prst="ellipse">
            <a:avLst/>
          </a:prstGeom>
        </p:spPr>
      </p:pic>
      <p:sp>
        <p:nvSpPr>
          <p:cNvPr id="8" name="Shape 5"/>
          <p:cNvSpPr/>
          <p:nvPr/>
        </p:nvSpPr>
        <p:spPr>
          <a:xfrm>
            <a:off x="1043880" y="4108103"/>
            <a:ext cx="5472113" cy="3564434"/>
          </a:xfrm>
          <a:prstGeom prst="roundRect">
            <a:avLst>
              <a:gd name="adj" fmla="val 1295"/>
            </a:avLst>
          </a:prstGeom>
          <a:solidFill>
            <a:srgbClr val="FFFCF5">
              <a:alpha val="97000"/>
            </a:srgbClr>
          </a:solidFill>
          <a:ln/>
        </p:spPr>
      </p:sp>
      <p:sp>
        <p:nvSpPr>
          <p:cNvPr id="9" name="Text 6"/>
          <p:cNvSpPr txBox="1"/>
          <p:nvPr/>
        </p:nvSpPr>
        <p:spPr>
          <a:xfrm>
            <a:off x="1403747" y="44225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0" name="Shape 7"/>
          <p:cNvSpPr/>
          <p:nvPr/>
        </p:nvSpPr>
        <p:spPr>
          <a:xfrm>
            <a:off x="1403747" y="4796591"/>
            <a:ext cx="114300" cy="114300"/>
          </a:xfrm>
          <a:prstGeom prst="roundRect">
            <a:avLst>
              <a:gd name="adj" fmla="val 166667"/>
            </a:avLst>
          </a:prstGeom>
          <a:ln w="9525">
            <a:solidFill>
              <a:srgbClr val="C8501F"/>
            </a:solidFill>
            <a:prstDash val="solid"/>
          </a:ln>
        </p:spPr>
      </p:sp>
      <p:sp>
        <p:nvSpPr>
          <p:cNvPr id="11" name="Text 8"/>
          <p:cNvSpPr txBox="1"/>
          <p:nvPr/>
        </p:nvSpPr>
        <p:spPr>
          <a:xfrm>
            <a:off x="1594247" y="4765477"/>
            <a:ext cx="319356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cenouras médias (cerca de 300 g), em rodelas</a:t>
            </a:r>
            <a:endParaRPr lang="en-US" sz="1000" dirty="0"/>
          </a:p>
        </p:txBody>
      </p:sp>
      <p:sp>
        <p:nvSpPr>
          <p:cNvPr id="12" name="Shape 9"/>
          <p:cNvSpPr/>
          <p:nvPr/>
        </p:nvSpPr>
        <p:spPr>
          <a:xfrm>
            <a:off x="1403747" y="5015517"/>
            <a:ext cx="114300" cy="114300"/>
          </a:xfrm>
          <a:prstGeom prst="roundRect">
            <a:avLst>
              <a:gd name="adj" fmla="val 166667"/>
            </a:avLst>
          </a:prstGeom>
          <a:ln w="9525">
            <a:solidFill>
              <a:srgbClr val="C8501F"/>
            </a:solidFill>
            <a:prstDash val="solid"/>
          </a:ln>
        </p:spPr>
      </p:sp>
      <p:sp>
        <p:nvSpPr>
          <p:cNvPr id="13" name="Text 10"/>
          <p:cNvSpPr txBox="1"/>
          <p:nvPr/>
        </p:nvSpPr>
        <p:spPr>
          <a:xfrm>
            <a:off x="1594247" y="4984403"/>
            <a:ext cx="5000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ovos</a:t>
            </a:r>
            <a:endParaRPr lang="en-US" sz="1000" dirty="0"/>
          </a:p>
        </p:txBody>
      </p:sp>
      <p:sp>
        <p:nvSpPr>
          <p:cNvPr id="14" name="Shape 11"/>
          <p:cNvSpPr/>
          <p:nvPr/>
        </p:nvSpPr>
        <p:spPr>
          <a:xfrm>
            <a:off x="1403747" y="5234443"/>
            <a:ext cx="114300" cy="114300"/>
          </a:xfrm>
          <a:prstGeom prst="roundRect">
            <a:avLst>
              <a:gd name="adj" fmla="val 166667"/>
            </a:avLst>
          </a:prstGeom>
          <a:ln w="9525">
            <a:solidFill>
              <a:srgbClr val="C8501F"/>
            </a:solidFill>
            <a:prstDash val="solid"/>
          </a:ln>
        </p:spPr>
      </p:sp>
      <p:sp>
        <p:nvSpPr>
          <p:cNvPr id="15" name="Text 12"/>
          <p:cNvSpPr txBox="1"/>
          <p:nvPr/>
        </p:nvSpPr>
        <p:spPr>
          <a:xfrm>
            <a:off x="1594247" y="5203329"/>
            <a:ext cx="99461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240 ml de óleo</a:t>
            </a:r>
            <a:endParaRPr lang="en-US" sz="1000" dirty="0"/>
          </a:p>
        </p:txBody>
      </p:sp>
      <p:sp>
        <p:nvSpPr>
          <p:cNvPr id="16" name="Shape 13"/>
          <p:cNvSpPr/>
          <p:nvPr/>
        </p:nvSpPr>
        <p:spPr>
          <a:xfrm>
            <a:off x="1403747" y="5453369"/>
            <a:ext cx="114300" cy="114300"/>
          </a:xfrm>
          <a:prstGeom prst="roundRect">
            <a:avLst>
              <a:gd name="adj" fmla="val 166667"/>
            </a:avLst>
          </a:prstGeom>
          <a:ln w="9525">
            <a:solidFill>
              <a:srgbClr val="C8501F"/>
            </a:solidFill>
            <a:prstDash val="solid"/>
          </a:ln>
        </p:spPr>
      </p:sp>
      <p:sp>
        <p:nvSpPr>
          <p:cNvPr id="17" name="Text 14"/>
          <p:cNvSpPr txBox="1"/>
          <p:nvPr/>
        </p:nvSpPr>
        <p:spPr>
          <a:xfrm>
            <a:off x="1594247" y="5422255"/>
            <a:ext cx="10928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açúcar</a:t>
            </a:r>
            <a:endParaRPr lang="en-US" sz="1000" dirty="0"/>
          </a:p>
        </p:txBody>
      </p:sp>
      <p:sp>
        <p:nvSpPr>
          <p:cNvPr id="18" name="Shape 15"/>
          <p:cNvSpPr/>
          <p:nvPr/>
        </p:nvSpPr>
        <p:spPr>
          <a:xfrm>
            <a:off x="1403747" y="5672295"/>
            <a:ext cx="114300" cy="114300"/>
          </a:xfrm>
          <a:prstGeom prst="roundRect">
            <a:avLst>
              <a:gd name="adj" fmla="val 166667"/>
            </a:avLst>
          </a:prstGeom>
          <a:ln w="9525">
            <a:solidFill>
              <a:srgbClr val="C8501F"/>
            </a:solidFill>
            <a:prstDash val="solid"/>
          </a:ln>
        </p:spPr>
      </p:sp>
      <p:sp>
        <p:nvSpPr>
          <p:cNvPr id="19" name="Text 16"/>
          <p:cNvSpPr txBox="1"/>
          <p:nvPr/>
        </p:nvSpPr>
        <p:spPr>
          <a:xfrm>
            <a:off x="1594247" y="5641181"/>
            <a:ext cx="236679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farinha de trigo, peneirada</a:t>
            </a:r>
            <a:endParaRPr lang="en-US" sz="1000" dirty="0"/>
          </a:p>
        </p:txBody>
      </p:sp>
      <p:sp>
        <p:nvSpPr>
          <p:cNvPr id="20" name="Shape 17"/>
          <p:cNvSpPr/>
          <p:nvPr/>
        </p:nvSpPr>
        <p:spPr>
          <a:xfrm>
            <a:off x="1403747" y="5891221"/>
            <a:ext cx="114300" cy="114300"/>
          </a:xfrm>
          <a:prstGeom prst="roundRect">
            <a:avLst>
              <a:gd name="adj" fmla="val 166667"/>
            </a:avLst>
          </a:prstGeom>
          <a:ln w="9525">
            <a:solidFill>
              <a:srgbClr val="C8501F"/>
            </a:solidFill>
            <a:prstDash val="solid"/>
          </a:ln>
        </p:spPr>
      </p:sp>
      <p:sp>
        <p:nvSpPr>
          <p:cNvPr id="21" name="Text 18"/>
          <p:cNvSpPr txBox="1"/>
          <p:nvPr/>
        </p:nvSpPr>
        <p:spPr>
          <a:xfrm>
            <a:off x="1594247" y="5860107"/>
            <a:ext cx="283235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fermento químico em pó</a:t>
            </a:r>
            <a:endParaRPr lang="en-US" sz="1000" dirty="0"/>
          </a:p>
        </p:txBody>
      </p:sp>
      <p:sp>
        <p:nvSpPr>
          <p:cNvPr id="22" name="Shape 19"/>
          <p:cNvSpPr/>
          <p:nvPr/>
        </p:nvSpPr>
        <p:spPr>
          <a:xfrm>
            <a:off x="1403747" y="6110148"/>
            <a:ext cx="114300" cy="114300"/>
          </a:xfrm>
          <a:prstGeom prst="roundRect">
            <a:avLst>
              <a:gd name="adj" fmla="val 166667"/>
            </a:avLst>
          </a:prstGeom>
          <a:ln w="9525">
            <a:solidFill>
              <a:srgbClr val="C8501F"/>
            </a:solidFill>
            <a:prstDash val="solid"/>
          </a:ln>
        </p:spPr>
      </p:sp>
      <p:sp>
        <p:nvSpPr>
          <p:cNvPr id="23" name="Text 20"/>
          <p:cNvSpPr txBox="1"/>
          <p:nvPr/>
        </p:nvSpPr>
        <p:spPr>
          <a:xfrm>
            <a:off x="1594247" y="6079034"/>
            <a:ext cx="9455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pitada de sal</a:t>
            </a:r>
            <a:endParaRPr lang="en-US" sz="1000" dirty="0"/>
          </a:p>
        </p:txBody>
      </p:sp>
      <p:sp>
        <p:nvSpPr>
          <p:cNvPr id="24" name="Shape 21"/>
          <p:cNvSpPr/>
          <p:nvPr/>
        </p:nvSpPr>
        <p:spPr>
          <a:xfrm>
            <a:off x="1403747" y="6329074"/>
            <a:ext cx="114300" cy="114300"/>
          </a:xfrm>
          <a:prstGeom prst="roundRect">
            <a:avLst>
              <a:gd name="adj" fmla="val 166667"/>
            </a:avLst>
          </a:prstGeom>
          <a:ln w="9525">
            <a:solidFill>
              <a:srgbClr val="C8501F"/>
            </a:solidFill>
            <a:prstDash val="solid"/>
          </a:ln>
        </p:spPr>
      </p:sp>
      <p:sp>
        <p:nvSpPr>
          <p:cNvPr id="25" name="Text 22"/>
          <p:cNvSpPr txBox="1"/>
          <p:nvPr/>
        </p:nvSpPr>
        <p:spPr>
          <a:xfrm>
            <a:off x="1594247" y="6297960"/>
            <a:ext cx="263349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150 g de chocolate meio amargo picado</a:t>
            </a:r>
            <a:endParaRPr lang="en-US" sz="1000" dirty="0"/>
          </a:p>
        </p:txBody>
      </p:sp>
      <p:sp>
        <p:nvSpPr>
          <p:cNvPr id="26" name="Shape 23"/>
          <p:cNvSpPr/>
          <p:nvPr/>
        </p:nvSpPr>
        <p:spPr>
          <a:xfrm>
            <a:off x="1403747" y="6548000"/>
            <a:ext cx="114300" cy="114300"/>
          </a:xfrm>
          <a:prstGeom prst="roundRect">
            <a:avLst>
              <a:gd name="adj" fmla="val 166667"/>
            </a:avLst>
          </a:prstGeom>
          <a:ln w="9525">
            <a:solidFill>
              <a:srgbClr val="C8501F"/>
            </a:solidFill>
            <a:prstDash val="solid"/>
          </a:ln>
        </p:spPr>
      </p:sp>
      <p:sp>
        <p:nvSpPr>
          <p:cNvPr id="27" name="Text 24"/>
          <p:cNvSpPr txBox="1"/>
          <p:nvPr/>
        </p:nvSpPr>
        <p:spPr>
          <a:xfrm>
            <a:off x="1594247" y="6516886"/>
            <a:ext cx="234812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caixinha (200 g) de creme de leite</a:t>
            </a:r>
            <a:endParaRPr lang="en-US" sz="1000" dirty="0"/>
          </a:p>
        </p:txBody>
      </p:sp>
      <p:sp>
        <p:nvSpPr>
          <p:cNvPr id="28" name="Shape 25"/>
          <p:cNvSpPr/>
          <p:nvPr/>
        </p:nvSpPr>
        <p:spPr>
          <a:xfrm>
            <a:off x="1403747" y="6766926"/>
            <a:ext cx="114300" cy="114300"/>
          </a:xfrm>
          <a:prstGeom prst="roundRect">
            <a:avLst>
              <a:gd name="adj" fmla="val 166667"/>
            </a:avLst>
          </a:prstGeom>
          <a:ln w="9525">
            <a:solidFill>
              <a:srgbClr val="C8501F"/>
            </a:solidFill>
            <a:prstDash val="solid"/>
          </a:ln>
        </p:spPr>
      </p:sp>
      <p:sp>
        <p:nvSpPr>
          <p:cNvPr id="29" name="Text 26"/>
          <p:cNvSpPr txBox="1"/>
          <p:nvPr/>
        </p:nvSpPr>
        <p:spPr>
          <a:xfrm>
            <a:off x="1594247" y="6735812"/>
            <a:ext cx="144251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mel</a:t>
            </a:r>
            <a:endParaRPr lang="en-US" sz="1000" dirty="0"/>
          </a:p>
        </p:txBody>
      </p:sp>
      <p:sp>
        <p:nvSpPr>
          <p:cNvPr id="30" name="Shape 27"/>
          <p:cNvSpPr/>
          <p:nvPr/>
        </p:nvSpPr>
        <p:spPr>
          <a:xfrm>
            <a:off x="1403747" y="6985852"/>
            <a:ext cx="114300" cy="114300"/>
          </a:xfrm>
          <a:prstGeom prst="roundRect">
            <a:avLst>
              <a:gd name="adj" fmla="val 166667"/>
            </a:avLst>
          </a:prstGeom>
          <a:ln w="9525">
            <a:solidFill>
              <a:srgbClr val="C8501F"/>
            </a:solidFill>
            <a:prstDash val="solid"/>
          </a:ln>
        </p:spPr>
      </p:sp>
      <p:sp>
        <p:nvSpPr>
          <p:cNvPr id="31" name="Text 28"/>
          <p:cNvSpPr txBox="1"/>
          <p:nvPr/>
        </p:nvSpPr>
        <p:spPr>
          <a:xfrm>
            <a:off x="1594247" y="6954738"/>
            <a:ext cx="181439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manteiga</a:t>
            </a:r>
            <a:endParaRPr lang="en-US" sz="1000" dirty="0"/>
          </a:p>
        </p:txBody>
      </p:sp>
      <p:sp>
        <p:nvSpPr>
          <p:cNvPr id="32" name="Text 29"/>
          <p:cNvSpPr txBox="1"/>
          <p:nvPr/>
        </p:nvSpPr>
        <p:spPr>
          <a:xfrm>
            <a:off x="1403747" y="7230814"/>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639366"/>
            <a:ext cx="6696075" cy="9413230"/>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025723"/>
            <a:ext cx="2269950"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03 · CENOURA</a:t>
            </a:r>
            <a:endParaRPr lang="en-US" sz="750" dirty="0"/>
          </a:p>
        </p:txBody>
      </p:sp>
      <p:sp>
        <p:nvSpPr>
          <p:cNvPr id="4" name="Text 2"/>
          <p:cNvSpPr txBox="1"/>
          <p:nvPr/>
        </p:nvSpPr>
        <p:spPr>
          <a:xfrm>
            <a:off x="863798" y="1217874"/>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BOLO DE CENOURA DA VOVÓ COM TÉCNICA DE CHEF E CALDA DE CHOCOLATE ESPELHADA</a:t>
            </a:r>
            <a:endParaRPr lang="en-US" sz="2200" dirty="0"/>
          </a:p>
        </p:txBody>
      </p:sp>
      <p:sp>
        <p:nvSpPr>
          <p:cNvPr id="5" name="Text 3"/>
          <p:cNvSpPr txBox="1"/>
          <p:nvPr/>
        </p:nvSpPr>
        <p:spPr>
          <a:xfrm>
            <a:off x="863798" y="2259509"/>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SOBREMESA DE RESPEITO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(massa fofíssima que não sola)</a:t>
            </a:r>
            <a:endParaRPr lang="en-US" sz="800" dirty="0"/>
          </a:p>
        </p:txBody>
      </p:sp>
      <p:sp>
        <p:nvSpPr>
          <p:cNvPr id="6" name="Shape 4"/>
          <p:cNvSpPr/>
          <p:nvPr/>
        </p:nvSpPr>
        <p:spPr>
          <a:xfrm>
            <a:off x="863798" y="2534394"/>
            <a:ext cx="1893243" cy="422523"/>
          </a:xfrm>
          <a:prstGeom prst="roundRect">
            <a:avLst>
              <a:gd name="adj" fmla="val 55317"/>
            </a:avLst>
          </a:prstGeom>
          <a:solidFill>
            <a:srgbClr val="F8EED9"/>
          </a:solidFill>
          <a:ln/>
        </p:spPr>
      </p:sp>
      <p:sp>
        <p:nvSpPr>
          <p:cNvPr id="7" name="Text 5"/>
          <p:cNvSpPr txBox="1"/>
          <p:nvPr/>
        </p:nvSpPr>
        <p:spPr>
          <a:xfrm>
            <a:off x="968573" y="2601069"/>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725341"/>
            <a:ext cx="5280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20 min</a:t>
            </a:r>
            <a:endParaRPr lang="en-US" sz="1000" dirty="0"/>
          </a:p>
        </p:txBody>
      </p:sp>
      <p:sp>
        <p:nvSpPr>
          <p:cNvPr id="9" name="Shape 7"/>
          <p:cNvSpPr/>
          <p:nvPr/>
        </p:nvSpPr>
        <p:spPr>
          <a:xfrm>
            <a:off x="2833241" y="2534394"/>
            <a:ext cx="1893243" cy="422523"/>
          </a:xfrm>
          <a:prstGeom prst="roundRect">
            <a:avLst>
              <a:gd name="adj" fmla="val 55317"/>
            </a:avLst>
          </a:prstGeom>
          <a:solidFill>
            <a:srgbClr val="F8EED9"/>
          </a:solidFill>
          <a:ln/>
        </p:spPr>
      </p:sp>
      <p:sp>
        <p:nvSpPr>
          <p:cNvPr id="10" name="Text 8"/>
          <p:cNvSpPr txBox="1"/>
          <p:nvPr/>
        </p:nvSpPr>
        <p:spPr>
          <a:xfrm>
            <a:off x="2938016" y="2601069"/>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725341"/>
            <a:ext cx="53384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50 min</a:t>
            </a:r>
            <a:endParaRPr lang="en-US" sz="1000" dirty="0"/>
          </a:p>
        </p:txBody>
      </p:sp>
      <p:sp>
        <p:nvSpPr>
          <p:cNvPr id="12" name="Shape 10"/>
          <p:cNvSpPr/>
          <p:nvPr/>
        </p:nvSpPr>
        <p:spPr>
          <a:xfrm>
            <a:off x="4802684" y="2534394"/>
            <a:ext cx="1893243" cy="422523"/>
          </a:xfrm>
          <a:prstGeom prst="roundRect">
            <a:avLst>
              <a:gd name="adj" fmla="val 55317"/>
            </a:avLst>
          </a:prstGeom>
          <a:solidFill>
            <a:srgbClr val="F8EED9"/>
          </a:solidFill>
          <a:ln/>
        </p:spPr>
      </p:sp>
      <p:sp>
        <p:nvSpPr>
          <p:cNvPr id="13" name="Text 11"/>
          <p:cNvSpPr txBox="1"/>
          <p:nvPr/>
        </p:nvSpPr>
        <p:spPr>
          <a:xfrm>
            <a:off x="4907459" y="2601069"/>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725341"/>
            <a:ext cx="173621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 assadeira de 20 × 30 cm</a:t>
            </a:r>
            <a:endParaRPr lang="en-US" sz="1000" dirty="0"/>
          </a:p>
        </p:txBody>
      </p:sp>
      <p:sp>
        <p:nvSpPr>
          <p:cNvPr id="15" name="Shape 13"/>
          <p:cNvSpPr/>
          <p:nvPr/>
        </p:nvSpPr>
        <p:spPr>
          <a:xfrm>
            <a:off x="863798" y="3090267"/>
            <a:ext cx="5832277" cy="2524423"/>
          </a:xfrm>
          <a:prstGeom prst="roundRect">
            <a:avLst>
              <a:gd name="adj" fmla="val 2066"/>
            </a:avLst>
          </a:prstGeom>
          <a:solidFill>
            <a:srgbClr val="FBF4E4"/>
          </a:solidFill>
          <a:ln w="9525">
            <a:solidFill>
              <a:srgbClr val="EADFC6"/>
            </a:solidFill>
            <a:prstDash val="solid"/>
          </a:ln>
        </p:spPr>
      </p:sp>
      <p:sp>
        <p:nvSpPr>
          <p:cNvPr id="16" name="Text 14"/>
          <p:cNvSpPr txBox="1"/>
          <p:nvPr/>
        </p:nvSpPr>
        <p:spPr>
          <a:xfrm>
            <a:off x="1006673" y="318551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Text 15"/>
          <p:cNvSpPr txBox="1"/>
          <p:nvPr/>
        </p:nvSpPr>
        <p:spPr>
          <a:xfrm>
            <a:off x="1006673" y="3471267"/>
            <a:ext cx="559891"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MASSA</a:t>
            </a:r>
            <a:endParaRPr lang="en-US" sz="870" dirty="0"/>
          </a:p>
        </p:txBody>
      </p:sp>
      <p:sp>
        <p:nvSpPr>
          <p:cNvPr id="18" name="Shape 16"/>
          <p:cNvSpPr/>
          <p:nvPr/>
        </p:nvSpPr>
        <p:spPr>
          <a:xfrm>
            <a:off x="1006673" y="3723093"/>
            <a:ext cx="114300" cy="114300"/>
          </a:xfrm>
          <a:prstGeom prst="roundRect">
            <a:avLst>
              <a:gd name="adj" fmla="val 166667"/>
            </a:avLst>
          </a:prstGeom>
          <a:ln w="9525">
            <a:solidFill>
              <a:srgbClr val="C8501F"/>
            </a:solidFill>
            <a:prstDash val="solid"/>
          </a:ln>
        </p:spPr>
      </p:sp>
      <p:sp>
        <p:nvSpPr>
          <p:cNvPr id="19" name="Text 17"/>
          <p:cNvSpPr txBox="1"/>
          <p:nvPr/>
        </p:nvSpPr>
        <p:spPr>
          <a:xfrm>
            <a:off x="1197173" y="3691979"/>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3 cenouras médias (cerca de 300 g), em rodelas</a:t>
            </a:r>
            <a:endParaRPr lang="en-US" sz="1000" dirty="0"/>
          </a:p>
        </p:txBody>
      </p:sp>
      <p:sp>
        <p:nvSpPr>
          <p:cNvPr id="20" name="Shape 18"/>
          <p:cNvSpPr/>
          <p:nvPr/>
        </p:nvSpPr>
        <p:spPr>
          <a:xfrm>
            <a:off x="1006673" y="4132371"/>
            <a:ext cx="114300" cy="114300"/>
          </a:xfrm>
          <a:prstGeom prst="roundRect">
            <a:avLst>
              <a:gd name="adj" fmla="val 166667"/>
            </a:avLst>
          </a:prstGeom>
          <a:ln w="9525">
            <a:solidFill>
              <a:srgbClr val="C8501F"/>
            </a:solidFill>
            <a:prstDash val="solid"/>
          </a:ln>
        </p:spPr>
      </p:sp>
      <p:sp>
        <p:nvSpPr>
          <p:cNvPr id="21" name="Text 19"/>
          <p:cNvSpPr txBox="1"/>
          <p:nvPr/>
        </p:nvSpPr>
        <p:spPr>
          <a:xfrm>
            <a:off x="1197173" y="4101257"/>
            <a:ext cx="5000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ovos</a:t>
            </a:r>
            <a:endParaRPr lang="en-US" sz="1000" dirty="0"/>
          </a:p>
        </p:txBody>
      </p:sp>
      <p:sp>
        <p:nvSpPr>
          <p:cNvPr id="22" name="Shape 20"/>
          <p:cNvSpPr/>
          <p:nvPr/>
        </p:nvSpPr>
        <p:spPr>
          <a:xfrm>
            <a:off x="1006673" y="4351297"/>
            <a:ext cx="114300" cy="114300"/>
          </a:xfrm>
          <a:prstGeom prst="roundRect">
            <a:avLst>
              <a:gd name="adj" fmla="val 166667"/>
            </a:avLst>
          </a:prstGeom>
          <a:ln w="9525">
            <a:solidFill>
              <a:srgbClr val="C8501F"/>
            </a:solidFill>
            <a:prstDash val="solid"/>
          </a:ln>
        </p:spPr>
      </p:sp>
      <p:sp>
        <p:nvSpPr>
          <p:cNvPr id="23" name="Text 21"/>
          <p:cNvSpPr txBox="1"/>
          <p:nvPr/>
        </p:nvSpPr>
        <p:spPr>
          <a:xfrm>
            <a:off x="1197173" y="4320183"/>
            <a:ext cx="99461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240 ml de óleo</a:t>
            </a:r>
            <a:endParaRPr lang="en-US" sz="1000" dirty="0"/>
          </a:p>
        </p:txBody>
      </p:sp>
      <p:sp>
        <p:nvSpPr>
          <p:cNvPr id="24" name="Shape 22"/>
          <p:cNvSpPr/>
          <p:nvPr/>
        </p:nvSpPr>
        <p:spPr>
          <a:xfrm>
            <a:off x="1006673" y="4570223"/>
            <a:ext cx="114300" cy="114300"/>
          </a:xfrm>
          <a:prstGeom prst="roundRect">
            <a:avLst>
              <a:gd name="adj" fmla="val 166667"/>
            </a:avLst>
          </a:prstGeom>
          <a:ln w="9525">
            <a:solidFill>
              <a:srgbClr val="C8501F"/>
            </a:solidFill>
            <a:prstDash val="solid"/>
          </a:ln>
        </p:spPr>
      </p:sp>
      <p:sp>
        <p:nvSpPr>
          <p:cNvPr id="25" name="Text 23"/>
          <p:cNvSpPr txBox="1"/>
          <p:nvPr/>
        </p:nvSpPr>
        <p:spPr>
          <a:xfrm>
            <a:off x="1197173" y="4539109"/>
            <a:ext cx="10928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açúcar</a:t>
            </a:r>
            <a:endParaRPr lang="en-US" sz="1000" dirty="0"/>
          </a:p>
        </p:txBody>
      </p:sp>
      <p:sp>
        <p:nvSpPr>
          <p:cNvPr id="26" name="Shape 24"/>
          <p:cNvSpPr/>
          <p:nvPr/>
        </p:nvSpPr>
        <p:spPr>
          <a:xfrm>
            <a:off x="1006673" y="4789149"/>
            <a:ext cx="114300" cy="114300"/>
          </a:xfrm>
          <a:prstGeom prst="roundRect">
            <a:avLst>
              <a:gd name="adj" fmla="val 166667"/>
            </a:avLst>
          </a:prstGeom>
          <a:ln w="9525">
            <a:solidFill>
              <a:srgbClr val="C8501F"/>
            </a:solidFill>
            <a:prstDash val="solid"/>
          </a:ln>
        </p:spPr>
      </p:sp>
      <p:sp>
        <p:nvSpPr>
          <p:cNvPr id="27" name="Text 25"/>
          <p:cNvSpPr txBox="1"/>
          <p:nvPr/>
        </p:nvSpPr>
        <p:spPr>
          <a:xfrm>
            <a:off x="1197173" y="4758035"/>
            <a:ext cx="236679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farinha de trigo, peneirada</a:t>
            </a:r>
            <a:endParaRPr lang="en-US" sz="1000" dirty="0"/>
          </a:p>
        </p:txBody>
      </p:sp>
      <p:sp>
        <p:nvSpPr>
          <p:cNvPr id="28" name="Shape 26"/>
          <p:cNvSpPr/>
          <p:nvPr/>
        </p:nvSpPr>
        <p:spPr>
          <a:xfrm>
            <a:off x="1006673" y="5008075"/>
            <a:ext cx="114300" cy="114300"/>
          </a:xfrm>
          <a:prstGeom prst="roundRect">
            <a:avLst>
              <a:gd name="adj" fmla="val 166667"/>
            </a:avLst>
          </a:prstGeom>
          <a:ln w="9525">
            <a:solidFill>
              <a:srgbClr val="C8501F"/>
            </a:solidFill>
            <a:prstDash val="solid"/>
          </a:ln>
        </p:spPr>
      </p:sp>
      <p:sp>
        <p:nvSpPr>
          <p:cNvPr id="29" name="Text 27"/>
          <p:cNvSpPr txBox="1"/>
          <p:nvPr/>
        </p:nvSpPr>
        <p:spPr>
          <a:xfrm>
            <a:off x="1197173" y="4976961"/>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 colher (sopa) de fermento químico em pó</a:t>
            </a:r>
            <a:endParaRPr lang="en-US" sz="1000" dirty="0"/>
          </a:p>
        </p:txBody>
      </p:sp>
      <p:sp>
        <p:nvSpPr>
          <p:cNvPr id="30" name="Shape 28"/>
          <p:cNvSpPr/>
          <p:nvPr/>
        </p:nvSpPr>
        <p:spPr>
          <a:xfrm>
            <a:off x="1006673" y="5417353"/>
            <a:ext cx="114300" cy="114300"/>
          </a:xfrm>
          <a:prstGeom prst="roundRect">
            <a:avLst>
              <a:gd name="adj" fmla="val 166667"/>
            </a:avLst>
          </a:prstGeom>
          <a:ln w="9525">
            <a:solidFill>
              <a:srgbClr val="C8501F"/>
            </a:solidFill>
            <a:prstDash val="solid"/>
          </a:ln>
        </p:spPr>
      </p:sp>
      <p:sp>
        <p:nvSpPr>
          <p:cNvPr id="31" name="Text 29"/>
          <p:cNvSpPr txBox="1"/>
          <p:nvPr/>
        </p:nvSpPr>
        <p:spPr>
          <a:xfrm>
            <a:off x="1197173" y="5386239"/>
            <a:ext cx="9455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pitada de sal</a:t>
            </a:r>
            <a:endParaRPr lang="en-US" sz="1000" dirty="0"/>
          </a:p>
        </p:txBody>
      </p:sp>
      <p:sp>
        <p:nvSpPr>
          <p:cNvPr id="32" name="Text 30"/>
          <p:cNvSpPr txBox="1"/>
          <p:nvPr/>
        </p:nvSpPr>
        <p:spPr>
          <a:xfrm>
            <a:off x="3884712" y="3471267"/>
            <a:ext cx="1348502"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CALDA ESPELHADA</a:t>
            </a:r>
            <a:endParaRPr lang="en-US" sz="870" dirty="0"/>
          </a:p>
        </p:txBody>
      </p:sp>
      <p:sp>
        <p:nvSpPr>
          <p:cNvPr id="33" name="Shape 31"/>
          <p:cNvSpPr/>
          <p:nvPr/>
        </p:nvSpPr>
        <p:spPr>
          <a:xfrm>
            <a:off x="3884712" y="3723093"/>
            <a:ext cx="114300" cy="114300"/>
          </a:xfrm>
          <a:prstGeom prst="roundRect">
            <a:avLst>
              <a:gd name="adj" fmla="val 166667"/>
            </a:avLst>
          </a:prstGeom>
          <a:ln w="9525">
            <a:solidFill>
              <a:srgbClr val="C8501F"/>
            </a:solidFill>
            <a:prstDash val="solid"/>
          </a:ln>
        </p:spPr>
      </p:sp>
      <p:sp>
        <p:nvSpPr>
          <p:cNvPr id="34" name="Text 32"/>
          <p:cNvSpPr txBox="1"/>
          <p:nvPr/>
        </p:nvSpPr>
        <p:spPr>
          <a:xfrm>
            <a:off x="4075212" y="3691979"/>
            <a:ext cx="263349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150 g de chocolate meio amargo picado</a:t>
            </a:r>
            <a:endParaRPr lang="en-US" sz="1000" dirty="0"/>
          </a:p>
        </p:txBody>
      </p:sp>
      <p:sp>
        <p:nvSpPr>
          <p:cNvPr id="35" name="Shape 33"/>
          <p:cNvSpPr/>
          <p:nvPr/>
        </p:nvSpPr>
        <p:spPr>
          <a:xfrm>
            <a:off x="3884712" y="3942019"/>
            <a:ext cx="114300" cy="114300"/>
          </a:xfrm>
          <a:prstGeom prst="roundRect">
            <a:avLst>
              <a:gd name="adj" fmla="val 166667"/>
            </a:avLst>
          </a:prstGeom>
          <a:ln w="9525">
            <a:solidFill>
              <a:srgbClr val="C8501F"/>
            </a:solidFill>
            <a:prstDash val="solid"/>
          </a:ln>
        </p:spPr>
      </p:sp>
      <p:sp>
        <p:nvSpPr>
          <p:cNvPr id="36" name="Text 34"/>
          <p:cNvSpPr txBox="1"/>
          <p:nvPr/>
        </p:nvSpPr>
        <p:spPr>
          <a:xfrm>
            <a:off x="4075212" y="3910905"/>
            <a:ext cx="234812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caixinha (200 g) de creme de leite</a:t>
            </a:r>
            <a:endParaRPr lang="en-US" sz="1000" dirty="0"/>
          </a:p>
        </p:txBody>
      </p:sp>
      <p:sp>
        <p:nvSpPr>
          <p:cNvPr id="37" name="Shape 35"/>
          <p:cNvSpPr/>
          <p:nvPr/>
        </p:nvSpPr>
        <p:spPr>
          <a:xfrm>
            <a:off x="3884712" y="4160946"/>
            <a:ext cx="114300" cy="114300"/>
          </a:xfrm>
          <a:prstGeom prst="roundRect">
            <a:avLst>
              <a:gd name="adj" fmla="val 166667"/>
            </a:avLst>
          </a:prstGeom>
          <a:ln w="9525">
            <a:solidFill>
              <a:srgbClr val="C8501F"/>
            </a:solidFill>
            <a:prstDash val="solid"/>
          </a:ln>
        </p:spPr>
      </p:sp>
      <p:sp>
        <p:nvSpPr>
          <p:cNvPr id="38" name="Text 36"/>
          <p:cNvSpPr txBox="1"/>
          <p:nvPr/>
        </p:nvSpPr>
        <p:spPr>
          <a:xfrm>
            <a:off x="4075212" y="4129832"/>
            <a:ext cx="144251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mel</a:t>
            </a:r>
            <a:endParaRPr lang="en-US" sz="1000" dirty="0"/>
          </a:p>
        </p:txBody>
      </p:sp>
      <p:sp>
        <p:nvSpPr>
          <p:cNvPr id="39" name="Shape 37"/>
          <p:cNvSpPr/>
          <p:nvPr/>
        </p:nvSpPr>
        <p:spPr>
          <a:xfrm>
            <a:off x="3884712" y="4379872"/>
            <a:ext cx="114300" cy="114300"/>
          </a:xfrm>
          <a:prstGeom prst="roundRect">
            <a:avLst>
              <a:gd name="adj" fmla="val 166667"/>
            </a:avLst>
          </a:prstGeom>
          <a:ln w="9525">
            <a:solidFill>
              <a:srgbClr val="C8501F"/>
            </a:solidFill>
            <a:prstDash val="solid"/>
          </a:ln>
        </p:spPr>
      </p:sp>
      <p:sp>
        <p:nvSpPr>
          <p:cNvPr id="40" name="Text 38"/>
          <p:cNvSpPr txBox="1"/>
          <p:nvPr/>
        </p:nvSpPr>
        <p:spPr>
          <a:xfrm>
            <a:off x="4075212" y="4348758"/>
            <a:ext cx="181439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manteiga</a:t>
            </a:r>
            <a:endParaRPr lang="en-US" sz="1000" dirty="0"/>
          </a:p>
        </p:txBody>
      </p:sp>
      <p:sp>
        <p:nvSpPr>
          <p:cNvPr id="41" name="Text 39"/>
          <p:cNvSpPr txBox="1"/>
          <p:nvPr/>
        </p:nvSpPr>
        <p:spPr>
          <a:xfrm>
            <a:off x="863798" y="5738515"/>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42" name="Shape 40"/>
          <p:cNvSpPr/>
          <p:nvPr/>
        </p:nvSpPr>
        <p:spPr>
          <a:xfrm>
            <a:off x="863798" y="6081415"/>
            <a:ext cx="190500" cy="190500"/>
          </a:xfrm>
          <a:prstGeom prst="ellipse">
            <a:avLst/>
          </a:prstGeom>
          <a:solidFill>
            <a:srgbClr val="2F4A22"/>
          </a:solidFill>
          <a:ln/>
        </p:spPr>
      </p:sp>
      <p:sp>
        <p:nvSpPr>
          <p:cNvPr id="43" name="Text 41"/>
          <p:cNvSpPr txBox="1"/>
          <p:nvPr/>
        </p:nvSpPr>
        <p:spPr>
          <a:xfrm>
            <a:off x="883295" y="6109990"/>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44" name="Text 42"/>
          <p:cNvSpPr txBox="1"/>
          <p:nvPr/>
        </p:nvSpPr>
        <p:spPr>
          <a:xfrm>
            <a:off x="1149548" y="6081415"/>
            <a:ext cx="381764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Preaqueça o forno a 180 °C e unte e enfarinhe a assadeira.</a:t>
            </a:r>
            <a:endParaRPr lang="en-US" sz="1000" dirty="0"/>
          </a:p>
        </p:txBody>
      </p:sp>
      <p:sp>
        <p:nvSpPr>
          <p:cNvPr id="45" name="Shape 43"/>
          <p:cNvSpPr/>
          <p:nvPr/>
        </p:nvSpPr>
        <p:spPr>
          <a:xfrm>
            <a:off x="863798" y="6329065"/>
            <a:ext cx="190500" cy="190500"/>
          </a:xfrm>
          <a:prstGeom prst="ellipse">
            <a:avLst/>
          </a:prstGeom>
          <a:solidFill>
            <a:srgbClr val="2F4A22"/>
          </a:solidFill>
          <a:ln/>
        </p:spPr>
      </p:sp>
      <p:sp>
        <p:nvSpPr>
          <p:cNvPr id="46" name="Text 44"/>
          <p:cNvSpPr txBox="1"/>
          <p:nvPr/>
        </p:nvSpPr>
        <p:spPr>
          <a:xfrm>
            <a:off x="872579" y="6357640"/>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7" name="Text 45"/>
          <p:cNvSpPr txBox="1"/>
          <p:nvPr/>
        </p:nvSpPr>
        <p:spPr>
          <a:xfrm>
            <a:off x="1149548" y="632906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No liquidificador, bata a cenoura, os ovos, o óleo, o açúcar e o sal por 3 a 4 minutos, até ficar um creme bem liso e claro.</a:t>
            </a:r>
            <a:endParaRPr lang="en-US" sz="1000" dirty="0"/>
          </a:p>
        </p:txBody>
      </p:sp>
      <p:sp>
        <p:nvSpPr>
          <p:cNvPr id="48" name="Shape 46"/>
          <p:cNvSpPr/>
          <p:nvPr/>
        </p:nvSpPr>
        <p:spPr>
          <a:xfrm>
            <a:off x="863798" y="6757392"/>
            <a:ext cx="190500" cy="190500"/>
          </a:xfrm>
          <a:prstGeom prst="ellipse">
            <a:avLst/>
          </a:prstGeom>
          <a:solidFill>
            <a:srgbClr val="2F4A22"/>
          </a:solidFill>
          <a:ln/>
        </p:spPr>
      </p:sp>
      <p:sp>
        <p:nvSpPr>
          <p:cNvPr id="49" name="Text 47"/>
          <p:cNvSpPr txBox="1"/>
          <p:nvPr/>
        </p:nvSpPr>
        <p:spPr>
          <a:xfrm>
            <a:off x="871240" y="6785967"/>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50" name="Text 48"/>
          <p:cNvSpPr txBox="1"/>
          <p:nvPr/>
        </p:nvSpPr>
        <p:spPr>
          <a:xfrm>
            <a:off x="1149548" y="6757392"/>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Despeje numa tigela. Junte a farinha peneirada em três partes, misturando com um fouet ou espátula só até sumir. Por último, incorpore o fermento delicadamente.</a:t>
            </a:r>
            <a:endParaRPr lang="en-US" sz="1000" dirty="0"/>
          </a:p>
        </p:txBody>
      </p:sp>
      <p:sp>
        <p:nvSpPr>
          <p:cNvPr id="51" name="Shape 49"/>
          <p:cNvSpPr/>
          <p:nvPr/>
        </p:nvSpPr>
        <p:spPr>
          <a:xfrm>
            <a:off x="863798" y="7185720"/>
            <a:ext cx="190500" cy="190500"/>
          </a:xfrm>
          <a:prstGeom prst="ellipse">
            <a:avLst/>
          </a:prstGeom>
          <a:solidFill>
            <a:srgbClr val="2F4A22"/>
          </a:solidFill>
          <a:ln/>
        </p:spPr>
      </p:sp>
      <p:sp>
        <p:nvSpPr>
          <p:cNvPr id="52" name="Text 50"/>
          <p:cNvSpPr txBox="1"/>
          <p:nvPr/>
        </p:nvSpPr>
        <p:spPr>
          <a:xfrm>
            <a:off x="868859" y="7214295"/>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53" name="Text 51"/>
          <p:cNvSpPr txBox="1"/>
          <p:nvPr/>
        </p:nvSpPr>
        <p:spPr>
          <a:xfrm>
            <a:off x="1149548" y="7185720"/>
            <a:ext cx="60887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Asse por 35 a 40 minutos, até o palito sair limpo. Não abra o forno nos primeiros 25 minutos.</a:t>
            </a:r>
            <a:endParaRPr lang="en-US" sz="1000" dirty="0"/>
          </a:p>
        </p:txBody>
      </p:sp>
      <p:sp>
        <p:nvSpPr>
          <p:cNvPr id="54" name="Shape 52"/>
          <p:cNvSpPr/>
          <p:nvPr/>
        </p:nvSpPr>
        <p:spPr>
          <a:xfrm>
            <a:off x="863798" y="7433370"/>
            <a:ext cx="190500" cy="190500"/>
          </a:xfrm>
          <a:prstGeom prst="ellipse">
            <a:avLst/>
          </a:prstGeom>
          <a:solidFill>
            <a:srgbClr val="2F4A22"/>
          </a:solidFill>
          <a:ln/>
        </p:spPr>
      </p:sp>
      <p:sp>
        <p:nvSpPr>
          <p:cNvPr id="55" name="Text 53"/>
          <p:cNvSpPr txBox="1"/>
          <p:nvPr/>
        </p:nvSpPr>
        <p:spPr>
          <a:xfrm>
            <a:off x="870198" y="7461945"/>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6" name="Text 54"/>
          <p:cNvSpPr txBox="1"/>
          <p:nvPr/>
        </p:nvSpPr>
        <p:spPr>
          <a:xfrm>
            <a:off x="1149548" y="743337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Calda: aqueça o creme de leite até quase ferver e despeje sobre o chocolate picado. Espere 1 minuto e mexa do centro para fora até ficar liso. Junte o mel e a manteiga.</a:t>
            </a:r>
            <a:endParaRPr lang="en-US" sz="1000" dirty="0"/>
          </a:p>
        </p:txBody>
      </p:sp>
      <p:sp>
        <p:nvSpPr>
          <p:cNvPr id="57" name="Shape 55"/>
          <p:cNvSpPr/>
          <p:nvPr/>
        </p:nvSpPr>
        <p:spPr>
          <a:xfrm>
            <a:off x="863798" y="7861697"/>
            <a:ext cx="190500" cy="190500"/>
          </a:xfrm>
          <a:prstGeom prst="ellipse">
            <a:avLst/>
          </a:prstGeom>
          <a:solidFill>
            <a:srgbClr val="2F4A22"/>
          </a:solidFill>
          <a:ln/>
        </p:spPr>
      </p:sp>
      <p:sp>
        <p:nvSpPr>
          <p:cNvPr id="58" name="Text 56"/>
          <p:cNvSpPr txBox="1"/>
          <p:nvPr/>
        </p:nvSpPr>
        <p:spPr>
          <a:xfrm>
            <a:off x="869603" y="7890272"/>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9" name="Text 57"/>
          <p:cNvSpPr txBox="1"/>
          <p:nvPr/>
        </p:nvSpPr>
        <p:spPr>
          <a:xfrm>
            <a:off x="1149548" y="786169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Com o bolo morno, despeje a calda de uma vez no centro e deixe que ela escorra sozinha, espalhando o mínimo possível, para manter o brilho.</a:t>
            </a:r>
            <a:endParaRPr lang="en-US" sz="1000" dirty="0"/>
          </a:p>
        </p:txBody>
      </p:sp>
      <p:sp>
        <p:nvSpPr>
          <p:cNvPr id="60" name="Shape 58"/>
          <p:cNvSpPr/>
          <p:nvPr/>
        </p:nvSpPr>
        <p:spPr>
          <a:xfrm>
            <a:off x="863798" y="8328124"/>
            <a:ext cx="5832277" cy="1161306"/>
          </a:xfrm>
          <a:prstGeom prst="roundRect">
            <a:avLst>
              <a:gd name="adj" fmla="val 9763"/>
            </a:avLst>
          </a:prstGeom>
          <a:solidFill>
            <a:srgbClr val="2F4A22"/>
          </a:solidFill>
          <a:ln/>
        </p:spPr>
      </p:sp>
      <p:sp>
        <p:nvSpPr>
          <p:cNvPr id="61" name="Text 59"/>
          <p:cNvSpPr txBox="1"/>
          <p:nvPr/>
        </p:nvSpPr>
        <p:spPr>
          <a:xfrm>
            <a:off x="997148" y="8442424"/>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62" name="Text 60"/>
          <p:cNvSpPr txBox="1"/>
          <p:nvPr/>
        </p:nvSpPr>
        <p:spPr>
          <a:xfrm>
            <a:off x="2279749" y="8442424"/>
            <a:ext cx="4282976" cy="942380"/>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Bolo que sola tem três culpados: farinha batida demais, fermento misturado com força e forno aberto cedo. Por isso o liquidificador cuida só da emulsão (cenoura, ovos e óleo), a farinha entra à mão, o fermento vai por último e o forno fica fechado nos primeiros 25 minutos. O mel na calda é o que dá o efeito espelhado.</a:t>
            </a:r>
            <a:endParaRPr lang="en-US" sz="1000" dirty="0"/>
          </a:p>
        </p:txBody>
      </p:sp>
      <p:sp>
        <p:nvSpPr>
          <p:cNvPr id="63" name="Text 61"/>
          <p:cNvSpPr txBox="1"/>
          <p:nvPr/>
        </p:nvSpPr>
        <p:spPr>
          <a:xfrm>
            <a:off x="863798" y="9686330"/>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4" name="Text 62"/>
          <p:cNvSpPr txBox="1"/>
          <p:nvPr/>
        </p:nvSpPr>
        <p:spPr>
          <a:xfrm>
            <a:off x="6556028" y="9686330"/>
            <a:ext cx="254347"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52</a:t>
            </a:r>
            <a:endParaRPr lang="en-US" sz="7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813024"/>
            <a:ext cx="6696075" cy="706591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199382"/>
            <a:ext cx="1974747"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O PULO DO CHEF · CENOURA</a:t>
            </a:r>
            <a:endParaRPr lang="en-US" sz="750" dirty="0"/>
          </a:p>
        </p:txBody>
      </p:sp>
      <p:sp>
        <p:nvSpPr>
          <p:cNvPr id="4" name="Text 2"/>
          <p:cNvSpPr txBox="1"/>
          <p:nvPr/>
        </p:nvSpPr>
        <p:spPr>
          <a:xfrm>
            <a:off x="863798" y="2379727"/>
            <a:ext cx="6467475"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CENOURA COZIDA NA ÁGUA, SEM GRAÇA</a:t>
            </a:r>
            <a:endParaRPr lang="en-US" sz="2200" dirty="0"/>
          </a:p>
        </p:txBody>
      </p:sp>
      <p:sp>
        <p:nvSpPr>
          <p:cNvPr id="5" name="Text 3"/>
          <p:cNvSpPr txBox="1"/>
          <p:nvPr/>
        </p:nvSpPr>
        <p:spPr>
          <a:xfrm>
            <a:off x="863798" y="2874169"/>
            <a:ext cx="8712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 ERRO</a:t>
            </a:r>
            <a:endParaRPr lang="en-US" sz="1500" dirty="0"/>
          </a:p>
        </p:txBody>
      </p:sp>
      <p:sp>
        <p:nvSpPr>
          <p:cNvPr id="6" name="Text 4"/>
          <p:cNvSpPr txBox="1"/>
          <p:nvPr/>
        </p:nvSpPr>
        <p:spPr>
          <a:xfrm>
            <a:off x="863798" y="3217069"/>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Cozinhar a cenoura em muita água e escorrer. O açúcar e o sabor dela vão embora pelo ralo da pia, junto com a água.</a:t>
            </a:r>
            <a:endParaRPr lang="en-US" sz="1000" dirty="0"/>
          </a:p>
        </p:txBody>
      </p:sp>
      <p:sp>
        <p:nvSpPr>
          <p:cNvPr id="7" name="Text 5"/>
          <p:cNvSpPr txBox="1"/>
          <p:nvPr/>
        </p:nvSpPr>
        <p:spPr>
          <a:xfrm>
            <a:off x="863798" y="3788271"/>
            <a:ext cx="1202317"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 TÉCNICA</a:t>
            </a:r>
            <a:endParaRPr lang="en-US" sz="1500" dirty="0"/>
          </a:p>
        </p:txBody>
      </p:sp>
      <p:sp>
        <p:nvSpPr>
          <p:cNvPr id="8" name="Shape 6"/>
          <p:cNvSpPr/>
          <p:nvPr/>
        </p:nvSpPr>
        <p:spPr>
          <a:xfrm>
            <a:off x="863798" y="4131171"/>
            <a:ext cx="190500" cy="190500"/>
          </a:xfrm>
          <a:prstGeom prst="ellipse">
            <a:avLst/>
          </a:prstGeom>
          <a:solidFill>
            <a:srgbClr val="2F4A22"/>
          </a:solidFill>
          <a:ln/>
        </p:spPr>
      </p:sp>
      <p:sp>
        <p:nvSpPr>
          <p:cNvPr id="9" name="Text 7"/>
          <p:cNvSpPr txBox="1"/>
          <p:nvPr/>
        </p:nvSpPr>
        <p:spPr>
          <a:xfrm>
            <a:off x="883295" y="4159746"/>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10" name="Text 8"/>
          <p:cNvSpPr txBox="1"/>
          <p:nvPr/>
        </p:nvSpPr>
        <p:spPr>
          <a:xfrm>
            <a:off x="1149548" y="4131171"/>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Glaçagem, a técnica do chef: cenoura em rodelas numa frigideira, água só até a metade da altura, 1 colher de manteiga, 1 pitada de açúcar e outra de sal.</a:t>
            </a:r>
            <a:endParaRPr lang="en-US" sz="1000" dirty="0"/>
          </a:p>
        </p:txBody>
      </p:sp>
      <p:sp>
        <p:nvSpPr>
          <p:cNvPr id="11" name="Shape 9"/>
          <p:cNvSpPr/>
          <p:nvPr/>
        </p:nvSpPr>
        <p:spPr>
          <a:xfrm>
            <a:off x="863798" y="4559498"/>
            <a:ext cx="190500" cy="190500"/>
          </a:xfrm>
          <a:prstGeom prst="ellipse">
            <a:avLst/>
          </a:prstGeom>
          <a:solidFill>
            <a:srgbClr val="2F4A22"/>
          </a:solidFill>
          <a:ln/>
        </p:spPr>
      </p:sp>
      <p:sp>
        <p:nvSpPr>
          <p:cNvPr id="12" name="Text 10"/>
          <p:cNvSpPr txBox="1"/>
          <p:nvPr/>
        </p:nvSpPr>
        <p:spPr>
          <a:xfrm>
            <a:off x="872579" y="4588073"/>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13" name="Text 11"/>
          <p:cNvSpPr txBox="1"/>
          <p:nvPr/>
        </p:nvSpPr>
        <p:spPr>
          <a:xfrm>
            <a:off x="1149548" y="4559498"/>
            <a:ext cx="522782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Fogo médio e panela destampada: a cenoura cozinha enquanto a água evapora.</a:t>
            </a:r>
            <a:endParaRPr lang="en-US" sz="1000" dirty="0"/>
          </a:p>
        </p:txBody>
      </p:sp>
      <p:sp>
        <p:nvSpPr>
          <p:cNvPr id="14" name="Shape 12"/>
          <p:cNvSpPr/>
          <p:nvPr/>
        </p:nvSpPr>
        <p:spPr>
          <a:xfrm>
            <a:off x="863798" y="4807148"/>
            <a:ext cx="190500" cy="190500"/>
          </a:xfrm>
          <a:prstGeom prst="ellipse">
            <a:avLst/>
          </a:prstGeom>
          <a:solidFill>
            <a:srgbClr val="2F4A22"/>
          </a:solidFill>
          <a:ln/>
        </p:spPr>
      </p:sp>
      <p:sp>
        <p:nvSpPr>
          <p:cNvPr id="15" name="Text 13"/>
          <p:cNvSpPr txBox="1"/>
          <p:nvPr/>
        </p:nvSpPr>
        <p:spPr>
          <a:xfrm>
            <a:off x="871240" y="4835723"/>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16" name="Text 14"/>
          <p:cNvSpPr txBox="1"/>
          <p:nvPr/>
        </p:nvSpPr>
        <p:spPr>
          <a:xfrm>
            <a:off x="1149548" y="4807148"/>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Quando a água secar, a manteiga e o açúcar viram uma película brilhante que envolve cada rodela. Mexa por 1 minuto e pronto.</a:t>
            </a:r>
            <a:endParaRPr lang="en-US" sz="1000" dirty="0"/>
          </a:p>
        </p:txBody>
      </p:sp>
      <p:sp>
        <p:nvSpPr>
          <p:cNvPr id="17" name="Shape 15"/>
          <p:cNvSpPr/>
          <p:nvPr/>
        </p:nvSpPr>
        <p:spPr>
          <a:xfrm>
            <a:off x="863798" y="5235476"/>
            <a:ext cx="190500" cy="190500"/>
          </a:xfrm>
          <a:prstGeom prst="ellipse">
            <a:avLst/>
          </a:prstGeom>
          <a:solidFill>
            <a:srgbClr val="2F4A22"/>
          </a:solidFill>
          <a:ln/>
        </p:spPr>
      </p:sp>
      <p:sp>
        <p:nvSpPr>
          <p:cNvPr id="18" name="Text 16"/>
          <p:cNvSpPr txBox="1"/>
          <p:nvPr/>
        </p:nvSpPr>
        <p:spPr>
          <a:xfrm>
            <a:off x="868859" y="5264051"/>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19" name="Text 17"/>
          <p:cNvSpPr txBox="1"/>
          <p:nvPr/>
        </p:nvSpPr>
        <p:spPr>
          <a:xfrm>
            <a:off x="1149548" y="5235476"/>
            <a:ext cx="53531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Resultado: cenoura macia, brilhante e com todo o sabor dentro dela, não na água.</a:t>
            </a:r>
            <a:endParaRPr lang="en-US" sz="1000" dirty="0"/>
          </a:p>
        </p:txBody>
      </p:sp>
      <p:sp>
        <p:nvSpPr>
          <p:cNvPr id="20" name="Text 18"/>
          <p:cNvSpPr txBox="1"/>
          <p:nvPr/>
        </p:nvSpPr>
        <p:spPr>
          <a:xfrm>
            <a:off x="863798" y="5626001"/>
            <a:ext cx="17003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NÃO TEM ISSO?</a:t>
            </a:r>
            <a:endParaRPr lang="en-US" sz="1500" dirty="0"/>
          </a:p>
        </p:txBody>
      </p:sp>
      <p:sp>
        <p:nvSpPr>
          <p:cNvPr id="21" name="Shape 19"/>
          <p:cNvSpPr/>
          <p:nvPr/>
        </p:nvSpPr>
        <p:spPr>
          <a:xfrm>
            <a:off x="863798" y="5959376"/>
            <a:ext cx="5832277" cy="2356396"/>
          </a:xfrm>
          <a:prstGeom prst="roundRect">
            <a:avLst>
              <a:gd name="adj" fmla="val 1779"/>
            </a:avLst>
          </a:prstGeom>
          <a:ln w="9525">
            <a:solidFill>
              <a:srgbClr val="EADFC6"/>
            </a:solidFill>
            <a:prstDash val="solid"/>
          </a:ln>
        </p:spPr>
      </p:sp>
      <p:sp>
        <p:nvSpPr>
          <p:cNvPr id="22" name="Shape 20"/>
          <p:cNvSpPr/>
          <p:nvPr/>
        </p:nvSpPr>
        <p:spPr>
          <a:xfrm>
            <a:off x="873323" y="5968901"/>
            <a:ext cx="1976437" cy="261937"/>
          </a:xfrm>
          <a:prstGeom prst="rect">
            <a:avLst/>
          </a:prstGeom>
          <a:solidFill>
            <a:srgbClr val="2F4A22"/>
          </a:solidFill>
          <a:ln/>
        </p:spPr>
      </p:sp>
      <p:sp>
        <p:nvSpPr>
          <p:cNvPr id="23" name="Text 21"/>
          <p:cNvSpPr txBox="1"/>
          <p:nvPr/>
        </p:nvSpPr>
        <p:spPr>
          <a:xfrm>
            <a:off x="978098" y="6035576"/>
            <a:ext cx="948184"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SE NÃO TIVER…</a:t>
            </a:r>
            <a:endParaRPr lang="en-US" sz="720" dirty="0"/>
          </a:p>
        </p:txBody>
      </p:sp>
      <p:sp>
        <p:nvSpPr>
          <p:cNvPr id="24" name="Shape 22"/>
          <p:cNvSpPr/>
          <p:nvPr/>
        </p:nvSpPr>
        <p:spPr>
          <a:xfrm>
            <a:off x="2849761" y="5968901"/>
            <a:ext cx="3836789" cy="261937"/>
          </a:xfrm>
          <a:prstGeom prst="rect">
            <a:avLst/>
          </a:prstGeom>
          <a:solidFill>
            <a:srgbClr val="2F4A22"/>
          </a:solidFill>
          <a:ln/>
        </p:spPr>
      </p:sp>
      <p:sp>
        <p:nvSpPr>
          <p:cNvPr id="25" name="Text 23"/>
          <p:cNvSpPr txBox="1"/>
          <p:nvPr/>
        </p:nvSpPr>
        <p:spPr>
          <a:xfrm>
            <a:off x="2954536" y="6035576"/>
            <a:ext cx="399008"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USE…</a:t>
            </a:r>
            <a:endParaRPr lang="en-US" sz="720" dirty="0"/>
          </a:p>
        </p:txBody>
      </p:sp>
      <p:sp>
        <p:nvSpPr>
          <p:cNvPr id="26" name="Shape 24"/>
          <p:cNvSpPr/>
          <p:nvPr/>
        </p:nvSpPr>
        <p:spPr>
          <a:xfrm>
            <a:off x="873323" y="6230838"/>
            <a:ext cx="1976437" cy="0"/>
          </a:xfrm>
          <a:prstGeom prst="line">
            <a:avLst/>
          </a:prstGeom>
          <a:noFill/>
          <a:ln w="9525">
            <a:solidFill>
              <a:srgbClr val="EADFC6"/>
            </a:solidFill>
            <a:prstDash val="solid"/>
          </a:ln>
        </p:spPr>
      </p:sp>
      <p:sp>
        <p:nvSpPr>
          <p:cNvPr id="27" name="Text 25"/>
          <p:cNvSpPr txBox="1"/>
          <p:nvPr/>
        </p:nvSpPr>
        <p:spPr>
          <a:xfrm>
            <a:off x="978098" y="6297513"/>
            <a:ext cx="351234"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Mel</a:t>
            </a:r>
            <a:endParaRPr lang="en-US" sz="1050" dirty="0"/>
          </a:p>
        </p:txBody>
      </p:sp>
      <p:sp>
        <p:nvSpPr>
          <p:cNvPr id="28" name="Shape 26"/>
          <p:cNvSpPr/>
          <p:nvPr/>
        </p:nvSpPr>
        <p:spPr>
          <a:xfrm>
            <a:off x="2849761" y="6230838"/>
            <a:ext cx="3836789" cy="0"/>
          </a:xfrm>
          <a:prstGeom prst="line">
            <a:avLst/>
          </a:prstGeom>
          <a:noFill/>
          <a:ln w="9525">
            <a:solidFill>
              <a:srgbClr val="EADFC6"/>
            </a:solidFill>
            <a:prstDash val="solid"/>
          </a:ln>
        </p:spPr>
      </p:sp>
      <p:sp>
        <p:nvSpPr>
          <p:cNvPr id="29" name="Text 27"/>
          <p:cNvSpPr txBox="1"/>
          <p:nvPr/>
        </p:nvSpPr>
        <p:spPr>
          <a:xfrm>
            <a:off x="2954536" y="6307038"/>
            <a:ext cx="371863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Melaço, xarope de bordo ou 1 colher de açúcar mascavo.</a:t>
            </a:r>
            <a:endParaRPr lang="en-US" sz="1000" dirty="0"/>
          </a:p>
        </p:txBody>
      </p:sp>
      <p:sp>
        <p:nvSpPr>
          <p:cNvPr id="30" name="Shape 28"/>
          <p:cNvSpPr/>
          <p:nvPr/>
        </p:nvSpPr>
        <p:spPr>
          <a:xfrm>
            <a:off x="873323" y="6545014"/>
            <a:ext cx="1976437" cy="314176"/>
          </a:xfrm>
          <a:prstGeom prst="rect">
            <a:avLst/>
          </a:prstGeom>
          <a:solidFill>
            <a:srgbClr val="FBF4E4"/>
          </a:solidFill>
          <a:ln/>
        </p:spPr>
      </p:sp>
      <p:sp>
        <p:nvSpPr>
          <p:cNvPr id="31" name="Shape 29"/>
          <p:cNvSpPr/>
          <p:nvPr/>
        </p:nvSpPr>
        <p:spPr>
          <a:xfrm>
            <a:off x="873323" y="6545014"/>
            <a:ext cx="1976437" cy="0"/>
          </a:xfrm>
          <a:prstGeom prst="line">
            <a:avLst/>
          </a:prstGeom>
          <a:noFill/>
          <a:ln w="9525">
            <a:solidFill>
              <a:srgbClr val="EADFC6"/>
            </a:solidFill>
            <a:prstDash val="solid"/>
          </a:ln>
        </p:spPr>
      </p:sp>
      <p:sp>
        <p:nvSpPr>
          <p:cNvPr id="32" name="Text 30"/>
          <p:cNvSpPr txBox="1"/>
          <p:nvPr/>
        </p:nvSpPr>
        <p:spPr>
          <a:xfrm>
            <a:off x="978098" y="6611689"/>
            <a:ext cx="1091636"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Tomilho fresco</a:t>
            </a:r>
            <a:endParaRPr lang="en-US" sz="1050" dirty="0"/>
          </a:p>
        </p:txBody>
      </p:sp>
      <p:sp>
        <p:nvSpPr>
          <p:cNvPr id="33" name="Shape 31"/>
          <p:cNvSpPr/>
          <p:nvPr/>
        </p:nvSpPr>
        <p:spPr>
          <a:xfrm>
            <a:off x="2849761" y="6545014"/>
            <a:ext cx="3836789" cy="314176"/>
          </a:xfrm>
          <a:prstGeom prst="rect">
            <a:avLst/>
          </a:prstGeom>
          <a:solidFill>
            <a:srgbClr val="FBF4E4"/>
          </a:solidFill>
          <a:ln/>
        </p:spPr>
      </p:sp>
      <p:sp>
        <p:nvSpPr>
          <p:cNvPr id="34" name="Shape 32"/>
          <p:cNvSpPr/>
          <p:nvPr/>
        </p:nvSpPr>
        <p:spPr>
          <a:xfrm>
            <a:off x="2849761" y="6545014"/>
            <a:ext cx="3836789" cy="0"/>
          </a:xfrm>
          <a:prstGeom prst="line">
            <a:avLst/>
          </a:prstGeom>
          <a:noFill/>
          <a:ln w="9525">
            <a:solidFill>
              <a:srgbClr val="EADFC6"/>
            </a:solidFill>
            <a:prstDash val="solid"/>
          </a:ln>
        </p:spPr>
      </p:sp>
      <p:sp>
        <p:nvSpPr>
          <p:cNvPr id="35" name="Text 33"/>
          <p:cNvSpPr txBox="1"/>
          <p:nvPr/>
        </p:nvSpPr>
        <p:spPr>
          <a:xfrm>
            <a:off x="2954536" y="6621214"/>
            <a:ext cx="385848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Alecrim, orégano fresco ou ½ colher (chá) de tomilho seco.</a:t>
            </a:r>
            <a:endParaRPr lang="en-US" sz="1000" dirty="0"/>
          </a:p>
        </p:txBody>
      </p:sp>
      <p:sp>
        <p:nvSpPr>
          <p:cNvPr id="36" name="Shape 34"/>
          <p:cNvSpPr/>
          <p:nvPr/>
        </p:nvSpPr>
        <p:spPr>
          <a:xfrm>
            <a:off x="873323" y="6859191"/>
            <a:ext cx="1976437" cy="0"/>
          </a:xfrm>
          <a:prstGeom prst="line">
            <a:avLst/>
          </a:prstGeom>
          <a:noFill/>
          <a:ln w="9525">
            <a:solidFill>
              <a:srgbClr val="EADFC6"/>
            </a:solidFill>
            <a:prstDash val="solid"/>
          </a:ln>
        </p:spPr>
      </p:sp>
      <p:sp>
        <p:nvSpPr>
          <p:cNvPr id="37" name="Text 35"/>
          <p:cNvSpPr txBox="1"/>
          <p:nvPr/>
        </p:nvSpPr>
        <p:spPr>
          <a:xfrm>
            <a:off x="978098" y="6925866"/>
            <a:ext cx="1119140"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Aveia em flocos</a:t>
            </a:r>
            <a:endParaRPr lang="en-US" sz="1050" dirty="0"/>
          </a:p>
        </p:txBody>
      </p:sp>
      <p:sp>
        <p:nvSpPr>
          <p:cNvPr id="38" name="Shape 36"/>
          <p:cNvSpPr/>
          <p:nvPr/>
        </p:nvSpPr>
        <p:spPr>
          <a:xfrm>
            <a:off x="2849761" y="6859191"/>
            <a:ext cx="3836789" cy="0"/>
          </a:xfrm>
          <a:prstGeom prst="line">
            <a:avLst/>
          </a:prstGeom>
          <a:noFill/>
          <a:ln w="9525">
            <a:solidFill>
              <a:srgbClr val="EADFC6"/>
            </a:solidFill>
            <a:prstDash val="solid"/>
          </a:ln>
        </p:spPr>
      </p:sp>
      <p:sp>
        <p:nvSpPr>
          <p:cNvPr id="39" name="Text 37"/>
          <p:cNvSpPr txBox="1"/>
          <p:nvPr/>
        </p:nvSpPr>
        <p:spPr>
          <a:xfrm>
            <a:off x="2954536" y="6935391"/>
            <a:ext cx="29800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Farinha de rosca ou farinha de mandioca fina.</a:t>
            </a:r>
            <a:endParaRPr lang="en-US" sz="1000" dirty="0"/>
          </a:p>
        </p:txBody>
      </p:sp>
      <p:sp>
        <p:nvSpPr>
          <p:cNvPr id="40" name="Shape 38"/>
          <p:cNvSpPr/>
          <p:nvPr/>
        </p:nvSpPr>
        <p:spPr>
          <a:xfrm>
            <a:off x="873323" y="7173367"/>
            <a:ext cx="1976437" cy="314176"/>
          </a:xfrm>
          <a:prstGeom prst="rect">
            <a:avLst/>
          </a:prstGeom>
          <a:solidFill>
            <a:srgbClr val="FBF4E4"/>
          </a:solidFill>
          <a:ln/>
        </p:spPr>
      </p:sp>
      <p:sp>
        <p:nvSpPr>
          <p:cNvPr id="41" name="Shape 39"/>
          <p:cNvSpPr/>
          <p:nvPr/>
        </p:nvSpPr>
        <p:spPr>
          <a:xfrm>
            <a:off x="873323" y="7173367"/>
            <a:ext cx="1976437" cy="0"/>
          </a:xfrm>
          <a:prstGeom prst="line">
            <a:avLst/>
          </a:prstGeom>
          <a:noFill/>
          <a:ln w="9525">
            <a:solidFill>
              <a:srgbClr val="EADFC6"/>
            </a:solidFill>
            <a:prstDash val="solid"/>
          </a:ln>
        </p:spPr>
      </p:sp>
      <p:sp>
        <p:nvSpPr>
          <p:cNvPr id="42" name="Text 40"/>
          <p:cNvSpPr txBox="1"/>
          <p:nvPr/>
        </p:nvSpPr>
        <p:spPr>
          <a:xfrm>
            <a:off x="978098" y="7240042"/>
            <a:ext cx="1705713"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Chocolate meio amargo</a:t>
            </a:r>
            <a:endParaRPr lang="en-US" sz="1050" dirty="0"/>
          </a:p>
        </p:txBody>
      </p:sp>
      <p:sp>
        <p:nvSpPr>
          <p:cNvPr id="43" name="Shape 41"/>
          <p:cNvSpPr/>
          <p:nvPr/>
        </p:nvSpPr>
        <p:spPr>
          <a:xfrm>
            <a:off x="2849761" y="7173367"/>
            <a:ext cx="3836789" cy="314176"/>
          </a:xfrm>
          <a:prstGeom prst="rect">
            <a:avLst/>
          </a:prstGeom>
          <a:solidFill>
            <a:srgbClr val="FBF4E4"/>
          </a:solidFill>
          <a:ln/>
        </p:spPr>
      </p:sp>
      <p:sp>
        <p:nvSpPr>
          <p:cNvPr id="44" name="Shape 42"/>
          <p:cNvSpPr/>
          <p:nvPr/>
        </p:nvSpPr>
        <p:spPr>
          <a:xfrm>
            <a:off x="2849761" y="7173367"/>
            <a:ext cx="3836789" cy="0"/>
          </a:xfrm>
          <a:prstGeom prst="line">
            <a:avLst/>
          </a:prstGeom>
          <a:noFill/>
          <a:ln w="9525">
            <a:solidFill>
              <a:srgbClr val="EADFC6"/>
            </a:solidFill>
            <a:prstDash val="solid"/>
          </a:ln>
        </p:spPr>
      </p:sp>
      <p:sp>
        <p:nvSpPr>
          <p:cNvPr id="45" name="Text 43"/>
          <p:cNvSpPr txBox="1"/>
          <p:nvPr/>
        </p:nvSpPr>
        <p:spPr>
          <a:xfrm>
            <a:off x="2954536" y="7249567"/>
            <a:ext cx="364845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Chocolate ao leite com 1 colher (sopa) de cacau em pó.</a:t>
            </a:r>
            <a:endParaRPr lang="en-US" sz="1000" dirty="0"/>
          </a:p>
        </p:txBody>
      </p:sp>
      <p:sp>
        <p:nvSpPr>
          <p:cNvPr id="46" name="Shape 44"/>
          <p:cNvSpPr/>
          <p:nvPr/>
        </p:nvSpPr>
        <p:spPr>
          <a:xfrm>
            <a:off x="873323" y="7487543"/>
            <a:ext cx="1976437" cy="0"/>
          </a:xfrm>
          <a:prstGeom prst="line">
            <a:avLst/>
          </a:prstGeom>
          <a:noFill/>
          <a:ln w="9525">
            <a:solidFill>
              <a:srgbClr val="EADFC6"/>
            </a:solidFill>
            <a:prstDash val="solid"/>
          </a:ln>
        </p:spPr>
      </p:sp>
      <p:sp>
        <p:nvSpPr>
          <p:cNvPr id="47" name="Text 45"/>
          <p:cNvSpPr txBox="1"/>
          <p:nvPr/>
        </p:nvSpPr>
        <p:spPr>
          <a:xfrm>
            <a:off x="978098" y="7554218"/>
            <a:ext cx="1031974"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Creme de leite</a:t>
            </a:r>
            <a:endParaRPr lang="en-US" sz="1050" dirty="0"/>
          </a:p>
        </p:txBody>
      </p:sp>
      <p:sp>
        <p:nvSpPr>
          <p:cNvPr id="48" name="Shape 46"/>
          <p:cNvSpPr/>
          <p:nvPr/>
        </p:nvSpPr>
        <p:spPr>
          <a:xfrm>
            <a:off x="2849761" y="7487543"/>
            <a:ext cx="3836789" cy="0"/>
          </a:xfrm>
          <a:prstGeom prst="line">
            <a:avLst/>
          </a:prstGeom>
          <a:noFill/>
          <a:ln w="9525">
            <a:solidFill>
              <a:srgbClr val="EADFC6"/>
            </a:solidFill>
            <a:prstDash val="solid"/>
          </a:ln>
        </p:spPr>
      </p:sp>
      <p:sp>
        <p:nvSpPr>
          <p:cNvPr id="49" name="Text 47"/>
          <p:cNvSpPr txBox="1"/>
          <p:nvPr/>
        </p:nvSpPr>
        <p:spPr>
          <a:xfrm>
            <a:off x="2954536" y="7563743"/>
            <a:ext cx="23891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Leite integral (a calda fica mais fina).</a:t>
            </a:r>
            <a:endParaRPr lang="en-US" sz="1000" dirty="0"/>
          </a:p>
        </p:txBody>
      </p:sp>
      <p:sp>
        <p:nvSpPr>
          <p:cNvPr id="50" name="Shape 48"/>
          <p:cNvSpPr/>
          <p:nvPr/>
        </p:nvSpPr>
        <p:spPr>
          <a:xfrm>
            <a:off x="873323" y="7801719"/>
            <a:ext cx="1976437" cy="504527"/>
          </a:xfrm>
          <a:prstGeom prst="rect">
            <a:avLst/>
          </a:prstGeom>
          <a:solidFill>
            <a:srgbClr val="FBF4E4"/>
          </a:solidFill>
          <a:ln/>
        </p:spPr>
      </p:sp>
      <p:sp>
        <p:nvSpPr>
          <p:cNvPr id="51" name="Shape 49"/>
          <p:cNvSpPr/>
          <p:nvPr/>
        </p:nvSpPr>
        <p:spPr>
          <a:xfrm>
            <a:off x="873323" y="7801719"/>
            <a:ext cx="1976437" cy="0"/>
          </a:xfrm>
          <a:prstGeom prst="line">
            <a:avLst/>
          </a:prstGeom>
          <a:noFill/>
          <a:ln w="9525">
            <a:solidFill>
              <a:srgbClr val="EADFC6"/>
            </a:solidFill>
            <a:prstDash val="solid"/>
          </a:ln>
        </p:spPr>
      </p:sp>
      <p:sp>
        <p:nvSpPr>
          <p:cNvPr id="52" name="Text 50"/>
          <p:cNvSpPr txBox="1"/>
          <p:nvPr/>
        </p:nvSpPr>
        <p:spPr>
          <a:xfrm>
            <a:off x="978098" y="7868394"/>
            <a:ext cx="1550694"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Amendoim (no pesto)</a:t>
            </a:r>
            <a:endParaRPr lang="en-US" sz="1050" dirty="0"/>
          </a:p>
        </p:txBody>
      </p:sp>
      <p:sp>
        <p:nvSpPr>
          <p:cNvPr id="53" name="Shape 51"/>
          <p:cNvSpPr/>
          <p:nvPr/>
        </p:nvSpPr>
        <p:spPr>
          <a:xfrm>
            <a:off x="2849761" y="7801719"/>
            <a:ext cx="3836789" cy="504527"/>
          </a:xfrm>
          <a:prstGeom prst="rect">
            <a:avLst/>
          </a:prstGeom>
          <a:solidFill>
            <a:srgbClr val="FBF4E4"/>
          </a:solidFill>
          <a:ln/>
        </p:spPr>
      </p:sp>
      <p:sp>
        <p:nvSpPr>
          <p:cNvPr id="54" name="Shape 52"/>
          <p:cNvSpPr/>
          <p:nvPr/>
        </p:nvSpPr>
        <p:spPr>
          <a:xfrm>
            <a:off x="2849761" y="7801719"/>
            <a:ext cx="3836789" cy="0"/>
          </a:xfrm>
          <a:prstGeom prst="line">
            <a:avLst/>
          </a:prstGeom>
          <a:noFill/>
          <a:ln w="9525">
            <a:solidFill>
              <a:srgbClr val="EADFC6"/>
            </a:solidFill>
            <a:prstDash val="solid"/>
          </a:ln>
        </p:spPr>
      </p:sp>
      <p:sp>
        <p:nvSpPr>
          <p:cNvPr id="55" name="Text 53"/>
          <p:cNvSpPr txBox="1"/>
          <p:nvPr/>
        </p:nvSpPr>
        <p:spPr>
          <a:xfrm>
            <a:off x="2954536" y="7877919"/>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Castanha-de-caju, castanha-do-pará ou sementes de girassol.</a:t>
            </a:r>
            <a:endParaRPr lang="en-US" sz="1000" dirty="0"/>
          </a:p>
        </p:txBody>
      </p:sp>
      <p:sp>
        <p:nvSpPr>
          <p:cNvPr id="56" name="Text 54"/>
          <p:cNvSpPr txBox="1"/>
          <p:nvPr/>
        </p:nvSpPr>
        <p:spPr>
          <a:xfrm>
            <a:off x="863798" y="8512671"/>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7" name="Text 55"/>
          <p:cNvSpPr txBox="1"/>
          <p:nvPr/>
        </p:nvSpPr>
        <p:spPr>
          <a:xfrm>
            <a:off x="6552902" y="8512671"/>
            <a:ext cx="25747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53</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2920157"/>
            <a:ext cx="6696075" cy="4851648"/>
          </a:xfrm>
          <a:prstGeom prst="roundRect">
            <a:avLst>
              <a:gd name="adj" fmla="val 699"/>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306514"/>
            <a:ext cx="2583823"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APROVEITA ISSO TAMBÉM · CENOURA</a:t>
            </a:r>
            <a:endParaRPr lang="en-US" sz="750" dirty="0"/>
          </a:p>
        </p:txBody>
      </p:sp>
      <p:sp>
        <p:nvSpPr>
          <p:cNvPr id="4" name="Text 2"/>
          <p:cNvSpPr txBox="1"/>
          <p:nvPr/>
        </p:nvSpPr>
        <p:spPr>
          <a:xfrm>
            <a:off x="863798" y="3486859"/>
            <a:ext cx="3681460"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NADA VAI PARA O LIXO</a:t>
            </a:r>
            <a:endParaRPr lang="en-US" sz="2200" dirty="0"/>
          </a:p>
        </p:txBody>
      </p:sp>
      <p:sp>
        <p:nvSpPr>
          <p:cNvPr id="5" name="Shape 3"/>
          <p:cNvSpPr/>
          <p:nvPr/>
        </p:nvSpPr>
        <p:spPr>
          <a:xfrm>
            <a:off x="4896148" y="3990826"/>
            <a:ext cx="1799927" cy="1799927"/>
          </a:xfrm>
          <a:prstGeom prst="ellipse">
            <a:avLst/>
          </a:prstGeom>
          <a:solidFill>
            <a:srgbClr val="FFFFFF"/>
          </a:solidFill>
          <a:ln/>
        </p:spPr>
      </p:sp>
      <p:pic>
        <p:nvPicPr>
          <p:cNvPr id="6" name="Image 0" descr="/home/user/ebook-receitas/versoes/VERSAO ESTAMPAS/fotos/aproveita5.jpg">    </p:cNvPr>
          <p:cNvPicPr>
            <a:picLocks noChangeAspect="1"/>
          </p:cNvPicPr>
          <p:nvPr/>
        </p:nvPicPr>
        <p:blipFill>
          <a:blip r:embed="rId2"/>
          <a:srcRect l="0" r="0" t="0" b="0"/>
          <a:stretch/>
        </p:blipFill>
        <p:spPr>
          <a:xfrm>
            <a:off x="4972348" y="4067026"/>
            <a:ext cx="1647527" cy="1647527"/>
          </a:xfrm>
          <a:prstGeom prst="ellipse">
            <a:avLst/>
          </a:prstGeom>
        </p:spPr>
      </p:pic>
      <p:sp>
        <p:nvSpPr>
          <p:cNvPr id="7" name="Text 4"/>
          <p:cNvSpPr txBox="1"/>
          <p:nvPr/>
        </p:nvSpPr>
        <p:spPr>
          <a:xfrm>
            <a:off x="863798" y="4019401"/>
            <a:ext cx="2760345"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CASCAS: CHIPS ASSADOS</a:t>
            </a:r>
            <a:endParaRPr lang="en-US" sz="1500" dirty="0"/>
          </a:p>
        </p:txBody>
      </p:sp>
      <p:sp>
        <p:nvSpPr>
          <p:cNvPr id="8" name="Text 5"/>
          <p:cNvSpPr txBox="1"/>
          <p:nvPr/>
        </p:nvSpPr>
        <p:spPr>
          <a:xfrm>
            <a:off x="863798" y="4362301"/>
            <a:ext cx="5832277" cy="942380"/>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Se descascar as cenouras, guarde as cascas. Seque bem, misture com um fio de azeite, sal e uma pitada de cominho e espalhe sem amontoar. Leve à airfryer a 170 °C por 6 a 8 minutos ou ao forno a 150 °C por 15 a 20 minutos, de olho: elas são finas e passam do ponto rápido.</a:t>
            </a:r>
            <a:endParaRPr lang="en-US" sz="1000" dirty="0"/>
          </a:p>
        </p:txBody>
      </p:sp>
      <p:sp>
        <p:nvSpPr>
          <p:cNvPr id="9" name="Text 6"/>
          <p:cNvSpPr txBox="1"/>
          <p:nvPr/>
        </p:nvSpPr>
        <p:spPr>
          <a:xfrm>
            <a:off x="863798" y="5504557"/>
            <a:ext cx="5832277" cy="485775"/>
          </a:xfrm>
          <a:prstGeom prst="rect">
            <a:avLst/>
          </a:prstGeom>
          <a:noFill/>
          <a:ln/>
        </p:spPr>
        <p:txBody>
          <a:bodyPr wrap="square" lIns="0" tIns="0" rIns="0" bIns="0" rtlCol="0" anchor="t"/>
          <a:lstStyle/>
          <a:p>
            <a:pPr algn="l" indent="0" marL="0">
              <a:lnSpc>
                <a:spcPts val="1800"/>
              </a:lnSpc>
              <a:buNone/>
            </a:pPr>
            <a:r>
              <a:rPr lang="en-US" sz="1500" dirty="0">
                <a:solidFill>
                  <a:srgbClr val="2F4A22"/>
                </a:solidFill>
                <a:latin typeface="Fraunces SemiBold" pitchFamily="34" charset="0"/>
                <a:ea typeface="Fraunces SemiBold" pitchFamily="34" charset="-122"/>
                <a:cs typeface="Fraunces SemiBold" pitchFamily="34" charset="-120"/>
              </a:rPr>
              <a:t>RAMAS (FOLHAS): PESTO COM AMENDOIM OU CASTANHA</a:t>
            </a:r>
            <a:endParaRPr lang="en-US" sz="1500" dirty="0"/>
          </a:p>
        </p:txBody>
      </p:sp>
      <p:sp>
        <p:nvSpPr>
          <p:cNvPr id="10" name="Text 7"/>
          <p:cNvSpPr txBox="1"/>
          <p:nvPr/>
        </p:nvSpPr>
        <p:spPr>
          <a:xfrm>
            <a:off x="863798" y="6076057"/>
            <a:ext cx="5832277" cy="1132731"/>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Separe as folhas e os talos finos de 1 maço de rama (cerca de 60 g). Mergulhe por 10 segundos em água fervente e depois em água com gelo: isso fixa a cor e suaviza o amargor. Esprema bem. Bata no processador ou pilão com 50 g de amendoim torrado sem sal, 1 dente de alho, 40 g de parmesão, suco de ½ limão e sal, acrescentando cerca de 120 ml de azeite aos poucos. Use em massas, no hambúrguer de cenoura, sobre as cenouras assadas ou no pão. Dura 5 dias na geladeira, coberto por uma camada de azeite.</a:t>
            </a:r>
            <a:endParaRPr lang="en-US" sz="1000" dirty="0"/>
          </a:p>
        </p:txBody>
      </p:sp>
      <p:sp>
        <p:nvSpPr>
          <p:cNvPr id="11" name="Text 8"/>
          <p:cNvSpPr txBox="1"/>
          <p:nvPr/>
        </p:nvSpPr>
        <p:spPr>
          <a:xfrm>
            <a:off x="863798" y="7405539"/>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12" name="Text 9"/>
          <p:cNvSpPr txBox="1"/>
          <p:nvPr/>
        </p:nvSpPr>
        <p:spPr>
          <a:xfrm>
            <a:off x="6548289" y="7405539"/>
            <a:ext cx="262086"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54</a:t>
            </a:r>
            <a:endParaRPr lang="en-US" sz="7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2495104"/>
            <a:ext cx="6696075" cy="5701605"/>
          </a:xfrm>
          <a:prstGeom prst="roundRect">
            <a:avLst>
              <a:gd name="adj" fmla="val 506"/>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881461"/>
            <a:ext cx="536823"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BÔNUS</a:t>
            </a:r>
            <a:endParaRPr lang="en-US" sz="750" dirty="0"/>
          </a:p>
        </p:txBody>
      </p:sp>
      <p:sp>
        <p:nvSpPr>
          <p:cNvPr id="4" name="Text 2"/>
          <p:cNvSpPr txBox="1"/>
          <p:nvPr/>
        </p:nvSpPr>
        <p:spPr>
          <a:xfrm>
            <a:off x="863798" y="3061806"/>
            <a:ext cx="4067508"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OS 10 PULOS DO MAMEDE</a:t>
            </a:r>
            <a:endParaRPr lang="en-US" sz="2200" dirty="0"/>
          </a:p>
        </p:txBody>
      </p:sp>
      <p:sp>
        <p:nvSpPr>
          <p:cNvPr id="5" name="Text 3"/>
          <p:cNvSpPr txBox="1"/>
          <p:nvPr/>
        </p:nvSpPr>
        <p:spPr>
          <a:xfrm>
            <a:off x="863798" y="3575298"/>
            <a:ext cx="5832277" cy="430411"/>
          </a:xfrm>
          <a:prstGeom prst="rect">
            <a:avLst/>
          </a:prstGeom>
          <a:noFill/>
          <a:ln/>
        </p:spPr>
        <p:txBody>
          <a:bodyPr wrap="square" lIns="0" tIns="0" rIns="0" bIns="0" rtlCol="0" anchor="t"/>
          <a:lstStyle/>
          <a:p>
            <a:pPr algn="l" indent="0" marL="0">
              <a:lnSpc>
                <a:spcPts val="1740"/>
              </a:lnSpc>
              <a:buNone/>
            </a:pPr>
            <a:r>
              <a:rPr lang="en-US" sz="1200" i="1" dirty="0">
                <a:solidFill>
                  <a:srgbClr val="2F4A22"/>
                </a:solidFill>
                <a:latin typeface="Fraunces" pitchFamily="34" charset="0"/>
                <a:ea typeface="Fraunces" pitchFamily="34" charset="-122"/>
                <a:cs typeface="Fraunces" pitchFamily="34" charset="-120"/>
              </a:rPr>
              <a:t>Dez decisões universais de cozinha, que valem para qualquer ingrediente e qualquer receita.</a:t>
            </a:r>
            <a:endParaRPr lang="en-US" sz="1200" dirty="0"/>
          </a:p>
        </p:txBody>
      </p:sp>
      <p:sp>
        <p:nvSpPr>
          <p:cNvPr id="6" name="Text 4"/>
          <p:cNvSpPr txBox="1"/>
          <p:nvPr/>
        </p:nvSpPr>
        <p:spPr>
          <a:xfrm>
            <a:off x="863798" y="4074170"/>
            <a:ext cx="209550"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1</a:t>
            </a:r>
            <a:endParaRPr lang="en-US" sz="1600" dirty="0"/>
          </a:p>
        </p:txBody>
      </p:sp>
      <p:sp>
        <p:nvSpPr>
          <p:cNvPr id="7" name="Text 5"/>
          <p:cNvSpPr txBox="1"/>
          <p:nvPr/>
        </p:nvSpPr>
        <p:spPr>
          <a:xfrm>
            <a:off x="1225748" y="4112270"/>
            <a:ext cx="1828562"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SEQUE ANTES DE DOURAR</a:t>
            </a:r>
            <a:endParaRPr lang="en-US" sz="870" dirty="0"/>
          </a:p>
        </p:txBody>
      </p:sp>
      <p:sp>
        <p:nvSpPr>
          <p:cNvPr id="8" name="Text 6"/>
          <p:cNvSpPr txBox="1"/>
          <p:nvPr/>
        </p:nvSpPr>
        <p:spPr>
          <a:xfrm>
            <a:off x="1225748" y="4313932"/>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Umidade é inimiga da crosta. Carne, frango, legumes: tudo passa pelo papel-toalha antes de ir para a frigideira. Enquanto houver água, a comida cozinha no vapor em vez de dourar.</a:t>
            </a:r>
            <a:endParaRPr lang="en-US" sz="1000" dirty="0"/>
          </a:p>
        </p:txBody>
      </p:sp>
      <p:sp>
        <p:nvSpPr>
          <p:cNvPr id="9" name="Text 7"/>
          <p:cNvSpPr txBox="1"/>
          <p:nvPr/>
        </p:nvSpPr>
        <p:spPr>
          <a:xfrm>
            <a:off x="863798" y="4742259"/>
            <a:ext cx="239911"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2</a:t>
            </a:r>
            <a:endParaRPr lang="en-US" sz="1600" dirty="0"/>
          </a:p>
        </p:txBody>
      </p:sp>
      <p:sp>
        <p:nvSpPr>
          <p:cNvPr id="10" name="Text 8"/>
          <p:cNvSpPr txBox="1"/>
          <p:nvPr/>
        </p:nvSpPr>
        <p:spPr>
          <a:xfrm>
            <a:off x="1225748" y="4780359"/>
            <a:ext cx="2331791"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FRIGIDEIRA QUENTE DE VERDADE</a:t>
            </a:r>
            <a:endParaRPr lang="en-US" sz="870" dirty="0"/>
          </a:p>
        </p:txBody>
      </p:sp>
      <p:sp>
        <p:nvSpPr>
          <p:cNvPr id="11" name="Text 9"/>
          <p:cNvSpPr txBox="1"/>
          <p:nvPr/>
        </p:nvSpPr>
        <p:spPr>
          <a:xfrm>
            <a:off x="1225748" y="4982021"/>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Espere a frigideira aquecer antes de colocar a gordura e a gordura brilhar antes de colocar o alimento. Uma gota de água deve chiar e evaporar na hora.</a:t>
            </a:r>
            <a:endParaRPr lang="en-US" sz="1000" dirty="0"/>
          </a:p>
        </p:txBody>
      </p:sp>
      <p:sp>
        <p:nvSpPr>
          <p:cNvPr id="12" name="Text 10"/>
          <p:cNvSpPr txBox="1"/>
          <p:nvPr/>
        </p:nvSpPr>
        <p:spPr>
          <a:xfrm>
            <a:off x="863798" y="5410349"/>
            <a:ext cx="229195"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3</a:t>
            </a:r>
            <a:endParaRPr lang="en-US" sz="1600" dirty="0"/>
          </a:p>
        </p:txBody>
      </p:sp>
      <p:sp>
        <p:nvSpPr>
          <p:cNvPr id="13" name="Text 11"/>
          <p:cNvSpPr txBox="1"/>
          <p:nvPr/>
        </p:nvSpPr>
        <p:spPr>
          <a:xfrm>
            <a:off x="1225748" y="5448449"/>
            <a:ext cx="1438013"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NÃO LOTE A PANELA</a:t>
            </a:r>
            <a:endParaRPr lang="en-US" sz="870" dirty="0"/>
          </a:p>
        </p:txBody>
      </p:sp>
      <p:sp>
        <p:nvSpPr>
          <p:cNvPr id="14" name="Text 12"/>
          <p:cNvSpPr txBox="1"/>
          <p:nvPr/>
        </p:nvSpPr>
        <p:spPr>
          <a:xfrm>
            <a:off x="1225748" y="5650111"/>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Comida amontoada solta líquido e esfria a panela. Deixe espaço entre os pedaços e, se precisar, trabalhe em levas. É mais rápido do que parece.</a:t>
            </a:r>
            <a:endParaRPr lang="en-US" sz="1000" dirty="0"/>
          </a:p>
        </p:txBody>
      </p:sp>
      <p:sp>
        <p:nvSpPr>
          <p:cNvPr id="15" name="Text 13"/>
          <p:cNvSpPr txBox="1"/>
          <p:nvPr/>
        </p:nvSpPr>
        <p:spPr>
          <a:xfrm>
            <a:off x="863798" y="6078438"/>
            <a:ext cx="241995"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4</a:t>
            </a:r>
            <a:endParaRPr lang="en-US" sz="1600" dirty="0"/>
          </a:p>
        </p:txBody>
      </p:sp>
      <p:sp>
        <p:nvSpPr>
          <p:cNvPr id="16" name="Text 14"/>
          <p:cNvSpPr txBox="1"/>
          <p:nvPr/>
        </p:nvSpPr>
        <p:spPr>
          <a:xfrm>
            <a:off x="1225748" y="6116538"/>
            <a:ext cx="285852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NÃO MEXA: DEIXE A CROSTA SE FORMAR</a:t>
            </a:r>
            <a:endParaRPr lang="en-US" sz="870" dirty="0"/>
          </a:p>
        </p:txBody>
      </p:sp>
      <p:sp>
        <p:nvSpPr>
          <p:cNvPr id="17" name="Text 15"/>
          <p:cNvSpPr txBox="1"/>
          <p:nvPr/>
        </p:nvSpPr>
        <p:spPr>
          <a:xfrm>
            <a:off x="1225748" y="6318200"/>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Selar não “fecha os sucos”, como se dizia. Selar cria sabor. E a crosta só se forma se você deixar o alimento quieto. Quando estiver pronto para virar, ele solta sozinho da frigideira.</a:t>
            </a:r>
            <a:endParaRPr lang="en-US" sz="1000" dirty="0"/>
          </a:p>
        </p:txBody>
      </p:sp>
      <p:sp>
        <p:nvSpPr>
          <p:cNvPr id="18" name="Text 16"/>
          <p:cNvSpPr txBox="1"/>
          <p:nvPr/>
        </p:nvSpPr>
        <p:spPr>
          <a:xfrm>
            <a:off x="863798" y="6746528"/>
            <a:ext cx="233660"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5</a:t>
            </a:r>
            <a:endParaRPr lang="en-US" sz="1600" dirty="0"/>
          </a:p>
        </p:txBody>
      </p:sp>
      <p:sp>
        <p:nvSpPr>
          <p:cNvPr id="19" name="Text 17"/>
          <p:cNvSpPr txBox="1"/>
          <p:nvPr/>
        </p:nvSpPr>
        <p:spPr>
          <a:xfrm>
            <a:off x="1225748" y="6784628"/>
            <a:ext cx="2921865"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SAL COM ANTECEDÊNCIA E EM CAMADAS</a:t>
            </a:r>
            <a:endParaRPr lang="en-US" sz="870" dirty="0"/>
          </a:p>
        </p:txBody>
      </p:sp>
      <p:sp>
        <p:nvSpPr>
          <p:cNvPr id="20" name="Text 18"/>
          <p:cNvSpPr txBox="1"/>
          <p:nvPr/>
        </p:nvSpPr>
        <p:spPr>
          <a:xfrm>
            <a:off x="1225748" y="6986290"/>
            <a:ext cx="54703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Salgar carnes com horas de antecedência tempera por dentro. Nas preparações, tempere um pouco em cada etapa, em vez de tudo no final. E sempre prove antes de acrescentar mais.</a:t>
            </a:r>
            <a:endParaRPr lang="en-US" sz="1000" dirty="0"/>
          </a:p>
        </p:txBody>
      </p:sp>
      <p:sp>
        <p:nvSpPr>
          <p:cNvPr id="21" name="Text 19"/>
          <p:cNvSpPr txBox="1"/>
          <p:nvPr/>
        </p:nvSpPr>
        <p:spPr>
          <a:xfrm>
            <a:off x="863798" y="7830443"/>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22" name="Text 20"/>
          <p:cNvSpPr txBox="1"/>
          <p:nvPr/>
        </p:nvSpPr>
        <p:spPr>
          <a:xfrm>
            <a:off x="6550968" y="7830443"/>
            <a:ext cx="259407"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55</a:t>
            </a:r>
            <a:endParaRPr lang="en-US" sz="7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2455069"/>
            <a:ext cx="6696075" cy="5781824"/>
          </a:xfrm>
          <a:prstGeom prst="roundRect">
            <a:avLst>
              <a:gd name="adj" fmla="val 492"/>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841427"/>
            <a:ext cx="1632371"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BÔNUS · CONTINUAÇÃO</a:t>
            </a:r>
            <a:endParaRPr lang="en-US" sz="750" dirty="0"/>
          </a:p>
        </p:txBody>
      </p:sp>
      <p:sp>
        <p:nvSpPr>
          <p:cNvPr id="4" name="Text 2"/>
          <p:cNvSpPr txBox="1"/>
          <p:nvPr/>
        </p:nvSpPr>
        <p:spPr>
          <a:xfrm>
            <a:off x="863798" y="3021771"/>
            <a:ext cx="4288869"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MAIS 5 PULOS DO MAMEDE</a:t>
            </a:r>
            <a:endParaRPr lang="en-US" sz="2200" dirty="0"/>
          </a:p>
        </p:txBody>
      </p:sp>
      <p:sp>
        <p:nvSpPr>
          <p:cNvPr id="5" name="Text 3"/>
          <p:cNvSpPr txBox="1"/>
          <p:nvPr/>
        </p:nvSpPr>
        <p:spPr>
          <a:xfrm>
            <a:off x="863798" y="3497163"/>
            <a:ext cx="240060"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6</a:t>
            </a:r>
            <a:endParaRPr lang="en-US" sz="1600" dirty="0"/>
          </a:p>
        </p:txBody>
      </p:sp>
      <p:sp>
        <p:nvSpPr>
          <p:cNvPr id="6" name="Text 4"/>
          <p:cNvSpPr txBox="1"/>
          <p:nvPr/>
        </p:nvSpPr>
        <p:spPr>
          <a:xfrm>
            <a:off x="1225748" y="3535263"/>
            <a:ext cx="1225487"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ACIDEZ NO FINAL</a:t>
            </a:r>
            <a:endParaRPr lang="en-US" sz="870" dirty="0"/>
          </a:p>
        </p:txBody>
      </p:sp>
      <p:sp>
        <p:nvSpPr>
          <p:cNvPr id="7" name="Text 5"/>
          <p:cNvSpPr txBox="1"/>
          <p:nvPr/>
        </p:nvSpPr>
        <p:spPr>
          <a:xfrm>
            <a:off x="1225748" y="3736925"/>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Algumas gotas de limão ou vinagre no final acordam um prato “sem graça” muitas vezes melhor do que mais sal. Antes de salgar de novo, experimente acidez.</a:t>
            </a:r>
            <a:endParaRPr lang="en-US" sz="1000" dirty="0"/>
          </a:p>
        </p:txBody>
      </p:sp>
      <p:sp>
        <p:nvSpPr>
          <p:cNvPr id="8" name="Text 6"/>
          <p:cNvSpPr txBox="1"/>
          <p:nvPr/>
        </p:nvSpPr>
        <p:spPr>
          <a:xfrm>
            <a:off x="863798" y="4165253"/>
            <a:ext cx="221605"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7</a:t>
            </a:r>
            <a:endParaRPr lang="en-US" sz="1600" dirty="0"/>
          </a:p>
        </p:txBody>
      </p:sp>
      <p:sp>
        <p:nvSpPr>
          <p:cNvPr id="9" name="Text 7"/>
          <p:cNvSpPr txBox="1"/>
          <p:nvPr/>
        </p:nvSpPr>
        <p:spPr>
          <a:xfrm>
            <a:off x="1225748" y="4203353"/>
            <a:ext cx="1625703"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RESPEITE O DESCANSO</a:t>
            </a:r>
            <a:endParaRPr lang="en-US" sz="870" dirty="0"/>
          </a:p>
        </p:txBody>
      </p:sp>
      <p:sp>
        <p:nvSpPr>
          <p:cNvPr id="10" name="Text 8"/>
          <p:cNvSpPr txBox="1"/>
          <p:nvPr/>
        </p:nvSpPr>
        <p:spPr>
          <a:xfrm>
            <a:off x="1225748" y="4405015"/>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Carnes descansam antes de cortar; massas descansam antes de modelar; bolos descansam antes de desenformar. Esperar 5 minutos também é técnica.</a:t>
            </a:r>
            <a:endParaRPr lang="en-US" sz="1000" dirty="0"/>
          </a:p>
        </p:txBody>
      </p:sp>
      <p:sp>
        <p:nvSpPr>
          <p:cNvPr id="11" name="Text 9"/>
          <p:cNvSpPr txBox="1"/>
          <p:nvPr/>
        </p:nvSpPr>
        <p:spPr>
          <a:xfrm>
            <a:off x="863798" y="4833342"/>
            <a:ext cx="239762"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8</a:t>
            </a:r>
            <a:endParaRPr lang="en-US" sz="1600" dirty="0"/>
          </a:p>
        </p:txBody>
      </p:sp>
      <p:sp>
        <p:nvSpPr>
          <p:cNvPr id="12" name="Text 10"/>
          <p:cNvSpPr txBox="1"/>
          <p:nvPr/>
        </p:nvSpPr>
        <p:spPr>
          <a:xfrm>
            <a:off x="1225748" y="4871442"/>
            <a:ext cx="2050590"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O FUNDO DA PANELA É OURO</a:t>
            </a:r>
            <a:endParaRPr lang="en-US" sz="870" dirty="0"/>
          </a:p>
        </p:txBody>
      </p:sp>
      <p:sp>
        <p:nvSpPr>
          <p:cNvPr id="13" name="Text 11"/>
          <p:cNvSpPr txBox="1"/>
          <p:nvPr/>
        </p:nvSpPr>
        <p:spPr>
          <a:xfrm>
            <a:off x="1225748" y="5073104"/>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Aquele grudado escuro no fundo da frigideira é sabor concentrado. Solte com um pouco de água, caldo ou vinho (deglaçar) e você terá um molho em 2 minutos.</a:t>
            </a:r>
            <a:endParaRPr lang="en-US" sz="1000" dirty="0"/>
          </a:p>
        </p:txBody>
      </p:sp>
      <p:sp>
        <p:nvSpPr>
          <p:cNvPr id="14" name="Text 12"/>
          <p:cNvSpPr txBox="1"/>
          <p:nvPr/>
        </p:nvSpPr>
        <p:spPr>
          <a:xfrm>
            <a:off x="863798" y="5501432"/>
            <a:ext cx="240655"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9</a:t>
            </a:r>
            <a:endParaRPr lang="en-US" sz="1600" dirty="0"/>
          </a:p>
        </p:txBody>
      </p:sp>
      <p:sp>
        <p:nvSpPr>
          <p:cNvPr id="15" name="Text 13"/>
          <p:cNvSpPr txBox="1"/>
          <p:nvPr/>
        </p:nvSpPr>
        <p:spPr>
          <a:xfrm>
            <a:off x="1225748" y="5539532"/>
            <a:ext cx="1853232"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CONTRASTE DE TEXTURAS</a:t>
            </a:r>
            <a:endParaRPr lang="en-US" sz="870" dirty="0"/>
          </a:p>
        </p:txBody>
      </p:sp>
      <p:sp>
        <p:nvSpPr>
          <p:cNvPr id="16" name="Text 14"/>
          <p:cNvSpPr txBox="1"/>
          <p:nvPr/>
        </p:nvSpPr>
        <p:spPr>
          <a:xfrm>
            <a:off x="1225748" y="5741194"/>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Todo prato memorável tem algo cremoso e algo crocante. Sementes tostadas, farofa, chips de casca e pele crocante existem para isso.</a:t>
            </a:r>
            <a:endParaRPr lang="en-US" sz="1000" dirty="0"/>
          </a:p>
        </p:txBody>
      </p:sp>
      <p:sp>
        <p:nvSpPr>
          <p:cNvPr id="17" name="Text 15"/>
          <p:cNvSpPr txBox="1"/>
          <p:nvPr/>
        </p:nvSpPr>
        <p:spPr>
          <a:xfrm>
            <a:off x="863798" y="6169521"/>
            <a:ext cx="346621"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10</a:t>
            </a:r>
            <a:endParaRPr lang="en-US" sz="1600" dirty="0"/>
          </a:p>
        </p:txBody>
      </p:sp>
      <p:sp>
        <p:nvSpPr>
          <p:cNvPr id="18" name="Text 16"/>
          <p:cNvSpPr txBox="1"/>
          <p:nvPr/>
        </p:nvSpPr>
        <p:spPr>
          <a:xfrm>
            <a:off x="1225748" y="6207621"/>
            <a:ext cx="2535150"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ORGANIZE ANTES DE LIGAR O FOGO</a:t>
            </a:r>
            <a:endParaRPr lang="en-US" sz="870" dirty="0"/>
          </a:p>
        </p:txBody>
      </p:sp>
      <p:sp>
        <p:nvSpPr>
          <p:cNvPr id="19" name="Text 17"/>
          <p:cNvSpPr txBox="1"/>
          <p:nvPr/>
        </p:nvSpPr>
        <p:spPr>
          <a:xfrm>
            <a:off x="1225748" y="6409283"/>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Leia a receita inteira, separe, corte e meça tudo antes de começar (é o que os chefs chamam de mise en place). Cozinhar fica mais calmo, e o fogo nunca espera por você.</a:t>
            </a:r>
            <a:endParaRPr lang="en-US" sz="1000" dirty="0"/>
          </a:p>
        </p:txBody>
      </p:sp>
      <p:sp>
        <p:nvSpPr>
          <p:cNvPr id="20" name="Shape 18"/>
          <p:cNvSpPr/>
          <p:nvPr/>
        </p:nvSpPr>
        <p:spPr>
          <a:xfrm>
            <a:off x="863798" y="7037636"/>
            <a:ext cx="0" cy="636091"/>
          </a:xfrm>
          <a:prstGeom prst="line">
            <a:avLst/>
          </a:prstGeom>
          <a:noFill/>
          <a:ln w="38100">
            <a:solidFill>
              <a:srgbClr val="E5A82E"/>
            </a:solidFill>
            <a:prstDash val="solid"/>
          </a:ln>
        </p:spPr>
      </p:sp>
      <p:sp>
        <p:nvSpPr>
          <p:cNvPr id="21" name="Text 19"/>
          <p:cNvSpPr txBox="1"/>
          <p:nvPr/>
        </p:nvSpPr>
        <p:spPr>
          <a:xfrm>
            <a:off x="1016198" y="7132886"/>
            <a:ext cx="5679877" cy="460921"/>
          </a:xfrm>
          <a:prstGeom prst="rect">
            <a:avLst/>
          </a:prstGeom>
          <a:noFill/>
          <a:ln/>
        </p:spPr>
        <p:txBody>
          <a:bodyPr wrap="square" lIns="0" tIns="0" rIns="0" bIns="0" rtlCol="0" anchor="t"/>
          <a:lstStyle/>
          <a:p>
            <a:pPr algn="l" indent="0" marL="0">
              <a:lnSpc>
                <a:spcPts val="1750"/>
              </a:lnSpc>
              <a:buNone/>
            </a:pPr>
            <a:r>
              <a:rPr lang="en-US" sz="1350" dirty="0">
                <a:solidFill>
                  <a:srgbClr val="2F4A22"/>
                </a:solidFill>
                <a:latin typeface="Fraunces SemiBold" pitchFamily="34" charset="0"/>
                <a:ea typeface="Fraunces SemiBold" pitchFamily="34" charset="-122"/>
                <a:cs typeface="Fraunces SemiBold" pitchFamily="34" charset="-120"/>
              </a:rPr>
              <a:t>CHEF É QUEM OLHA PARA O BÁSICO E ENXERGA POSSIBILIDADES.</a:t>
            </a:r>
            <a:endParaRPr lang="en-US" sz="1350" dirty="0"/>
          </a:p>
        </p:txBody>
      </p:sp>
      <p:sp>
        <p:nvSpPr>
          <p:cNvPr id="22" name="Text 20"/>
          <p:cNvSpPr txBox="1"/>
          <p:nvPr/>
        </p:nvSpPr>
        <p:spPr>
          <a:xfrm>
            <a:off x="863798" y="787062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23" name="Text 21"/>
          <p:cNvSpPr txBox="1"/>
          <p:nvPr/>
        </p:nvSpPr>
        <p:spPr>
          <a:xfrm>
            <a:off x="6549926" y="7870627"/>
            <a:ext cx="260449"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56</a:t>
            </a:r>
            <a:endParaRPr lang="en-US" sz="7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75965" y="719882"/>
            <a:ext cx="6407944" cy="4092625"/>
          </a:xfrm>
          <a:prstGeom prst="roundRect">
            <a:avLst>
              <a:gd name="adj" fmla="val 1179"/>
            </a:avLst>
          </a:prstGeom>
          <a:solidFill>
            <a:srgbClr val="1E4A2B"/>
          </a:solidFill>
          <a:ln/>
          <a:effectLst>
            <a:outerShdw sx="100000" sy="100000" kx="0" ky="0" algn="bl" rotWithShape="0" blurRad="177800" dist="76200" dir="5400000">
              <a:srgbClr val="50401E">
                <a:alpha val="18000"/>
              </a:srgbClr>
            </a:outerShdw>
          </a:effectLst>
        </p:spPr>
      </p:sp>
      <p:sp>
        <p:nvSpPr>
          <p:cNvPr id="3" name="Text 1"/>
          <p:cNvSpPr txBox="1"/>
          <p:nvPr/>
        </p:nvSpPr>
        <p:spPr>
          <a:xfrm>
            <a:off x="1043880" y="1139079"/>
            <a:ext cx="5472113" cy="1370804"/>
          </a:xfrm>
          <a:prstGeom prst="rect">
            <a:avLst/>
          </a:prstGeom>
          <a:noFill/>
          <a:ln/>
        </p:spPr>
        <p:txBody>
          <a:bodyPr wrap="square" lIns="0" tIns="0" rIns="0" bIns="0" rtlCol="0" anchor="t"/>
          <a:lstStyle/>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COZINHA MAMEDE</a:t>
            </a:r>
            <a:endParaRPr lang="en-US" sz="4600" dirty="0"/>
          </a:p>
        </p:txBody>
      </p:sp>
      <p:sp>
        <p:nvSpPr>
          <p:cNvPr id="4" name="Shape 2"/>
          <p:cNvSpPr/>
          <p:nvPr/>
        </p:nvSpPr>
        <p:spPr>
          <a:xfrm>
            <a:off x="1043880" y="2413843"/>
            <a:ext cx="533400" cy="28575"/>
          </a:xfrm>
          <a:prstGeom prst="rect">
            <a:avLst/>
          </a:prstGeom>
          <a:solidFill>
            <a:srgbClr val="E5A82E"/>
          </a:solidFill>
          <a:ln/>
        </p:spPr>
      </p:sp>
      <p:sp>
        <p:nvSpPr>
          <p:cNvPr id="5" name="Text 3"/>
          <p:cNvSpPr txBox="1"/>
          <p:nvPr/>
        </p:nvSpPr>
        <p:spPr>
          <a:xfrm>
            <a:off x="1043880" y="2661493"/>
            <a:ext cx="5472113"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Se você chegou até aqui, já percebeu: não foram 15 receitas novas. Foram 5 ingredientes que você já conhecia, olhados de outro jeito.</a:t>
            </a:r>
            <a:endParaRPr lang="en-US" sz="1200" dirty="0"/>
          </a:p>
        </p:txBody>
      </p:sp>
      <p:sp>
        <p:nvSpPr>
          <p:cNvPr id="6" name="Text 4"/>
          <p:cNvSpPr txBox="1"/>
          <p:nvPr/>
        </p:nvSpPr>
        <p:spPr>
          <a:xfrm>
            <a:off x="1043880" y="3198465"/>
            <a:ext cx="5472113"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Agora o convite é levar esse olhar para o resto da sua cozinha. Antes de cozinhar qualquer coisa, pergunte: como escolher, como guardar, como cortar? Que técnica muda o resultado? E o que dá para aproveitar da casca, do talo, do osso?</a:t>
            </a:r>
            <a:endParaRPr lang="en-US" sz="1200" dirty="0"/>
          </a:p>
        </p:txBody>
      </p:sp>
      <p:sp>
        <p:nvSpPr>
          <p:cNvPr id="7" name="Text 5"/>
          <p:cNvSpPr txBox="1"/>
          <p:nvPr/>
        </p:nvSpPr>
        <p:spPr>
          <a:xfrm>
            <a:off x="1043880" y="3956298"/>
            <a:ext cx="5443514" cy="209550"/>
          </a:xfrm>
          <a:prstGeom prst="rect">
            <a:avLst/>
          </a:prstGeom>
          <a:noFill/>
          <a:ln/>
        </p:spPr>
        <p:txBody>
          <a:bodyPr wrap="square" lIns="0" tIns="0" rIns="0" bIns="0" rtlCol="0" anchor="ctr"/>
          <a:lstStyle/>
          <a:p>
            <a:pPr algn="l" indent="0" marL="0">
              <a:buNone/>
            </a:pPr>
            <a:r>
              <a:rPr lang="en-US" sz="1200" i="1" dirty="0">
                <a:solidFill>
                  <a:srgbClr val="F8EED9"/>
                </a:solidFill>
                <a:latin typeface="Fraunces" pitchFamily="34" charset="0"/>
                <a:ea typeface="Fraunces" pitchFamily="34" charset="-122"/>
                <a:cs typeface="Fraunces" pitchFamily="34" charset="-120"/>
              </a:rPr>
              <a:t>Cozinhe com afeto, com técnica e sem desperdício. Esse é o Jeito Mamede.</a:t>
            </a:r>
            <a:endParaRPr lang="en-US" sz="1200" dirty="0"/>
          </a:p>
        </p:txBody>
      </p:sp>
      <p:sp>
        <p:nvSpPr>
          <p:cNvPr id="8" name="Text 6"/>
          <p:cNvSpPr txBox="1"/>
          <p:nvPr/>
        </p:nvSpPr>
        <p:spPr>
          <a:xfrm>
            <a:off x="1043880" y="4262884"/>
            <a:ext cx="2749177" cy="200025"/>
          </a:xfrm>
          <a:prstGeom prst="rect">
            <a:avLst/>
          </a:prstGeom>
          <a:noFill/>
          <a:ln/>
        </p:spPr>
        <p:txBody>
          <a:bodyPr wrap="square" lIns="0" tIns="0" rIns="0" bIns="0" rtlCol="0" anchor="ctr"/>
          <a:lstStyle/>
          <a:p>
            <a:pPr algn="l" indent="0" marL="0">
              <a:buNone/>
            </a:pPr>
            <a:r>
              <a:rPr lang="en-US" sz="1150" i="1" dirty="0">
                <a:solidFill>
                  <a:srgbClr val="E5A82E"/>
                </a:solidFill>
                <a:latin typeface="Fraunces" pitchFamily="34" charset="0"/>
                <a:ea typeface="Fraunces" pitchFamily="34" charset="-122"/>
                <a:cs typeface="Fraunces" pitchFamily="34" charset="-120"/>
              </a:rPr>
              <a:t>Bom apetite! · CHEF ALLAN MAMEDE</a:t>
            </a:r>
            <a:endParaRPr lang="en-US" sz="1150" dirty="0"/>
          </a:p>
        </p:txBody>
      </p:sp>
      <p:sp>
        <p:nvSpPr>
          <p:cNvPr id="9" name="Shape 7"/>
          <p:cNvSpPr/>
          <p:nvPr/>
        </p:nvSpPr>
        <p:spPr>
          <a:xfrm>
            <a:off x="2267992" y="7092107"/>
            <a:ext cx="3023890" cy="3023890"/>
          </a:xfrm>
          <a:prstGeom prst="ellipse">
            <a:avLst/>
          </a:prstGeom>
          <a:solidFill>
            <a:srgbClr val="F8EED9"/>
          </a:solidFill>
          <a:ln/>
        </p:spPr>
      </p:sp>
      <p:pic>
        <p:nvPicPr>
          <p:cNvPr id="10" name="Image 0" descr="/home/user/ebook-receitas/versoes/VERSAO ESTAMPAS/fotos/obrigado.jpg">    </p:cNvPr>
          <p:cNvPicPr>
            <a:picLocks noChangeAspect="1"/>
          </p:cNvPicPr>
          <p:nvPr/>
        </p:nvPicPr>
        <p:blipFill>
          <a:blip r:embed="rId2"/>
          <a:srcRect l="0" r="0" t="0" b="0"/>
          <a:stretch/>
        </p:blipFill>
        <p:spPr>
          <a:xfrm>
            <a:off x="2344192" y="7168307"/>
            <a:ext cx="2871490" cy="2871490"/>
          </a:xfrm>
          <a:prstGeom prst="ellipse">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Cozinha Mamede</dc:title>
  <dc:subject>PptxGenJS Presentation</dc:subject>
  <dc:creator>Chef Allan Mamede</dc:creator>
  <cp:lastModifiedBy>Chef Allan Mamede</cp:lastModifiedBy>
  <cp:revision>1</cp:revision>
  <dcterms:created xsi:type="dcterms:W3CDTF">2026-10-14T14:17:09Z</dcterms:created>
  <dcterms:modified xsi:type="dcterms:W3CDTF">2026-10-14T14:17:09Z</dcterms:modified>
</cp:coreProperties>
</file>