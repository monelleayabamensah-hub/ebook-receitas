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7560000" cy="10692000"/>
  <p:notesSz cx="10692000" cy="756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935980"/>
            <a:ext cx="15883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EBOOK DE RECEITAS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932118"/>
            <a:ext cx="4031504" cy="1518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0" spc="-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COZINHA</a:t>
            </a:r>
            <a:endParaRPr lang="en-US" sz="9200" dirty="0"/>
          </a:p>
        </p:txBody>
      </p:sp>
      <p:sp>
        <p:nvSpPr>
          <p:cNvPr id="5" name="Text 2"/>
          <p:cNvSpPr txBox="1"/>
          <p:nvPr/>
        </p:nvSpPr>
        <p:spPr>
          <a:xfrm>
            <a:off x="791914" y="1890125"/>
            <a:ext cx="3866650" cy="1518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0" spc="-46" kern="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MAMEDE</a:t>
            </a:r>
            <a:endParaRPr lang="en-US" sz="9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47" y="4014043"/>
            <a:ext cx="1468934" cy="107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91914" y="3834259"/>
            <a:ext cx="148418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 INGREDIENTES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791914" y="416510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92820" y="4207669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1158925" y="4196209"/>
            <a:ext cx="11486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Abóbora Cabotiá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791914" y="4460230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83444" y="4502795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1158925" y="4491335"/>
            <a:ext cx="12028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Banana-da-Terra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791914" y="4755356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83741" y="4797921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1158925" y="4786461"/>
            <a:ext cx="14308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Sobrecoxa de Frango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91914" y="5050482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80021" y="5093047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1158925" y="5081587"/>
            <a:ext cx="6880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Mandioca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791914" y="534560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883444" y="5388173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1158925" y="5376714"/>
            <a:ext cx="6203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Cenoura</a:t>
            </a:r>
            <a:endParaRPr lang="en-US" sz="8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087" y="3301752"/>
            <a:ext cx="3311872" cy="2759869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91914" y="6385620"/>
            <a:ext cx="5759946" cy="554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2200" spc="4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15 TRANSFORMAÇÕES.</a:t>
            </a:r>
            <a:pPr algn="l" indent="0" marL="0">
              <a:lnSpc>
                <a:spcPts val="1670"/>
              </a:lnSpc>
              <a:buNone/>
            </a:pPr>
            <a:endParaRPr lang="en-US" sz="22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1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Um novo jeito de olhar para a sua cozinha.</a:t>
            </a:r>
            <a:endParaRPr lang="en-US" sz="2200" dirty="0"/>
          </a:p>
        </p:txBody>
      </p:sp>
      <p:sp>
        <p:nvSpPr>
          <p:cNvPr id="25" name="Text 20"/>
          <p:cNvSpPr txBox="1"/>
          <p:nvPr/>
        </p:nvSpPr>
        <p:spPr>
          <a:xfrm>
            <a:off x="791914" y="7054751"/>
            <a:ext cx="449996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Técnica de chef, sabor afetivo e aproveitamento integral, da casca à semente, com o que você já compra toda semana.</a:t>
            </a:r>
            <a:endParaRPr lang="en-US" sz="920" dirty="0"/>
          </a:p>
        </p:txBody>
      </p:sp>
      <p:sp>
        <p:nvSpPr>
          <p:cNvPr id="26" name="Text 21"/>
          <p:cNvSpPr txBox="1"/>
          <p:nvPr/>
        </p:nvSpPr>
        <p:spPr>
          <a:xfrm>
            <a:off x="791914" y="9490918"/>
            <a:ext cx="21506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6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por CHEF ALLAN MAMEDE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690632"/>
            <a:ext cx="197741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SUMÁRIO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91914" y="1446312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92820" y="1488877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1158925" y="1477417"/>
            <a:ext cx="7984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Introdução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972568" y="1633441"/>
            <a:ext cx="4528393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8" name="Text 5"/>
          <p:cNvSpPr txBox="1"/>
          <p:nvPr/>
        </p:nvSpPr>
        <p:spPr>
          <a:xfrm>
            <a:off x="6630442" y="1467892"/>
            <a:ext cx="2518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03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91914" y="174143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3444" y="1784003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1158925" y="1772543"/>
            <a:ext cx="18797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 jeito Mamede de cozinhar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966740" y="1928567"/>
            <a:ext cx="3524696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13" name="Text 10"/>
          <p:cNvSpPr txBox="1"/>
          <p:nvPr/>
        </p:nvSpPr>
        <p:spPr>
          <a:xfrm>
            <a:off x="6620917" y="1763018"/>
            <a:ext cx="261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91914" y="203656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83741" y="2079129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158925" y="2067669"/>
            <a:ext cx="11486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Abóbora Cabotiá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313980" y="2223693"/>
            <a:ext cx="4186386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18" name="Text 15"/>
          <p:cNvSpPr txBox="1"/>
          <p:nvPr/>
        </p:nvSpPr>
        <p:spPr>
          <a:xfrm>
            <a:off x="6629846" y="2058144"/>
            <a:ext cx="2524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159073" y="2372320"/>
            <a:ext cx="37626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Nhoque de abóbora tostado na manteiga de garrafa e sálvia</a:t>
            </a:r>
            <a:endParaRPr lang="en-US" sz="760" dirty="0"/>
          </a:p>
        </p:txBody>
      </p:sp>
      <p:sp>
        <p:nvSpPr>
          <p:cNvPr id="20" name="Shape 17"/>
          <p:cNvSpPr/>
          <p:nvPr/>
        </p:nvSpPr>
        <p:spPr>
          <a:xfrm>
            <a:off x="4648051" y="2455419"/>
            <a:ext cx="1878955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1" name="Text 18"/>
          <p:cNvSpPr txBox="1"/>
          <p:nvPr/>
        </p:nvSpPr>
        <p:spPr>
          <a:xfrm>
            <a:off x="6656487" y="2353270"/>
            <a:ext cx="2257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07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59073" y="2560737"/>
            <a:ext cx="4499967" cy="285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Hambúrguer ou bolinho cremoso assado de abóbora com especiarias e queijo coalho</a:t>
            </a:r>
            <a:endParaRPr lang="en-US" sz="760" dirty="0"/>
          </a:p>
        </p:txBody>
      </p:sp>
      <p:sp>
        <p:nvSpPr>
          <p:cNvPr id="23" name="Shape 20"/>
          <p:cNvSpPr/>
          <p:nvPr/>
        </p:nvSpPr>
        <p:spPr>
          <a:xfrm>
            <a:off x="5788521" y="2796384"/>
            <a:ext cx="735360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4" name="Text 21"/>
          <p:cNvSpPr txBox="1"/>
          <p:nvPr/>
        </p:nvSpPr>
        <p:spPr>
          <a:xfrm>
            <a:off x="6653361" y="2541687"/>
            <a:ext cx="2288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08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159073" y="2901702"/>
            <a:ext cx="47957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Crepúsculo: doce de abóbora cremoso de colher com coco e raspas de laranja</a:t>
            </a:r>
            <a:endParaRPr lang="en-US" sz="760" dirty="0"/>
          </a:p>
        </p:txBody>
      </p:sp>
      <p:sp>
        <p:nvSpPr>
          <p:cNvPr id="26" name="Shape 23"/>
          <p:cNvSpPr/>
          <p:nvPr/>
        </p:nvSpPr>
        <p:spPr>
          <a:xfrm>
            <a:off x="5570488" y="2984800"/>
            <a:ext cx="953393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7" name="Text 24"/>
          <p:cNvSpPr txBox="1"/>
          <p:nvPr/>
        </p:nvSpPr>
        <p:spPr>
          <a:xfrm>
            <a:off x="6653361" y="2882652"/>
            <a:ext cx="2288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09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91914" y="304948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80021" y="3092053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1158925" y="3080593"/>
            <a:ext cx="12028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Banana-da-Terra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2362349" y="3236618"/>
            <a:ext cx="4161979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32" name="Text 29"/>
          <p:cNvSpPr txBox="1"/>
          <p:nvPr/>
        </p:nvSpPr>
        <p:spPr>
          <a:xfrm>
            <a:off x="6653808" y="3071068"/>
            <a:ext cx="2284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12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1159073" y="3385245"/>
            <a:ext cx="42200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Moqueca expressa de frigideira com banana, leite de coco e pimenta</a:t>
            </a:r>
            <a:endParaRPr lang="en-US" sz="760" dirty="0"/>
          </a:p>
        </p:txBody>
      </p:sp>
      <p:sp>
        <p:nvSpPr>
          <p:cNvPr id="34" name="Shape 31"/>
          <p:cNvSpPr/>
          <p:nvPr/>
        </p:nvSpPr>
        <p:spPr>
          <a:xfrm>
            <a:off x="5056436" y="3468343"/>
            <a:ext cx="1480096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35" name="Text 32"/>
          <p:cNvSpPr txBox="1"/>
          <p:nvPr/>
        </p:nvSpPr>
        <p:spPr>
          <a:xfrm>
            <a:off x="6666012" y="3366195"/>
            <a:ext cx="2162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14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159073" y="3573661"/>
            <a:ext cx="33692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Purê aveludado de banana grelhada com noz-moscada</a:t>
            </a:r>
            <a:endParaRPr lang="en-US" sz="760" dirty="0"/>
          </a:p>
        </p:txBody>
      </p:sp>
      <p:sp>
        <p:nvSpPr>
          <p:cNvPr id="37" name="Shape 34"/>
          <p:cNvSpPr/>
          <p:nvPr/>
        </p:nvSpPr>
        <p:spPr>
          <a:xfrm>
            <a:off x="4296817" y="3656759"/>
            <a:ext cx="2247156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38" name="Text 35"/>
          <p:cNvSpPr txBox="1"/>
          <p:nvPr/>
        </p:nvSpPr>
        <p:spPr>
          <a:xfrm>
            <a:off x="6673453" y="3554611"/>
            <a:ext cx="2088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15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159073" y="3762077"/>
            <a:ext cx="4499967" cy="285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Bananas flambadas no rum ou na cachaça com crosta de açúcar mascavo e canela</a:t>
            </a:r>
            <a:endParaRPr lang="en-US" sz="760" dirty="0"/>
          </a:p>
        </p:txBody>
      </p:sp>
      <p:sp>
        <p:nvSpPr>
          <p:cNvPr id="40" name="Shape 37"/>
          <p:cNvSpPr/>
          <p:nvPr/>
        </p:nvSpPr>
        <p:spPr>
          <a:xfrm>
            <a:off x="5788521" y="3997725"/>
            <a:ext cx="755303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41" name="Text 38"/>
          <p:cNvSpPr txBox="1"/>
          <p:nvPr/>
        </p:nvSpPr>
        <p:spPr>
          <a:xfrm>
            <a:off x="6673304" y="3743027"/>
            <a:ext cx="2089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16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91914" y="4062412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83444" y="4104977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1158925" y="4093518"/>
            <a:ext cx="14308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Sobrecoxa de Frango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565946" y="4249542"/>
            <a:ext cx="3959721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46" name="Text 43"/>
          <p:cNvSpPr txBox="1"/>
          <p:nvPr/>
        </p:nvSpPr>
        <p:spPr>
          <a:xfrm>
            <a:off x="6655147" y="4083993"/>
            <a:ext cx="2271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19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1159073" y="4398169"/>
            <a:ext cx="48601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Sobrecoxa desossada com pele ultracrocante ao molho rústico de limão e alho</a:t>
            </a:r>
            <a:endParaRPr lang="en-US" sz="760" dirty="0"/>
          </a:p>
        </p:txBody>
      </p:sp>
      <p:sp>
        <p:nvSpPr>
          <p:cNvPr id="48" name="Shape 45"/>
          <p:cNvSpPr/>
          <p:nvPr/>
        </p:nvSpPr>
        <p:spPr>
          <a:xfrm>
            <a:off x="5627936" y="4481267"/>
            <a:ext cx="916632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49" name="Text 46"/>
          <p:cNvSpPr txBox="1"/>
          <p:nvPr/>
        </p:nvSpPr>
        <p:spPr>
          <a:xfrm>
            <a:off x="6674048" y="4379119"/>
            <a:ext cx="2082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21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1159073" y="4586585"/>
            <a:ext cx="39154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Frango desfiado suculento ao molho de tomate caseiro e ervas</a:t>
            </a:r>
            <a:endParaRPr lang="en-US" sz="760" dirty="0"/>
          </a:p>
        </p:txBody>
      </p:sp>
      <p:sp>
        <p:nvSpPr>
          <p:cNvPr id="51" name="Shape 48"/>
          <p:cNvSpPr/>
          <p:nvPr/>
        </p:nvSpPr>
        <p:spPr>
          <a:xfrm>
            <a:off x="4784527" y="4669684"/>
            <a:ext cx="1739354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52" name="Text 49"/>
          <p:cNvSpPr txBox="1"/>
          <p:nvPr/>
        </p:nvSpPr>
        <p:spPr>
          <a:xfrm>
            <a:off x="6653361" y="4567535"/>
            <a:ext cx="2288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22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1159073" y="4775002"/>
            <a:ext cx="42121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Sobrecoxa marinada no iogurte com especiarias, assada até dourar</a:t>
            </a:r>
            <a:endParaRPr lang="en-US" sz="760" dirty="0"/>
          </a:p>
        </p:txBody>
      </p:sp>
      <p:sp>
        <p:nvSpPr>
          <p:cNvPr id="54" name="Shape 51"/>
          <p:cNvSpPr/>
          <p:nvPr/>
        </p:nvSpPr>
        <p:spPr>
          <a:xfrm>
            <a:off x="5049441" y="4858100"/>
            <a:ext cx="1475036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55" name="Text 52"/>
          <p:cNvSpPr txBox="1"/>
          <p:nvPr/>
        </p:nvSpPr>
        <p:spPr>
          <a:xfrm>
            <a:off x="6653957" y="4755952"/>
            <a:ext cx="2283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23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791914" y="492278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883444" y="4965353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1158925" y="4953893"/>
            <a:ext cx="6880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Mandioca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1862137" y="5109917"/>
            <a:ext cx="4638824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60" name="Text 57"/>
          <p:cNvSpPr txBox="1"/>
          <p:nvPr/>
        </p:nvSpPr>
        <p:spPr>
          <a:xfrm>
            <a:off x="6630442" y="4944368"/>
            <a:ext cx="2518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26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1159073" y="5258544"/>
            <a:ext cx="25569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Rösti de mandioca recheado na frigideira</a:t>
            </a:r>
            <a:endParaRPr lang="en-US" sz="760" dirty="0"/>
          </a:p>
        </p:txBody>
      </p:sp>
      <p:sp>
        <p:nvSpPr>
          <p:cNvPr id="62" name="Shape 59"/>
          <p:cNvSpPr/>
          <p:nvPr/>
        </p:nvSpPr>
        <p:spPr>
          <a:xfrm>
            <a:off x="3571577" y="5341643"/>
            <a:ext cx="2952899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63" name="Text 60"/>
          <p:cNvSpPr txBox="1"/>
          <p:nvPr/>
        </p:nvSpPr>
        <p:spPr>
          <a:xfrm>
            <a:off x="6653957" y="5239494"/>
            <a:ext cx="2283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28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1159073" y="5446961"/>
            <a:ext cx="41446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Caldo aveludado de mandioca com gengibre e bacon (ou cogumelos)</a:t>
            </a:r>
            <a:endParaRPr lang="en-US" sz="760" dirty="0"/>
          </a:p>
        </p:txBody>
      </p:sp>
      <p:sp>
        <p:nvSpPr>
          <p:cNvPr id="65" name="Shape 62"/>
          <p:cNvSpPr/>
          <p:nvPr/>
        </p:nvSpPr>
        <p:spPr>
          <a:xfrm>
            <a:off x="4989165" y="5530059"/>
            <a:ext cx="1535311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66" name="Text 63"/>
          <p:cNvSpPr txBox="1"/>
          <p:nvPr/>
        </p:nvSpPr>
        <p:spPr>
          <a:xfrm>
            <a:off x="6653957" y="5427911"/>
            <a:ext cx="2283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29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1159073" y="5635377"/>
            <a:ext cx="27703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Biscoito de polvilho e mandioca de assadeira</a:t>
            </a:r>
            <a:endParaRPr lang="en-US" sz="760" dirty="0"/>
          </a:p>
        </p:txBody>
      </p:sp>
      <p:sp>
        <p:nvSpPr>
          <p:cNvPr id="68" name="Shape 65"/>
          <p:cNvSpPr/>
          <p:nvPr/>
        </p:nvSpPr>
        <p:spPr>
          <a:xfrm>
            <a:off x="3762077" y="5718475"/>
            <a:ext cx="2761804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69" name="Text 66"/>
          <p:cNvSpPr txBox="1"/>
          <p:nvPr/>
        </p:nvSpPr>
        <p:spPr>
          <a:xfrm>
            <a:off x="6653361" y="5616327"/>
            <a:ext cx="2288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30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791914" y="578316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885230" y="5825728"/>
            <a:ext cx="1651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7</a:t>
            </a:r>
            <a:endParaRPr lang="en-US" sz="950" dirty="0"/>
          </a:p>
        </p:txBody>
      </p:sp>
      <p:sp>
        <p:nvSpPr>
          <p:cNvPr id="72" name="Text 69"/>
          <p:cNvSpPr txBox="1"/>
          <p:nvPr/>
        </p:nvSpPr>
        <p:spPr>
          <a:xfrm>
            <a:off x="1158925" y="5814268"/>
            <a:ext cx="6203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Cenoura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1794421" y="5970293"/>
            <a:ext cx="4708029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74" name="Text 71"/>
          <p:cNvSpPr txBox="1"/>
          <p:nvPr/>
        </p:nvSpPr>
        <p:spPr>
          <a:xfrm>
            <a:off x="6631930" y="5804743"/>
            <a:ext cx="2503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33</a:t>
            </a:r>
            <a:endParaRPr lang="en-US" sz="1200" dirty="0"/>
          </a:p>
        </p:txBody>
      </p:sp>
      <p:sp>
        <p:nvSpPr>
          <p:cNvPr id="75" name="Text 72"/>
          <p:cNvSpPr txBox="1"/>
          <p:nvPr/>
        </p:nvSpPr>
        <p:spPr>
          <a:xfrm>
            <a:off x="1159073" y="6118920"/>
            <a:ext cx="4499967" cy="285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Cenouras assadas inteiras, caramelizadas no mel ou melaço com azeite e tomilho</a:t>
            </a:r>
            <a:endParaRPr lang="en-US" sz="760" dirty="0"/>
          </a:p>
        </p:txBody>
      </p:sp>
      <p:sp>
        <p:nvSpPr>
          <p:cNvPr id="76" name="Shape 73"/>
          <p:cNvSpPr/>
          <p:nvPr/>
        </p:nvSpPr>
        <p:spPr>
          <a:xfrm>
            <a:off x="5788521" y="6354567"/>
            <a:ext cx="736104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77" name="Text 74"/>
          <p:cNvSpPr txBox="1"/>
          <p:nvPr/>
        </p:nvSpPr>
        <p:spPr>
          <a:xfrm>
            <a:off x="6654105" y="6099870"/>
            <a:ext cx="2281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35</a:t>
            </a:r>
            <a:endParaRPr lang="en-US" sz="1000" dirty="0"/>
          </a:p>
        </p:txBody>
      </p:sp>
      <p:sp>
        <p:nvSpPr>
          <p:cNvPr id="78" name="Text 75"/>
          <p:cNvSpPr txBox="1"/>
          <p:nvPr/>
        </p:nvSpPr>
        <p:spPr>
          <a:xfrm>
            <a:off x="1159073" y="6459885"/>
            <a:ext cx="41185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Hambúrguer rústico ou bolinho de cenoura com aveia e especiarias</a:t>
            </a:r>
            <a:endParaRPr lang="en-US" sz="760" dirty="0"/>
          </a:p>
        </p:txBody>
      </p:sp>
      <p:sp>
        <p:nvSpPr>
          <p:cNvPr id="79" name="Shape 76"/>
          <p:cNvSpPr/>
          <p:nvPr/>
        </p:nvSpPr>
        <p:spPr>
          <a:xfrm>
            <a:off x="4965799" y="6542983"/>
            <a:ext cx="155867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80" name="Text 77"/>
          <p:cNvSpPr txBox="1"/>
          <p:nvPr/>
        </p:nvSpPr>
        <p:spPr>
          <a:xfrm>
            <a:off x="6653957" y="6440835"/>
            <a:ext cx="2283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36</a:t>
            </a:r>
            <a:endParaRPr lang="en-US" sz="1000" dirty="0"/>
          </a:p>
        </p:txBody>
      </p:sp>
      <p:sp>
        <p:nvSpPr>
          <p:cNvPr id="81" name="Text 78"/>
          <p:cNvSpPr txBox="1"/>
          <p:nvPr/>
        </p:nvSpPr>
        <p:spPr>
          <a:xfrm>
            <a:off x="1159073" y="6648301"/>
            <a:ext cx="4761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Bolo de cenoura da vovó com técnica de chef e calda de chocolate espelhada</a:t>
            </a:r>
            <a:endParaRPr lang="en-US" sz="760" dirty="0"/>
          </a:p>
        </p:txBody>
      </p:sp>
      <p:sp>
        <p:nvSpPr>
          <p:cNvPr id="82" name="Shape 79"/>
          <p:cNvSpPr/>
          <p:nvPr/>
        </p:nvSpPr>
        <p:spPr>
          <a:xfrm>
            <a:off x="5539978" y="6731400"/>
            <a:ext cx="988219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83" name="Text 80"/>
          <p:cNvSpPr txBox="1"/>
          <p:nvPr/>
        </p:nvSpPr>
        <p:spPr>
          <a:xfrm>
            <a:off x="6657677" y="6629251"/>
            <a:ext cx="2245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37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791914" y="679608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883741" y="6838652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8</a:t>
            </a:r>
            <a:endParaRPr lang="en-US" sz="950" dirty="0"/>
          </a:p>
        </p:txBody>
      </p:sp>
      <p:sp>
        <p:nvSpPr>
          <p:cNvPr id="86" name="Text 83"/>
          <p:cNvSpPr txBox="1"/>
          <p:nvPr/>
        </p:nvSpPr>
        <p:spPr>
          <a:xfrm>
            <a:off x="1158925" y="6827193"/>
            <a:ext cx="20407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Bônus: os 10 pulos do Mamede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3110508" y="6983217"/>
            <a:ext cx="3380929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88" name="Text 85"/>
          <p:cNvSpPr txBox="1"/>
          <p:nvPr/>
        </p:nvSpPr>
        <p:spPr>
          <a:xfrm>
            <a:off x="6620917" y="6817668"/>
            <a:ext cx="2613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40</a:t>
            </a:r>
            <a:endParaRPr lang="en-US" sz="1200" dirty="0"/>
          </a:p>
        </p:txBody>
      </p:sp>
      <p:sp>
        <p:nvSpPr>
          <p:cNvPr id="89" name="Shape 86"/>
          <p:cNvSpPr/>
          <p:nvPr/>
        </p:nvSpPr>
        <p:spPr>
          <a:xfrm>
            <a:off x="791914" y="709121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90" name="Text 87"/>
          <p:cNvSpPr txBox="1"/>
          <p:nvPr/>
        </p:nvSpPr>
        <p:spPr>
          <a:xfrm>
            <a:off x="883741" y="7133779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9</a:t>
            </a:r>
            <a:endParaRPr lang="en-US" sz="950" dirty="0"/>
          </a:p>
        </p:txBody>
      </p:sp>
      <p:sp>
        <p:nvSpPr>
          <p:cNvPr id="91" name="Text 88"/>
          <p:cNvSpPr txBox="1"/>
          <p:nvPr/>
        </p:nvSpPr>
        <p:spPr>
          <a:xfrm>
            <a:off x="1158925" y="7122319"/>
            <a:ext cx="16025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Para seguir cozinhando</a:t>
            </a:r>
            <a:endParaRPr lang="en-US" sz="850" dirty="0"/>
          </a:p>
        </p:txBody>
      </p:sp>
      <p:sp>
        <p:nvSpPr>
          <p:cNvPr id="92" name="Shape 89"/>
          <p:cNvSpPr/>
          <p:nvPr/>
        </p:nvSpPr>
        <p:spPr>
          <a:xfrm>
            <a:off x="2719239" y="7278343"/>
            <a:ext cx="3772942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93" name="Text 90"/>
          <p:cNvSpPr txBox="1"/>
          <p:nvPr/>
        </p:nvSpPr>
        <p:spPr>
          <a:xfrm>
            <a:off x="6621661" y="7112794"/>
            <a:ext cx="2605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42</a:t>
            </a:r>
            <a:endParaRPr lang="en-US" sz="1200" dirty="0"/>
          </a:p>
        </p:txBody>
      </p:sp>
      <p:sp>
        <p:nvSpPr>
          <p:cNvPr id="94" name="Text 91"/>
          <p:cNvSpPr txBox="1"/>
          <p:nvPr/>
        </p:nvSpPr>
        <p:spPr>
          <a:xfrm>
            <a:off x="5502622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95" name="Text 92"/>
          <p:cNvSpPr txBox="1"/>
          <p:nvPr/>
        </p:nvSpPr>
        <p:spPr>
          <a:xfrm>
            <a:off x="6635800" y="10162729"/>
            <a:ext cx="246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9962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INTRODUÇÃO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82214"/>
            <a:ext cx="4247852" cy="1801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UM NOVO JEITO DE OLHAR PARA A SUA COZINHA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712839"/>
            <a:ext cx="575994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0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Pare de fazer sempre a mesma comida do mesmo jeito. Você não precisa encher o carrinho com ingredientes caros ou exóticos para sair da rotina: o segredo está em aprender a enxergar novas possibilidades com aquilo que já compra toda semana.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3596878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Este é um guia prático para transformar 5 ingredientes cotidianos em 15 preparações completamente diferentes, unindo técnica profissional, sabor afetivo e aproveitamento integral.</a:t>
            </a:r>
            <a:endParaRPr lang="en-US" sz="850" dirty="0"/>
          </a:p>
        </p:txBody>
      </p:sp>
      <p:sp>
        <p:nvSpPr>
          <p:cNvPr id="8" name="Text 4"/>
          <p:cNvSpPr txBox="1"/>
          <p:nvPr/>
        </p:nvSpPr>
        <p:spPr>
          <a:xfrm>
            <a:off x="791914" y="4201567"/>
            <a:ext cx="5759946" cy="66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Aqui você não vai encontrar receitas soltas. Cada capítulo é dedicado a um ingrediente e mostra o caminho inteiro: como escolher no mercado, como guardar, como cortar, como cozinhar de três jeitos que você talvez nunca tenha imaginado e, no fim, o que fazer com a casca, a rama, o osso e a sobra.</a:t>
            </a:r>
            <a:endParaRPr lang="en-US" sz="850" dirty="0"/>
          </a:p>
        </p:txBody>
      </p:sp>
      <p:sp>
        <p:nvSpPr>
          <p:cNvPr id="9" name="Text 5"/>
          <p:cNvSpPr txBox="1"/>
          <p:nvPr/>
        </p:nvSpPr>
        <p:spPr>
          <a:xfrm>
            <a:off x="791914" y="4976664"/>
            <a:ext cx="575994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Leia com calma, cozinhe com tempo e, principalmente, prove tudo pelo caminho. É assim que a gente aprende a cozinhar de verdade.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791914" y="5451872"/>
            <a:ext cx="0" cy="253305"/>
          </a:xfrm>
          <a:prstGeom prst="line">
            <a:avLst/>
          </a:prstGeom>
          <a:noFill/>
          <a:ln w="76200">
            <a:solidFill>
              <a:srgbClr val="FFC92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48048" y="5428377"/>
            <a:ext cx="5720548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PARE DE FAZER SEMPRE A MESMA COMIDA DO MESMO JEITO.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791914" y="5921127"/>
            <a:ext cx="16773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20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CHEF ALLAN MAMEDE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502622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6635800" y="10162729"/>
            <a:ext cx="246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791914"/>
            <a:ext cx="8123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MÉTODO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982214"/>
            <a:ext cx="5759946" cy="128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JEITO MAMEDE DE COZINHAR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91914" y="2198787"/>
            <a:ext cx="56965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 método que guia todo o material se apoia em três fundamentos.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91914" y="2444502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92820" y="2487067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69789" y="2473226"/>
            <a:ext cx="4830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AFETO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2393752" y="2482751"/>
            <a:ext cx="4374207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Comida acolhedora, generosa e com memória de casa, sem afetações desnecessárias nem gastronomia distante da realidade.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91914" y="290051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83444" y="2943076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169789" y="2929235"/>
            <a:ext cx="6106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TÉCNICA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2393752" y="2938760"/>
            <a:ext cx="4374207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Decisões simples de chef (ponto de frigideira, cortes, descanso da carne, acidez e texturas) que mudam radicalmente o resultado final.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91914" y="335652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83741" y="3399086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169789" y="3385245"/>
            <a:ext cx="11583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APROVEITAMENTO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2393752" y="3394770"/>
            <a:ext cx="4374207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Um olhar inteligente para cascas, talos, ramas e ossos, transformando o que iria para o lixo em sabor e textura.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91914" y="3869978"/>
            <a:ext cx="0" cy="506611"/>
          </a:xfrm>
          <a:prstGeom prst="line">
            <a:avLst/>
          </a:prstGeom>
          <a:noFill/>
          <a:ln w="76200">
            <a:solidFill>
              <a:srgbClr val="FFC92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71914" y="3869025"/>
            <a:ext cx="5579946" cy="576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9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AFETO, TÉCNICA E APROVEITAMENTO. NESSA ORDEM, EM TODO PRATO.</a:t>
            </a:r>
            <a:endParaRPr lang="en-US" sz="19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47" y="4833640"/>
            <a:ext cx="1957239" cy="1079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91914" y="4653855"/>
            <a:ext cx="203108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COMO USAR ESTE GUIA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791914" y="5015805"/>
            <a:ext cx="55251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Cada um dos 5 capítulos é dedicado a um ingrediente e segue a mesma jornada: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791914" y="5270153"/>
            <a:ext cx="1583978" cy="267593"/>
          </a:xfrm>
          <a:prstGeom prst="rect">
            <a:avLst/>
          </a:prstGeom>
          <a:solidFill>
            <a:srgbClr val="18542A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81807" y="5327749"/>
            <a:ext cx="4845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ETAPA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2375892" y="5270153"/>
            <a:ext cx="4392067" cy="267593"/>
          </a:xfrm>
          <a:prstGeom prst="rect">
            <a:avLst/>
          </a:prstGeom>
          <a:solidFill>
            <a:srgbClr val="18542A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2465784" y="5327749"/>
            <a:ext cx="14973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QUE VOCÊ ENCONTRA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791914" y="6008340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28" name="Text 24"/>
          <p:cNvSpPr txBox="1"/>
          <p:nvPr/>
        </p:nvSpPr>
        <p:spPr>
          <a:xfrm>
            <a:off x="881807" y="5606058"/>
            <a:ext cx="8219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Ingrediente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2375892" y="6008340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0" name="Text 26"/>
          <p:cNvSpPr txBox="1"/>
          <p:nvPr/>
        </p:nvSpPr>
        <p:spPr>
          <a:xfrm>
            <a:off x="2465892" y="5625108"/>
            <a:ext cx="4212067" cy="307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 olhar do chef para expandir as possibilidades de uso daquele insumo.</a:t>
            </a:r>
            <a:endParaRPr lang="en-US" sz="820" dirty="0"/>
          </a:p>
        </p:txBody>
      </p:sp>
      <p:sp>
        <p:nvSpPr>
          <p:cNvPr id="31" name="Shape 27"/>
          <p:cNvSpPr/>
          <p:nvPr/>
        </p:nvSpPr>
        <p:spPr>
          <a:xfrm>
            <a:off x="791914" y="6321177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2" name="Text 28"/>
          <p:cNvSpPr txBox="1"/>
          <p:nvPr/>
        </p:nvSpPr>
        <p:spPr>
          <a:xfrm>
            <a:off x="881807" y="6081415"/>
            <a:ext cx="9681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Antes da Panela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2375892" y="6321177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4" name="Text 30"/>
          <p:cNvSpPr txBox="1"/>
          <p:nvPr/>
        </p:nvSpPr>
        <p:spPr>
          <a:xfrm>
            <a:off x="2465784" y="6100465"/>
            <a:ext cx="4001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Como escolher no mercado, como armazenar e como cortar.</a:t>
            </a:r>
            <a:endParaRPr lang="en-US" sz="820" dirty="0"/>
          </a:p>
        </p:txBody>
      </p:sp>
      <p:sp>
        <p:nvSpPr>
          <p:cNvPr id="35" name="Shape 31"/>
          <p:cNvSpPr/>
          <p:nvPr/>
        </p:nvSpPr>
        <p:spPr>
          <a:xfrm>
            <a:off x="791914" y="6796534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6" name="Text 32"/>
          <p:cNvSpPr txBox="1"/>
          <p:nvPr/>
        </p:nvSpPr>
        <p:spPr>
          <a:xfrm>
            <a:off x="881807" y="6394252"/>
            <a:ext cx="10833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 Transformações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2375892" y="6796534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8" name="Text 34"/>
          <p:cNvSpPr txBox="1"/>
          <p:nvPr/>
        </p:nvSpPr>
        <p:spPr>
          <a:xfrm>
            <a:off x="2465892" y="6413302"/>
            <a:ext cx="4212067" cy="307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Três caminhos culinários completamente distintos para aquela sensação de “nunca pensei nisso”.</a:t>
            </a:r>
            <a:endParaRPr lang="en-US" sz="820" dirty="0"/>
          </a:p>
        </p:txBody>
      </p:sp>
      <p:sp>
        <p:nvSpPr>
          <p:cNvPr id="39" name="Shape 35"/>
          <p:cNvSpPr/>
          <p:nvPr/>
        </p:nvSpPr>
        <p:spPr>
          <a:xfrm>
            <a:off x="791914" y="7271891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0" name="Text 36"/>
          <p:cNvSpPr txBox="1"/>
          <p:nvPr/>
        </p:nvSpPr>
        <p:spPr>
          <a:xfrm>
            <a:off x="881807" y="6869609"/>
            <a:ext cx="8713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Pulo do Chef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2375892" y="7271891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2" name="Text 38"/>
          <p:cNvSpPr txBox="1"/>
          <p:nvPr/>
        </p:nvSpPr>
        <p:spPr>
          <a:xfrm>
            <a:off x="2465892" y="6888659"/>
            <a:ext cx="4212067" cy="307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Um erro frequente, desmistificado, com a técnica exata para corrigi-lo.</a:t>
            </a:r>
            <a:endParaRPr lang="en-US" sz="820" dirty="0"/>
          </a:p>
        </p:txBody>
      </p:sp>
      <p:sp>
        <p:nvSpPr>
          <p:cNvPr id="43" name="Shape 39"/>
          <p:cNvSpPr/>
          <p:nvPr/>
        </p:nvSpPr>
        <p:spPr>
          <a:xfrm>
            <a:off x="791914" y="7584728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4" name="Text 40"/>
          <p:cNvSpPr txBox="1"/>
          <p:nvPr/>
        </p:nvSpPr>
        <p:spPr>
          <a:xfrm>
            <a:off x="881807" y="7344966"/>
            <a:ext cx="8822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Não Tem Isso?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2375892" y="7584728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6" name="Text 42"/>
          <p:cNvSpPr txBox="1"/>
          <p:nvPr/>
        </p:nvSpPr>
        <p:spPr>
          <a:xfrm>
            <a:off x="2465784" y="7364016"/>
            <a:ext cx="38558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Substituições inteligentes para você cozinhar sem travar.</a:t>
            </a:r>
            <a:endParaRPr lang="en-US" sz="820" dirty="0"/>
          </a:p>
        </p:txBody>
      </p:sp>
      <p:sp>
        <p:nvSpPr>
          <p:cNvPr id="47" name="Shape 43"/>
          <p:cNvSpPr/>
          <p:nvPr/>
        </p:nvSpPr>
        <p:spPr>
          <a:xfrm>
            <a:off x="791914" y="8060085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8" name="Text 44"/>
          <p:cNvSpPr txBox="1"/>
          <p:nvPr/>
        </p:nvSpPr>
        <p:spPr>
          <a:xfrm>
            <a:off x="881807" y="7657802"/>
            <a:ext cx="13895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Aproveita Isso Também</a:t>
            </a:r>
            <a:endParaRPr lang="en-US" sz="1050" dirty="0"/>
          </a:p>
        </p:txBody>
      </p:sp>
      <p:sp>
        <p:nvSpPr>
          <p:cNvPr id="49" name="Shape 45"/>
          <p:cNvSpPr/>
          <p:nvPr/>
        </p:nvSpPr>
        <p:spPr>
          <a:xfrm>
            <a:off x="2375892" y="8060085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50" name="Text 46"/>
          <p:cNvSpPr txBox="1"/>
          <p:nvPr/>
        </p:nvSpPr>
        <p:spPr>
          <a:xfrm>
            <a:off x="2465892" y="7676852"/>
            <a:ext cx="4212067" cy="307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Cascas, talos, ramas e aparas transformados em preparações saborosas.</a:t>
            </a:r>
            <a:endParaRPr lang="en-US" sz="820" dirty="0"/>
          </a:p>
        </p:txBody>
      </p:sp>
      <p:sp>
        <p:nvSpPr>
          <p:cNvPr id="51" name="Text 47"/>
          <p:cNvSpPr txBox="1"/>
          <p:nvPr/>
        </p:nvSpPr>
        <p:spPr>
          <a:xfrm>
            <a:off x="791914" y="8208764"/>
            <a:ext cx="57599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spc="63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MEDIDAS:</a:t>
            </a:r>
            <a:pPr algn="l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1 xícara = 240 ml · 1 colher (sopa) = 15 ml · 1 colher (chá) = 5 ml · forno sempre preaquecido.</a:t>
            </a:r>
            <a:endParaRPr lang="en-US" sz="1050" dirty="0"/>
          </a:p>
        </p:txBody>
      </p:sp>
      <p:sp>
        <p:nvSpPr>
          <p:cNvPr id="52" name="Text 48"/>
          <p:cNvSpPr txBox="1"/>
          <p:nvPr/>
        </p:nvSpPr>
        <p:spPr>
          <a:xfrm>
            <a:off x="5498753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53" name="Text 49"/>
          <p:cNvSpPr txBox="1"/>
          <p:nvPr/>
        </p:nvSpPr>
        <p:spPr>
          <a:xfrm>
            <a:off x="6631930" y="10162729"/>
            <a:ext cx="2503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791914"/>
            <a:ext cx="10130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CAPÍTULO 01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888424"/>
            <a:ext cx="4183856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ABÓBORA CABOTIÁ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91914" y="1665684"/>
            <a:ext cx="15483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OU ABÓBORA JAPONESA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814" y="1962001"/>
            <a:ext cx="4031903" cy="33597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91914" y="5556796"/>
            <a:ext cx="57599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0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Versátil, barata e símbolo de comida afetiva. E 100% aproveitável, da casca à semente: exatamente o que pede o consumo consciente.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6344394"/>
            <a:ext cx="1804095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6164610"/>
            <a:ext cx="18595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 TRANSFORMAÇÕES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791914" y="649545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892820" y="6538020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7"/>
          <p:cNvSpPr txBox="1"/>
          <p:nvPr/>
        </p:nvSpPr>
        <p:spPr>
          <a:xfrm>
            <a:off x="1158925" y="6517035"/>
            <a:ext cx="12803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CLÁSSICO AFETIVO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1158925" y="6659910"/>
            <a:ext cx="42096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Nhoque de abóbora tostado na manteiga de garrafa e sálvia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5047059" y="6770391"/>
            <a:ext cx="1457474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15" name="Text 10"/>
          <p:cNvSpPr txBox="1"/>
          <p:nvPr/>
        </p:nvSpPr>
        <p:spPr>
          <a:xfrm>
            <a:off x="6634014" y="6517035"/>
            <a:ext cx="2482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07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91914" y="687838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83444" y="6920954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1158925" y="6899970"/>
            <a:ext cx="8108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INUSITADO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58925" y="7042845"/>
            <a:ext cx="4499967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Hambúrguer ou bolinho cremoso assado de abóbora com especiarias e queijo coalho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788372" y="7323734"/>
            <a:ext cx="712589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1" name="Text 16"/>
          <p:cNvSpPr txBox="1"/>
          <p:nvPr/>
        </p:nvSpPr>
        <p:spPr>
          <a:xfrm>
            <a:off x="6630442" y="6899970"/>
            <a:ext cx="2518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08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91914" y="7431732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83741" y="7474297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1158925" y="7453312"/>
            <a:ext cx="8337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LADO DOCE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158925" y="7596187"/>
            <a:ext cx="4499967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Crepúsculo: doce de abóbora cremoso de colher com coco e raspas de laranja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788372" y="7877077"/>
            <a:ext cx="712589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7" name="Text 22"/>
          <p:cNvSpPr txBox="1"/>
          <p:nvPr/>
        </p:nvSpPr>
        <p:spPr>
          <a:xfrm>
            <a:off x="6630442" y="7453312"/>
            <a:ext cx="2518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09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5502325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6635502" y="10162729"/>
            <a:ext cx="2467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791914"/>
            <a:ext cx="19107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CAPÍTULO 01 · ABÓBORA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888424"/>
            <a:ext cx="3360253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INGREDIENTE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91914" y="1675209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 cabotiá é a abóbora mais generosa da feira. Tem polpa densa, pouca água e doçura natural, e é justamente isso que permite levá-la do nhoque ao doce de colher sem perder identidade.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791914" y="2279898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 erro mais comum é tratá-la sempre do mesmo jeito: cozida na água, no refogado, como acompanhamento. Quando você assa a cabotiá, a água evapora, os açúcares caramelizam e o sabor se concentra. É outra abóbora.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91914" y="2884587"/>
            <a:ext cx="575994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 tem mais: a casca é comestível e as sementes viram petisco. Da cabotiá, quase nada vai para o lixo.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47" y="3622477"/>
            <a:ext cx="1641574" cy="107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91914" y="3442692"/>
            <a:ext cx="16775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ANTES DA PANELA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91914" y="3885009"/>
            <a:ext cx="1458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NA HORA DE ESCOLHER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91914" y="416063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986135" y="4119860"/>
            <a:ext cx="578182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Pegue na mão: ela deve parecer pesada para o tamanho. Isso indica polpa densa e pouca água.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791914" y="455905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986135" y="4518273"/>
            <a:ext cx="44882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Casca firme, sem partes moles, rachaduras ou manchas úmidas.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791914" y="478705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986135" y="4746278"/>
            <a:ext cx="55385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Cabinho seco e bem preso. Se estiver verde e úmido, ela foi colhida cedo demais.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91914" y="501506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986135" y="4974282"/>
            <a:ext cx="56345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Comprando em pedaço: procure polpa laranja intensa e sementes bem formadas.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791914" y="5225058"/>
            <a:ext cx="9913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COMO GUARDAR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91914" y="550068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986135" y="5459909"/>
            <a:ext cx="5470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Inteira: em local fresco, seco e arejado, fora da geladeira, por até 1 a 2 meses.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791914" y="572869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86135" y="5687913"/>
            <a:ext cx="58332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Cortada: retire as sementes, envolva em filme e guarde na geladeira por até 5 dias.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791914" y="595669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86135" y="5915918"/>
            <a:ext cx="40231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Assada ou cozida: em porções no freezer por até 3 meses.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791914" y="6166693"/>
            <a:ext cx="15456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PRÉ-PREPARO E CORTES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791914" y="644232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986135" y="6401544"/>
            <a:ext cx="53951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Estabilize primeiro: corte uma fatia fina da base para ela não rolar na tábua.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791914" y="667032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986135" y="6629549"/>
            <a:ext cx="578182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Use a faca mais pesada que você tiver e corte ao meio, de cima para baixo. Retire as sementes com uma colher.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791914" y="706874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986135" y="7027962"/>
            <a:ext cx="578182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Gomos com casca para assar; cubos de 2 cm para refogar e cozinhar; ralada para bolinhos e massas.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791914" y="746715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986135" y="7426375"/>
            <a:ext cx="578182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Para descascar, apoie o gomo deitado na tábua e corte a casca com a faca, de cima para baixo.</a:t>
            </a:r>
            <a:endParaRPr lang="en-US" sz="850" dirty="0"/>
          </a:p>
        </p:txBody>
      </p:sp>
      <p:sp>
        <p:nvSpPr>
          <p:cNvPr id="35" name="Text 31"/>
          <p:cNvSpPr txBox="1"/>
          <p:nvPr/>
        </p:nvSpPr>
        <p:spPr>
          <a:xfrm>
            <a:off x="5502176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6635353" y="10162729"/>
            <a:ext cx="2469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46280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01 · ABÓBORA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91294"/>
            <a:ext cx="4247852" cy="128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3100" spc="-1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NHOQUE DE ABÓBORA TOSTADO NA MANTEIGA DE GARRAFA E SÁLVIA</a:t>
            </a:r>
            <a:endParaRPr lang="en-US" sz="31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273201"/>
            <a:ext cx="26763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CLÁSSICO AFETIVO · 4 PORÇÕES · 1H15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480518"/>
            <a:ext cx="15691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(conforto refinado)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2975074"/>
            <a:ext cx="1319957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2795290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10" name="Text 5"/>
          <p:cNvSpPr txBox="1"/>
          <p:nvPr/>
        </p:nvSpPr>
        <p:spPr>
          <a:xfrm>
            <a:off x="791914" y="3147715"/>
            <a:ext cx="499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MASSA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791914" y="342334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986135" y="3382566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800 g de abóbora cabotiá com casca (cerca de 600 g de polpa)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791914" y="380732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986135" y="3766542"/>
            <a:ext cx="5204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gema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791914" y="402088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986135" y="3980111"/>
            <a:ext cx="20592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50 g de parmesão ralado fino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791914" y="423445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986135" y="4193679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180 a 220 g de farinha de trigo (mais um pouco para polvilhar)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3923854" y="319801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4118074" y="3157240"/>
            <a:ext cx="23857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Sal e noz-moscada ralada na hora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3923854" y="3371999"/>
            <a:ext cx="10565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PARA FINALIZAR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923854" y="364762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118074" y="3606850"/>
            <a:ext cx="28823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4 colheres (sopa) de manteiga de garrafa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3923854" y="386119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118074" y="3820418"/>
            <a:ext cx="17677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12 folhas de sálvia fresca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3923854" y="407476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118074" y="4033986"/>
            <a:ext cx="26328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Pimenta-do-reino e parmesão a gosto</a:t>
            </a:r>
            <a:endParaRPr lang="en-US" sz="8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4838105"/>
            <a:ext cx="1636514" cy="1079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91914" y="4658320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30" name="Shape 24"/>
          <p:cNvSpPr/>
          <p:nvPr/>
        </p:nvSpPr>
        <p:spPr>
          <a:xfrm>
            <a:off x="791914" y="498916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892820" y="5031730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32" name="Text 26"/>
          <p:cNvSpPr txBox="1"/>
          <p:nvPr/>
        </p:nvSpPr>
        <p:spPr>
          <a:xfrm>
            <a:off x="1158925" y="5020270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Corte a abóbora em gomos, sem tirar a casca, e asse a 200 °C por 35 a 40 minutos, até ficar bem macia. 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Assar, e não cozinhar na água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, é o que garante um nhoque leve.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791914" y="540915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883444" y="5451723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35" name="Text 29"/>
          <p:cNvSpPr txBox="1"/>
          <p:nvPr/>
        </p:nvSpPr>
        <p:spPr>
          <a:xfrm>
            <a:off x="1158925" y="5440263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Raspe a polpa da casca e passe pelo espremedor (ou amasse muito bem com um garfo). Espalhe o purê numa travessa e deixe esfriar descoberto, para o vapor ir embora.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791914" y="582915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883741" y="5871716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38" name="Text 32"/>
          <p:cNvSpPr txBox="1"/>
          <p:nvPr/>
        </p:nvSpPr>
        <p:spPr>
          <a:xfrm>
            <a:off x="1158925" y="5860256"/>
            <a:ext cx="5609034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Junte a gema, o parmesão, sal e noz-moscada. Acrescente a farinha aos poucos, misturando com as mãos só até a massa ficar macia e soltar dos dedos. Ela pode continuar levemente úmida.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791914" y="6419552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880021" y="6462117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41" name="Text 35"/>
          <p:cNvSpPr txBox="1"/>
          <p:nvPr/>
        </p:nvSpPr>
        <p:spPr>
          <a:xfrm>
            <a:off x="1158925" y="6450657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Faça um teste: modele uma bolinha e cozinhe em água fervente. Se desmanchar, acrescente mais 1 ou 2 colheres de farinha.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791914" y="683954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883444" y="6882110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44" name="Text 38"/>
          <p:cNvSpPr txBox="1"/>
          <p:nvPr/>
        </p:nvSpPr>
        <p:spPr>
          <a:xfrm>
            <a:off x="1158925" y="6870650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Divida a massa, faça rolinhos de 2 cm de espessura sobre a bancada enfarinhada e corte em pedaços de 2 cm.</a:t>
            </a:r>
            <a:endParaRPr lang="en-US" sz="850" dirty="0"/>
          </a:p>
        </p:txBody>
      </p:sp>
      <p:sp>
        <p:nvSpPr>
          <p:cNvPr id="45" name="Shape 39"/>
          <p:cNvSpPr/>
          <p:nvPr/>
        </p:nvSpPr>
        <p:spPr>
          <a:xfrm>
            <a:off x="791914" y="725953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6" name="Text 40"/>
          <p:cNvSpPr txBox="1"/>
          <p:nvPr/>
        </p:nvSpPr>
        <p:spPr>
          <a:xfrm>
            <a:off x="883444" y="7302103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47" name="Text 41"/>
          <p:cNvSpPr txBox="1"/>
          <p:nvPr/>
        </p:nvSpPr>
        <p:spPr>
          <a:xfrm>
            <a:off x="1158925" y="7290643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Cozinhe em água fervente com sal, em levas. Quando os nhoques subirem, conte 30 segundos e retire com escumadeira.</a:t>
            </a:r>
            <a:endParaRPr lang="en-US" sz="850" dirty="0"/>
          </a:p>
        </p:txBody>
      </p:sp>
      <p:sp>
        <p:nvSpPr>
          <p:cNvPr id="48" name="Shape 42"/>
          <p:cNvSpPr/>
          <p:nvPr/>
        </p:nvSpPr>
        <p:spPr>
          <a:xfrm>
            <a:off x="791914" y="767953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885230" y="7722096"/>
            <a:ext cx="1651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7</a:t>
            </a:r>
            <a:endParaRPr lang="en-US" sz="950" dirty="0"/>
          </a:p>
        </p:txBody>
      </p:sp>
      <p:sp>
        <p:nvSpPr>
          <p:cNvPr id="50" name="Text 44"/>
          <p:cNvSpPr txBox="1"/>
          <p:nvPr/>
        </p:nvSpPr>
        <p:spPr>
          <a:xfrm>
            <a:off x="1158925" y="7710636"/>
            <a:ext cx="5609034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Numa frigideira grande, aqueça a manteiga de garrafa e frite as folhas de sálvia até ficarem crocantes. Junte os nhoques escorridos e deixe dourar 2 minutos sem mexer. Vire, finalize com pimenta e parmesão e sirva na hora.</a:t>
            </a:r>
            <a:endParaRPr lang="en-US" sz="850" dirty="0"/>
          </a:p>
        </p:txBody>
      </p:sp>
      <p:sp>
        <p:nvSpPr>
          <p:cNvPr id="51" name="Shape 45"/>
          <p:cNvSpPr/>
          <p:nvPr/>
        </p:nvSpPr>
        <p:spPr>
          <a:xfrm>
            <a:off x="791914" y="8291512"/>
            <a:ext cx="5976045" cy="798165"/>
          </a:xfrm>
          <a:prstGeom prst="roundRect">
            <a:avLst>
              <a:gd name="adj" fmla="val 15502"/>
            </a:avLst>
          </a:prstGeom>
          <a:solidFill>
            <a:srgbClr val="FFC926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971848" y="8370838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53" name="Text 47"/>
          <p:cNvSpPr txBox="1"/>
          <p:nvPr/>
        </p:nvSpPr>
        <p:spPr>
          <a:xfrm>
            <a:off x="971848" y="8646616"/>
            <a:ext cx="5616178" cy="30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Os nhoques podem ser congelados crus, espalhados numa assadeira enfarinhada. Depois de firmes, passe para um saco. Cozinhe direto do congelador, sem descongelar.</a:t>
            </a:r>
            <a:endParaRPr lang="en-US" sz="830" dirty="0"/>
          </a:p>
        </p:txBody>
      </p:sp>
      <p:sp>
        <p:nvSpPr>
          <p:cNvPr id="54" name="Text 48"/>
          <p:cNvSpPr txBox="1"/>
          <p:nvPr/>
        </p:nvSpPr>
        <p:spPr>
          <a:xfrm>
            <a:off x="5506492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55" name="Text 49"/>
          <p:cNvSpPr txBox="1"/>
          <p:nvPr/>
        </p:nvSpPr>
        <p:spPr>
          <a:xfrm>
            <a:off x="6639669" y="10162729"/>
            <a:ext cx="2425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4853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02 · ABÓBORA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91294"/>
            <a:ext cx="4247852" cy="1656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3100" spc="-1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HAMBÚRGUER OU BOLINHO CREMOSO ASSADO DE ABÓBORA COM ESPECIARIAS E QUEIJO COALHO</a:t>
            </a:r>
            <a:endParaRPr lang="en-US" sz="31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647057"/>
            <a:ext cx="55195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INUSITADO · 12 BOLINHOS OU 6 HAMBÚRGUERES · 1H (MAIS 30 MIN DE GELADEIRA)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854375"/>
            <a:ext cx="29695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(o lado salgado que ninguém espera)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3348930"/>
            <a:ext cx="1319957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3169146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791914" y="357187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986135" y="3531096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500 g de abóbora cabotiá assada e amassada (veja o passo 1 do nhoque)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791914" y="395585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986135" y="3915073"/>
            <a:ext cx="23681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150 g de queijo coalho em cubinhos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791914" y="416942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986135" y="4128641"/>
            <a:ext cx="4028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ovo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791914" y="438298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86135" y="4342209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6 colheres (sopa) de farinha de rosca (ou de aveia em flocos finos)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3923854" y="357187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118074" y="3531096"/>
            <a:ext cx="19224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½ cebola picada bem miúda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923854" y="378544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118074" y="3744664"/>
            <a:ext cx="15241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dente de alho picado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923854" y="399901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118074" y="3958233"/>
            <a:ext cx="21662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(chá) de cominho em pó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3923854" y="421258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118074" y="4171801"/>
            <a:ext cx="24164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(chá) de páprica defumada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3923854" y="442614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118074" y="4385370"/>
            <a:ext cx="28001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 colheres (sopa) de cheiro-verde picado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3923854" y="463971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4118074" y="4598938"/>
            <a:ext cx="20834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Sal, pimenta-do-reino e azeite</a:t>
            </a:r>
            <a:endParaRPr lang="en-US" sz="85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5078313"/>
            <a:ext cx="1636514" cy="1079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91914" y="4898529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32" name="Shape 26"/>
          <p:cNvSpPr/>
          <p:nvPr/>
        </p:nvSpPr>
        <p:spPr>
          <a:xfrm>
            <a:off x="791914" y="522937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892820" y="5271939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34" name="Text 28"/>
          <p:cNvSpPr txBox="1"/>
          <p:nvPr/>
        </p:nvSpPr>
        <p:spPr>
          <a:xfrm>
            <a:off x="1158925" y="5260479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Refogue a cebola e o alho num fio de azeite até ficarem macios. Junte o cominho e a páprica e mexa por 30 segundos, só para despertar o aroma das especiarias.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791914" y="564936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883444" y="5691932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37" name="Text 31"/>
          <p:cNvSpPr txBox="1"/>
          <p:nvPr/>
        </p:nvSpPr>
        <p:spPr>
          <a:xfrm>
            <a:off x="1158925" y="5680472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Numa tigela, misture o purê de abóbora, o refogado, o ovo, a farinha de rosca e o cheiro-verde. Tempere com sal e pimenta. Por último, incorpore o queijo coalho.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791914" y="6069360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883741" y="6111925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40" name="Text 34"/>
          <p:cNvSpPr txBox="1"/>
          <p:nvPr/>
        </p:nvSpPr>
        <p:spPr>
          <a:xfrm>
            <a:off x="1158925" y="6100465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Cubra e leve à geladeira por 30 minutos. A massa firma e fica muito mais fácil de modelar.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791914" y="648935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880021" y="6531918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43" name="Text 37"/>
          <p:cNvSpPr txBox="1"/>
          <p:nvPr/>
        </p:nvSpPr>
        <p:spPr>
          <a:xfrm>
            <a:off x="1158925" y="6520458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Com as mãos untadas, modele bolinhos ou discos de hambúrguer. Disponha numa assadeira com papel-manteiga e pincele azeite por cima.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791914" y="6909346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883444" y="6951911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46" name="Text 40"/>
          <p:cNvSpPr txBox="1"/>
          <p:nvPr/>
        </p:nvSpPr>
        <p:spPr>
          <a:xfrm>
            <a:off x="1158925" y="6940451"/>
            <a:ext cx="5609034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Asse a 200 °C por 25 a 30 minutos, virando na metade do tempo, até dourar. Para hambúrgueres, também dá para dourar numa frigideira bem quente, 4 minutos de cada lado.</a:t>
            </a:r>
            <a:endParaRPr lang="en-US" sz="850" dirty="0"/>
          </a:p>
        </p:txBody>
      </p:sp>
      <p:sp>
        <p:nvSpPr>
          <p:cNvPr id="47" name="Shape 41"/>
          <p:cNvSpPr/>
          <p:nvPr/>
        </p:nvSpPr>
        <p:spPr>
          <a:xfrm>
            <a:off x="791914" y="7521327"/>
            <a:ext cx="5976045" cy="798165"/>
          </a:xfrm>
          <a:prstGeom prst="roundRect">
            <a:avLst>
              <a:gd name="adj" fmla="val 15502"/>
            </a:avLst>
          </a:prstGeom>
          <a:solidFill>
            <a:srgbClr val="FFC926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971848" y="7600652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49" name="Text 43"/>
          <p:cNvSpPr txBox="1"/>
          <p:nvPr/>
        </p:nvSpPr>
        <p:spPr>
          <a:xfrm>
            <a:off x="971848" y="7876431"/>
            <a:ext cx="5616178" cy="30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 queijo coalho derrete só em parte e cria um coração cremoso, com pontos tostados por fora. Sirva com um molho de iogurte, limão e hortelã.</a:t>
            </a:r>
            <a:endParaRPr lang="en-US" sz="830" dirty="0"/>
          </a:p>
        </p:txBody>
      </p:sp>
      <p:sp>
        <p:nvSpPr>
          <p:cNvPr id="50" name="Text 44"/>
          <p:cNvSpPr txBox="1"/>
          <p:nvPr/>
        </p:nvSpPr>
        <p:spPr>
          <a:xfrm>
            <a:off x="5501729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51" name="Text 45"/>
          <p:cNvSpPr txBox="1"/>
          <p:nvPr/>
        </p:nvSpPr>
        <p:spPr>
          <a:xfrm>
            <a:off x="6634907" y="10162729"/>
            <a:ext cx="2473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4854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03 · ABÓBORA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91294"/>
            <a:ext cx="4247852" cy="1656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3100" spc="-1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CREPÚSCULO: DOCE DE ABÓBORA CREMOSO DE COLHER COM COCO E RASPAS DE LARANJA</a:t>
            </a:r>
            <a:endParaRPr lang="en-US" sz="31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647057"/>
            <a:ext cx="24113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LADO DOCE · CERCA DE 1 KG · 1H10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854375"/>
            <a:ext cx="30455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(uma sobremesa de memória afetiva)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3348930"/>
            <a:ext cx="1319957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3169146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791914" y="357187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986135" y="3531096"/>
            <a:ext cx="29387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kg de polpa de abóbora cabotiá em cubos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791914" y="378544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986135" y="3744664"/>
            <a:ext cx="11189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300 g de açúcar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791914" y="399901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986135" y="3958233"/>
            <a:ext cx="12116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½ xícara de água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791914" y="421258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86135" y="4171801"/>
            <a:ext cx="15930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200 ml de leite de coco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3923854" y="357187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118074" y="3531096"/>
            <a:ext cx="13633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50 g de coco ralado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923854" y="378544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118074" y="3744664"/>
            <a:ext cx="24428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pau de canela e 3 cravos-da-índia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923854" y="399901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118074" y="3958233"/>
            <a:ext cx="13433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Raspas de 1 laranja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3923854" y="421258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118074" y="4171801"/>
            <a:ext cx="10087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pitada de sal</a:t>
            </a:r>
            <a:endParaRPr lang="en-US" sz="8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4694337"/>
            <a:ext cx="1636514" cy="1079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91914" y="4514552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28" name="Shape 22"/>
          <p:cNvSpPr/>
          <p:nvPr/>
        </p:nvSpPr>
        <p:spPr>
          <a:xfrm>
            <a:off x="791914" y="484539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892820" y="4887962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30" name="Text 24"/>
          <p:cNvSpPr txBox="1"/>
          <p:nvPr/>
        </p:nvSpPr>
        <p:spPr>
          <a:xfrm>
            <a:off x="1158925" y="4876502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Numa panela de fundo grosso, cozinhe a abóbora com a água, tampada, em fogo médio, até ficar bem macia (cerca de 15 minutos).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791914" y="5265390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883444" y="5307955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33" name="Text 27"/>
          <p:cNvSpPr txBox="1"/>
          <p:nvPr/>
        </p:nvSpPr>
        <p:spPr>
          <a:xfrm>
            <a:off x="1158925" y="5296495"/>
            <a:ext cx="52259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Amasse a abóbora na própria panela. Junte o açúcar, a canela e os cravos.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791914" y="5560516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883741" y="5603081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1158925" y="5591621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Cozinhe em fogo baixo, mexendo com frequência, até o doce começar a desgrudar do fundo da panela, por 30 a 40 minutos. Cuidado: ele espirra. Use uma colher de cabo longo.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791914" y="598050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880021" y="6023074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39" name="Text 33"/>
          <p:cNvSpPr txBox="1"/>
          <p:nvPr/>
        </p:nvSpPr>
        <p:spPr>
          <a:xfrm>
            <a:off x="1158925" y="6011614"/>
            <a:ext cx="57297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Acrescente o leite de coco e o coco ralado e cozinhe por mais 10 minutos, mexendo.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791914" y="6275636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883444" y="6318200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42" name="Text 36"/>
          <p:cNvSpPr txBox="1"/>
          <p:nvPr/>
        </p:nvSpPr>
        <p:spPr>
          <a:xfrm>
            <a:off x="1158925" y="6306741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Desligue o fogo, retire a canela e os cravos e só então junte as raspas de laranja e a pitada de sal.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791914" y="669562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883444" y="6738193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45" name="Text 39"/>
          <p:cNvSpPr txBox="1"/>
          <p:nvPr/>
        </p:nvSpPr>
        <p:spPr>
          <a:xfrm>
            <a:off x="1158925" y="6726734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Ponto certo: ao passar a colher no fundo, o doce abre um caminho que demora a se fechar. Lembre que ele engrossa bastante ao esfriar.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791914" y="7137202"/>
            <a:ext cx="5976045" cy="964555"/>
          </a:xfrm>
          <a:prstGeom prst="roundRect">
            <a:avLst>
              <a:gd name="adj" fmla="val 10615"/>
            </a:avLst>
          </a:prstGeom>
          <a:solidFill>
            <a:srgbClr val="FFC926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971848" y="7216527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48" name="Text 42"/>
          <p:cNvSpPr txBox="1"/>
          <p:nvPr/>
        </p:nvSpPr>
        <p:spPr>
          <a:xfrm>
            <a:off x="971848" y="7492305"/>
            <a:ext cx="5616178" cy="475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Raspas de cítricos vão sempre no final, com o fogo desligado: o calor prolongado evapora os óleos aromáticos da casca. A pitada de sal não salga, ela faz o doce parecer mais doce e menos enjoativo.</a:t>
            </a:r>
            <a:endParaRPr lang="en-US" sz="830" dirty="0"/>
          </a:p>
        </p:txBody>
      </p:sp>
      <p:sp>
        <p:nvSpPr>
          <p:cNvPr id="49" name="Text 43"/>
          <p:cNvSpPr txBox="1"/>
          <p:nvPr/>
        </p:nvSpPr>
        <p:spPr>
          <a:xfrm>
            <a:off x="5502920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6636097" y="10162729"/>
            <a:ext cx="2461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20060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PULO DO CHEF · ABÓBORA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82214"/>
            <a:ext cx="4247852" cy="128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NHOQUE DE ABÓBORA QUE VIRA CHICLETE</a:t>
            </a:r>
            <a:endParaRPr lang="en-US" sz="4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2492871"/>
            <a:ext cx="722412" cy="1079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91914" y="2313087"/>
            <a:ext cx="6929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ERRO</a:t>
            </a:r>
            <a:endParaRPr lang="en-US" sz="1700" dirty="0"/>
          </a:p>
        </p:txBody>
      </p:sp>
      <p:sp>
        <p:nvSpPr>
          <p:cNvPr id="8" name="Text 3"/>
          <p:cNvSpPr txBox="1"/>
          <p:nvPr/>
        </p:nvSpPr>
        <p:spPr>
          <a:xfrm>
            <a:off x="791914" y="2675037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Cozinhar a abóbora na água. Ela absorve líquido, a massa fica mole e a única saída parece ser jogar mais e mais farinha. O resultado é um nhoque pesado, borrachudo e com gosto de farinha, em vez de gosto de abóbora.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3583335"/>
            <a:ext cx="1008608" cy="1079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91914" y="3403550"/>
            <a:ext cx="9791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 TÉCNICA</a:t>
            </a:r>
            <a:endParaRPr lang="en-US" sz="1700" dirty="0"/>
          </a:p>
        </p:txBody>
      </p:sp>
      <p:sp>
        <p:nvSpPr>
          <p:cNvPr id="11" name="Shape 5"/>
          <p:cNvSpPr/>
          <p:nvPr/>
        </p:nvSpPr>
        <p:spPr>
          <a:xfrm>
            <a:off x="791914" y="373439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92820" y="3776960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7"/>
          <p:cNvSpPr txBox="1"/>
          <p:nvPr/>
        </p:nvSpPr>
        <p:spPr>
          <a:xfrm>
            <a:off x="1158925" y="3765500"/>
            <a:ext cx="50611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Asse</a:t>
            </a:r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a abóbora em vez de cozinhar: a água evapora e o sabor concentra.</a:t>
            </a:r>
            <a:endParaRPr lang="en-US" sz="850" dirty="0"/>
          </a:p>
        </p:txBody>
      </p:sp>
      <p:sp>
        <p:nvSpPr>
          <p:cNvPr id="14" name="Shape 8"/>
          <p:cNvSpPr/>
          <p:nvPr/>
        </p:nvSpPr>
        <p:spPr>
          <a:xfrm>
            <a:off x="791914" y="402952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5" name="Text 9"/>
          <p:cNvSpPr txBox="1"/>
          <p:nvPr/>
        </p:nvSpPr>
        <p:spPr>
          <a:xfrm>
            <a:off x="883444" y="4072086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Text 10"/>
          <p:cNvSpPr txBox="1"/>
          <p:nvPr/>
        </p:nvSpPr>
        <p:spPr>
          <a:xfrm>
            <a:off x="1158925" y="4060627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Deixe o vapor sair: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espalhe o purê numa travessa e espere amornar antes de juntar a farinha.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791914" y="444951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883741" y="4492079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3"/>
          <p:cNvSpPr txBox="1"/>
          <p:nvPr/>
        </p:nvSpPr>
        <p:spPr>
          <a:xfrm>
            <a:off x="1158925" y="4480620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Farinha aos poucos: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pare assim que a massa deixar de grudar. Massa de nhoque é úmida mesmo.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791914" y="486950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880021" y="4912072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1158925" y="4900613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Não sove: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misture só o necessário. Quanto mais você trabalha a massa, mais elástica ela fica.</a:t>
            </a:r>
            <a:endParaRPr lang="en-US" sz="8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047" y="5624215"/>
            <a:ext cx="1377404" cy="1079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91914" y="5444430"/>
            <a:ext cx="13816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NÃO TEM ISSO?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791914" y="5832723"/>
            <a:ext cx="1583978" cy="267593"/>
          </a:xfrm>
          <a:prstGeom prst="rect">
            <a:avLst/>
          </a:prstGeom>
          <a:solidFill>
            <a:srgbClr val="18542A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881807" y="5890320"/>
            <a:ext cx="10321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 NÃO TIVER…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2375892" y="5832723"/>
            <a:ext cx="4392067" cy="267593"/>
          </a:xfrm>
          <a:prstGeom prst="rect">
            <a:avLst/>
          </a:prstGeom>
          <a:solidFill>
            <a:srgbClr val="18542A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2465784" y="5890320"/>
            <a:ext cx="4435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USE…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91914" y="6570911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0" name="Text 23"/>
          <p:cNvSpPr txBox="1"/>
          <p:nvPr/>
        </p:nvSpPr>
        <p:spPr>
          <a:xfrm>
            <a:off x="881807" y="6168628"/>
            <a:ext cx="9865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Abóbora cabotiá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2375892" y="6570911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2" name="Text 25"/>
          <p:cNvSpPr txBox="1"/>
          <p:nvPr/>
        </p:nvSpPr>
        <p:spPr>
          <a:xfrm>
            <a:off x="2465892" y="6187678"/>
            <a:ext cx="4212067" cy="307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Abóbora-paulista ou moranga (têm mais água: asse por mais tempo e escorra o purê numa peneira) ou batata-doce.</a:t>
            </a:r>
            <a:endParaRPr lang="en-US" sz="820" dirty="0"/>
          </a:p>
        </p:txBody>
      </p:sp>
      <p:sp>
        <p:nvSpPr>
          <p:cNvPr id="33" name="Shape 26"/>
          <p:cNvSpPr/>
          <p:nvPr/>
        </p:nvSpPr>
        <p:spPr>
          <a:xfrm>
            <a:off x="791914" y="7046268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4" name="Text 27"/>
          <p:cNvSpPr txBox="1"/>
          <p:nvPr/>
        </p:nvSpPr>
        <p:spPr>
          <a:xfrm>
            <a:off x="881807" y="6643985"/>
            <a:ext cx="11961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Manteiga de garrafa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2375892" y="7046268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6" name="Text 29"/>
          <p:cNvSpPr txBox="1"/>
          <p:nvPr/>
        </p:nvSpPr>
        <p:spPr>
          <a:xfrm>
            <a:off x="2465892" y="6663035"/>
            <a:ext cx="4212067" cy="307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Ghee ou manteiga comum com um fio de azeite (que evita que ela queime).</a:t>
            </a:r>
            <a:endParaRPr lang="en-US" sz="820" dirty="0"/>
          </a:p>
        </p:txBody>
      </p:sp>
      <p:sp>
        <p:nvSpPr>
          <p:cNvPr id="37" name="Shape 30"/>
          <p:cNvSpPr/>
          <p:nvPr/>
        </p:nvSpPr>
        <p:spPr>
          <a:xfrm>
            <a:off x="791914" y="7359104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8" name="Text 31"/>
          <p:cNvSpPr txBox="1"/>
          <p:nvPr/>
        </p:nvSpPr>
        <p:spPr>
          <a:xfrm>
            <a:off x="881807" y="7119342"/>
            <a:ext cx="8161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Sálvia fresca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2375892" y="7359104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0" name="Text 33"/>
          <p:cNvSpPr txBox="1"/>
          <p:nvPr/>
        </p:nvSpPr>
        <p:spPr>
          <a:xfrm>
            <a:off x="2465784" y="7138392"/>
            <a:ext cx="18153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Alecrim ou tomilho frescos.</a:t>
            </a:r>
            <a:endParaRPr lang="en-US" sz="820" dirty="0"/>
          </a:p>
        </p:txBody>
      </p:sp>
      <p:sp>
        <p:nvSpPr>
          <p:cNvPr id="41" name="Shape 34"/>
          <p:cNvSpPr/>
          <p:nvPr/>
        </p:nvSpPr>
        <p:spPr>
          <a:xfrm>
            <a:off x="791914" y="7671941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2" name="Text 35"/>
          <p:cNvSpPr txBox="1"/>
          <p:nvPr/>
        </p:nvSpPr>
        <p:spPr>
          <a:xfrm>
            <a:off x="881807" y="7432179"/>
            <a:ext cx="8246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Queijo coalho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2375892" y="7671941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4" name="Text 37"/>
          <p:cNvSpPr txBox="1"/>
          <p:nvPr/>
        </p:nvSpPr>
        <p:spPr>
          <a:xfrm>
            <a:off x="2465784" y="7451229"/>
            <a:ext cx="26683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Queijo meia-cura ou muçarela em cubos.</a:t>
            </a:r>
            <a:endParaRPr lang="en-US" sz="820" dirty="0"/>
          </a:p>
        </p:txBody>
      </p:sp>
      <p:sp>
        <p:nvSpPr>
          <p:cNvPr id="45" name="Shape 38"/>
          <p:cNvSpPr/>
          <p:nvPr/>
        </p:nvSpPr>
        <p:spPr>
          <a:xfrm>
            <a:off x="791914" y="7984778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6" name="Text 39"/>
          <p:cNvSpPr txBox="1"/>
          <p:nvPr/>
        </p:nvSpPr>
        <p:spPr>
          <a:xfrm>
            <a:off x="881807" y="7745016"/>
            <a:ext cx="8256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Leite de coco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2375892" y="7984778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8" name="Text 41"/>
          <p:cNvSpPr txBox="1"/>
          <p:nvPr/>
        </p:nvSpPr>
        <p:spPr>
          <a:xfrm>
            <a:off x="2465784" y="7764066"/>
            <a:ext cx="40276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200 ml de leite com 2 colheres (sopa) a mais de coco ralado.</a:t>
            </a:r>
            <a:endParaRPr lang="en-US" sz="820" dirty="0"/>
          </a:p>
        </p:txBody>
      </p:sp>
      <p:sp>
        <p:nvSpPr>
          <p:cNvPr id="49" name="Shape 42"/>
          <p:cNvSpPr/>
          <p:nvPr/>
        </p:nvSpPr>
        <p:spPr>
          <a:xfrm>
            <a:off x="791914" y="8297614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50" name="Text 43"/>
          <p:cNvSpPr txBox="1"/>
          <p:nvPr/>
        </p:nvSpPr>
        <p:spPr>
          <a:xfrm>
            <a:off x="881807" y="8057852"/>
            <a:ext cx="5179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Laranja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2375892" y="8297614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52" name="Text 45"/>
          <p:cNvSpPr txBox="1"/>
          <p:nvPr/>
        </p:nvSpPr>
        <p:spPr>
          <a:xfrm>
            <a:off x="2465784" y="8076902"/>
            <a:ext cx="41530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Tangerina, ou metade da quantidade de raspas de limão-taiti.</a:t>
            </a:r>
            <a:endParaRPr lang="en-US" sz="820" dirty="0"/>
          </a:p>
        </p:txBody>
      </p:sp>
      <p:sp>
        <p:nvSpPr>
          <p:cNvPr id="53" name="Text 46"/>
          <p:cNvSpPr txBox="1"/>
          <p:nvPr/>
        </p:nvSpPr>
        <p:spPr>
          <a:xfrm>
            <a:off x="5519886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54" name="Text 47"/>
          <p:cNvSpPr txBox="1"/>
          <p:nvPr/>
        </p:nvSpPr>
        <p:spPr>
          <a:xfrm>
            <a:off x="6653064" y="10162729"/>
            <a:ext cx="2291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016" y="7811839"/>
            <a:ext cx="2159943" cy="1799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8811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APROVEITA ISSO TAMBÉM · ABÓBORA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888424"/>
            <a:ext cx="4944785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NADA VAI PARA O LIXO</a:t>
            </a:r>
            <a:endParaRPr lang="en-US" sz="4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1978819"/>
            <a:ext cx="3410099" cy="1079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91914" y="1799034"/>
            <a:ext cx="36582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CASCA: CHIPS CROCANTES TEMPERADOS</a:t>
            </a:r>
            <a:endParaRPr lang="en-US" sz="1700" dirty="0"/>
          </a:p>
        </p:txBody>
      </p:sp>
      <p:sp>
        <p:nvSpPr>
          <p:cNvPr id="8" name="Text 3"/>
          <p:cNvSpPr txBox="1"/>
          <p:nvPr/>
        </p:nvSpPr>
        <p:spPr>
          <a:xfrm>
            <a:off x="791914" y="2160984"/>
            <a:ext cx="5759946" cy="66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Quando a receita pedir abóbora descascada, tire a casca em tiras finas com um descascador de legumes. Misture com um fio de azeite, sal e páprica e espalhe sem amontoar. Leve à airfryer a 180 °C por 8 a 12 minutos, chacoalhando na metade, ou ao forno a 160 °C por 20 a 25 minutos. Elas ficam crocantes ao esfriar.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3239691"/>
            <a:ext cx="4214366" cy="1079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91914" y="3059906"/>
            <a:ext cx="45590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SEMENTES: SNACK CROCANTE COM PÁPRICA E SAL</a:t>
            </a:r>
            <a:endParaRPr lang="en-US" sz="1700" dirty="0"/>
          </a:p>
        </p:txBody>
      </p:sp>
      <p:sp>
        <p:nvSpPr>
          <p:cNvPr id="11" name="Text 5"/>
          <p:cNvSpPr txBox="1"/>
          <p:nvPr/>
        </p:nvSpPr>
        <p:spPr>
          <a:xfrm>
            <a:off x="791914" y="3421856"/>
            <a:ext cx="5759946" cy="66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Lave as sementes numa peneira, separando as fibras, e seque muito bem com um pano. Tempere com um fio de azeite, sal e páprica defumada e asse a 160 °C por 20 a 25 minutos, mexendo de vez em quando, até dourarem e estalarem. Use como petisco ou para dar crocância a saladas, sopas e ao próprio nhoque.</a:t>
            </a:r>
            <a:endParaRPr lang="en-US" sz="850" dirty="0"/>
          </a:p>
        </p:txBody>
      </p:sp>
      <p:sp>
        <p:nvSpPr>
          <p:cNvPr id="12" name="Text 6"/>
          <p:cNvSpPr txBox="1"/>
          <p:nvPr/>
        </p:nvSpPr>
        <p:spPr>
          <a:xfrm>
            <a:off x="5541615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13" name="Text 7"/>
          <p:cNvSpPr txBox="1"/>
          <p:nvPr/>
        </p:nvSpPr>
        <p:spPr>
          <a:xfrm>
            <a:off x="6674793" y="10162729"/>
            <a:ext cx="2074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791914"/>
            <a:ext cx="10331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CAPÍTULO 02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888424"/>
            <a:ext cx="4371546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BANANA-DA-TERRA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91914" y="1665684"/>
            <a:ext cx="16620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OU BANANA-PRATA FIRME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814" y="1962001"/>
            <a:ext cx="4031903" cy="33597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91914" y="5556796"/>
            <a:ext cx="57599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0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 ingrediente nacional por excelência. Transita entre o salgado e o doce e leva sofisticação ao prato sem pesar no bolso.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6344394"/>
            <a:ext cx="1804095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6164610"/>
            <a:ext cx="18595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 TRANSFORMAÇÕES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791914" y="649545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892820" y="6538020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7"/>
          <p:cNvSpPr txBox="1"/>
          <p:nvPr/>
        </p:nvSpPr>
        <p:spPr>
          <a:xfrm>
            <a:off x="1158925" y="6517035"/>
            <a:ext cx="15146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RÁPIDA DE FRIGIDEIRA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1158925" y="6659910"/>
            <a:ext cx="47214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Moqueca expressa de frigideira com banana, leite de coco e pimenta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5503962" y="6770396"/>
            <a:ext cx="1012180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15" name="Text 10"/>
          <p:cNvSpPr txBox="1"/>
          <p:nvPr/>
        </p:nvSpPr>
        <p:spPr>
          <a:xfrm>
            <a:off x="6645622" y="6517035"/>
            <a:ext cx="2366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14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91914" y="687838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83444" y="6920954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1158925" y="6899970"/>
            <a:ext cx="17542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TEXTURA SURPREENDENTE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58925" y="7042845"/>
            <a:ext cx="37696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Purê aveludado de banana grelhada com noz-moscada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4654153" y="7153331"/>
            <a:ext cx="187091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1" name="Text 16"/>
          <p:cNvSpPr txBox="1"/>
          <p:nvPr/>
        </p:nvSpPr>
        <p:spPr>
          <a:xfrm>
            <a:off x="6654552" y="6899970"/>
            <a:ext cx="2277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15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91914" y="726132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83741" y="7303889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1158925" y="7282904"/>
            <a:ext cx="13956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SOBREMESA DE CHEF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158925" y="7425779"/>
            <a:ext cx="4499967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Bananas flambadas no rum ou na cachaça com crosta de açúcar mascavo e canela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788372" y="7706674"/>
            <a:ext cx="736550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7" name="Text 22"/>
          <p:cNvSpPr txBox="1"/>
          <p:nvPr/>
        </p:nvSpPr>
        <p:spPr>
          <a:xfrm>
            <a:off x="6654403" y="7282904"/>
            <a:ext cx="2278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16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5522416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6655594" y="10162729"/>
            <a:ext cx="2266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791914"/>
            <a:ext cx="18383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CAPÍTULO 02 · BANANA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888424"/>
            <a:ext cx="3360253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INGREDIENTE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91914" y="1675209"/>
            <a:ext cx="575994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 banana-da-terra é uma banana de cozinhar. Crua, ela é dura e pouco agradável; no fogo, vira outra coisa: macia, caramelizada, cheia de sabor.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791914" y="2109490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 segredo está no estágio de maturação. Verde, ela é rica em amido e se comporta quase como uma batata. Amarela com pintinhas pretas, fica no ponto mais versátil: doce, mas firme. Com a casca quase toda preta, está doce e macia, perfeita para purês e sobremesas.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91914" y="2714179"/>
            <a:ext cx="575994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Aprender a ler a casca é aprender a escolher o que fazer com ela. E, no fim, a própria casca ainda vira recheio.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47" y="3452068"/>
            <a:ext cx="1641574" cy="107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91914" y="3272284"/>
            <a:ext cx="16775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ANTES DA PANELA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91914" y="3714601"/>
            <a:ext cx="1458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NA HORA DE ESCOLHER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91914" y="399023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986135" y="3949452"/>
            <a:ext cx="578182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Escolha pelo uso: amarela com pintas para as receitas deste capítulo; mais verde se for fritar em chips; bem madura para doces.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791914" y="438864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986135" y="4347865"/>
            <a:ext cx="40693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 fruta deve estar firme ao toque, sem partes afundadas.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791914" y="461664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986135" y="4575870"/>
            <a:ext cx="47352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Evite pontas com bolor ou casca rachada, por onde a fruta resseca.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791914" y="4826645"/>
            <a:ext cx="9913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COMO GUARDAR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91914" y="510227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986135" y="5061496"/>
            <a:ext cx="48926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Fora da geladeira, de preferência penduradas, longe de outras frutas.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791914" y="533027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986135" y="5289500"/>
            <a:ext cx="45974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Para amadurecer mais rápido, guarde num saco de papel fechado.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791914" y="555828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86135" y="5517505"/>
            <a:ext cx="63102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Para frear o amadurecimento, leve à geladeira: a casca escurece, mas a polpa se mantém.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791914" y="578628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86135" y="5745510"/>
            <a:ext cx="55263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Maduras demais? Descasque, corte e congele em saco fechado por até 3 meses.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791914" y="5996285"/>
            <a:ext cx="15456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PRÉ-PREPARO E CORTES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791914" y="627191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986135" y="6231136"/>
            <a:ext cx="578182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Para descascar a banana-da-terra: corte as duas pontas, faça um talho raso ao longo da casca e solte-a com o polegar.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791914" y="667032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986135" y="6629549"/>
            <a:ext cx="43492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Rodelas grossas em diagonal (2 cm) para frigideira e moqueca.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791914" y="689833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986135" y="6857554"/>
            <a:ext cx="34179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Lâminas no comprimento para grelhar e flambar.</a:t>
            </a:r>
            <a:endParaRPr lang="en-US" sz="850" dirty="0"/>
          </a:p>
        </p:txBody>
      </p:sp>
      <p:sp>
        <p:nvSpPr>
          <p:cNvPr id="33" name="Text 29"/>
          <p:cNvSpPr txBox="1"/>
          <p:nvPr/>
        </p:nvSpPr>
        <p:spPr>
          <a:xfrm>
            <a:off x="5522714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6655891" y="10162729"/>
            <a:ext cx="2263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3679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01 · BANANA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91294"/>
            <a:ext cx="4247852" cy="128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3100" spc="-1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MOQUECA EXPRESSA DE FRIGIDEIRA COM BANANA, LEITE DE COCO E PIMENTA</a:t>
            </a:r>
            <a:endParaRPr lang="en-US" sz="31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273201"/>
            <a:ext cx="3087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RÁPIDA DE FRIGIDEIRA · 3 PORÇÕES · 30 MIN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480518"/>
            <a:ext cx="25838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(sem peixe, mas cheia de sabor)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2975074"/>
            <a:ext cx="1319957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2795290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791914" y="319801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986135" y="3157240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 bananas-da-terra maduras e firmes, em rodelas diagonais de 2 cm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791914" y="358199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986135" y="3541216"/>
            <a:ext cx="25126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 colheres (sopa) de azeite de dendê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791914" y="379556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986135" y="3754785"/>
            <a:ext cx="13420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cebola em rodelas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791914" y="400913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86135" y="3968353"/>
            <a:ext cx="20370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pimentão vermelho em tiras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791914" y="422270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986135" y="4181921"/>
            <a:ext cx="15228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 tomates em rodelas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923854" y="319801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118074" y="3157240"/>
            <a:ext cx="17190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 dentes de alho picados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923854" y="341158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118074" y="3370808"/>
            <a:ext cx="15930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200 ml de leite de coco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3923854" y="362515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118074" y="3584377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pimenta dedo-de-moça (ou pimenta-de-cheiro) picada, sem sementes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3923854" y="400913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118074" y="3968353"/>
            <a:ext cx="11251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Suco de ½ limão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3923854" y="422270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4118074" y="4181921"/>
            <a:ext cx="27096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Coentro (ou cheiro-verde) e sal a gosto</a:t>
            </a:r>
            <a:endParaRPr lang="en-US" sz="85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4704457"/>
            <a:ext cx="1636514" cy="1079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91914" y="4524673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32" name="Shape 26"/>
          <p:cNvSpPr/>
          <p:nvPr/>
        </p:nvSpPr>
        <p:spPr>
          <a:xfrm>
            <a:off x="791914" y="485551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892820" y="4898082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34" name="Text 28"/>
          <p:cNvSpPr txBox="1"/>
          <p:nvPr/>
        </p:nvSpPr>
        <p:spPr>
          <a:xfrm>
            <a:off x="1158925" y="4886623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Aqueça 1 colher de dendê numa frigideira grande. Doure as rodelas de banana, 2 minutos de cada lado, sem mexer. Tempere com uma pitada de sal e reserve.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791914" y="527551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883444" y="5318075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37" name="Text 31"/>
          <p:cNvSpPr txBox="1"/>
          <p:nvPr/>
        </p:nvSpPr>
        <p:spPr>
          <a:xfrm>
            <a:off x="1158925" y="5306616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Na mesma frigideira, com o restante do dendê, refogue a cebola, o pimentão e o alho por 3 minutos.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791914" y="569550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883741" y="5738068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40" name="Text 34"/>
          <p:cNvSpPr txBox="1"/>
          <p:nvPr/>
        </p:nvSpPr>
        <p:spPr>
          <a:xfrm>
            <a:off x="1158925" y="5726609"/>
            <a:ext cx="5251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Junte o tomate e a pimenta e cozinhe até o tomate começar a desmanchar.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791914" y="5990630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880021" y="6033195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43" name="Text 37"/>
          <p:cNvSpPr txBox="1"/>
          <p:nvPr/>
        </p:nvSpPr>
        <p:spPr>
          <a:xfrm>
            <a:off x="1158925" y="6021735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Acrescente o leite de coco e deixe ferver por 5 minutos, até engrossar levemente. Acerte o sal.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791914" y="641062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883444" y="6453187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46" name="Text 40"/>
          <p:cNvSpPr txBox="1"/>
          <p:nvPr/>
        </p:nvSpPr>
        <p:spPr>
          <a:xfrm>
            <a:off x="1158925" y="6441728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Volte as bananas para a frigideira e cozinhe só por 3 a 4 minutos, para aquecerem no molho sem desmanchar.</a:t>
            </a:r>
            <a:endParaRPr lang="en-US" sz="850" dirty="0"/>
          </a:p>
        </p:txBody>
      </p:sp>
      <p:sp>
        <p:nvSpPr>
          <p:cNvPr id="47" name="Shape 41"/>
          <p:cNvSpPr/>
          <p:nvPr/>
        </p:nvSpPr>
        <p:spPr>
          <a:xfrm>
            <a:off x="791914" y="6830616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883444" y="6873180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49" name="Text 43"/>
          <p:cNvSpPr txBox="1"/>
          <p:nvPr/>
        </p:nvSpPr>
        <p:spPr>
          <a:xfrm>
            <a:off x="1158925" y="6861721"/>
            <a:ext cx="45417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Desligue o fogo, regue com o suco de limão e finalize com coentro.</a:t>
            </a:r>
            <a:endParaRPr lang="en-US" sz="850" dirty="0"/>
          </a:p>
        </p:txBody>
      </p:sp>
      <p:sp>
        <p:nvSpPr>
          <p:cNvPr id="50" name="Shape 44"/>
          <p:cNvSpPr/>
          <p:nvPr/>
        </p:nvSpPr>
        <p:spPr>
          <a:xfrm>
            <a:off x="791914" y="7147322"/>
            <a:ext cx="5976045" cy="798165"/>
          </a:xfrm>
          <a:prstGeom prst="roundRect">
            <a:avLst>
              <a:gd name="adj" fmla="val 15502"/>
            </a:avLst>
          </a:prstGeom>
          <a:solidFill>
            <a:srgbClr val="FFC926"/>
          </a:solidFill>
          <a:ln/>
        </p:spPr>
      </p:sp>
      <p:sp>
        <p:nvSpPr>
          <p:cNvPr id="51" name="Text 45"/>
          <p:cNvSpPr txBox="1"/>
          <p:nvPr/>
        </p:nvSpPr>
        <p:spPr>
          <a:xfrm>
            <a:off x="971848" y="7226647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52" name="Text 46"/>
          <p:cNvSpPr txBox="1"/>
          <p:nvPr/>
        </p:nvSpPr>
        <p:spPr>
          <a:xfrm>
            <a:off x="971848" y="7502426"/>
            <a:ext cx="5616178" cy="30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Dourar a banana antes é o que dá estrutura e sabor à moqueca. Sirva com arroz branco e farofa de dendê.</a:t>
            </a:r>
            <a:endParaRPr lang="en-US" sz="830" dirty="0"/>
          </a:p>
        </p:txBody>
      </p:sp>
      <p:sp>
        <p:nvSpPr>
          <p:cNvPr id="53" name="Text 47"/>
          <p:cNvSpPr txBox="1"/>
          <p:nvPr/>
        </p:nvSpPr>
        <p:spPr>
          <a:xfrm>
            <a:off x="5518993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54" name="Text 48"/>
          <p:cNvSpPr txBox="1"/>
          <p:nvPr/>
        </p:nvSpPr>
        <p:spPr>
          <a:xfrm>
            <a:off x="6652171" y="10162729"/>
            <a:ext cx="2300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3904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02 · BANANA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91294"/>
            <a:ext cx="4247852" cy="908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3100" spc="-1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PURÊ AVELUDADO DE BANANA GRELHADA COM NOZ-MOSCADA</a:t>
            </a:r>
            <a:endParaRPr lang="en-US" sz="31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1899345"/>
            <a:ext cx="50196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TEXTURA SURPREENDENTE · 4 PORÇÕES COMO ACOMPANHAMENTO · 25 MIN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106662"/>
            <a:ext cx="38734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(para acompanhar carnes ou legumes assados)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2601218"/>
            <a:ext cx="1319957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2421434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791914" y="282416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986135" y="2783384"/>
            <a:ext cx="20547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 bananas-da-terra maduras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791914" y="303773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986135" y="2996952"/>
            <a:ext cx="20809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 colheres (sopa) de manteiga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791914" y="325129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986135" y="3210520"/>
            <a:ext cx="29300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150 ml de leite quente (ou caldo de frango)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3923854" y="282416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4118074" y="2783384"/>
            <a:ext cx="20124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Noz-moscada ralada na hora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3923854" y="303773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118074" y="2996952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Sal, pimenta-do-reino e algumas gotas de limão</a:t>
            </a:r>
            <a:endParaRPr lang="en-US" sz="8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3711476"/>
            <a:ext cx="1636514" cy="107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91914" y="3531691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22" name="Shape 16"/>
          <p:cNvSpPr/>
          <p:nvPr/>
        </p:nvSpPr>
        <p:spPr>
          <a:xfrm>
            <a:off x="791914" y="3862536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892820" y="3905101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24" name="Text 18"/>
          <p:cNvSpPr txBox="1"/>
          <p:nvPr/>
        </p:nvSpPr>
        <p:spPr>
          <a:xfrm>
            <a:off x="1158925" y="3893641"/>
            <a:ext cx="49179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Descasque as bananas e corte em lâminas no sentido do comprimento.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791914" y="415766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883444" y="4200227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27" name="Text 21"/>
          <p:cNvSpPr txBox="1"/>
          <p:nvPr/>
        </p:nvSpPr>
        <p:spPr>
          <a:xfrm>
            <a:off x="1158925" y="4188768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Aqueça 1 colher de manteiga numa frigideira e grelhe as lâminas em fogo médio-alto até ficarem bem douradas dos dois lados. É essa caramelização que dá profundidade ao purê.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791914" y="457765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883741" y="4620220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30" name="Text 24"/>
          <p:cNvSpPr txBox="1"/>
          <p:nvPr/>
        </p:nvSpPr>
        <p:spPr>
          <a:xfrm>
            <a:off x="1158925" y="4608761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Transfira para uma panela, junte o leite quente e amasse bem com um garfo ou espremedor, em fogo baixo.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791914" y="499764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880021" y="5040213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33" name="Text 27"/>
          <p:cNvSpPr txBox="1"/>
          <p:nvPr/>
        </p:nvSpPr>
        <p:spPr>
          <a:xfrm>
            <a:off x="1158925" y="5028754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Acrescente a manteiga restante e mexa até ficar aveludado. Se quiser mais liso, passe por uma peneira.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791914" y="541764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883444" y="5460206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1158925" y="5448746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Tempere com sal, pimenta e noz-moscada. Se estiver doce demais, equilibre com algumas gotas de limão.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791914" y="5859214"/>
            <a:ext cx="5976045" cy="798165"/>
          </a:xfrm>
          <a:prstGeom prst="roundRect">
            <a:avLst>
              <a:gd name="adj" fmla="val 15502"/>
            </a:avLst>
          </a:prstGeom>
          <a:solidFill>
            <a:srgbClr val="FFC926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971848" y="5938540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39" name="Text 33"/>
          <p:cNvSpPr txBox="1"/>
          <p:nvPr/>
        </p:nvSpPr>
        <p:spPr>
          <a:xfrm>
            <a:off x="971848" y="6214318"/>
            <a:ext cx="5616178" cy="30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É um acompanhamento salgado de respeito: fica perfeito com carne de sol, frango assado ou peixe grelhado.</a:t>
            </a:r>
            <a:endParaRPr lang="en-US" sz="830" dirty="0"/>
          </a:p>
        </p:txBody>
      </p:sp>
      <p:sp>
        <p:nvSpPr>
          <p:cNvPr id="40" name="Text 34"/>
          <p:cNvSpPr txBox="1"/>
          <p:nvPr/>
        </p:nvSpPr>
        <p:spPr>
          <a:xfrm>
            <a:off x="5522416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41" name="Text 35"/>
          <p:cNvSpPr txBox="1"/>
          <p:nvPr/>
        </p:nvSpPr>
        <p:spPr>
          <a:xfrm>
            <a:off x="6655594" y="10162729"/>
            <a:ext cx="2266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3906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03 · BANANA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91294"/>
            <a:ext cx="4247852" cy="1656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3100" spc="-1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BANANAS FLAMBADAS NO RUM OU NA CACHAÇA COM CROSTA DE AÇÚCAR MASCAVO E CANELA</a:t>
            </a:r>
            <a:endParaRPr lang="en-US" sz="31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647057"/>
            <a:ext cx="29435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SOBREMESA DE CHEF · 4 PORÇÕES · 15 MIN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854375"/>
            <a:ext cx="3644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(a sobremesa de restaurante feita em casa)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3348930"/>
            <a:ext cx="1319957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3169146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791914" y="357187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986135" y="3531096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 bananas-da-terra ou 4 bananas-prata firmes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791914" y="395585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986135" y="3915073"/>
            <a:ext cx="25638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 colheres (sopa) de açúcar mascavo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791914" y="416942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986135" y="4128641"/>
            <a:ext cx="20612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(chá) de canela em pó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791914" y="438298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86135" y="4342209"/>
            <a:ext cx="20809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 colheres (sopa) de manteiga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3923854" y="357187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118074" y="3531096"/>
            <a:ext cx="17287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50 ml de rum ou cachaça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923854" y="378544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118074" y="3744664"/>
            <a:ext cx="11471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Suco de 1 laranja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923854" y="399901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118074" y="3958233"/>
            <a:ext cx="10087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pitada de sal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3923854" y="421258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118074" y="4171801"/>
            <a:ext cx="20309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Sorvete de creme para servir</a:t>
            </a:r>
            <a:endParaRPr lang="en-US" sz="8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4816227"/>
            <a:ext cx="1636514" cy="1079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91914" y="4636443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28" name="Shape 22"/>
          <p:cNvSpPr/>
          <p:nvPr/>
        </p:nvSpPr>
        <p:spPr>
          <a:xfrm>
            <a:off x="791914" y="496728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892820" y="5009852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30" name="Text 24"/>
          <p:cNvSpPr txBox="1"/>
          <p:nvPr/>
        </p:nvSpPr>
        <p:spPr>
          <a:xfrm>
            <a:off x="1158925" y="4998393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Corte as bananas ao meio no sentido do comprimento (e ao meio na largura, se forem grandes).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791914" y="5387280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883444" y="5429845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33" name="Text 27"/>
          <p:cNvSpPr txBox="1"/>
          <p:nvPr/>
        </p:nvSpPr>
        <p:spPr>
          <a:xfrm>
            <a:off x="1158925" y="5418386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Misture o açúcar mascavo com a canela e o sal e polvilhe sobre o lado cortado das bananas, pressionando.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791914" y="580727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883741" y="5849838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1158925" y="5838379"/>
            <a:ext cx="5609034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Aqueça a manteiga numa frigideira até espumar. Coloque as bananas com o lado do açúcar para baixo e não mexa por 2 a 3 minutos, até formar uma crosta. Vire com cuidado.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791914" y="639767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880021" y="6440239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39" name="Text 33"/>
          <p:cNvSpPr txBox="1"/>
          <p:nvPr/>
        </p:nvSpPr>
        <p:spPr>
          <a:xfrm>
            <a:off x="1158925" y="6428780"/>
            <a:ext cx="5609034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Flambe com segurança: desligue o fogo, coloque o rum medido num copinho e despeje na frigideira. Afaste o rosto, religue o fogo e incline levemente a frigideira (ou acenda com um fósforo longo). Deixe a chama apagar sozinha.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791914" y="6988076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883444" y="7030641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42" name="Text 36"/>
          <p:cNvSpPr txBox="1"/>
          <p:nvPr/>
        </p:nvSpPr>
        <p:spPr>
          <a:xfrm>
            <a:off x="1158925" y="7019181"/>
            <a:ext cx="5371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Junte o suco de laranja e deixe borbulhar por 1 minuto, até formar uma calda.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791914" y="7283202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883444" y="7325767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45" name="Text 39"/>
          <p:cNvSpPr txBox="1"/>
          <p:nvPr/>
        </p:nvSpPr>
        <p:spPr>
          <a:xfrm>
            <a:off x="1158925" y="7314307"/>
            <a:ext cx="42887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Sirva as bananas quentes com a calda e uma bola de sorvete.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791914" y="7599908"/>
            <a:ext cx="5976045" cy="798165"/>
          </a:xfrm>
          <a:prstGeom prst="roundRect">
            <a:avLst>
              <a:gd name="adj" fmla="val 15502"/>
            </a:avLst>
          </a:prstGeom>
          <a:solidFill>
            <a:srgbClr val="FFC926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971848" y="7679234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48" name="Text 42"/>
          <p:cNvSpPr txBox="1"/>
          <p:nvPr/>
        </p:nvSpPr>
        <p:spPr>
          <a:xfrm>
            <a:off x="971848" y="7955012"/>
            <a:ext cx="5616178" cy="30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Nunca despeje a bebida direto da garrafa perto do fogo, e desligue o exaustor durante a flambagem. Flambar queima o álcool e deixa só o aroma da bebida na calda.</a:t>
            </a:r>
            <a:endParaRPr lang="en-US" sz="830" dirty="0"/>
          </a:p>
        </p:txBody>
      </p:sp>
      <p:sp>
        <p:nvSpPr>
          <p:cNvPr id="49" name="Text 43"/>
          <p:cNvSpPr txBox="1"/>
          <p:nvPr/>
        </p:nvSpPr>
        <p:spPr>
          <a:xfrm>
            <a:off x="5522416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6655594" y="10162729"/>
            <a:ext cx="2266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1057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PULO DO CHEF · BANANA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82214"/>
            <a:ext cx="4247852" cy="128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BANANA QUE VIRA PAPA NA FRIGIDEIRA</a:t>
            </a:r>
            <a:endParaRPr lang="en-US" sz="4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2492871"/>
            <a:ext cx="722412" cy="1079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91914" y="2313087"/>
            <a:ext cx="6929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ERRO</a:t>
            </a:r>
            <a:endParaRPr lang="en-US" sz="1700" dirty="0"/>
          </a:p>
        </p:txBody>
      </p:sp>
      <p:sp>
        <p:nvSpPr>
          <p:cNvPr id="8" name="Text 3"/>
          <p:cNvSpPr txBox="1"/>
          <p:nvPr/>
        </p:nvSpPr>
        <p:spPr>
          <a:xfrm>
            <a:off x="791914" y="2675037"/>
            <a:ext cx="575994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Colocar a banana em frigideira morna e ficar mexendo. Ela solta líquido, cozinha no próprio vapor e desmancha antes de dourar.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3412927"/>
            <a:ext cx="1008608" cy="1079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91914" y="3233142"/>
            <a:ext cx="9791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 TÉCNICA</a:t>
            </a:r>
            <a:endParaRPr lang="en-US" sz="1700" dirty="0"/>
          </a:p>
        </p:txBody>
      </p:sp>
      <p:sp>
        <p:nvSpPr>
          <p:cNvPr id="11" name="Shape 5"/>
          <p:cNvSpPr/>
          <p:nvPr/>
        </p:nvSpPr>
        <p:spPr>
          <a:xfrm>
            <a:off x="791914" y="356398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92820" y="3606552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7"/>
          <p:cNvSpPr txBox="1"/>
          <p:nvPr/>
        </p:nvSpPr>
        <p:spPr>
          <a:xfrm>
            <a:off x="1158925" y="3595092"/>
            <a:ext cx="58697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Frigideira quente de verdade</a:t>
            </a:r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, com a gordura já brilhando, antes de a banana entrar.</a:t>
            </a:r>
            <a:endParaRPr lang="en-US" sz="850" dirty="0"/>
          </a:p>
        </p:txBody>
      </p:sp>
      <p:sp>
        <p:nvSpPr>
          <p:cNvPr id="14" name="Shape 8"/>
          <p:cNvSpPr/>
          <p:nvPr/>
        </p:nvSpPr>
        <p:spPr>
          <a:xfrm>
            <a:off x="791914" y="385911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5" name="Text 9"/>
          <p:cNvSpPr txBox="1"/>
          <p:nvPr/>
        </p:nvSpPr>
        <p:spPr>
          <a:xfrm>
            <a:off x="883444" y="3901678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Text 10"/>
          <p:cNvSpPr txBox="1"/>
          <p:nvPr/>
        </p:nvSpPr>
        <p:spPr>
          <a:xfrm>
            <a:off x="1158925" y="3890218"/>
            <a:ext cx="3869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Espaço:</a:t>
            </a:r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não amontoe. Se precisar, doure em duas levas.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791914" y="415423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883741" y="4196804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3"/>
          <p:cNvSpPr txBox="1"/>
          <p:nvPr/>
        </p:nvSpPr>
        <p:spPr>
          <a:xfrm>
            <a:off x="1158925" y="4185345"/>
            <a:ext cx="38248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Não mexa:</a:t>
            </a:r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deixe 2 minutos parada e vire uma única vez.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791914" y="4449366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880021" y="4491930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1158925" y="4480471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Banana no ponto: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amarela com pintinhas. Preta demais desmancha; verde demais não carameliza.</a:t>
            </a:r>
            <a:endParaRPr lang="en-US" sz="8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047" y="5204073"/>
            <a:ext cx="1377404" cy="1079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91914" y="5024289"/>
            <a:ext cx="13816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NÃO TEM ISSO?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791914" y="5412581"/>
            <a:ext cx="1583978" cy="267593"/>
          </a:xfrm>
          <a:prstGeom prst="rect">
            <a:avLst/>
          </a:prstGeom>
          <a:solidFill>
            <a:srgbClr val="18542A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881807" y="5470178"/>
            <a:ext cx="10321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 NÃO TIVER…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2375892" y="5412581"/>
            <a:ext cx="4392067" cy="267593"/>
          </a:xfrm>
          <a:prstGeom prst="rect">
            <a:avLst/>
          </a:prstGeom>
          <a:solidFill>
            <a:srgbClr val="18542A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2465784" y="5470178"/>
            <a:ext cx="4435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USE…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91914" y="6150769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0" name="Text 23"/>
          <p:cNvSpPr txBox="1"/>
          <p:nvPr/>
        </p:nvSpPr>
        <p:spPr>
          <a:xfrm>
            <a:off x="881807" y="5748486"/>
            <a:ext cx="10025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Banana-da-terra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2375892" y="6150769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2" name="Text 25"/>
          <p:cNvSpPr txBox="1"/>
          <p:nvPr/>
        </p:nvSpPr>
        <p:spPr>
          <a:xfrm>
            <a:off x="2465892" y="5767536"/>
            <a:ext cx="4212067" cy="307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Banana-prata firme (cozinha mais rápido: reduza os tempos pela metade).</a:t>
            </a:r>
            <a:endParaRPr lang="en-US" sz="820" dirty="0"/>
          </a:p>
        </p:txBody>
      </p:sp>
      <p:sp>
        <p:nvSpPr>
          <p:cNvPr id="33" name="Shape 26"/>
          <p:cNvSpPr/>
          <p:nvPr/>
        </p:nvSpPr>
        <p:spPr>
          <a:xfrm>
            <a:off x="791914" y="6463605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4" name="Text 27"/>
          <p:cNvSpPr txBox="1"/>
          <p:nvPr/>
        </p:nvSpPr>
        <p:spPr>
          <a:xfrm>
            <a:off x="881807" y="6223843"/>
            <a:ext cx="95458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Azeite de dendê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2375892" y="6463605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6" name="Text 29"/>
          <p:cNvSpPr txBox="1"/>
          <p:nvPr/>
        </p:nvSpPr>
        <p:spPr>
          <a:xfrm>
            <a:off x="2465784" y="6242893"/>
            <a:ext cx="3998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Azeite comum com 1 colher (chá) de colorau ou páprica doce.</a:t>
            </a:r>
            <a:endParaRPr lang="en-US" sz="820" dirty="0"/>
          </a:p>
        </p:txBody>
      </p:sp>
      <p:sp>
        <p:nvSpPr>
          <p:cNvPr id="37" name="Shape 30"/>
          <p:cNvSpPr/>
          <p:nvPr/>
        </p:nvSpPr>
        <p:spPr>
          <a:xfrm>
            <a:off x="791914" y="6776442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8" name="Text 31"/>
          <p:cNvSpPr txBox="1"/>
          <p:nvPr/>
        </p:nvSpPr>
        <p:spPr>
          <a:xfrm>
            <a:off x="881807" y="6536680"/>
            <a:ext cx="8256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Leite de coco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2375892" y="6776442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0" name="Text 33"/>
          <p:cNvSpPr txBox="1"/>
          <p:nvPr/>
        </p:nvSpPr>
        <p:spPr>
          <a:xfrm>
            <a:off x="2465784" y="6555730"/>
            <a:ext cx="35002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Creme de leite com 2 colheres (sopa) de coco ralado.</a:t>
            </a:r>
            <a:endParaRPr lang="en-US" sz="820" dirty="0"/>
          </a:p>
        </p:txBody>
      </p:sp>
      <p:sp>
        <p:nvSpPr>
          <p:cNvPr id="41" name="Shape 34"/>
          <p:cNvSpPr/>
          <p:nvPr/>
        </p:nvSpPr>
        <p:spPr>
          <a:xfrm>
            <a:off x="791914" y="7251799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2" name="Text 35"/>
          <p:cNvSpPr txBox="1"/>
          <p:nvPr/>
        </p:nvSpPr>
        <p:spPr>
          <a:xfrm>
            <a:off x="881807" y="6849517"/>
            <a:ext cx="98241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Rum ou cachaça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2375892" y="7251799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4" name="Text 37"/>
          <p:cNvSpPr txBox="1"/>
          <p:nvPr/>
        </p:nvSpPr>
        <p:spPr>
          <a:xfrm>
            <a:off x="2465892" y="6868567"/>
            <a:ext cx="4212067" cy="307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Conhaque ou uísque. Sem álcool: dobre o suco de laranja e pule a flambagem.</a:t>
            </a:r>
            <a:endParaRPr lang="en-US" sz="820" dirty="0"/>
          </a:p>
        </p:txBody>
      </p:sp>
      <p:sp>
        <p:nvSpPr>
          <p:cNvPr id="45" name="Shape 38"/>
          <p:cNvSpPr/>
          <p:nvPr/>
        </p:nvSpPr>
        <p:spPr>
          <a:xfrm>
            <a:off x="791914" y="7564636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6" name="Text 39"/>
          <p:cNvSpPr txBox="1"/>
          <p:nvPr/>
        </p:nvSpPr>
        <p:spPr>
          <a:xfrm>
            <a:off x="881807" y="7324874"/>
            <a:ext cx="9950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Açúcar mascavo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2375892" y="7564636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8" name="Text 41"/>
          <p:cNvSpPr txBox="1"/>
          <p:nvPr/>
        </p:nvSpPr>
        <p:spPr>
          <a:xfrm>
            <a:off x="2465784" y="7343924"/>
            <a:ext cx="43735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Açúcar demerara, ou açúcar comum com 1 colher (chá) de melado.</a:t>
            </a:r>
            <a:endParaRPr lang="en-US" sz="820" dirty="0"/>
          </a:p>
        </p:txBody>
      </p:sp>
      <p:sp>
        <p:nvSpPr>
          <p:cNvPr id="49" name="Shape 42"/>
          <p:cNvSpPr/>
          <p:nvPr/>
        </p:nvSpPr>
        <p:spPr>
          <a:xfrm>
            <a:off x="791914" y="7877473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50" name="Text 43"/>
          <p:cNvSpPr txBox="1"/>
          <p:nvPr/>
        </p:nvSpPr>
        <p:spPr>
          <a:xfrm>
            <a:off x="881807" y="7637711"/>
            <a:ext cx="8335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Noz-moscada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2375892" y="7877473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52" name="Text 45"/>
          <p:cNvSpPr txBox="1"/>
          <p:nvPr/>
        </p:nvSpPr>
        <p:spPr>
          <a:xfrm>
            <a:off x="2465784" y="7656761"/>
            <a:ext cx="27386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Uma pitada de canela ou de cravo em pó.</a:t>
            </a:r>
            <a:endParaRPr lang="en-US" sz="820" dirty="0"/>
          </a:p>
        </p:txBody>
      </p:sp>
      <p:sp>
        <p:nvSpPr>
          <p:cNvPr id="53" name="Text 46"/>
          <p:cNvSpPr txBox="1"/>
          <p:nvPr/>
        </p:nvSpPr>
        <p:spPr>
          <a:xfrm>
            <a:off x="5526584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54" name="Text 47"/>
          <p:cNvSpPr txBox="1"/>
          <p:nvPr/>
        </p:nvSpPr>
        <p:spPr>
          <a:xfrm>
            <a:off x="6659761" y="10162729"/>
            <a:ext cx="2224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016" y="7811839"/>
            <a:ext cx="2159943" cy="1799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7863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APROVEITA ISSO TAMBÉM · BANANA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888424"/>
            <a:ext cx="4944785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NADA VAI PARA O LIXO</a:t>
            </a:r>
            <a:endParaRPr lang="en-US" sz="4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1978819"/>
            <a:ext cx="4297263" cy="1079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91914" y="1799034"/>
            <a:ext cx="46519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CASCA: “CARNE” VEGETAL DESFIADA E TEMPERADA</a:t>
            </a:r>
            <a:endParaRPr lang="en-US" sz="1700" dirty="0"/>
          </a:p>
        </p:txBody>
      </p:sp>
      <p:sp>
        <p:nvSpPr>
          <p:cNvPr id="8" name="Text 3"/>
          <p:cNvSpPr txBox="1"/>
          <p:nvPr/>
        </p:nvSpPr>
        <p:spPr>
          <a:xfrm>
            <a:off x="791914" y="2160984"/>
            <a:ext cx="5759946" cy="1004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Funciona melhor com cascas de banana-prata ou nanica, maduras e bem lavadas (a da banana-da-terra é mais grossa: cozinhe antes por 15 minutos em água). Corte as pontas e desfie as cascas no comprimento com um garfo. Deixe de molho em água com limão por 10 minutos e escorra. Refogue cebola, alho e tomate, junte as cascas, cominho, páprica e colorau e cozinhe em fogo baixo, tampado, por 15 a 20 minutos, pingando água se secar. Ajuste o sal e finalize com cheiro-verde.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3580507"/>
            <a:ext cx="1055340" cy="1079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91914" y="3400723"/>
            <a:ext cx="10258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ONDE USAR</a:t>
            </a:r>
            <a:endParaRPr lang="en-US" sz="1700" dirty="0"/>
          </a:p>
        </p:txBody>
      </p:sp>
      <p:sp>
        <p:nvSpPr>
          <p:cNvPr id="11" name="Text 5"/>
          <p:cNvSpPr txBox="1"/>
          <p:nvPr/>
        </p:nvSpPr>
        <p:spPr>
          <a:xfrm>
            <a:off x="791914" y="3762673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Recheio de pastel, tapioca e torta; fricassê com creme de leite e queijo gratinado; refogado para servir com arroz e feijão. Com as cascas de 5 bananas você faz recheio para uns 10 pastéis.</a:t>
            </a:r>
            <a:endParaRPr lang="en-US" sz="850" dirty="0"/>
          </a:p>
        </p:txBody>
      </p:sp>
      <p:sp>
        <p:nvSpPr>
          <p:cNvPr id="12" name="Text 6"/>
          <p:cNvSpPr txBox="1"/>
          <p:nvPr/>
        </p:nvSpPr>
        <p:spPr>
          <a:xfrm>
            <a:off x="5521821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13" name="Text 7"/>
          <p:cNvSpPr txBox="1"/>
          <p:nvPr/>
        </p:nvSpPr>
        <p:spPr>
          <a:xfrm>
            <a:off x="6654998" y="10162729"/>
            <a:ext cx="2272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791914"/>
            <a:ext cx="103331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CAPÍTULO 03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888424"/>
            <a:ext cx="5244489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SOBRECOXA DE FRANGO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91914" y="1665684"/>
            <a:ext cx="11576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COM OSSO E PELE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814" y="1962001"/>
            <a:ext cx="4031903" cy="33597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91914" y="5556796"/>
            <a:ext cx="5759946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0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 proteína é um dos itens que mais pesam no orçamento da família. A sobrecoxa é muito mais saborosa, suculenta e barata que o peito, e com técnica de chef você passa a dominá-la.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6544419"/>
            <a:ext cx="1804095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6364635"/>
            <a:ext cx="18595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 TRANSFORMAÇÕES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791914" y="6695480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892820" y="6738045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7"/>
          <p:cNvSpPr txBox="1"/>
          <p:nvPr/>
        </p:nvSpPr>
        <p:spPr>
          <a:xfrm>
            <a:off x="1158925" y="6717060"/>
            <a:ext cx="15953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TÉCNICA DA FRIGIDEIRA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1158925" y="6859935"/>
            <a:ext cx="4499967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Sobrecoxa desossada com pele ultracrocante ao molho rústico de limão e alho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5788372" y="7140829"/>
            <a:ext cx="737443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15" name="Text 10"/>
          <p:cNvSpPr txBox="1"/>
          <p:nvPr/>
        </p:nvSpPr>
        <p:spPr>
          <a:xfrm>
            <a:off x="6655296" y="6717060"/>
            <a:ext cx="2269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21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91914" y="724882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83444" y="7291388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1158925" y="7270403"/>
            <a:ext cx="1250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COZIMENTO LENTO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58925" y="7413278"/>
            <a:ext cx="43807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Frango desfiado suculento ao molho de tomate caseiro e ervas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199757" y="7523764"/>
            <a:ext cx="1301204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1" name="Text 16"/>
          <p:cNvSpPr txBox="1"/>
          <p:nvPr/>
        </p:nvSpPr>
        <p:spPr>
          <a:xfrm>
            <a:off x="6630442" y="7270403"/>
            <a:ext cx="2518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22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91914" y="763175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83741" y="7674322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1158925" y="7653337"/>
            <a:ext cx="14811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ASSADO TECNOLÓGICO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158925" y="7796212"/>
            <a:ext cx="47127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Sobrecoxa marinada no iogurte com especiarias, assada até dourar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496223" y="7906699"/>
            <a:ext cx="1005483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7" name="Text 22"/>
          <p:cNvSpPr txBox="1"/>
          <p:nvPr/>
        </p:nvSpPr>
        <p:spPr>
          <a:xfrm>
            <a:off x="6631186" y="7653337"/>
            <a:ext cx="2510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23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5523012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6656189" y="10162729"/>
            <a:ext cx="2260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791914"/>
            <a:ext cx="18313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CAPÍTULO 03 · FRANGO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888424"/>
            <a:ext cx="3360253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INGREDIENTE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91914" y="1675209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Se existe um corte que perdoa, é a sobrecoxa. Por ser carne escura, tem mais gordura e mais colágeno: aguenta mais tempo de fogo, continua suculenta e tem muito mais sabor que o peito.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791914" y="2279898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 ela vem com dois presentes que quase todo mundo joga fora. A pele, que bem trabalhada fica crocante como um torresmo. E o osso, que vira um caldo capaz de transformar qualquer arroz, molho ou sopa.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91914" y="2884587"/>
            <a:ext cx="575994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Neste capítulo, a mesma peça vai para a frigideira, para a panela e para o forno, cada vez com uma técnica e um resultado diferentes.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47" y="3622477"/>
            <a:ext cx="1641574" cy="107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91914" y="3442692"/>
            <a:ext cx="16775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ANTES DA PANELA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91914" y="3885009"/>
            <a:ext cx="1458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NA HORA DE ESCOLHER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91914" y="416063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986135" y="4119860"/>
            <a:ext cx="41458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Pele inteira, de cor clara e uniforme, sem manchas escuras.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791914" y="438864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986135" y="4347865"/>
            <a:ext cx="3294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Pouco líquido na bandeja e nenhum cheiro forte.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791914" y="461664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986135" y="4575870"/>
            <a:ext cx="64736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Congelada: sem cristais grossos de gelo, que indicam que ela descongelou e congelou de novo.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791914" y="4826645"/>
            <a:ext cx="9913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COMO GUARDAR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91914" y="510227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986135" y="5061496"/>
            <a:ext cx="35719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Na geladeira, na prateleira de baixo, por até 2 dias.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791914" y="533027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986135" y="5289500"/>
            <a:ext cx="47855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No freezer, em porções achatadas dentro de sacos, por até 3 meses.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791914" y="555828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86135" y="5517505"/>
            <a:ext cx="49071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Descongele sempre na geladeira, de um dia para o outro. Nunca na pia.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791914" y="5768280"/>
            <a:ext cx="15456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PRÉ-PREPARO E CORTES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791914" y="604391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986135" y="6003131"/>
            <a:ext cx="61779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Seque bem</a:t>
            </a:r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com papel-toalha antes de qualquer preparo. Pele molhada não fica crocante.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791914" y="627191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986135" y="6231136"/>
            <a:ext cx="578182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Para desossar: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com a pele para baixo, faça um corte ao longo do osso, raspe a carne em volta com a ponta da faca e solte a articulação. Guarde o osso no freezer para o caldo.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791914" y="667032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986135" y="6629549"/>
            <a:ext cx="578182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Salga antecipada: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1 colher (chá) de sal para cada 500 g, de 1 hora até 24 horas antes, na geladeira e descoberta. A carne fica mais temperada e a pele, mais seca.</a:t>
            </a:r>
            <a:endParaRPr lang="en-US" sz="850" dirty="0"/>
          </a:p>
        </p:txBody>
      </p:sp>
      <p:sp>
        <p:nvSpPr>
          <p:cNvPr id="31" name="Text 27"/>
          <p:cNvSpPr txBox="1"/>
          <p:nvPr/>
        </p:nvSpPr>
        <p:spPr>
          <a:xfrm>
            <a:off x="5502622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6635800" y="10162729"/>
            <a:ext cx="246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3607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01 · FRANGO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91294"/>
            <a:ext cx="4247852" cy="1656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3100" spc="-1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SOBRECOXA DESOSSADA COM PELE ULTRACROCANTE AO MOLHO RÚSTICO DE LIMÃO E ALHO</a:t>
            </a:r>
            <a:endParaRPr lang="en-US" sz="31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647057"/>
            <a:ext cx="34374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TÉCNICA DA FRIGIDEIRA · 2 A 4 PORÇÕES · 35 MIN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854375"/>
            <a:ext cx="30692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(a pele mais crocante que você já fez)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3348930"/>
            <a:ext cx="1319957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3169146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10" name="Text 5"/>
          <p:cNvSpPr txBox="1"/>
          <p:nvPr/>
        </p:nvSpPr>
        <p:spPr>
          <a:xfrm>
            <a:off x="791914" y="3521571"/>
            <a:ext cx="56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FRANGO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791914" y="379720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986135" y="3756422"/>
            <a:ext cx="2455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4 sobrecoxas desossadas, com pele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791914" y="401076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986135" y="3969990"/>
            <a:ext cx="15830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Sal e pimenta-do-reino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791914" y="422433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986135" y="4183559"/>
            <a:ext cx="14310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(chá) de óleo</a:t>
            </a:r>
            <a:endParaRPr lang="en-US" sz="850" dirty="0"/>
          </a:p>
        </p:txBody>
      </p:sp>
      <p:sp>
        <p:nvSpPr>
          <p:cNvPr id="17" name="Text 12"/>
          <p:cNvSpPr txBox="1"/>
          <p:nvPr/>
        </p:nvSpPr>
        <p:spPr>
          <a:xfrm>
            <a:off x="3923854" y="3521571"/>
            <a:ext cx="4963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MOLHO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923854" y="379720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118074" y="3756422"/>
            <a:ext cx="17818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4 dentes de alho fatiados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923854" y="401076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118074" y="3969990"/>
            <a:ext cx="24638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100 ml de caldo de frango (ou água)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923854" y="422433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118074" y="4183559"/>
            <a:ext cx="16753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Suco e raspas de 1 limão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3923854" y="4437906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118074" y="4397127"/>
            <a:ext cx="2590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 colheres (sopa) de manteiga gelada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3923854" y="465147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118074" y="4610695"/>
            <a:ext cx="10854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Salsinha picada</a:t>
            </a:r>
            <a:endParaRPr lang="en-US" sz="8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5084713"/>
            <a:ext cx="1636514" cy="1079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91914" y="4904929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30" name="Shape 24"/>
          <p:cNvSpPr/>
          <p:nvPr/>
        </p:nvSpPr>
        <p:spPr>
          <a:xfrm>
            <a:off x="791914" y="523577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892820" y="5278338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32" name="Text 26"/>
          <p:cNvSpPr txBox="1"/>
          <p:nvPr/>
        </p:nvSpPr>
        <p:spPr>
          <a:xfrm>
            <a:off x="1158925" y="5266879"/>
            <a:ext cx="53138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Seque muito bem as sobrecoxas e tempere com sal e pimenta dos dois lados.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791914" y="5530900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883444" y="5573464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35" name="Text 29"/>
          <p:cNvSpPr txBox="1"/>
          <p:nvPr/>
        </p:nvSpPr>
        <p:spPr>
          <a:xfrm>
            <a:off x="1158925" y="5562005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Coloque o óleo numa frigideira de fundo grosso e disponha as sobrecoxas com a pele para baixo, ainda com a frigideira fria. Ligue em fogo médio.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791914" y="595089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883741" y="5993457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38" name="Text 32"/>
          <p:cNvSpPr txBox="1"/>
          <p:nvPr/>
        </p:nvSpPr>
        <p:spPr>
          <a:xfrm>
            <a:off x="1158925" y="5981998"/>
            <a:ext cx="5609034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Coloque um peso por cima (uma panela menor com água, por exemplo) e deixe por 12 a 15 minutos 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sem mexer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. A gordura da pele derrete aos poucos e ela frita na própria gordura até ficar dourada e crocante.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791914" y="654129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880021" y="6583859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41" name="Text 35"/>
          <p:cNvSpPr txBox="1"/>
          <p:nvPr/>
        </p:nvSpPr>
        <p:spPr>
          <a:xfrm>
            <a:off x="1158925" y="6572399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Vire e cozinhe por mais 4 a 6 minutos, até o centro atingir 75 °C ou o suco sair transparente ao furar.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791914" y="696128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883444" y="7003852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44" name="Text 38"/>
          <p:cNvSpPr txBox="1"/>
          <p:nvPr/>
        </p:nvSpPr>
        <p:spPr>
          <a:xfrm>
            <a:off x="1158925" y="6992392"/>
            <a:ext cx="61027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Transfira para uma grade ou prato, com a pele para cima, e deixe descansar 5 minutos.</a:t>
            </a:r>
            <a:endParaRPr lang="en-US" sz="850" dirty="0"/>
          </a:p>
        </p:txBody>
      </p:sp>
      <p:sp>
        <p:nvSpPr>
          <p:cNvPr id="45" name="Shape 39"/>
          <p:cNvSpPr/>
          <p:nvPr/>
        </p:nvSpPr>
        <p:spPr>
          <a:xfrm>
            <a:off x="791914" y="725641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6" name="Text 40"/>
          <p:cNvSpPr txBox="1"/>
          <p:nvPr/>
        </p:nvSpPr>
        <p:spPr>
          <a:xfrm>
            <a:off x="883444" y="7298978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47" name="Text 41"/>
          <p:cNvSpPr txBox="1"/>
          <p:nvPr/>
        </p:nvSpPr>
        <p:spPr>
          <a:xfrm>
            <a:off x="1158925" y="7287518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Retire o excesso de gordura da frigideira, deixando cerca de 1 colher. Em fogo baixo, doure o alho por 1 minuto.</a:t>
            </a:r>
            <a:endParaRPr lang="en-US" sz="850" dirty="0"/>
          </a:p>
        </p:txBody>
      </p:sp>
      <p:sp>
        <p:nvSpPr>
          <p:cNvPr id="48" name="Shape 42"/>
          <p:cNvSpPr/>
          <p:nvPr/>
        </p:nvSpPr>
        <p:spPr>
          <a:xfrm>
            <a:off x="791914" y="7676406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885230" y="7718971"/>
            <a:ext cx="1651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7</a:t>
            </a:r>
            <a:endParaRPr lang="en-US" sz="950" dirty="0"/>
          </a:p>
        </p:txBody>
      </p:sp>
      <p:sp>
        <p:nvSpPr>
          <p:cNvPr id="50" name="Text 44"/>
          <p:cNvSpPr txBox="1"/>
          <p:nvPr/>
        </p:nvSpPr>
        <p:spPr>
          <a:xfrm>
            <a:off x="1158925" y="7707511"/>
            <a:ext cx="5609034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Junte o caldo e raspe bem o fundo com uma colher de pau. Deixe reduzir à metade. Desligue o fogo, junte o suco e as raspas de limão e a manteiga gelada, mexendo até o molho engrossar e brilhar. Finalize com salsinha.</a:t>
            </a:r>
            <a:endParaRPr lang="en-US" sz="850" dirty="0"/>
          </a:p>
        </p:txBody>
      </p:sp>
      <p:sp>
        <p:nvSpPr>
          <p:cNvPr id="51" name="Shape 45"/>
          <p:cNvSpPr/>
          <p:nvPr/>
        </p:nvSpPr>
        <p:spPr>
          <a:xfrm>
            <a:off x="791914" y="826680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883741" y="8309372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8</a:t>
            </a:r>
            <a:endParaRPr lang="en-US" sz="950" dirty="0"/>
          </a:p>
        </p:txBody>
      </p:sp>
      <p:sp>
        <p:nvSpPr>
          <p:cNvPr id="53" name="Text 47"/>
          <p:cNvSpPr txBox="1"/>
          <p:nvPr/>
        </p:nvSpPr>
        <p:spPr>
          <a:xfrm>
            <a:off x="1158925" y="8297912"/>
            <a:ext cx="59159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Sirva o molho no fundo do prato e o frango por cima, para a pele continuar crocante.</a:t>
            </a:r>
            <a:endParaRPr lang="en-US" sz="850" dirty="0"/>
          </a:p>
        </p:txBody>
      </p:sp>
      <p:sp>
        <p:nvSpPr>
          <p:cNvPr id="54" name="Shape 48"/>
          <p:cNvSpPr/>
          <p:nvPr/>
        </p:nvSpPr>
        <p:spPr>
          <a:xfrm>
            <a:off x="791914" y="8583513"/>
            <a:ext cx="5976045" cy="798165"/>
          </a:xfrm>
          <a:prstGeom prst="roundRect">
            <a:avLst>
              <a:gd name="adj" fmla="val 15502"/>
            </a:avLst>
          </a:prstGeom>
          <a:solidFill>
            <a:srgbClr val="FFC926"/>
          </a:solidFill>
          <a:ln/>
        </p:spPr>
      </p:sp>
      <p:sp>
        <p:nvSpPr>
          <p:cNvPr id="55" name="Text 49"/>
          <p:cNvSpPr txBox="1"/>
          <p:nvPr/>
        </p:nvSpPr>
        <p:spPr>
          <a:xfrm>
            <a:off x="971848" y="8662839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56" name="Text 50"/>
          <p:cNvSpPr txBox="1"/>
          <p:nvPr/>
        </p:nvSpPr>
        <p:spPr>
          <a:xfrm>
            <a:off x="971848" y="8938617"/>
            <a:ext cx="5616178" cy="30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Aquele fundo grudado na frigideira é sabor puro. Soltá-lo com um líquido (deglaçar) transforma o que iria para a pia no melhor molho do prato.</a:t>
            </a:r>
            <a:endParaRPr lang="en-US" sz="830" dirty="0"/>
          </a:p>
        </p:txBody>
      </p:sp>
      <p:sp>
        <p:nvSpPr>
          <p:cNvPr id="57" name="Text 51"/>
          <p:cNvSpPr txBox="1"/>
          <p:nvPr/>
        </p:nvSpPr>
        <p:spPr>
          <a:xfrm>
            <a:off x="5525244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58" name="Text 52"/>
          <p:cNvSpPr txBox="1"/>
          <p:nvPr/>
        </p:nvSpPr>
        <p:spPr>
          <a:xfrm>
            <a:off x="6658421" y="10162729"/>
            <a:ext cx="2238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3832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02 · FRANGO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91294"/>
            <a:ext cx="4247852" cy="128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3100" spc="-1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FRANGO DESFIADO SUCULENTO AO MOLHO DE TOMATE CASEIRO E ERVAS</a:t>
            </a:r>
            <a:endParaRPr lang="en-US" sz="31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273201"/>
            <a:ext cx="43717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COZIMENTO LENTO · 6 PORÇÕES · 1H20 (OU 40 MIN NA PRESSÃO)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480518"/>
            <a:ext cx="29238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(para massas, tortas e sanduíches)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2975074"/>
            <a:ext cx="1319957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2795290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791914" y="319801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986135" y="3157240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6 sobrecoxas com osso e pele (cerca de 1 kg)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791914" y="358199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986135" y="3541216"/>
            <a:ext cx="15830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Sal e pimenta-do-reino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791914" y="379556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986135" y="3754785"/>
            <a:ext cx="1653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(sopa) de azeite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791914" y="400913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86135" y="3968353"/>
            <a:ext cx="10368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cebola picada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791914" y="422270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986135" y="4181921"/>
            <a:ext cx="17202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 dentes de alho picados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791914" y="443626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86135" y="4395490"/>
            <a:ext cx="11493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cenoura ralada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923854" y="319801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118074" y="3157240"/>
            <a:ext cx="25223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(sopa) de extrato de tomate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3923854" y="341158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118074" y="3370808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6 tomates bem maduros picados (ou 1 lata de tomate pelado)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3923854" y="379556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118074" y="3754785"/>
            <a:ext cx="10513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folha de louro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3923854" y="400913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4118074" y="3968353"/>
            <a:ext cx="24086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300 ml de caldo de frango ou água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3923854" y="422270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4118074" y="4181921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Orégano, manjericão e cheiro-verde a gosto</a:t>
            </a:r>
            <a:endParaRPr lang="en-US" sz="85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4896445"/>
            <a:ext cx="1636514" cy="10790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91914" y="4716661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34" name="Shape 28"/>
          <p:cNvSpPr/>
          <p:nvPr/>
        </p:nvSpPr>
        <p:spPr>
          <a:xfrm>
            <a:off x="791914" y="5047506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892820" y="5090071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1158925" y="5078611"/>
            <a:ext cx="5609034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Seque e tempere as sobrecoxas com sal e pimenta. Doure no azeite, com a pele para baixo, por 6 a 8 minutos, até ficarem bem douradas. Vire, doure o outro lado por 2 minutos e reserve.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791914" y="563790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883444" y="5680472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39" name="Text 33"/>
          <p:cNvSpPr txBox="1"/>
          <p:nvPr/>
        </p:nvSpPr>
        <p:spPr>
          <a:xfrm>
            <a:off x="1158925" y="5669012"/>
            <a:ext cx="61889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Na gordura que ficou na panela, refogue a cebola, o alho e a cenoura até ficarem macios.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791914" y="593303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883741" y="5975598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42" name="Text 36"/>
          <p:cNvSpPr txBox="1"/>
          <p:nvPr/>
        </p:nvSpPr>
        <p:spPr>
          <a:xfrm>
            <a:off x="1158925" y="5964138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Junte o extrato de tomate e mexa por 1 minuto, até ele escurecer levemente. Isso tira o gosto ácido de lata e aprofunda o sabor.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791914" y="6353026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880021" y="6395591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45" name="Text 39"/>
          <p:cNvSpPr txBox="1"/>
          <p:nvPr/>
        </p:nvSpPr>
        <p:spPr>
          <a:xfrm>
            <a:off x="1158925" y="6384131"/>
            <a:ext cx="62737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Acrescente os tomates, o louro e o caldo, raspando o fundo. Volte o frango para a panela.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791914" y="6648152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883444" y="6690717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48" name="Text 42"/>
          <p:cNvSpPr txBox="1"/>
          <p:nvPr/>
        </p:nvSpPr>
        <p:spPr>
          <a:xfrm>
            <a:off x="1158925" y="6679257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Tampe e cozinhe em fogo baixo por 50 a 60 minutos (ou 20 minutos na panela de pressão), até a carne soltar do osso.</a:t>
            </a:r>
            <a:endParaRPr lang="en-US" sz="850" dirty="0"/>
          </a:p>
        </p:txBody>
      </p:sp>
      <p:sp>
        <p:nvSpPr>
          <p:cNvPr id="49" name="Shape 43"/>
          <p:cNvSpPr/>
          <p:nvPr/>
        </p:nvSpPr>
        <p:spPr>
          <a:xfrm>
            <a:off x="791914" y="706814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0" name="Text 44"/>
          <p:cNvSpPr txBox="1"/>
          <p:nvPr/>
        </p:nvSpPr>
        <p:spPr>
          <a:xfrm>
            <a:off x="883444" y="7110710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51" name="Text 45"/>
          <p:cNvSpPr txBox="1"/>
          <p:nvPr/>
        </p:nvSpPr>
        <p:spPr>
          <a:xfrm>
            <a:off x="1158925" y="7099250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Retire os ossos e a pele (guarde os ossos para o caldo). Desfie a carne com dois garfos dentro do próprio molho.</a:t>
            </a:r>
            <a:endParaRPr lang="en-US" sz="850" dirty="0"/>
          </a:p>
        </p:txBody>
      </p:sp>
      <p:sp>
        <p:nvSpPr>
          <p:cNvPr id="52" name="Shape 46"/>
          <p:cNvSpPr/>
          <p:nvPr/>
        </p:nvSpPr>
        <p:spPr>
          <a:xfrm>
            <a:off x="791914" y="748813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3" name="Text 47"/>
          <p:cNvSpPr txBox="1"/>
          <p:nvPr/>
        </p:nvSpPr>
        <p:spPr>
          <a:xfrm>
            <a:off x="885230" y="7530703"/>
            <a:ext cx="1651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7</a:t>
            </a:r>
            <a:endParaRPr lang="en-US" sz="950" dirty="0"/>
          </a:p>
        </p:txBody>
      </p:sp>
      <p:sp>
        <p:nvSpPr>
          <p:cNvPr id="54" name="Text 48"/>
          <p:cNvSpPr txBox="1"/>
          <p:nvPr/>
        </p:nvSpPr>
        <p:spPr>
          <a:xfrm>
            <a:off x="1158925" y="7519243"/>
            <a:ext cx="61527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Cozinhe destampado até o molho envolver o frango. Finalize com as ervas e acerte o sal.</a:t>
            </a:r>
            <a:endParaRPr lang="en-US" sz="850" dirty="0"/>
          </a:p>
        </p:txBody>
      </p:sp>
      <p:sp>
        <p:nvSpPr>
          <p:cNvPr id="55" name="Shape 49"/>
          <p:cNvSpPr/>
          <p:nvPr/>
        </p:nvSpPr>
        <p:spPr>
          <a:xfrm>
            <a:off x="791914" y="7804845"/>
            <a:ext cx="5976045" cy="798165"/>
          </a:xfrm>
          <a:prstGeom prst="roundRect">
            <a:avLst>
              <a:gd name="adj" fmla="val 15502"/>
            </a:avLst>
          </a:prstGeom>
          <a:solidFill>
            <a:srgbClr val="FFC926"/>
          </a:solidFill>
          <a:ln/>
        </p:spPr>
      </p:sp>
      <p:sp>
        <p:nvSpPr>
          <p:cNvPr id="56" name="Text 50"/>
          <p:cNvSpPr txBox="1"/>
          <p:nvPr/>
        </p:nvSpPr>
        <p:spPr>
          <a:xfrm>
            <a:off x="971848" y="7884170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57" name="Text 51"/>
          <p:cNvSpPr txBox="1"/>
          <p:nvPr/>
        </p:nvSpPr>
        <p:spPr>
          <a:xfrm>
            <a:off x="971848" y="8159948"/>
            <a:ext cx="5616178" cy="30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Desfiar dentro do molho faz a carne absorver o líquido e continuar suculenta. Use em sanduíches, massas, tortas, panquecas ou sobre polenta mole.</a:t>
            </a:r>
            <a:endParaRPr lang="en-US" sz="830" dirty="0"/>
          </a:p>
        </p:txBody>
      </p:sp>
      <p:sp>
        <p:nvSpPr>
          <p:cNvPr id="58" name="Text 52"/>
          <p:cNvSpPr txBox="1"/>
          <p:nvPr/>
        </p:nvSpPr>
        <p:spPr>
          <a:xfrm>
            <a:off x="5505599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59" name="Text 53"/>
          <p:cNvSpPr txBox="1"/>
          <p:nvPr/>
        </p:nvSpPr>
        <p:spPr>
          <a:xfrm>
            <a:off x="6638776" y="10162729"/>
            <a:ext cx="2434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3834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03 · FRANGO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91294"/>
            <a:ext cx="4247852" cy="128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3100" spc="-1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SOBRECOXA MARINADA NO IOGURTE COM ESPECIARIAS, ASSADA ATÉ DOURAR</a:t>
            </a:r>
            <a:endParaRPr lang="en-US" sz="31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273201"/>
            <a:ext cx="49989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ASSADO TECNOLÓGICO · 4 A 6 PORÇÕES · 50 MIN (MAIS 2 H DE MARINADA)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480518"/>
            <a:ext cx="33745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(maciez extrema, no forno ou na airfryer)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2975074"/>
            <a:ext cx="1319957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2795290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10" name="Text 5"/>
          <p:cNvSpPr txBox="1"/>
          <p:nvPr/>
        </p:nvSpPr>
        <p:spPr>
          <a:xfrm>
            <a:off x="791914" y="3147715"/>
            <a:ext cx="7093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MARINADA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791914" y="342334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986135" y="3382566"/>
            <a:ext cx="2762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170 g de iogurte natural integral (1 pote)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791914" y="363691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986135" y="3596134"/>
            <a:ext cx="17250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 dentes de alho ralados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791914" y="385048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986135" y="3809702"/>
            <a:ext cx="22349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(chá) de gengibre ralado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791914" y="406405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986135" y="4023271"/>
            <a:ext cx="20394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(chá) de páprica doce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791914" y="427761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986135" y="4236839"/>
            <a:ext cx="21662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(chá) de cominho em pó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3923854" y="319801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4118074" y="3157240"/>
            <a:ext cx="18417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½ colher (chá) de cúrcuma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3923854" y="341158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4118074" y="3370808"/>
            <a:ext cx="1782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Suco e raspas de ½ limão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3923854" y="362515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4118074" y="3584377"/>
            <a:ext cx="13585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(chá) de sal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3923854" y="383872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4118074" y="3797945"/>
            <a:ext cx="1653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(sopa) de azeite</a:t>
            </a:r>
            <a:endParaRPr lang="en-US" sz="850" dirty="0"/>
          </a:p>
        </p:txBody>
      </p:sp>
      <p:sp>
        <p:nvSpPr>
          <p:cNvPr id="29" name="Text 24"/>
          <p:cNvSpPr txBox="1"/>
          <p:nvPr/>
        </p:nvSpPr>
        <p:spPr>
          <a:xfrm>
            <a:off x="3923854" y="4012704"/>
            <a:ext cx="56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FRANGO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3923854" y="428833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4118074" y="4247555"/>
            <a:ext cx="20462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6 sobrecoxas com osso e pele</a:t>
            </a:r>
            <a:endParaRPr lang="en-US" sz="85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4764732"/>
            <a:ext cx="1636514" cy="10790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91914" y="4584948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34" name="Shape 28"/>
          <p:cNvSpPr/>
          <p:nvPr/>
        </p:nvSpPr>
        <p:spPr>
          <a:xfrm>
            <a:off x="791914" y="491579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892820" y="4958358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1158925" y="4946898"/>
            <a:ext cx="38838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Misture todos os ingredientes da marinada numa tigela.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791914" y="521091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883444" y="5253484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39" name="Text 33"/>
          <p:cNvSpPr txBox="1"/>
          <p:nvPr/>
        </p:nvSpPr>
        <p:spPr>
          <a:xfrm>
            <a:off x="1158925" y="5242024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Faça 2 cortes rasos em cada sobrecoxa, do lado da pele, e envolva bem na marinada. Cubra e leve à geladeira por no mínimo 2 horas, idealmente de um dia para o outro.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791914" y="5630912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883741" y="5673477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42" name="Text 36"/>
          <p:cNvSpPr txBox="1"/>
          <p:nvPr/>
        </p:nvSpPr>
        <p:spPr>
          <a:xfrm>
            <a:off x="1158925" y="5662017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Retire o excesso de marinada e disponha as sobrecoxas com a pele para cima, sobre uma grade apoiada na assadeira (ou sobre papel-manteiga), bem espaçadas.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791914" y="605090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880021" y="6093470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45" name="Text 39"/>
          <p:cNvSpPr txBox="1"/>
          <p:nvPr/>
        </p:nvSpPr>
        <p:spPr>
          <a:xfrm>
            <a:off x="1158925" y="6082010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No forno: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asse a 220 °C por 35 a 40 minutos. Nos últimos 5 minutos, ligue o grill, se o seu forno tiver, para formar manchas tostadas.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791914" y="647089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883444" y="6513463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48" name="Text 42"/>
          <p:cNvSpPr txBox="1"/>
          <p:nvPr/>
        </p:nvSpPr>
        <p:spPr>
          <a:xfrm>
            <a:off x="1158925" y="6502003"/>
            <a:ext cx="48159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Na airfryer:</a:t>
            </a:r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180 °C por 15 minutos, vire, e mais 8 a 10 minutos a 200 °C.</a:t>
            </a:r>
            <a:endParaRPr lang="en-US" sz="850" dirty="0"/>
          </a:p>
        </p:txBody>
      </p:sp>
      <p:sp>
        <p:nvSpPr>
          <p:cNvPr id="49" name="Shape 43"/>
          <p:cNvSpPr/>
          <p:nvPr/>
        </p:nvSpPr>
        <p:spPr>
          <a:xfrm>
            <a:off x="791914" y="676602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0" name="Text 44"/>
          <p:cNvSpPr txBox="1"/>
          <p:nvPr/>
        </p:nvSpPr>
        <p:spPr>
          <a:xfrm>
            <a:off x="883444" y="6808589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51" name="Text 45"/>
          <p:cNvSpPr txBox="1"/>
          <p:nvPr/>
        </p:nvSpPr>
        <p:spPr>
          <a:xfrm>
            <a:off x="1158925" y="6797129"/>
            <a:ext cx="29885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Deixe descansar 5 minutos antes de servir.</a:t>
            </a:r>
            <a:endParaRPr lang="en-US" sz="850" dirty="0"/>
          </a:p>
        </p:txBody>
      </p:sp>
      <p:sp>
        <p:nvSpPr>
          <p:cNvPr id="52" name="Shape 46"/>
          <p:cNvSpPr/>
          <p:nvPr/>
        </p:nvSpPr>
        <p:spPr>
          <a:xfrm>
            <a:off x="791914" y="7082730"/>
            <a:ext cx="5976045" cy="964555"/>
          </a:xfrm>
          <a:prstGeom prst="roundRect">
            <a:avLst>
              <a:gd name="adj" fmla="val 10615"/>
            </a:avLst>
          </a:prstGeom>
          <a:solidFill>
            <a:srgbClr val="FFC926"/>
          </a:solidFill>
          <a:ln/>
        </p:spPr>
      </p:sp>
      <p:sp>
        <p:nvSpPr>
          <p:cNvPr id="53" name="Text 47"/>
          <p:cNvSpPr txBox="1"/>
          <p:nvPr/>
        </p:nvSpPr>
        <p:spPr>
          <a:xfrm>
            <a:off x="971848" y="7162056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54" name="Text 48"/>
          <p:cNvSpPr txBox="1"/>
          <p:nvPr/>
        </p:nvSpPr>
        <p:spPr>
          <a:xfrm>
            <a:off x="971848" y="7437834"/>
            <a:ext cx="5616178" cy="475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 ácido suave do iogurte amacia a carne sem deixá-la farinhenta (como acontece com marinadas muito ácidas), e os açúcares do leite ajudam a dourar. Sirva com arroz, salada de pepino e um molho de iogurte com hortelã.</a:t>
            </a:r>
            <a:endParaRPr lang="en-US" sz="830" dirty="0"/>
          </a:p>
        </p:txBody>
      </p:sp>
      <p:sp>
        <p:nvSpPr>
          <p:cNvPr id="55" name="Text 49"/>
          <p:cNvSpPr txBox="1"/>
          <p:nvPr/>
        </p:nvSpPr>
        <p:spPr>
          <a:xfrm>
            <a:off x="5505450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56" name="Text 50"/>
          <p:cNvSpPr txBox="1"/>
          <p:nvPr/>
        </p:nvSpPr>
        <p:spPr>
          <a:xfrm>
            <a:off x="6638627" y="10162729"/>
            <a:ext cx="2436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0985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PULO DO CHEF · FRANGO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82214"/>
            <a:ext cx="4247852" cy="128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PELE BORRACHUDA E FRANGO SECO</a:t>
            </a:r>
            <a:endParaRPr lang="en-US" sz="4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2492871"/>
            <a:ext cx="722412" cy="1079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91914" y="2313087"/>
            <a:ext cx="6929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ERRO</a:t>
            </a:r>
            <a:endParaRPr lang="en-US" sz="1700" dirty="0"/>
          </a:p>
        </p:txBody>
      </p:sp>
      <p:sp>
        <p:nvSpPr>
          <p:cNvPr id="8" name="Text 3"/>
          <p:cNvSpPr txBox="1"/>
          <p:nvPr/>
        </p:nvSpPr>
        <p:spPr>
          <a:xfrm>
            <a:off x="791914" y="2675037"/>
            <a:ext cx="575994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Tirar o frango molhado da embalagem direto para a frigideira, mexer o tempo todo e cortar assim que sai do fogo. A pele cozinha no vapor e fica mole; a carne perde o suco na tábua.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3412927"/>
            <a:ext cx="1008608" cy="1079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91914" y="3233142"/>
            <a:ext cx="9791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 TÉCNICA</a:t>
            </a:r>
            <a:endParaRPr lang="en-US" sz="1700" dirty="0"/>
          </a:p>
        </p:txBody>
      </p:sp>
      <p:sp>
        <p:nvSpPr>
          <p:cNvPr id="11" name="Shape 5"/>
          <p:cNvSpPr/>
          <p:nvPr/>
        </p:nvSpPr>
        <p:spPr>
          <a:xfrm>
            <a:off x="791914" y="356398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92820" y="3606552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7"/>
          <p:cNvSpPr txBox="1"/>
          <p:nvPr/>
        </p:nvSpPr>
        <p:spPr>
          <a:xfrm>
            <a:off x="1158925" y="3595092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Seque e salgue antes: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papel-toalha e, se der, sal com antecedência na geladeira, descoberto.</a:t>
            </a:r>
            <a:endParaRPr lang="en-US" sz="850" dirty="0"/>
          </a:p>
        </p:txBody>
      </p:sp>
      <p:sp>
        <p:nvSpPr>
          <p:cNvPr id="14" name="Shape 8"/>
          <p:cNvSpPr/>
          <p:nvPr/>
        </p:nvSpPr>
        <p:spPr>
          <a:xfrm>
            <a:off x="791914" y="3983980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5" name="Text 9"/>
          <p:cNvSpPr txBox="1"/>
          <p:nvPr/>
        </p:nvSpPr>
        <p:spPr>
          <a:xfrm>
            <a:off x="883444" y="4026545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Text 10"/>
          <p:cNvSpPr txBox="1"/>
          <p:nvPr/>
        </p:nvSpPr>
        <p:spPr>
          <a:xfrm>
            <a:off x="1158925" y="4015085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Pele para baixo e paciência: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fogo médio, peso por cima e nada de mexer até ela soltar sozinha da frigideira.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791914" y="440397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883741" y="4446538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3"/>
          <p:cNvSpPr txBox="1"/>
          <p:nvPr/>
        </p:nvSpPr>
        <p:spPr>
          <a:xfrm>
            <a:off x="1158925" y="4435078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Ponto pela temperatura: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sobrecoxa fica melhor entre 75 °C e 80 °C. Um termômetro culinário custa menos que uma pizza e acaba com o achismo.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791914" y="4823966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880021" y="4866531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1158925" y="4855071"/>
            <a:ext cx="48846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Descanso:</a:t>
            </a:r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5 minutos antes de cortar, para os sucos se redistribuírem.</a:t>
            </a:r>
            <a:endParaRPr lang="en-US" sz="8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047" y="5453807"/>
            <a:ext cx="1377404" cy="1079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91914" y="5274022"/>
            <a:ext cx="13816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NÃO TEM ISSO?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791914" y="5662315"/>
            <a:ext cx="1583978" cy="267593"/>
          </a:xfrm>
          <a:prstGeom prst="rect">
            <a:avLst/>
          </a:prstGeom>
          <a:solidFill>
            <a:srgbClr val="18542A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881807" y="5719911"/>
            <a:ext cx="10321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 NÃO TIVER…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2375892" y="5662315"/>
            <a:ext cx="4392067" cy="267593"/>
          </a:xfrm>
          <a:prstGeom prst="rect">
            <a:avLst/>
          </a:prstGeom>
          <a:solidFill>
            <a:srgbClr val="18542A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2465784" y="5719911"/>
            <a:ext cx="4435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USE…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91914" y="6400502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0" name="Text 23"/>
          <p:cNvSpPr txBox="1"/>
          <p:nvPr/>
        </p:nvSpPr>
        <p:spPr>
          <a:xfrm>
            <a:off x="881807" y="5998220"/>
            <a:ext cx="6737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Sobrecoxa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2375892" y="6400502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2" name="Text 25"/>
          <p:cNvSpPr txBox="1"/>
          <p:nvPr/>
        </p:nvSpPr>
        <p:spPr>
          <a:xfrm>
            <a:off x="2465892" y="6017270"/>
            <a:ext cx="4212067" cy="307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Coxa (aumente um pouco o tempo) ou peito (reduza bastante o tempo e retire do fogo a 65 °C: ele resseca fácil).</a:t>
            </a:r>
            <a:endParaRPr lang="en-US" sz="820" dirty="0"/>
          </a:p>
        </p:txBody>
      </p:sp>
      <p:sp>
        <p:nvSpPr>
          <p:cNvPr id="33" name="Shape 26"/>
          <p:cNvSpPr/>
          <p:nvPr/>
        </p:nvSpPr>
        <p:spPr>
          <a:xfrm>
            <a:off x="791914" y="6713339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4" name="Text 27"/>
          <p:cNvSpPr txBox="1"/>
          <p:nvPr/>
        </p:nvSpPr>
        <p:spPr>
          <a:xfrm>
            <a:off x="881807" y="6473577"/>
            <a:ext cx="9139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Iogurte natural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2375892" y="6713339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6" name="Text 29"/>
          <p:cNvSpPr txBox="1"/>
          <p:nvPr/>
        </p:nvSpPr>
        <p:spPr>
          <a:xfrm>
            <a:off x="2465784" y="6492627"/>
            <a:ext cx="46897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Coalhada seca, ou leite com suco de limão descansado por 10 minutos.</a:t>
            </a:r>
            <a:endParaRPr lang="en-US" sz="820" dirty="0"/>
          </a:p>
        </p:txBody>
      </p:sp>
      <p:sp>
        <p:nvSpPr>
          <p:cNvPr id="37" name="Shape 30"/>
          <p:cNvSpPr/>
          <p:nvPr/>
        </p:nvSpPr>
        <p:spPr>
          <a:xfrm>
            <a:off x="791914" y="7026176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8" name="Text 31"/>
          <p:cNvSpPr txBox="1"/>
          <p:nvPr/>
        </p:nvSpPr>
        <p:spPr>
          <a:xfrm>
            <a:off x="881807" y="6786414"/>
            <a:ext cx="9477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Caldo de frango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2375892" y="7026176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0" name="Text 33"/>
          <p:cNvSpPr txBox="1"/>
          <p:nvPr/>
        </p:nvSpPr>
        <p:spPr>
          <a:xfrm>
            <a:off x="2465784" y="6805464"/>
            <a:ext cx="32377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Água com as aparas e um ramo de cheiro-verde.</a:t>
            </a:r>
            <a:endParaRPr lang="en-US" sz="820" dirty="0"/>
          </a:p>
        </p:txBody>
      </p:sp>
      <p:sp>
        <p:nvSpPr>
          <p:cNvPr id="41" name="Shape 34"/>
          <p:cNvSpPr/>
          <p:nvPr/>
        </p:nvSpPr>
        <p:spPr>
          <a:xfrm>
            <a:off x="791914" y="7339012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2" name="Text 35"/>
          <p:cNvSpPr txBox="1"/>
          <p:nvPr/>
        </p:nvSpPr>
        <p:spPr>
          <a:xfrm>
            <a:off x="881807" y="7099250"/>
            <a:ext cx="8798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Tomate fresco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2375892" y="7339012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4" name="Text 37"/>
          <p:cNvSpPr txBox="1"/>
          <p:nvPr/>
        </p:nvSpPr>
        <p:spPr>
          <a:xfrm>
            <a:off x="2465784" y="7118300"/>
            <a:ext cx="23747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Tomate pelado em lata ou passata.</a:t>
            </a:r>
            <a:endParaRPr lang="en-US" sz="820" dirty="0"/>
          </a:p>
        </p:txBody>
      </p:sp>
      <p:sp>
        <p:nvSpPr>
          <p:cNvPr id="45" name="Shape 38"/>
          <p:cNvSpPr/>
          <p:nvPr/>
        </p:nvSpPr>
        <p:spPr>
          <a:xfrm>
            <a:off x="791914" y="7651849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6" name="Text 39"/>
          <p:cNvSpPr txBox="1"/>
          <p:nvPr/>
        </p:nvSpPr>
        <p:spPr>
          <a:xfrm>
            <a:off x="881807" y="7412087"/>
            <a:ext cx="15411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Manteiga gelada no molho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2375892" y="7651849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8" name="Text 41"/>
          <p:cNvSpPr txBox="1"/>
          <p:nvPr/>
        </p:nvSpPr>
        <p:spPr>
          <a:xfrm>
            <a:off x="2465784" y="7431137"/>
            <a:ext cx="38419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Azeite (o molho fica mais fino, mas igualmente saboroso).</a:t>
            </a:r>
            <a:endParaRPr lang="en-US" sz="820" dirty="0"/>
          </a:p>
        </p:txBody>
      </p:sp>
      <p:sp>
        <p:nvSpPr>
          <p:cNvPr id="49" name="Shape 42"/>
          <p:cNvSpPr/>
          <p:nvPr/>
        </p:nvSpPr>
        <p:spPr>
          <a:xfrm>
            <a:off x="791914" y="7964686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50" name="Text 43"/>
          <p:cNvSpPr txBox="1"/>
          <p:nvPr/>
        </p:nvSpPr>
        <p:spPr>
          <a:xfrm>
            <a:off x="881807" y="7724924"/>
            <a:ext cx="5817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Cúrcuma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2375892" y="7964686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52" name="Text 45"/>
          <p:cNvSpPr txBox="1"/>
          <p:nvPr/>
        </p:nvSpPr>
        <p:spPr>
          <a:xfrm>
            <a:off x="2465784" y="7743974"/>
            <a:ext cx="3023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Uma pitada de açafrão-da-terra ou de curry.</a:t>
            </a:r>
            <a:endParaRPr lang="en-US" sz="820" dirty="0"/>
          </a:p>
        </p:txBody>
      </p:sp>
      <p:sp>
        <p:nvSpPr>
          <p:cNvPr id="53" name="Text 46"/>
          <p:cNvSpPr txBox="1"/>
          <p:nvPr/>
        </p:nvSpPr>
        <p:spPr>
          <a:xfrm>
            <a:off x="5501729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54" name="Text 47"/>
          <p:cNvSpPr txBox="1"/>
          <p:nvPr/>
        </p:nvSpPr>
        <p:spPr>
          <a:xfrm>
            <a:off x="6634907" y="10162729"/>
            <a:ext cx="2473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016" y="7811839"/>
            <a:ext cx="2159943" cy="1799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7791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APROVEITA ISSO TAMBÉM · FRANGO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888424"/>
            <a:ext cx="4944785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NADA VAI PARA O LIXO</a:t>
            </a:r>
            <a:endParaRPr lang="en-US" sz="4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1978819"/>
            <a:ext cx="4466034" cy="1079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91914" y="1799034"/>
            <a:ext cx="4840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OSSOS E APARAS: FUNDO CASEIRO ULTRA-AROMÁTICO</a:t>
            </a:r>
            <a:endParaRPr lang="en-US" sz="1700" dirty="0"/>
          </a:p>
        </p:txBody>
      </p:sp>
      <p:sp>
        <p:nvSpPr>
          <p:cNvPr id="8" name="Text 3"/>
          <p:cNvSpPr txBox="1"/>
          <p:nvPr/>
        </p:nvSpPr>
        <p:spPr>
          <a:xfrm>
            <a:off x="791914" y="2160984"/>
            <a:ext cx="5759946" cy="66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Junte os ossos, peles e aparas de 6 a 8 sobrecoxas (pode ir guardando no freezer). Para um caldo mais escuro e intenso, asse os ossos antes a 200 °C por 30 minutos. Coloque numa panela com 1 cebola cortada ao meio com casca, 1 cenoura com casca, talos de salsinha, 1 folha de louro, 6 grãos de pimenta e 2 litros de água fria.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3239691"/>
            <a:ext cx="1685479" cy="1079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91914" y="3059906"/>
            <a:ext cx="17267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PONTO DO CALDO</a:t>
            </a:r>
            <a:endParaRPr lang="en-US" sz="1700" dirty="0"/>
          </a:p>
        </p:txBody>
      </p:sp>
      <p:sp>
        <p:nvSpPr>
          <p:cNvPr id="11" name="Text 5"/>
          <p:cNvSpPr txBox="1"/>
          <p:nvPr/>
        </p:nvSpPr>
        <p:spPr>
          <a:xfrm>
            <a:off x="791914" y="3421856"/>
            <a:ext cx="5759946" cy="834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Leve ao fogo baixo e nunca deixe ferver forte: a fervura turva o caldo. Retire a espuma que subir. Cozinhe por 2 a 3 horas, coe e leve à geladeira. A gordura endurece por cima: retire e guarde, ela é ótima para refogar. Congele o caldo em forminhas de gelo por até 3 meses e use um cubo para enriquecer arroz, feijão, molhos e sopas, como o caldo de mandioca do próximo capítulo. É o seu caldo caseiro, sem cubinhos industrializados.</a:t>
            </a:r>
            <a:endParaRPr lang="en-US" sz="850" dirty="0"/>
          </a:p>
        </p:txBody>
      </p:sp>
      <p:sp>
        <p:nvSpPr>
          <p:cNvPr id="12" name="Text 6"/>
          <p:cNvSpPr txBox="1"/>
          <p:nvPr/>
        </p:nvSpPr>
        <p:spPr>
          <a:xfrm>
            <a:off x="5505152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13" name="Text 7"/>
          <p:cNvSpPr txBox="1"/>
          <p:nvPr/>
        </p:nvSpPr>
        <p:spPr>
          <a:xfrm>
            <a:off x="6638330" y="10162729"/>
            <a:ext cx="2439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791914"/>
            <a:ext cx="10376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CAPÍTULO 04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888424"/>
            <a:ext cx="232029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MANDIOCA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91914" y="1665684"/>
            <a:ext cx="12043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AIPIM, MACAXEIRA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814" y="1962001"/>
            <a:ext cx="4031903" cy="33597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91914" y="5556796"/>
            <a:ext cx="57599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0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 raiz do Brasil: rica em amido, acessível e um coringa técnico. Une sustentabilidade e brasilidade num ingrediente só.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6344394"/>
            <a:ext cx="1804095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6164610"/>
            <a:ext cx="18595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 TRANSFORMAÇÕES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791914" y="649545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892820" y="6538020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7"/>
          <p:cNvSpPr txBox="1"/>
          <p:nvPr/>
        </p:nvSpPr>
        <p:spPr>
          <a:xfrm>
            <a:off x="1158925" y="6517035"/>
            <a:ext cx="1443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CROCÂNCIA PERFEITA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1158925" y="6659910"/>
            <a:ext cx="28608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Rösti de mandioca recheado na frigideira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3842742" y="6770396"/>
            <a:ext cx="2658963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15" name="Text 10"/>
          <p:cNvSpPr txBox="1"/>
          <p:nvPr/>
        </p:nvSpPr>
        <p:spPr>
          <a:xfrm>
            <a:off x="6631186" y="6517035"/>
            <a:ext cx="2510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28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91914" y="687838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83444" y="6920954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1158925" y="6899970"/>
            <a:ext cx="16137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CULINÁRIA ACOLHEDORA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58925" y="7042845"/>
            <a:ext cx="46372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Caldo aveludado de mandioca com gengibre e bacon (ou cogumelos)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428804" y="7153331"/>
            <a:ext cx="1072902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1" name="Text 16"/>
          <p:cNvSpPr txBox="1"/>
          <p:nvPr/>
        </p:nvSpPr>
        <p:spPr>
          <a:xfrm>
            <a:off x="6631186" y="6899970"/>
            <a:ext cx="2510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29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91914" y="726132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83741" y="7303889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1158925" y="7282904"/>
            <a:ext cx="7855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SURPRESA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158925" y="7425779"/>
            <a:ext cx="30995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Biscoito de polvilho e mandioca de assadeira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055864" y="7536266"/>
            <a:ext cx="244509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7" name="Text 22"/>
          <p:cNvSpPr txBox="1"/>
          <p:nvPr/>
        </p:nvSpPr>
        <p:spPr>
          <a:xfrm>
            <a:off x="6630442" y="7282904"/>
            <a:ext cx="2518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30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5505152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6638330" y="10162729"/>
            <a:ext cx="2439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791914"/>
            <a:ext cx="20205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CAPÍTULO 04 · MANDIOCA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888424"/>
            <a:ext cx="3360253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INGREDIENTE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91914" y="1675209"/>
            <a:ext cx="575994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Poucos ingredientes são tão brasileiros e tão subestimados. A mandioca costuma ficar presa a dois papéis: cozida na manteiga ou frita como acompanhamento.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791914" y="2109490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Mas é justamente o amido dela que a torna um coringa técnico. Ralada crua, ela se une sozinha e fica crocante na frigideira. Cozida e batida, vira um creme aveludado sem precisar de creme de leite. Misturada com queijo, vira biscoito.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91914" y="2714179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Um aviso importante: a mandioca vendida no mercado e na feira é a mandioca mansa, de mesa. Mesmo assim, ela deve ser sempre bem cozida antes de comer. Nunca consuma mandioca crua.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47" y="3622477"/>
            <a:ext cx="1641574" cy="107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91914" y="3442692"/>
            <a:ext cx="16775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ANTES DA PANELA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91914" y="3885009"/>
            <a:ext cx="1458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NA HORA DE ESCOLHER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91914" y="416063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986135" y="4119860"/>
            <a:ext cx="52209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Casca marrom, que se solta com facilidade, e ponta que estala ao quebrar.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791914" y="438864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986135" y="4347865"/>
            <a:ext cx="60177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Polpa branca ou amarelada, uniforme, sem estrias escuras, azuladas ou pontos moles.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791914" y="461664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986135" y="4575870"/>
            <a:ext cx="44728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Raízes médias costumam ser mais macias que as muito grossas.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91914" y="484465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986135" y="4803874"/>
            <a:ext cx="55358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Mandioca boa cozinha rápido. Se demorar demais, o problema é a raiz, não você.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791914" y="5054650"/>
            <a:ext cx="9913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COMO GUARDAR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91914" y="533027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986135" y="5289500"/>
            <a:ext cx="39938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Com casca, fora da geladeira, ela estraga em 2 ou 3 dias.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791914" y="555828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86135" y="5517505"/>
            <a:ext cx="578182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 melhor caminho: descasque, lave, corte em pedaços e congele crua em sacos por até 3 meses. Ela cozinha ainda melhor depois de congelada.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791914" y="595669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986135" y="5915918"/>
            <a:ext cx="5289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Cozida: na geladeira por até 3 dias, coberta pela própria água do cozimento.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791914" y="6166693"/>
            <a:ext cx="15456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PRÉ-PREPARO E CORTES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791914" y="644232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986135" y="6401544"/>
            <a:ext cx="578182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Corte em toras de 8 a 10 cm. Faça um talho no comprimento e solte a casca marrom junto com a entrecasca rosada, de uma vez.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791914" y="6840736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986135" y="6799957"/>
            <a:ext cx="46114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Depois de cozida, abra ao meio e retire o fio central, que é fibroso.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791914" y="706874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986135" y="7027962"/>
            <a:ext cx="53985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Corte sempre em pedaços de tamanho parecido, para tudo cozinhar por igual.</a:t>
            </a:r>
            <a:endParaRPr lang="en-US" sz="850" dirty="0"/>
          </a:p>
        </p:txBody>
      </p:sp>
      <p:sp>
        <p:nvSpPr>
          <p:cNvPr id="33" name="Text 29"/>
          <p:cNvSpPr txBox="1"/>
          <p:nvPr/>
        </p:nvSpPr>
        <p:spPr>
          <a:xfrm>
            <a:off x="5509320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6642497" y="10162729"/>
            <a:ext cx="2397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5448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01 · MANDIOCA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91294"/>
            <a:ext cx="4247852" cy="908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3100" spc="-1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RÖSTI DE MANDIOCA RECHEADO NA FRIGIDEIRA</a:t>
            </a:r>
            <a:endParaRPr lang="en-US" sz="31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1899345"/>
            <a:ext cx="45105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CROCÂNCIA PERFEITA · 1 RÖSTI GRANDE (2 A 4 PORÇÕES) · 45 MIN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106662"/>
            <a:ext cx="38383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(crosta dourada por fora, cremoso por dentro)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2601218"/>
            <a:ext cx="1319957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2421434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10" name="Text 5"/>
          <p:cNvSpPr txBox="1"/>
          <p:nvPr/>
        </p:nvSpPr>
        <p:spPr>
          <a:xfrm>
            <a:off x="791914" y="2773859"/>
            <a:ext cx="499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MASSA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791914" y="304948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986135" y="3008709"/>
            <a:ext cx="2536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500 g de mandioca crua descascada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791914" y="326305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986135" y="3222278"/>
            <a:ext cx="15830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Sal e pimenta-do-reino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791914" y="347662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986135" y="3435846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 colheres (sopa) de manteiga (ou metade manteiga, metade óleo)</a:t>
            </a:r>
            <a:endParaRPr lang="en-US" sz="850" dirty="0"/>
          </a:p>
        </p:txBody>
      </p:sp>
      <p:sp>
        <p:nvSpPr>
          <p:cNvPr id="17" name="Text 12"/>
          <p:cNvSpPr txBox="1"/>
          <p:nvPr/>
        </p:nvSpPr>
        <p:spPr>
          <a:xfrm>
            <a:off x="3923854" y="2773859"/>
            <a:ext cx="1505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RECHEIO (ESCOLHA UM)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923854" y="304948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118074" y="3008709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150 g de carne-seca dessalgada, cozida e desfiada, refogada com cebola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923854" y="343346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118074" y="3392686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ou 150 g de muçarela com 3 colheres (sopa) de requeijão cremoso</a:t>
            </a:r>
            <a:endParaRPr lang="en-US" sz="8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4112568"/>
            <a:ext cx="1636514" cy="1079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91914" y="3932783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791914" y="426362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892820" y="4306193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1158925" y="4294733"/>
            <a:ext cx="33710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Rale a mandioca crua no lado grosso do ralador.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791914" y="455875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83444" y="4601319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29" name="Text 23"/>
          <p:cNvSpPr txBox="1"/>
          <p:nvPr/>
        </p:nvSpPr>
        <p:spPr>
          <a:xfrm>
            <a:off x="1158925" y="4589859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Coloque num pano de prato limpo e torça com força para retirar o máximo de líquido. Descarte o líquido. 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Este é o passo que garante a crocância.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791914" y="497874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883741" y="5021312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32" name="Text 26"/>
          <p:cNvSpPr txBox="1"/>
          <p:nvPr/>
        </p:nvSpPr>
        <p:spPr>
          <a:xfrm>
            <a:off x="1158925" y="5009852"/>
            <a:ext cx="32789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Tempere a mandioca ralada com sal e pimenta.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791914" y="527387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880021" y="5316438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35" name="Text 29"/>
          <p:cNvSpPr txBox="1"/>
          <p:nvPr/>
        </p:nvSpPr>
        <p:spPr>
          <a:xfrm>
            <a:off x="1158925" y="5304979"/>
            <a:ext cx="5609034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Aqueça metade da manteiga numa frigideira antiaderente de 20 a 22 cm, em fogo médio. Espalhe metade da mandioca, pressionando com uma espátula para formar uma base compacta.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791914" y="586427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883444" y="5906839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38" name="Text 32"/>
          <p:cNvSpPr txBox="1"/>
          <p:nvPr/>
        </p:nvSpPr>
        <p:spPr>
          <a:xfrm>
            <a:off x="1158925" y="5895380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Distribua o recheio, deixando 1 cm livre na borda. Cubra com o restante da mandioca, pressione e feche bem as bordas.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791914" y="628426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883444" y="6326832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41" name="Text 35"/>
          <p:cNvSpPr txBox="1"/>
          <p:nvPr/>
        </p:nvSpPr>
        <p:spPr>
          <a:xfrm>
            <a:off x="1158925" y="6315373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Tampe e cozinhe em fogo médio-baixo por 12 a 15 minutos, até a base ficar dourada e firme (dá para levantar a borda com a espátula para conferir).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791914" y="670426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885230" y="6746825"/>
            <a:ext cx="1651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7</a:t>
            </a:r>
            <a:endParaRPr lang="en-US" sz="950" dirty="0"/>
          </a:p>
        </p:txBody>
      </p:sp>
      <p:sp>
        <p:nvSpPr>
          <p:cNvPr id="44" name="Text 38"/>
          <p:cNvSpPr txBox="1"/>
          <p:nvPr/>
        </p:nvSpPr>
        <p:spPr>
          <a:xfrm>
            <a:off x="1158925" y="6735366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Deslize o rösti para um prato, cubra com outro prato, vire e devolva à frigideira com o restante da manteiga. Cozinhe destampado por mais 12 a 15 minutos, até dourar.</a:t>
            </a:r>
            <a:endParaRPr lang="en-US" sz="850" dirty="0"/>
          </a:p>
        </p:txBody>
      </p:sp>
      <p:sp>
        <p:nvSpPr>
          <p:cNvPr id="45" name="Shape 39"/>
          <p:cNvSpPr/>
          <p:nvPr/>
        </p:nvSpPr>
        <p:spPr>
          <a:xfrm>
            <a:off x="791914" y="7145834"/>
            <a:ext cx="5976045" cy="798165"/>
          </a:xfrm>
          <a:prstGeom prst="roundRect">
            <a:avLst>
              <a:gd name="adj" fmla="val 15502"/>
            </a:avLst>
          </a:prstGeom>
          <a:solidFill>
            <a:srgbClr val="FFC926"/>
          </a:solidFill>
          <a:ln/>
        </p:spPr>
      </p:sp>
      <p:sp>
        <p:nvSpPr>
          <p:cNvPr id="46" name="Text 40"/>
          <p:cNvSpPr txBox="1"/>
          <p:nvPr/>
        </p:nvSpPr>
        <p:spPr>
          <a:xfrm>
            <a:off x="971848" y="7225159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47" name="Text 41"/>
          <p:cNvSpPr txBox="1"/>
          <p:nvPr/>
        </p:nvSpPr>
        <p:spPr>
          <a:xfrm>
            <a:off x="971848" y="7500938"/>
            <a:ext cx="5616178" cy="30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Fogo alto doura por fora e deixa a mandioca crua por dentro. O segredo é fogo médio-baixo e tempo: por fora ela fica dourada, por dentro, cremosa.</a:t>
            </a:r>
            <a:endParaRPr lang="en-US" sz="830" dirty="0"/>
          </a:p>
        </p:txBody>
      </p:sp>
      <p:sp>
        <p:nvSpPr>
          <p:cNvPr id="48" name="Text 42"/>
          <p:cNvSpPr txBox="1"/>
          <p:nvPr/>
        </p:nvSpPr>
        <p:spPr>
          <a:xfrm>
            <a:off x="5504557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49" name="Text 43"/>
          <p:cNvSpPr txBox="1"/>
          <p:nvPr/>
        </p:nvSpPr>
        <p:spPr>
          <a:xfrm>
            <a:off x="6637734" y="10162729"/>
            <a:ext cx="244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5674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02 · MANDIOCA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91294"/>
            <a:ext cx="4247852" cy="128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3100" spc="-1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CALDO AVELUDADO DE MANDIOCA COM GENGIBRE E BACON (OU COGUMELOS)</a:t>
            </a:r>
            <a:endParaRPr lang="en-US" sz="31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273201"/>
            <a:ext cx="51631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CULINÁRIA ACOLHEDORA · 4 A 6 PORÇÕES · 45 MIN (OU 25 MIN NA PRESSÃO)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480518"/>
            <a:ext cx="22804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(abraço em forma de prato)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2975074"/>
            <a:ext cx="1319957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2795290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791914" y="319801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986135" y="3157240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800 g de mandioca descascada, em pedaços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791914" y="358199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986135" y="3541216"/>
            <a:ext cx="264973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150 g de bacon em cubinhos (ou 200 g de cogumelos fatiados, na versão vegetariana)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791914" y="413638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986135" y="4095601"/>
            <a:ext cx="10368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cebola picada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791914" y="434994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86135" y="4309170"/>
            <a:ext cx="17202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 dentes de alho picados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3923854" y="319801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118074" y="3157240"/>
            <a:ext cx="28135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(sopa) de gengibre fresco ralado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923854" y="341158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118074" y="3370808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1,2 litro de caldo de frango (capítulo 3) ou de legumes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923854" y="379556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118074" y="3754785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Sal, pimenta-do-reino e algumas gotas de limão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3923854" y="417954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118074" y="4138761"/>
            <a:ext cx="27493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Cebolinha picada e azeite para finalizar</a:t>
            </a:r>
            <a:endParaRPr lang="en-US" sz="8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4783187"/>
            <a:ext cx="1636514" cy="1079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91914" y="4603403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28" name="Shape 22"/>
          <p:cNvSpPr/>
          <p:nvPr/>
        </p:nvSpPr>
        <p:spPr>
          <a:xfrm>
            <a:off x="791914" y="493424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892820" y="4976813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30" name="Text 24"/>
          <p:cNvSpPr txBox="1"/>
          <p:nvPr/>
        </p:nvSpPr>
        <p:spPr>
          <a:xfrm>
            <a:off x="1158925" y="4965353"/>
            <a:ext cx="5609034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Numa panela, doure o bacon em fogo médio até ficar crocante. Retire com escumadeira e reserve, deixando a gordura na panela. (Na versão com cogumelos, doure-os em 1 colher de manteiga e reserve.)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791914" y="552464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883444" y="5567214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33" name="Text 27"/>
          <p:cNvSpPr txBox="1"/>
          <p:nvPr/>
        </p:nvSpPr>
        <p:spPr>
          <a:xfrm>
            <a:off x="1158925" y="5555754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Na mesma panela, refogue a cebola até ficar transparente. Junte o alho e o gengibre e refogue por 1 minuto.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791914" y="5944642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883741" y="5987207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1158925" y="5975747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Acrescente a mandioca e o caldo. Cozinhe tampado até a mandioca começar a desmanchar: 25 a 30 minutos na panela comum ou 12 minutos na pressão.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791914" y="636463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880021" y="6407200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39" name="Text 33"/>
          <p:cNvSpPr txBox="1"/>
          <p:nvPr/>
        </p:nvSpPr>
        <p:spPr>
          <a:xfrm>
            <a:off x="1158925" y="6395740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Retire os fios centrais da mandioca. Bata no liquidificador, em levas e com a tampa entreaberta coberta por um pano (o vapor empurra a tampa). Bata só até ficar liso.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791914" y="678462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883444" y="6827193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42" name="Text 36"/>
          <p:cNvSpPr txBox="1"/>
          <p:nvPr/>
        </p:nvSpPr>
        <p:spPr>
          <a:xfrm>
            <a:off x="1158925" y="6815733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Volte à panela, ajuste a consistência com mais caldo, se precisar, e tempere com sal, pimenta e gotas de limão.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791914" y="720462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883444" y="7247186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45" name="Text 39"/>
          <p:cNvSpPr txBox="1"/>
          <p:nvPr/>
        </p:nvSpPr>
        <p:spPr>
          <a:xfrm>
            <a:off x="1158925" y="7235726"/>
            <a:ext cx="58512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Sirva com o bacon (ou os cogumelos) crocante por cima, cebolinha e um fio de azeite.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791914" y="7521327"/>
            <a:ext cx="5976045" cy="798165"/>
          </a:xfrm>
          <a:prstGeom prst="roundRect">
            <a:avLst>
              <a:gd name="adj" fmla="val 15502"/>
            </a:avLst>
          </a:prstGeom>
          <a:solidFill>
            <a:srgbClr val="FFC926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971848" y="7600652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48" name="Text 42"/>
          <p:cNvSpPr txBox="1"/>
          <p:nvPr/>
        </p:nvSpPr>
        <p:spPr>
          <a:xfrm>
            <a:off x="971848" y="7876431"/>
            <a:ext cx="5616178" cy="30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 gengibre e as gotas de limão no final são o que tiram o caldo do “pesado” e levam ao “aconchegante”. A crocância por cima faz contraste com o creme.</a:t>
            </a:r>
            <a:endParaRPr lang="en-US" sz="830" dirty="0"/>
          </a:p>
        </p:txBody>
      </p:sp>
      <p:sp>
        <p:nvSpPr>
          <p:cNvPr id="49" name="Text 43"/>
          <p:cNvSpPr txBox="1"/>
          <p:nvPr/>
        </p:nvSpPr>
        <p:spPr>
          <a:xfrm>
            <a:off x="5505748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50" name="Text 44"/>
          <p:cNvSpPr txBox="1"/>
          <p:nvPr/>
        </p:nvSpPr>
        <p:spPr>
          <a:xfrm>
            <a:off x="6638925" y="10162729"/>
            <a:ext cx="2433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5676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03 · MANDIOCA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91294"/>
            <a:ext cx="4247852" cy="908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3100" spc="-1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BISCOITO DE POLVILHO E MANDIOCA DE ASSADEIRA</a:t>
            </a:r>
            <a:endParaRPr lang="en-US" sz="31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1899345"/>
            <a:ext cx="3143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SURPRESA · CERCA DE 30 BISCOITOS · 50 MIN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106662"/>
            <a:ext cx="25798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(rápido para o lanche da tarde)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2601218"/>
            <a:ext cx="1319957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2421434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791914" y="282416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986135" y="2783384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300 g de mandioca cozida, sem os fios, amassada ainda quente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791914" y="320813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986135" y="3167360"/>
            <a:ext cx="15578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120 g de polvilho azedo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791914" y="342170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986135" y="3380929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80 g de queijo meia-cura ou parmesão ralado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3923854" y="282416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4118074" y="2783384"/>
            <a:ext cx="4028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ovo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3923854" y="303773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118074" y="2996952"/>
            <a:ext cx="17138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 colheres (sopa) de óleo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923854" y="325129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118074" y="3210520"/>
            <a:ext cx="17302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(chá) rasa de sal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923854" y="346486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118074" y="3424089"/>
            <a:ext cx="119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Leite, se precisar</a:t>
            </a:r>
            <a:endParaRPr lang="en-US" sz="8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4025354"/>
            <a:ext cx="1636514" cy="1079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91914" y="3845570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26" name="Shape 20"/>
          <p:cNvSpPr/>
          <p:nvPr/>
        </p:nvSpPr>
        <p:spPr>
          <a:xfrm>
            <a:off x="791914" y="417641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92820" y="4218980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1158925" y="4207520"/>
            <a:ext cx="498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Preaqueça o forno a 200 °C e forre uma assadeira com papel-manteiga.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791914" y="447154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883444" y="4514106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31" name="Text 25"/>
          <p:cNvSpPr txBox="1"/>
          <p:nvPr/>
        </p:nvSpPr>
        <p:spPr>
          <a:xfrm>
            <a:off x="1158925" y="4502646"/>
            <a:ext cx="60192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Amasse a mandioca ainda quente até virar um purê liso. Junte o óleo e o sal e misture.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791914" y="476666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883741" y="4809232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Text 28"/>
          <p:cNvSpPr txBox="1"/>
          <p:nvPr/>
        </p:nvSpPr>
        <p:spPr>
          <a:xfrm>
            <a:off x="1158925" y="4797772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Acrescente o polvilho e misture bem (o calor da mandioca escalda o polvilho e deixa a massa elástica).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791914" y="5186660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880021" y="5229225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37" name="Text 31"/>
          <p:cNvSpPr txBox="1"/>
          <p:nvPr/>
        </p:nvSpPr>
        <p:spPr>
          <a:xfrm>
            <a:off x="1158925" y="5217765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Junte o ovo e o queijo e amasse até formar uma massa macia que não grude nas mãos. Se ficar seca, pingue leite, uma colher por vez.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791914" y="560665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883444" y="5649218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40" name="Text 34"/>
          <p:cNvSpPr txBox="1"/>
          <p:nvPr/>
        </p:nvSpPr>
        <p:spPr>
          <a:xfrm>
            <a:off x="1158925" y="5637758"/>
            <a:ext cx="57623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Modele palitos de 8 cm ou bolinhas e disponha na assadeira com espaço entre eles.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791914" y="590177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883444" y="5944344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43" name="Text 37"/>
          <p:cNvSpPr txBox="1"/>
          <p:nvPr/>
        </p:nvSpPr>
        <p:spPr>
          <a:xfrm>
            <a:off x="1158925" y="5932884"/>
            <a:ext cx="58332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Asse por 25 a 30 minutos, até dourarem. Não abra o forno nos primeiros 15 minutos.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791914" y="6218486"/>
            <a:ext cx="5976045" cy="798165"/>
          </a:xfrm>
          <a:prstGeom prst="roundRect">
            <a:avLst>
              <a:gd name="adj" fmla="val 15502"/>
            </a:avLst>
          </a:prstGeom>
          <a:solidFill>
            <a:srgbClr val="FFC926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971848" y="6297811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46" name="Text 40"/>
          <p:cNvSpPr txBox="1"/>
          <p:nvPr/>
        </p:nvSpPr>
        <p:spPr>
          <a:xfrm>
            <a:off x="971848" y="6573589"/>
            <a:ext cx="5616178" cy="30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É um ótimo destino para a mandioca que sobrou do almoço. A massa crua pode ser congelada já modelada e assada direto do freezer (acrescente 5 a 10 minutos).</a:t>
            </a:r>
            <a:endParaRPr lang="en-US" sz="830" dirty="0"/>
          </a:p>
        </p:txBody>
      </p:sp>
      <p:sp>
        <p:nvSpPr>
          <p:cNvPr id="47" name="Text 41"/>
          <p:cNvSpPr txBox="1"/>
          <p:nvPr/>
        </p:nvSpPr>
        <p:spPr>
          <a:xfrm>
            <a:off x="5502622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6635800" y="10162729"/>
            <a:ext cx="2464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2827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PULO DO CHEF · MANDIOCA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82214"/>
            <a:ext cx="4247852" cy="231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MANDIOCA QUE NÃO COZINHA (OU QUE DESMANCHA O RÖSTI)</a:t>
            </a:r>
            <a:endParaRPr lang="en-US" sz="4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3520976"/>
            <a:ext cx="722412" cy="1079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91914" y="3341191"/>
            <a:ext cx="6929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ERRO</a:t>
            </a:r>
            <a:endParaRPr lang="en-US" sz="1700" dirty="0"/>
          </a:p>
        </p:txBody>
      </p:sp>
      <p:sp>
        <p:nvSpPr>
          <p:cNvPr id="8" name="Text 3"/>
          <p:cNvSpPr txBox="1"/>
          <p:nvPr/>
        </p:nvSpPr>
        <p:spPr>
          <a:xfrm>
            <a:off x="791914" y="3703141"/>
            <a:ext cx="575994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Comprar sem critério, cortar em pedaços de tamanhos diferentes e insistir no fogo por horas. E, no rösti, ralar e levar direto para a frigideira, com toda a água da raiz.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4441031"/>
            <a:ext cx="1008608" cy="1079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91914" y="4261247"/>
            <a:ext cx="9791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 TÉCNICA</a:t>
            </a:r>
            <a:endParaRPr lang="en-US" sz="1700" dirty="0"/>
          </a:p>
        </p:txBody>
      </p:sp>
      <p:sp>
        <p:nvSpPr>
          <p:cNvPr id="11" name="Shape 5"/>
          <p:cNvSpPr/>
          <p:nvPr/>
        </p:nvSpPr>
        <p:spPr>
          <a:xfrm>
            <a:off x="791914" y="4592092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92820" y="4634657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7"/>
          <p:cNvSpPr txBox="1"/>
          <p:nvPr/>
        </p:nvSpPr>
        <p:spPr>
          <a:xfrm>
            <a:off x="1158925" y="4623197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Escolha bem: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ponta que estala e polpa uniforme. Raiz velha ou fibrosa não amolece, não importa o tempo.</a:t>
            </a:r>
            <a:endParaRPr lang="en-US" sz="850" dirty="0"/>
          </a:p>
        </p:txBody>
      </p:sp>
      <p:sp>
        <p:nvSpPr>
          <p:cNvPr id="14" name="Shape 8"/>
          <p:cNvSpPr/>
          <p:nvPr/>
        </p:nvSpPr>
        <p:spPr>
          <a:xfrm>
            <a:off x="791914" y="501208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5" name="Text 9"/>
          <p:cNvSpPr txBox="1"/>
          <p:nvPr/>
        </p:nvSpPr>
        <p:spPr>
          <a:xfrm>
            <a:off x="883444" y="5054650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Text 10"/>
          <p:cNvSpPr txBox="1"/>
          <p:nvPr/>
        </p:nvSpPr>
        <p:spPr>
          <a:xfrm>
            <a:off x="1158925" y="5043190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Congele crua: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os cristais de gelo rompem as fibras e ela cozinha mais rápido e fica mais macia.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791914" y="543207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883741" y="5474643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3"/>
          <p:cNvSpPr txBox="1"/>
          <p:nvPr/>
        </p:nvSpPr>
        <p:spPr>
          <a:xfrm>
            <a:off x="1158925" y="5463183"/>
            <a:ext cx="41281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Pedaços iguais</a:t>
            </a:r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e panela de pressão quando a pressa bater.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791914" y="572720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880021" y="5769769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1158925" y="5758309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Esprema a mandioca ralada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no pano: menos água, mais crocância e um rösti que não desmancha.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791914" y="614719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883444" y="6189762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1158925" y="6178302"/>
            <a:ext cx="46477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Não amoleceu?</a:t>
            </a:r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Não jogue fora: ela ainda serve para o caldo batido.</a:t>
            </a:r>
            <a:endParaRPr lang="en-US" sz="8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047" y="6777038"/>
            <a:ext cx="1377404" cy="1079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91914" y="6597253"/>
            <a:ext cx="13816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NÃO TEM ISSO?</a:t>
            </a:r>
            <a:endParaRPr lang="en-US" sz="1700" dirty="0"/>
          </a:p>
        </p:txBody>
      </p:sp>
      <p:sp>
        <p:nvSpPr>
          <p:cNvPr id="28" name="Shape 21"/>
          <p:cNvSpPr/>
          <p:nvPr/>
        </p:nvSpPr>
        <p:spPr>
          <a:xfrm>
            <a:off x="791914" y="6985546"/>
            <a:ext cx="1583978" cy="267593"/>
          </a:xfrm>
          <a:prstGeom prst="rect">
            <a:avLst/>
          </a:prstGeom>
          <a:solidFill>
            <a:srgbClr val="18542A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881807" y="7043142"/>
            <a:ext cx="10321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 NÃO TIVER…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2375892" y="6985546"/>
            <a:ext cx="4392067" cy="267593"/>
          </a:xfrm>
          <a:prstGeom prst="rect">
            <a:avLst/>
          </a:prstGeom>
          <a:solidFill>
            <a:srgbClr val="18542A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2465784" y="7043142"/>
            <a:ext cx="4435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USE…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791914" y="7723733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3" name="Text 26"/>
          <p:cNvSpPr txBox="1"/>
          <p:nvPr/>
        </p:nvSpPr>
        <p:spPr>
          <a:xfrm>
            <a:off x="881807" y="7321451"/>
            <a:ext cx="98881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Mandioca fresca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2375892" y="7723733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5" name="Text 28"/>
          <p:cNvSpPr txBox="1"/>
          <p:nvPr/>
        </p:nvSpPr>
        <p:spPr>
          <a:xfrm>
            <a:off x="2465892" y="7340501"/>
            <a:ext cx="4212067" cy="307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Mandioca congelada já descascada (funciona muito bem nas três receitas).</a:t>
            </a:r>
            <a:endParaRPr lang="en-US" sz="820" dirty="0"/>
          </a:p>
        </p:txBody>
      </p:sp>
      <p:sp>
        <p:nvSpPr>
          <p:cNvPr id="36" name="Shape 29"/>
          <p:cNvSpPr/>
          <p:nvPr/>
        </p:nvSpPr>
        <p:spPr>
          <a:xfrm>
            <a:off x="791914" y="8036570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7" name="Text 30"/>
          <p:cNvSpPr txBox="1"/>
          <p:nvPr/>
        </p:nvSpPr>
        <p:spPr>
          <a:xfrm>
            <a:off x="881807" y="7796808"/>
            <a:ext cx="4391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Bacon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2375892" y="8036570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9" name="Text 32"/>
          <p:cNvSpPr txBox="1"/>
          <p:nvPr/>
        </p:nvSpPr>
        <p:spPr>
          <a:xfrm>
            <a:off x="2465784" y="7815858"/>
            <a:ext cx="37271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Linguiça calabresa em cubinhos ou cogumelos dourados.</a:t>
            </a:r>
            <a:endParaRPr lang="en-US" sz="820" dirty="0"/>
          </a:p>
        </p:txBody>
      </p:sp>
      <p:sp>
        <p:nvSpPr>
          <p:cNvPr id="40" name="Shape 33"/>
          <p:cNvSpPr/>
          <p:nvPr/>
        </p:nvSpPr>
        <p:spPr>
          <a:xfrm>
            <a:off x="791914" y="8349407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1" name="Text 34"/>
          <p:cNvSpPr txBox="1"/>
          <p:nvPr/>
        </p:nvSpPr>
        <p:spPr>
          <a:xfrm>
            <a:off x="881807" y="8109645"/>
            <a:ext cx="8818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Polvilho azedo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2375892" y="8349407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3" name="Text 36"/>
          <p:cNvSpPr txBox="1"/>
          <p:nvPr/>
        </p:nvSpPr>
        <p:spPr>
          <a:xfrm>
            <a:off x="2465784" y="8128695"/>
            <a:ext cx="38573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Polvilho doce (o biscoito fica menos aerado e mais macio).</a:t>
            </a:r>
            <a:endParaRPr lang="en-US" sz="820" dirty="0"/>
          </a:p>
        </p:txBody>
      </p:sp>
      <p:sp>
        <p:nvSpPr>
          <p:cNvPr id="44" name="Shape 37"/>
          <p:cNvSpPr/>
          <p:nvPr/>
        </p:nvSpPr>
        <p:spPr>
          <a:xfrm>
            <a:off x="791914" y="8662243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5" name="Text 38"/>
          <p:cNvSpPr txBox="1"/>
          <p:nvPr/>
        </p:nvSpPr>
        <p:spPr>
          <a:xfrm>
            <a:off x="881807" y="8422481"/>
            <a:ext cx="10173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Queijo meia-cura</a:t>
            </a:r>
            <a:endParaRPr lang="en-US" sz="1050" dirty="0"/>
          </a:p>
        </p:txBody>
      </p:sp>
      <p:sp>
        <p:nvSpPr>
          <p:cNvPr id="46" name="Shape 39"/>
          <p:cNvSpPr/>
          <p:nvPr/>
        </p:nvSpPr>
        <p:spPr>
          <a:xfrm>
            <a:off x="2375892" y="8662243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7" name="Text 40"/>
          <p:cNvSpPr txBox="1"/>
          <p:nvPr/>
        </p:nvSpPr>
        <p:spPr>
          <a:xfrm>
            <a:off x="2465784" y="8441531"/>
            <a:ext cx="19804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Parmesão ou queijo canastra.</a:t>
            </a:r>
            <a:endParaRPr lang="en-US" sz="820" dirty="0"/>
          </a:p>
        </p:txBody>
      </p:sp>
      <p:sp>
        <p:nvSpPr>
          <p:cNvPr id="48" name="Shape 41"/>
          <p:cNvSpPr/>
          <p:nvPr/>
        </p:nvSpPr>
        <p:spPr>
          <a:xfrm>
            <a:off x="791914" y="8975080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9" name="Text 42"/>
          <p:cNvSpPr txBox="1"/>
          <p:nvPr/>
        </p:nvSpPr>
        <p:spPr>
          <a:xfrm>
            <a:off x="881807" y="8735318"/>
            <a:ext cx="9580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Gengibre fresco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2375892" y="8975080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51" name="Text 44"/>
          <p:cNvSpPr txBox="1"/>
          <p:nvPr/>
        </p:nvSpPr>
        <p:spPr>
          <a:xfrm>
            <a:off x="2465784" y="8754368"/>
            <a:ext cx="34375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Pimenta-do-reino moída na hora e raspas de limão.</a:t>
            </a:r>
            <a:endParaRPr lang="en-US" sz="820" dirty="0"/>
          </a:p>
        </p:txBody>
      </p:sp>
      <p:sp>
        <p:nvSpPr>
          <p:cNvPr id="52" name="Shape 45"/>
          <p:cNvSpPr/>
          <p:nvPr/>
        </p:nvSpPr>
        <p:spPr>
          <a:xfrm>
            <a:off x="791914" y="9287917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53" name="Text 46"/>
          <p:cNvSpPr txBox="1"/>
          <p:nvPr/>
        </p:nvSpPr>
        <p:spPr>
          <a:xfrm>
            <a:off x="881807" y="9048155"/>
            <a:ext cx="7244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Carne-seca</a:t>
            </a:r>
            <a:endParaRPr lang="en-US" sz="1050" dirty="0"/>
          </a:p>
        </p:txBody>
      </p:sp>
      <p:sp>
        <p:nvSpPr>
          <p:cNvPr id="54" name="Shape 47"/>
          <p:cNvSpPr/>
          <p:nvPr/>
        </p:nvSpPr>
        <p:spPr>
          <a:xfrm>
            <a:off x="2375892" y="9287917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55" name="Text 48"/>
          <p:cNvSpPr txBox="1"/>
          <p:nvPr/>
        </p:nvSpPr>
        <p:spPr>
          <a:xfrm>
            <a:off x="2465784" y="9067205"/>
            <a:ext cx="33079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Frango desfiado (capítulo 3) ou linguiça refogada.</a:t>
            </a:r>
            <a:endParaRPr lang="en-US" sz="820" dirty="0"/>
          </a:p>
        </p:txBody>
      </p:sp>
      <p:sp>
        <p:nvSpPr>
          <p:cNvPr id="56" name="Text 49"/>
          <p:cNvSpPr txBox="1"/>
          <p:nvPr/>
        </p:nvSpPr>
        <p:spPr>
          <a:xfrm>
            <a:off x="5525542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57" name="Text 50"/>
          <p:cNvSpPr txBox="1"/>
          <p:nvPr/>
        </p:nvSpPr>
        <p:spPr>
          <a:xfrm>
            <a:off x="6658719" y="10162729"/>
            <a:ext cx="2235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016" y="7811839"/>
            <a:ext cx="2159943" cy="1799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9633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APROVEITA ISSO TAMBÉM · MANDIOCA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888424"/>
            <a:ext cx="4944785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NADA VAI PARA O LIXO</a:t>
            </a:r>
            <a:endParaRPr lang="en-US" sz="4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1978819"/>
            <a:ext cx="3114675" cy="1079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91914" y="1799034"/>
            <a:ext cx="332741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ÁGUA DO COZIMENTO, RICA EM AMIDO</a:t>
            </a:r>
            <a:endParaRPr lang="en-US" sz="1700" dirty="0"/>
          </a:p>
        </p:txBody>
      </p:sp>
      <p:sp>
        <p:nvSpPr>
          <p:cNvPr id="8" name="Text 3"/>
          <p:cNvSpPr txBox="1"/>
          <p:nvPr/>
        </p:nvSpPr>
        <p:spPr>
          <a:xfrm>
            <a:off x="791914" y="2160984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 água em que a mandioca cozinhou fica rica em amido. Guarde (na geladeira por até 2 dias) e use para dar ponto e cremosidade a molhos, ensopados e ao próprio caldo, no lugar da água ou de parte do creme de leite.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3069282"/>
            <a:ext cx="4363492" cy="1079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91914" y="2889498"/>
            <a:ext cx="47260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“FARIÑA” CROCANTE DE FRIGIDEIRA COM AS APARAS</a:t>
            </a:r>
            <a:endParaRPr lang="en-US" sz="1700" dirty="0"/>
          </a:p>
        </p:txBody>
      </p:sp>
      <p:sp>
        <p:nvSpPr>
          <p:cNvPr id="11" name="Text 5"/>
          <p:cNvSpPr txBox="1"/>
          <p:nvPr/>
        </p:nvSpPr>
        <p:spPr>
          <a:xfrm>
            <a:off x="791914" y="3251448"/>
            <a:ext cx="5759946" cy="66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Pontas, pedaços quebrados e sobras de mandioca já cozida viram crocância. Rale fino e espalhe numa frigideira com 1 colher de manteiga. Toste em fogo médio, mexendo de vez em quando, até ficar dourada e soltinha. Tempere com sal e use como uma farofa fresca sobre o caldo, saladas, feijão ou ovos.</a:t>
            </a:r>
            <a:endParaRPr lang="en-US" sz="8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047" y="4330154"/>
            <a:ext cx="1280517" cy="1079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91914" y="4150370"/>
            <a:ext cx="12731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E AS CASCAS?</a:t>
            </a:r>
            <a:endParaRPr lang="en-US" sz="1700" dirty="0"/>
          </a:p>
        </p:txBody>
      </p:sp>
      <p:sp>
        <p:nvSpPr>
          <p:cNvPr id="14" name="Text 7"/>
          <p:cNvSpPr txBox="1"/>
          <p:nvPr/>
        </p:nvSpPr>
        <p:spPr>
          <a:xfrm>
            <a:off x="791914" y="4512320"/>
            <a:ext cx="51499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As cascas da mandioca não são comestíveis. Mande para a compostagem.</a:t>
            </a:r>
            <a:endParaRPr lang="en-US" sz="850" dirty="0"/>
          </a:p>
        </p:txBody>
      </p:sp>
      <p:sp>
        <p:nvSpPr>
          <p:cNvPr id="15" name="Text 8"/>
          <p:cNvSpPr txBox="1"/>
          <p:nvPr/>
        </p:nvSpPr>
        <p:spPr>
          <a:xfrm>
            <a:off x="5505450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6638627" y="10162729"/>
            <a:ext cx="2436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791914"/>
            <a:ext cx="10336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CAPÍTULO 05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888424"/>
            <a:ext cx="2095095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CENOURA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91914" y="1665684"/>
            <a:ext cx="10537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DA RAIZ À RAMA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814" y="1962001"/>
            <a:ext cx="4031903" cy="33597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91914" y="5556796"/>
            <a:ext cx="57599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0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Está em quase toda geladeira, mas costuma ficar presa à salada ralada ou ao bolo de sempre. Aqui ela vira protagonista.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6344394"/>
            <a:ext cx="1804095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6164610"/>
            <a:ext cx="18595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 TRANSFORMAÇÕES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791914" y="649545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892820" y="6538020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7"/>
          <p:cNvSpPr txBox="1"/>
          <p:nvPr/>
        </p:nvSpPr>
        <p:spPr>
          <a:xfrm>
            <a:off x="1158925" y="6517035"/>
            <a:ext cx="11713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ASSADO INTENSO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1158925" y="6659910"/>
            <a:ext cx="4499967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Cenouras assadas inteiras, caramelizadas no mel ou melaço com azeite e tomilho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5788372" y="6940786"/>
            <a:ext cx="713482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15" name="Text 10"/>
          <p:cNvSpPr txBox="1"/>
          <p:nvPr/>
        </p:nvSpPr>
        <p:spPr>
          <a:xfrm>
            <a:off x="6631335" y="6517035"/>
            <a:ext cx="250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35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91914" y="7048798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83444" y="7091363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1158925" y="7070378"/>
            <a:ext cx="12074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PRATO PRINCIPAL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58925" y="7213253"/>
            <a:ext cx="46079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Hambúrguer rústico ou bolinho de cenoura com aveia e especiarias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402610" y="7323720"/>
            <a:ext cx="1099096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1" name="Text 16"/>
          <p:cNvSpPr txBox="1"/>
          <p:nvPr/>
        </p:nvSpPr>
        <p:spPr>
          <a:xfrm>
            <a:off x="6631186" y="7070378"/>
            <a:ext cx="2510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36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91914" y="7431732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83741" y="7474297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1158925" y="7453312"/>
            <a:ext cx="16768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SOBREMESA DE RESPEITO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158925" y="7596187"/>
            <a:ext cx="4499967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Bolo de cenoura da vovó com técnica de chef e calda de chocolate espelhada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788372" y="7877063"/>
            <a:ext cx="71779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sysDot"/>
          </a:ln>
        </p:spPr>
      </p:sp>
      <p:sp>
        <p:nvSpPr>
          <p:cNvPr id="27" name="Text 22"/>
          <p:cNvSpPr txBox="1"/>
          <p:nvPr/>
        </p:nvSpPr>
        <p:spPr>
          <a:xfrm>
            <a:off x="6635651" y="7453312"/>
            <a:ext cx="246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37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5505301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6638479" y="10162729"/>
            <a:ext cx="2437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791914"/>
            <a:ext cx="19382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CAPÍTULO 05 · CENOURA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888424"/>
            <a:ext cx="3360253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INGREDIENTE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91914" y="1675209"/>
            <a:ext cx="575994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 cenoura está em quase todo refogado, quase toda salada e quase todo lanche da tarde. E quase sempre como coadjuvante.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791914" y="2109490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Ela tem açúcar natural de sobra e, quando encontra calor seco, carameliza e ganha um sabor profundo, quase de castanha. Ralada e bem refogada, vira a base de um hambúrguer. E, num bolo, ela é que garante a umidade.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791914" y="2714179"/>
            <a:ext cx="575994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Nada se perde: a casca é fina e comestível, e a rama, aquelas folhas que quase sempre vão para o lixo, é um tempero fresco e potente.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47" y="3452068"/>
            <a:ext cx="1641574" cy="107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91914" y="3272284"/>
            <a:ext cx="16775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ANTES DA PANELA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91914" y="3714601"/>
            <a:ext cx="1458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NA HORA DE ESCOLHER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91914" y="399023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986135" y="3949452"/>
            <a:ext cx="44177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Firme, lisa, de cor laranja intensa, sem rachaduras nem brotos.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791914" y="4218236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986135" y="4177457"/>
            <a:ext cx="40231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Evite cenouras moles ou com a parte de cima esverdeada.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791914" y="444624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986135" y="4405461"/>
            <a:ext cx="578182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Se encontrar com rama, compre: rama verde e viçosa é sinal de cenoura fresca, e ainda vira pesto.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791914" y="4826645"/>
            <a:ext cx="9913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COMO GUARDAR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91914" y="510227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986135" y="5061496"/>
            <a:ext cx="48689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Separe a rama assim que chegar em casa: ela puxa a umidade da raiz.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791914" y="533027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986135" y="5289500"/>
            <a:ext cx="5118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Raiz: em pote fechado com papel-toalha, na geladeira, por 3 a 4 semanas.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791914" y="555828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86135" y="5517505"/>
            <a:ext cx="46975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Rama: lavada, bem seca e enrolada em papel-toalha, por 3 a 4 dias.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791914" y="5768280"/>
            <a:ext cx="15456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PRÉ-PREPARO E CORTES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791914" y="604391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986135" y="6003131"/>
            <a:ext cx="60959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Não precisa descascar: escove bem sob água corrente. Se descascar, guarde as cascas.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791914" y="627191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986135" y="6231136"/>
            <a:ext cx="42817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Rodelas em diagonal têm mais superfície e caramelizam mais.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791914" y="649992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986135" y="6459141"/>
            <a:ext cx="578182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Palitos e meia-lua para assar; ralada fina para bolinhos; em fitas (com o descascador) para saladas cruas.</a:t>
            </a:r>
            <a:endParaRPr lang="en-US" sz="850" dirty="0"/>
          </a:p>
        </p:txBody>
      </p:sp>
      <p:sp>
        <p:nvSpPr>
          <p:cNvPr id="31" name="Text 27"/>
          <p:cNvSpPr txBox="1"/>
          <p:nvPr/>
        </p:nvSpPr>
        <p:spPr>
          <a:xfrm>
            <a:off x="5501580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6634758" y="10162729"/>
            <a:ext cx="2475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4671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01 · CENOURA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91294"/>
            <a:ext cx="4247852" cy="1656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3100" spc="-1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CENOURAS ASSADAS INTEIRAS, CARAMELIZADAS NO MEL OU MELAÇO COM AZEITE E TOMILHO</a:t>
            </a:r>
            <a:endParaRPr lang="en-US" sz="31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647057"/>
            <a:ext cx="27291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ASSADO INTENSO · 4 PORÇÕES · 45 MIN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854375"/>
            <a:ext cx="28526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(doçura natural levada ao máximo)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3348930"/>
            <a:ext cx="1319957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3169146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791914" y="357187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986135" y="3531096"/>
            <a:ext cx="24594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8 cenouras médias (cerca de 600 g)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791914" y="378544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986135" y="3744664"/>
            <a:ext cx="18490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 colheres (sopa) de azeite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791914" y="399901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986135" y="3958233"/>
            <a:ext cx="25009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 colheres (sopa) de mel (ou melaço)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791914" y="421258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86135" y="4171801"/>
            <a:ext cx="18168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4 ramos de tomilho fresco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3923854" y="357187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118074" y="3531096"/>
            <a:ext cx="20962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Sal grosso e pimenta-do-reino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923854" y="378544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118074" y="3744664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(sopa) de vinagre de maçã ou suco de limão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923854" y="416942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118074" y="4128641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Opcional: iogurte temperado com sal e limão, e amendoim picado</a:t>
            </a:r>
            <a:endParaRPr lang="en-US" sz="8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4773067"/>
            <a:ext cx="1636514" cy="1079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91914" y="4593282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26" name="Shape 20"/>
          <p:cNvSpPr/>
          <p:nvPr/>
        </p:nvSpPr>
        <p:spPr>
          <a:xfrm>
            <a:off x="791914" y="492412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92820" y="4966692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1158925" y="4955232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Preaqueça o forno a 220 °C. Escove bem as cenouras. Se forem grossas, corte ao meio no sentido do comprimento.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791914" y="5344120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883444" y="5386685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31" name="Text 25"/>
          <p:cNvSpPr txBox="1"/>
          <p:nvPr/>
        </p:nvSpPr>
        <p:spPr>
          <a:xfrm>
            <a:off x="1158925" y="5375225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Numa assadeira grande, envolva as cenouras com o azeite, sal e pimenta. Deixe espaço entre elas: amontoadas, cozinham no vapor e não caramelizam.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791914" y="576411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883741" y="5806678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Text 28"/>
          <p:cNvSpPr txBox="1"/>
          <p:nvPr/>
        </p:nvSpPr>
        <p:spPr>
          <a:xfrm>
            <a:off x="1158925" y="5795218"/>
            <a:ext cx="32435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Asse por 25 minutos, até começarem a dourar.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791914" y="605923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880021" y="6101804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37" name="Text 31"/>
          <p:cNvSpPr txBox="1"/>
          <p:nvPr/>
        </p:nvSpPr>
        <p:spPr>
          <a:xfrm>
            <a:off x="1158925" y="6090345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Regue com o mel, junte o tomilho, chacoalhe a assadeira e volte ao forno por mais 10 a 15 minutos, até as pontas tostarem e o mel virar uma camada brilhante.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791914" y="6479232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883444" y="6521797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40" name="Text 34"/>
          <p:cNvSpPr txBox="1"/>
          <p:nvPr/>
        </p:nvSpPr>
        <p:spPr>
          <a:xfrm>
            <a:off x="1158925" y="6510337"/>
            <a:ext cx="42091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Retire do forno e regue com o vinagre ou limão ainda quente.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791914" y="677435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883444" y="6816923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43" name="Text 37"/>
          <p:cNvSpPr txBox="1"/>
          <p:nvPr/>
        </p:nvSpPr>
        <p:spPr>
          <a:xfrm>
            <a:off x="1158925" y="6805464"/>
            <a:ext cx="37209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Sirva sobre o iogurte, com amendoim picado por cima.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791914" y="7091065"/>
            <a:ext cx="5976045" cy="798165"/>
          </a:xfrm>
          <a:prstGeom prst="roundRect">
            <a:avLst>
              <a:gd name="adj" fmla="val 15502"/>
            </a:avLst>
          </a:prstGeom>
          <a:solidFill>
            <a:srgbClr val="FFC926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971848" y="7170390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46" name="Text 40"/>
          <p:cNvSpPr txBox="1"/>
          <p:nvPr/>
        </p:nvSpPr>
        <p:spPr>
          <a:xfrm>
            <a:off x="971848" y="7446169"/>
            <a:ext cx="5616178" cy="309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O mel entra só no final: se for desde o início, queima antes de a cenoura ficar macia. O toque ácido no final equilibra o doce e acende todos os sabores.</a:t>
            </a:r>
            <a:endParaRPr lang="en-US" sz="830" dirty="0"/>
          </a:p>
        </p:txBody>
      </p:sp>
      <p:sp>
        <p:nvSpPr>
          <p:cNvPr id="47" name="Text 41"/>
          <p:cNvSpPr txBox="1"/>
          <p:nvPr/>
        </p:nvSpPr>
        <p:spPr>
          <a:xfrm>
            <a:off x="5505152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6638330" y="10162729"/>
            <a:ext cx="2439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48981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02 · CENOURA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91294"/>
            <a:ext cx="4247852" cy="128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3100" spc="-1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HAMBÚRGUER RÚSTICO OU BOLINHO DE CENOURA COM AVEIA E ESPECIARIAS</a:t>
            </a:r>
            <a:endParaRPr lang="en-US" sz="31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273201"/>
            <a:ext cx="51758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PRATO PRINCIPAL · 6 HAMBÚRGUERES · 45 MIN (MAIS 20 MIN DE GELADEIRA)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480518"/>
            <a:ext cx="17657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(saboroso e nutritivo)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2975074"/>
            <a:ext cx="1319957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2795290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791914" y="319801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986135" y="3157240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 cenouras médias raladas (cerca de 300 g)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791914" y="358199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986135" y="3541216"/>
            <a:ext cx="16540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cebola pequena picada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791914" y="379556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986135" y="3754785"/>
            <a:ext cx="17190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 dentes de alho picados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791914" y="400913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86135" y="3968353"/>
            <a:ext cx="21662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(chá) de cominho em pó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791914" y="422270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986135" y="4181921"/>
            <a:ext cx="25238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½ colher (chá) de páprica defumada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923854" y="3198019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118074" y="3157240"/>
            <a:ext cx="22849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xícara (90 g) de aveia em flocos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923854" y="341158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118074" y="3370808"/>
            <a:ext cx="4028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ovo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3923854" y="362515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118074" y="3584377"/>
            <a:ext cx="21579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50 g de queijo ralado (opcional)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3923854" y="383872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118074" y="3797945"/>
            <a:ext cx="28001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 colheres (sopa) de cheiro-verde picado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3923854" y="405229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4118074" y="4011513"/>
            <a:ext cx="1439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Sal, pimenta e azeite</a:t>
            </a:r>
            <a:endParaRPr lang="en-US" sz="85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4655939"/>
            <a:ext cx="1636514" cy="1079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91914" y="4476155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32" name="Shape 26"/>
          <p:cNvSpPr/>
          <p:nvPr/>
        </p:nvSpPr>
        <p:spPr>
          <a:xfrm>
            <a:off x="791914" y="4807000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892820" y="4849564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34" name="Text 28"/>
          <p:cNvSpPr txBox="1"/>
          <p:nvPr/>
        </p:nvSpPr>
        <p:spPr>
          <a:xfrm>
            <a:off x="1158925" y="4838105"/>
            <a:ext cx="5609034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Numa frigideira com um fio de azeite, refogue a cebola e o alho. Junte a cenoura ralada, o cominho e a páprica e refogue por cerca de 8 minutos, até a cenoura murchar e perder a água.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791914" y="5397401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883444" y="5439966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37" name="Text 31"/>
          <p:cNvSpPr txBox="1"/>
          <p:nvPr/>
        </p:nvSpPr>
        <p:spPr>
          <a:xfrm>
            <a:off x="1158925" y="5428506"/>
            <a:ext cx="30073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Transfira para uma tigela e deixe amornar.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791914" y="569252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883741" y="5735092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40" name="Text 34"/>
          <p:cNvSpPr txBox="1"/>
          <p:nvPr/>
        </p:nvSpPr>
        <p:spPr>
          <a:xfrm>
            <a:off x="1158925" y="5723632"/>
            <a:ext cx="61689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Junte a aveia, o ovo, o queijo e o cheiro-verde. Tempere com sal e pimenta e misture bem.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791914" y="598765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880021" y="6030218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43" name="Text 37"/>
          <p:cNvSpPr txBox="1"/>
          <p:nvPr/>
        </p:nvSpPr>
        <p:spPr>
          <a:xfrm>
            <a:off x="1158925" y="6018758"/>
            <a:ext cx="51443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Deixe a massa descansar por 15 minutos, para a aveia hidratar e dar liga.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791914" y="628277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883444" y="6325344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46" name="Text 40"/>
          <p:cNvSpPr txBox="1"/>
          <p:nvPr/>
        </p:nvSpPr>
        <p:spPr>
          <a:xfrm>
            <a:off x="1158925" y="6313884"/>
            <a:ext cx="55060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Modele 6 hambúrgueres com as mãos úmidas e leve à geladeira por 20 minutos.</a:t>
            </a:r>
            <a:endParaRPr lang="en-US" sz="850" dirty="0"/>
          </a:p>
        </p:txBody>
      </p:sp>
      <p:sp>
        <p:nvSpPr>
          <p:cNvPr id="47" name="Shape 41"/>
          <p:cNvSpPr/>
          <p:nvPr/>
        </p:nvSpPr>
        <p:spPr>
          <a:xfrm>
            <a:off x="791914" y="6577905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883444" y="6620470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49" name="Text 43"/>
          <p:cNvSpPr txBox="1"/>
          <p:nvPr/>
        </p:nvSpPr>
        <p:spPr>
          <a:xfrm>
            <a:off x="1158925" y="6609011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Doure numa frigideira com azeite, em fogo médio, por 4 minutos de cada lado, virando com cuidado. Ou asse a 200 °C por 20 minutos, virando na metade.</a:t>
            </a:r>
            <a:endParaRPr lang="en-US" sz="850" dirty="0"/>
          </a:p>
        </p:txBody>
      </p:sp>
      <p:sp>
        <p:nvSpPr>
          <p:cNvPr id="50" name="Shape 44"/>
          <p:cNvSpPr/>
          <p:nvPr/>
        </p:nvSpPr>
        <p:spPr>
          <a:xfrm>
            <a:off x="791914" y="7019479"/>
            <a:ext cx="5976045" cy="964555"/>
          </a:xfrm>
          <a:prstGeom prst="roundRect">
            <a:avLst>
              <a:gd name="adj" fmla="val 10615"/>
            </a:avLst>
          </a:prstGeom>
          <a:solidFill>
            <a:srgbClr val="FFC926"/>
          </a:solidFill>
          <a:ln/>
        </p:spPr>
      </p:sp>
      <p:sp>
        <p:nvSpPr>
          <p:cNvPr id="51" name="Text 45"/>
          <p:cNvSpPr txBox="1"/>
          <p:nvPr/>
        </p:nvSpPr>
        <p:spPr>
          <a:xfrm>
            <a:off x="971848" y="7098804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52" name="Text 46"/>
          <p:cNvSpPr txBox="1"/>
          <p:nvPr/>
        </p:nvSpPr>
        <p:spPr>
          <a:xfrm>
            <a:off x="971848" y="7374582"/>
            <a:ext cx="5616178" cy="475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Refogar a cenoura antes é o passo que separa um hambúrguer firme e saboroso de um que desmancha na frigideira. Sirva no pão com o pesto de rama (página “Aproveita Isso Também”).</a:t>
            </a:r>
            <a:endParaRPr lang="en-US" sz="830" dirty="0"/>
          </a:p>
        </p:txBody>
      </p:sp>
      <p:sp>
        <p:nvSpPr>
          <p:cNvPr id="53" name="Text 47"/>
          <p:cNvSpPr txBox="1"/>
          <p:nvPr/>
        </p:nvSpPr>
        <p:spPr>
          <a:xfrm>
            <a:off x="5505004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54" name="Text 48"/>
          <p:cNvSpPr txBox="1"/>
          <p:nvPr/>
        </p:nvSpPr>
        <p:spPr>
          <a:xfrm>
            <a:off x="6638181" y="10162729"/>
            <a:ext cx="2440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4899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TRANSFORMAÇÃO 03 · CENOURA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91294"/>
            <a:ext cx="4247852" cy="1656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3100" spc="-1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BOLO DE CENOURA DA VOVÓ COM TÉCNICA DE CHEF E CALDA DE CHOCOLATE ESPELHADA</a:t>
            </a:r>
            <a:endParaRPr lang="en-US" sz="31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647057"/>
            <a:ext cx="42040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40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 SOBREMESA DE RESPEITO · 1 ASSADEIRA DE 20 × 30 CM · 1H10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91914" y="2854375"/>
            <a:ext cx="25583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96015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(massa fofíssima que não sola)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3348930"/>
            <a:ext cx="1319957" cy="1079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91914" y="3169146"/>
            <a:ext cx="13173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INGREDIENTES</a:t>
            </a:r>
            <a:endParaRPr lang="en-US" sz="1700" dirty="0"/>
          </a:p>
        </p:txBody>
      </p:sp>
      <p:sp>
        <p:nvSpPr>
          <p:cNvPr id="10" name="Text 5"/>
          <p:cNvSpPr txBox="1"/>
          <p:nvPr/>
        </p:nvSpPr>
        <p:spPr>
          <a:xfrm>
            <a:off x="791914" y="3521571"/>
            <a:ext cx="4991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MASSA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791914" y="379720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986135" y="3756422"/>
            <a:ext cx="264973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 cenouras médias (cerca de 300 g), em rodelas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791914" y="4181177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986135" y="4140398"/>
            <a:ext cx="502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4 ovos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791914" y="4394746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986135" y="4353967"/>
            <a:ext cx="9952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240 ml de óleo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791914" y="4608314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986135" y="4567535"/>
            <a:ext cx="11189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300 g de açúcar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791914" y="4821882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986135" y="4781104"/>
            <a:ext cx="25293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300 g de farinha de trigo, peneirada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3923854" y="3571875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4118074" y="3531096"/>
            <a:ext cx="28940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(sopa) de fermento químico em pó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3923854" y="378544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4118074" y="3744664"/>
            <a:ext cx="10087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pitada de sal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3923854" y="3959423"/>
            <a:ext cx="120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6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CALDA ESPELHADA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3923854" y="4235053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118074" y="4194274"/>
            <a:ext cx="2700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150 g de chocolate meio amargo picado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3923854" y="4448621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4118074" y="4407843"/>
            <a:ext cx="24068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caixinha (200 g) de creme de leite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3923854" y="4662190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4118074" y="4621411"/>
            <a:ext cx="14771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(sopa) de mel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3923854" y="4875758"/>
            <a:ext cx="86320" cy="86320"/>
          </a:xfrm>
          <a:prstGeom prst="ellipse">
            <a:avLst/>
          </a:prstGeom>
          <a:solidFill>
            <a:srgbClr val="9ABC05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4118074" y="4834979"/>
            <a:ext cx="18862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1 colher (sopa) de manteiga</a:t>
            </a:r>
            <a:endParaRPr lang="en-US" sz="85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5330577"/>
            <a:ext cx="1636514" cy="107900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791914" y="5150793"/>
            <a:ext cx="16718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MODO DE PREPARO</a:t>
            </a:r>
            <a:endParaRPr lang="en-US" sz="1700" dirty="0"/>
          </a:p>
        </p:txBody>
      </p:sp>
      <p:sp>
        <p:nvSpPr>
          <p:cNvPr id="36" name="Shape 30"/>
          <p:cNvSpPr/>
          <p:nvPr/>
        </p:nvSpPr>
        <p:spPr>
          <a:xfrm>
            <a:off x="791914" y="548163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892820" y="5524202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38" name="Text 32"/>
          <p:cNvSpPr txBox="1"/>
          <p:nvPr/>
        </p:nvSpPr>
        <p:spPr>
          <a:xfrm>
            <a:off x="1158925" y="5512743"/>
            <a:ext cx="40538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Preaqueça o forno a 180 °C e unte e enfarinhe a assadeira.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791914" y="5776764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883444" y="5819329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41" name="Text 35"/>
          <p:cNvSpPr txBox="1"/>
          <p:nvPr/>
        </p:nvSpPr>
        <p:spPr>
          <a:xfrm>
            <a:off x="1158925" y="5807869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No liquidificador, bata a cenoura, os ovos, o óleo, o açúcar e o sal por 3 a 4 minutos, até ficar um creme bem liso e claro.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791914" y="619675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883741" y="6239321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44" name="Text 38"/>
          <p:cNvSpPr txBox="1"/>
          <p:nvPr/>
        </p:nvSpPr>
        <p:spPr>
          <a:xfrm>
            <a:off x="1158925" y="6227862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Despeje numa tigela. Junte a farinha peneirada em três partes, misturando com um fouet ou espátula 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só até sumir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. Por último, incorpore o fermento delicadamente.</a:t>
            </a:r>
            <a:endParaRPr lang="en-US" sz="850" dirty="0"/>
          </a:p>
        </p:txBody>
      </p:sp>
      <p:sp>
        <p:nvSpPr>
          <p:cNvPr id="45" name="Shape 39"/>
          <p:cNvSpPr/>
          <p:nvPr/>
        </p:nvSpPr>
        <p:spPr>
          <a:xfrm>
            <a:off x="791914" y="6616750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6" name="Text 40"/>
          <p:cNvSpPr txBox="1"/>
          <p:nvPr/>
        </p:nvSpPr>
        <p:spPr>
          <a:xfrm>
            <a:off x="880021" y="6659314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47" name="Text 41"/>
          <p:cNvSpPr txBox="1"/>
          <p:nvPr/>
        </p:nvSpPr>
        <p:spPr>
          <a:xfrm>
            <a:off x="1158925" y="6647855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Asse por 35 a 40 minutos, até o palito sair limpo. Não abra o forno nos primeiros 25 minutos.</a:t>
            </a:r>
            <a:endParaRPr lang="en-US" sz="850" dirty="0"/>
          </a:p>
        </p:txBody>
      </p:sp>
      <p:sp>
        <p:nvSpPr>
          <p:cNvPr id="48" name="Shape 42"/>
          <p:cNvSpPr/>
          <p:nvPr/>
        </p:nvSpPr>
        <p:spPr>
          <a:xfrm>
            <a:off x="791914" y="7036743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883444" y="7079307"/>
            <a:ext cx="168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950" dirty="0"/>
          </a:p>
        </p:txBody>
      </p:sp>
      <p:sp>
        <p:nvSpPr>
          <p:cNvPr id="50" name="Text 44"/>
          <p:cNvSpPr txBox="1"/>
          <p:nvPr/>
        </p:nvSpPr>
        <p:spPr>
          <a:xfrm>
            <a:off x="1158925" y="7067848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Calda: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aqueça o creme de leite até quase ferver e despeje sobre o chocolate picado. Espere 1 minuto e mexa do centro para fora até ficar liso. Junte o mel e a manteiga.</a:t>
            </a:r>
            <a:endParaRPr lang="en-US" sz="850" dirty="0"/>
          </a:p>
        </p:txBody>
      </p:sp>
      <p:sp>
        <p:nvSpPr>
          <p:cNvPr id="51" name="Shape 45"/>
          <p:cNvSpPr/>
          <p:nvPr/>
        </p:nvSpPr>
        <p:spPr>
          <a:xfrm>
            <a:off x="791914" y="7456736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883444" y="7499300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950" dirty="0"/>
          </a:p>
        </p:txBody>
      </p:sp>
      <p:sp>
        <p:nvSpPr>
          <p:cNvPr id="53" name="Text 47"/>
          <p:cNvSpPr txBox="1"/>
          <p:nvPr/>
        </p:nvSpPr>
        <p:spPr>
          <a:xfrm>
            <a:off x="1158925" y="7487841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Com o bolo morno, despeje a calda de uma vez no centro e deixe que ela escorra sozinha, espalhando o mínimo possível, para manter o brilho.</a:t>
            </a:r>
            <a:endParaRPr lang="en-US" sz="850" dirty="0"/>
          </a:p>
        </p:txBody>
      </p:sp>
      <p:sp>
        <p:nvSpPr>
          <p:cNvPr id="54" name="Shape 48"/>
          <p:cNvSpPr/>
          <p:nvPr/>
        </p:nvSpPr>
        <p:spPr>
          <a:xfrm>
            <a:off x="791914" y="7898309"/>
            <a:ext cx="5976045" cy="1130945"/>
          </a:xfrm>
          <a:prstGeom prst="roundRect">
            <a:avLst>
              <a:gd name="adj" fmla="val 7721"/>
            </a:avLst>
          </a:prstGeom>
          <a:solidFill>
            <a:srgbClr val="FFC926"/>
          </a:solidFill>
          <a:ln/>
        </p:spPr>
      </p:sp>
      <p:sp>
        <p:nvSpPr>
          <p:cNvPr id="55" name="Text 49"/>
          <p:cNvSpPr txBox="1"/>
          <p:nvPr/>
        </p:nvSpPr>
        <p:spPr>
          <a:xfrm>
            <a:off x="971848" y="7977634"/>
            <a:ext cx="145068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84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SEGREDO DE CHEF</a:t>
            </a:r>
            <a:endParaRPr lang="en-US" sz="1400" dirty="0"/>
          </a:p>
        </p:txBody>
      </p:sp>
      <p:sp>
        <p:nvSpPr>
          <p:cNvPr id="56" name="Text 50"/>
          <p:cNvSpPr txBox="1"/>
          <p:nvPr/>
        </p:nvSpPr>
        <p:spPr>
          <a:xfrm>
            <a:off x="971848" y="8253412"/>
            <a:ext cx="5616178" cy="642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0"/>
              </a:lnSpc>
              <a:buNone/>
            </a:pPr>
            <a:r>
              <a:rPr lang="en-US" sz="83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Bolo que sola tem três culpados: farinha batida demais, fermento misturado com força e forno aberto cedo. Por isso o liquidificador cuida só da emulsão (cenoura, ovos e óleo), a farinha entra à mão, o fermento vai por último e o forno fica fechado nos primeiros 25 minutos. O mel na calda é o que dá o efeito espelhado.</a:t>
            </a:r>
            <a:endParaRPr lang="en-US" sz="830" dirty="0"/>
          </a:p>
        </p:txBody>
      </p:sp>
      <p:sp>
        <p:nvSpPr>
          <p:cNvPr id="57" name="Text 51"/>
          <p:cNvSpPr txBox="1"/>
          <p:nvPr/>
        </p:nvSpPr>
        <p:spPr>
          <a:xfrm>
            <a:off x="5509171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58" name="Text 52"/>
          <p:cNvSpPr txBox="1"/>
          <p:nvPr/>
        </p:nvSpPr>
        <p:spPr>
          <a:xfrm>
            <a:off x="6642348" y="10162729"/>
            <a:ext cx="2399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205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O PULO DO CHEF · CENOURA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82214"/>
            <a:ext cx="4247852" cy="128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CENOURA COZIDA NA ÁGUA, SEM GRAÇA</a:t>
            </a:r>
            <a:endParaRPr lang="en-US" sz="4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2492871"/>
            <a:ext cx="722412" cy="1079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91914" y="2313087"/>
            <a:ext cx="6929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ERRO</a:t>
            </a:r>
            <a:endParaRPr lang="en-US" sz="1700" dirty="0"/>
          </a:p>
        </p:txBody>
      </p:sp>
      <p:sp>
        <p:nvSpPr>
          <p:cNvPr id="8" name="Text 3"/>
          <p:cNvSpPr txBox="1"/>
          <p:nvPr/>
        </p:nvSpPr>
        <p:spPr>
          <a:xfrm>
            <a:off x="791914" y="2675037"/>
            <a:ext cx="575994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Cozinhar a cenoura em muita água e escorrer. O açúcar e o sabor dela vão embora pelo ralo da pia, junto com a água.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3412927"/>
            <a:ext cx="1008608" cy="1079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91914" y="3233142"/>
            <a:ext cx="9791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 TÉCNICA</a:t>
            </a:r>
            <a:endParaRPr lang="en-US" sz="1700" dirty="0"/>
          </a:p>
        </p:txBody>
      </p:sp>
      <p:sp>
        <p:nvSpPr>
          <p:cNvPr id="11" name="Shape 5"/>
          <p:cNvSpPr/>
          <p:nvPr/>
        </p:nvSpPr>
        <p:spPr>
          <a:xfrm>
            <a:off x="791914" y="3563987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92820" y="3606552"/>
            <a:ext cx="1498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7"/>
          <p:cNvSpPr txBox="1"/>
          <p:nvPr/>
        </p:nvSpPr>
        <p:spPr>
          <a:xfrm>
            <a:off x="1158925" y="3595092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Glaçagem, a técnica do chef: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cenoura em rodelas numa frigideira, água só até a metade da altura, 1 colher de manteiga, 1 pitada de açúcar e outra de sal.</a:t>
            </a:r>
            <a:endParaRPr lang="en-US" sz="850" dirty="0"/>
          </a:p>
        </p:txBody>
      </p:sp>
      <p:sp>
        <p:nvSpPr>
          <p:cNvPr id="14" name="Shape 8"/>
          <p:cNvSpPr/>
          <p:nvPr/>
        </p:nvSpPr>
        <p:spPr>
          <a:xfrm>
            <a:off x="791914" y="3983980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5" name="Text 9"/>
          <p:cNvSpPr txBox="1"/>
          <p:nvPr/>
        </p:nvSpPr>
        <p:spPr>
          <a:xfrm>
            <a:off x="883444" y="4026545"/>
            <a:ext cx="168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Text 10"/>
          <p:cNvSpPr txBox="1"/>
          <p:nvPr/>
        </p:nvSpPr>
        <p:spPr>
          <a:xfrm>
            <a:off x="1158925" y="4015085"/>
            <a:ext cx="55065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Fogo médio e panela destampada:</a:t>
            </a:r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a cenoura cozinha enquanto a água evapora.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791914" y="4279106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883741" y="4321671"/>
            <a:ext cx="1681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3"/>
          <p:cNvSpPr txBox="1"/>
          <p:nvPr/>
        </p:nvSpPr>
        <p:spPr>
          <a:xfrm>
            <a:off x="1158925" y="4310211"/>
            <a:ext cx="5609034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Quando a água secar</a:t>
            </a:r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, a manteiga e o açúcar viram uma película brilhante que envolve cada rodela. Mexa por 1 minuto e pronto.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791914" y="4699099"/>
            <a:ext cx="237530" cy="237530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880021" y="4741664"/>
            <a:ext cx="1756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1158925" y="4730204"/>
            <a:ext cx="56895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D52518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Resultado:</a:t>
            </a:r>
            <a:pPr algn="l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 cenoura macia, brilhante e com todo o sabor dentro dela, não na água.</a:t>
            </a:r>
            <a:endParaRPr lang="en-US" sz="8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047" y="5328940"/>
            <a:ext cx="1377404" cy="1079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91914" y="5149155"/>
            <a:ext cx="13816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NÃO TEM ISSO?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791914" y="5537448"/>
            <a:ext cx="1583978" cy="267593"/>
          </a:xfrm>
          <a:prstGeom prst="rect">
            <a:avLst/>
          </a:prstGeom>
          <a:solidFill>
            <a:srgbClr val="18542A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881807" y="5595045"/>
            <a:ext cx="10321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 NÃO TIVER…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2375892" y="5537448"/>
            <a:ext cx="4392067" cy="267593"/>
          </a:xfrm>
          <a:prstGeom prst="rect">
            <a:avLst/>
          </a:prstGeom>
          <a:solidFill>
            <a:srgbClr val="18542A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2465784" y="5595045"/>
            <a:ext cx="4435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20" kern="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USE…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91914" y="6113115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0" name="Text 23"/>
          <p:cNvSpPr txBox="1"/>
          <p:nvPr/>
        </p:nvSpPr>
        <p:spPr>
          <a:xfrm>
            <a:off x="881807" y="5873353"/>
            <a:ext cx="2894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Mel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2375892" y="6113115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2" name="Text 25"/>
          <p:cNvSpPr txBox="1"/>
          <p:nvPr/>
        </p:nvSpPr>
        <p:spPr>
          <a:xfrm>
            <a:off x="2465784" y="5892403"/>
            <a:ext cx="37084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Melaço, xarope de bordo ou 1 colher de açúcar mascavo.</a:t>
            </a:r>
            <a:endParaRPr lang="en-US" sz="820" dirty="0"/>
          </a:p>
        </p:txBody>
      </p:sp>
      <p:sp>
        <p:nvSpPr>
          <p:cNvPr id="33" name="Shape 26"/>
          <p:cNvSpPr/>
          <p:nvPr/>
        </p:nvSpPr>
        <p:spPr>
          <a:xfrm>
            <a:off x="791914" y="6425952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4" name="Text 27"/>
          <p:cNvSpPr txBox="1"/>
          <p:nvPr/>
        </p:nvSpPr>
        <p:spPr>
          <a:xfrm>
            <a:off x="881807" y="6186190"/>
            <a:ext cx="9035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Tomilho fresco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2375892" y="6425952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6" name="Text 29"/>
          <p:cNvSpPr txBox="1"/>
          <p:nvPr/>
        </p:nvSpPr>
        <p:spPr>
          <a:xfrm>
            <a:off x="2465784" y="6205240"/>
            <a:ext cx="39176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Alecrim, orégano fresco ou ½ colher (chá) de tomilho seco.</a:t>
            </a:r>
            <a:endParaRPr lang="en-US" sz="820" dirty="0"/>
          </a:p>
        </p:txBody>
      </p:sp>
      <p:sp>
        <p:nvSpPr>
          <p:cNvPr id="37" name="Shape 30"/>
          <p:cNvSpPr/>
          <p:nvPr/>
        </p:nvSpPr>
        <p:spPr>
          <a:xfrm>
            <a:off x="791914" y="6738789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38" name="Text 31"/>
          <p:cNvSpPr txBox="1"/>
          <p:nvPr/>
        </p:nvSpPr>
        <p:spPr>
          <a:xfrm>
            <a:off x="881807" y="6499027"/>
            <a:ext cx="9542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Aveia em flocos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2375892" y="6738789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0" name="Text 33"/>
          <p:cNvSpPr txBox="1"/>
          <p:nvPr/>
        </p:nvSpPr>
        <p:spPr>
          <a:xfrm>
            <a:off x="2465784" y="6518077"/>
            <a:ext cx="30997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Farinha de rosca ou farinha de mandioca fina.</a:t>
            </a:r>
            <a:endParaRPr lang="en-US" sz="820" dirty="0"/>
          </a:p>
        </p:txBody>
      </p:sp>
      <p:sp>
        <p:nvSpPr>
          <p:cNvPr id="41" name="Shape 34"/>
          <p:cNvSpPr/>
          <p:nvPr/>
        </p:nvSpPr>
        <p:spPr>
          <a:xfrm>
            <a:off x="791914" y="7051625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2" name="Text 35"/>
          <p:cNvSpPr txBox="1"/>
          <p:nvPr/>
        </p:nvSpPr>
        <p:spPr>
          <a:xfrm>
            <a:off x="881807" y="6811863"/>
            <a:ext cx="13971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Chocolate meio amargo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2375892" y="7051625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4" name="Text 37"/>
          <p:cNvSpPr txBox="1"/>
          <p:nvPr/>
        </p:nvSpPr>
        <p:spPr>
          <a:xfrm>
            <a:off x="2465784" y="6830913"/>
            <a:ext cx="36102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Chocolate ao leite com 1 colher (sopa) de cacau em pó.</a:t>
            </a:r>
            <a:endParaRPr lang="en-US" sz="820" dirty="0"/>
          </a:p>
        </p:txBody>
      </p:sp>
      <p:sp>
        <p:nvSpPr>
          <p:cNvPr id="45" name="Shape 38"/>
          <p:cNvSpPr/>
          <p:nvPr/>
        </p:nvSpPr>
        <p:spPr>
          <a:xfrm>
            <a:off x="791914" y="7364462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6" name="Text 39"/>
          <p:cNvSpPr txBox="1"/>
          <p:nvPr/>
        </p:nvSpPr>
        <p:spPr>
          <a:xfrm>
            <a:off x="881807" y="7124700"/>
            <a:ext cx="8780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Creme de leite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2375892" y="7364462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48" name="Text 41"/>
          <p:cNvSpPr txBox="1"/>
          <p:nvPr/>
        </p:nvSpPr>
        <p:spPr>
          <a:xfrm>
            <a:off x="2465784" y="7143750"/>
            <a:ext cx="25226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Leite integral (a calda fica mais fina).</a:t>
            </a:r>
            <a:endParaRPr lang="en-US" sz="820" dirty="0"/>
          </a:p>
        </p:txBody>
      </p:sp>
      <p:sp>
        <p:nvSpPr>
          <p:cNvPr id="49" name="Shape 42"/>
          <p:cNvSpPr/>
          <p:nvPr/>
        </p:nvSpPr>
        <p:spPr>
          <a:xfrm>
            <a:off x="791914" y="7677299"/>
            <a:ext cx="1583978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50" name="Text 43"/>
          <p:cNvSpPr txBox="1"/>
          <p:nvPr/>
        </p:nvSpPr>
        <p:spPr>
          <a:xfrm>
            <a:off x="881807" y="7437537"/>
            <a:ext cx="12768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Amendoim (no pesto)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2375892" y="7677299"/>
            <a:ext cx="4392067" cy="0"/>
          </a:xfrm>
          <a:prstGeom prst="line">
            <a:avLst/>
          </a:prstGeom>
          <a:noFill/>
          <a:ln w="9525">
            <a:solidFill>
              <a:srgbClr val="18542A"/>
            </a:solidFill>
            <a:prstDash val="dash"/>
          </a:ln>
        </p:spPr>
      </p:sp>
      <p:sp>
        <p:nvSpPr>
          <p:cNvPr id="52" name="Text 45"/>
          <p:cNvSpPr txBox="1"/>
          <p:nvPr/>
        </p:nvSpPr>
        <p:spPr>
          <a:xfrm>
            <a:off x="2465784" y="7456587"/>
            <a:ext cx="42153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Castanha-de-caju, castanha-do-pará ou sementes de girassol.</a:t>
            </a:r>
            <a:endParaRPr lang="en-US" sz="820" dirty="0"/>
          </a:p>
        </p:txBody>
      </p:sp>
      <p:sp>
        <p:nvSpPr>
          <p:cNvPr id="53" name="Text 46"/>
          <p:cNvSpPr txBox="1"/>
          <p:nvPr/>
        </p:nvSpPr>
        <p:spPr>
          <a:xfrm>
            <a:off x="5504408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54" name="Text 47"/>
          <p:cNvSpPr txBox="1"/>
          <p:nvPr/>
        </p:nvSpPr>
        <p:spPr>
          <a:xfrm>
            <a:off x="6637586" y="10162729"/>
            <a:ext cx="2446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016" y="7811839"/>
            <a:ext cx="2159943" cy="17999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28856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APROVEITA ISSO TAMBÉM · CENOURA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888424"/>
            <a:ext cx="4944785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NADA VAI PARA O LIXO</a:t>
            </a:r>
            <a:endParaRPr lang="en-US" sz="4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1978819"/>
            <a:ext cx="2158008" cy="1079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91914" y="1799034"/>
            <a:ext cx="22559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CASCAS: CHIPS ASSADOS</a:t>
            </a:r>
            <a:endParaRPr lang="en-US" sz="1700" dirty="0"/>
          </a:p>
        </p:txBody>
      </p:sp>
      <p:sp>
        <p:nvSpPr>
          <p:cNvPr id="8" name="Text 3"/>
          <p:cNvSpPr txBox="1"/>
          <p:nvPr/>
        </p:nvSpPr>
        <p:spPr>
          <a:xfrm>
            <a:off x="791914" y="2160984"/>
            <a:ext cx="5759946" cy="493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Se descascar as cenouras, guarde as cascas. Seque bem, misture com um fio de azeite, sal e uma pitada de cominho e espalhe sem amontoar. Leve à airfryer a 170 °C por 6 a 8 minutos ou ao forno a 150 °C por 15 a 20 minutos, de olho: elas são finas e passam do ponto rápido.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47" y="3069282"/>
            <a:ext cx="4621113" cy="1079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91914" y="2889498"/>
            <a:ext cx="501462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spc="34" kern="0" dirty="0">
                <a:solidFill>
                  <a:srgbClr val="18542A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RAMAS (FOLHAS): PESTO COM AMENDOIM OU CASTANHA</a:t>
            </a:r>
            <a:endParaRPr lang="en-US" sz="1700" dirty="0"/>
          </a:p>
        </p:txBody>
      </p:sp>
      <p:sp>
        <p:nvSpPr>
          <p:cNvPr id="11" name="Text 5"/>
          <p:cNvSpPr txBox="1"/>
          <p:nvPr/>
        </p:nvSpPr>
        <p:spPr>
          <a:xfrm>
            <a:off x="791914" y="3251448"/>
            <a:ext cx="5759946" cy="1004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Separe as folhas e os talos finos de 1 maço de rama (cerca de 60 g). Mergulhe por 10 segundos em água fervente e depois em água com gelo: isso fixa a cor e suaviza o amargor. Esprema bem. Bata no processador ou pilão com 50 g de amendoim torrado sem sal, 1 dente de alho, 40 g de parmesão, suco de ½ limão e sal, acrescentando cerca de 120 ml de azeite aos poucos. Use em massas, no hambúrguer de cenoura, sobre as cenouras assadas ou no pão. Dura 5 dias na geladeira, coberto por uma camada de azeite.</a:t>
            </a:r>
            <a:endParaRPr lang="en-US" sz="850" dirty="0"/>
          </a:p>
        </p:txBody>
      </p:sp>
      <p:sp>
        <p:nvSpPr>
          <p:cNvPr id="12" name="Text 6"/>
          <p:cNvSpPr txBox="1"/>
          <p:nvPr/>
        </p:nvSpPr>
        <p:spPr>
          <a:xfrm>
            <a:off x="5505599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13" name="Text 7"/>
          <p:cNvSpPr txBox="1"/>
          <p:nvPr/>
        </p:nvSpPr>
        <p:spPr>
          <a:xfrm>
            <a:off x="6638776" y="10162729"/>
            <a:ext cx="2434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14" y="720030"/>
            <a:ext cx="1655862" cy="137978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1914" y="791914"/>
            <a:ext cx="5741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BÔNUS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791914" y="982214"/>
            <a:ext cx="4247852" cy="128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OS 10 PULOS DO MAMEDE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791914" y="2198787"/>
            <a:ext cx="57599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0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Dez decisões universais de cozinha, que valem para qualquer ingrediente e qualquer receita.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791914" y="2673251"/>
            <a:ext cx="323999" cy="323999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929580" y="2737386"/>
            <a:ext cx="162967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1259830" y="2663726"/>
            <a:ext cx="11919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SEQUE ANTES DE DOURAR</a:t>
            </a:r>
            <a:endParaRPr lang="en-US" sz="920" dirty="0"/>
          </a:p>
        </p:txBody>
      </p:sp>
      <p:sp>
        <p:nvSpPr>
          <p:cNvPr id="10" name="Text 6"/>
          <p:cNvSpPr txBox="1"/>
          <p:nvPr/>
        </p:nvSpPr>
        <p:spPr>
          <a:xfrm>
            <a:off x="1259830" y="2856607"/>
            <a:ext cx="5508129" cy="53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Umidade é inimiga da crosta. Carne, frango, legumes: tudo passa pelo papel-toalha antes de ir para a frigideira. Enquanto houver água, a comida cozinha no vapor em vez de dourar.</a:t>
            </a:r>
            <a:endParaRPr lang="en-US" sz="920" dirty="0"/>
          </a:p>
        </p:txBody>
      </p:sp>
      <p:sp>
        <p:nvSpPr>
          <p:cNvPr id="11" name="Shape 7"/>
          <p:cNvSpPr/>
          <p:nvPr/>
        </p:nvSpPr>
        <p:spPr>
          <a:xfrm>
            <a:off x="791914" y="3664595"/>
            <a:ext cx="323999" cy="323999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916632" y="3728730"/>
            <a:ext cx="188863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259830" y="3655070"/>
            <a:ext cx="15246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FRIGIDEIRA QUENTE DE VERDADE</a:t>
            </a:r>
            <a:endParaRPr lang="en-US" sz="920" dirty="0"/>
          </a:p>
        </p:txBody>
      </p:sp>
      <p:sp>
        <p:nvSpPr>
          <p:cNvPr id="14" name="Text 10"/>
          <p:cNvSpPr txBox="1"/>
          <p:nvPr/>
        </p:nvSpPr>
        <p:spPr>
          <a:xfrm>
            <a:off x="1259830" y="3847951"/>
            <a:ext cx="550812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Espere a frigideira aquecer antes de colocar a gordura e a gordura brilhar antes de colocar o alimento. Uma gota de água deve chiar e evaporar na hora.</a:t>
            </a:r>
            <a:endParaRPr lang="en-US" sz="920" dirty="0"/>
          </a:p>
        </p:txBody>
      </p:sp>
      <p:sp>
        <p:nvSpPr>
          <p:cNvPr id="15" name="Shape 11"/>
          <p:cNvSpPr/>
          <p:nvPr/>
        </p:nvSpPr>
        <p:spPr>
          <a:xfrm>
            <a:off x="791914" y="4471392"/>
            <a:ext cx="323999" cy="323999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917079" y="4535527"/>
            <a:ext cx="1879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259830" y="4461867"/>
            <a:ext cx="9655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NÃO LOTE A PANELA</a:t>
            </a:r>
            <a:endParaRPr lang="en-US" sz="920" dirty="0"/>
          </a:p>
        </p:txBody>
      </p:sp>
      <p:sp>
        <p:nvSpPr>
          <p:cNvPr id="18" name="Text 14"/>
          <p:cNvSpPr txBox="1"/>
          <p:nvPr/>
        </p:nvSpPr>
        <p:spPr>
          <a:xfrm>
            <a:off x="1259830" y="4654748"/>
            <a:ext cx="550812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Comida amontoada solta líquido e esfria a panela. Deixe espaço entre os pedaços e, se precisar, trabalhe em levas. É mais rápido do que parece.</a:t>
            </a:r>
            <a:endParaRPr lang="en-US" sz="920" dirty="0"/>
          </a:p>
        </p:txBody>
      </p:sp>
      <p:sp>
        <p:nvSpPr>
          <p:cNvPr id="19" name="Shape 15"/>
          <p:cNvSpPr/>
          <p:nvPr/>
        </p:nvSpPr>
        <p:spPr>
          <a:xfrm>
            <a:off x="791914" y="5278189"/>
            <a:ext cx="323999" cy="323999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911870" y="5342325"/>
            <a:ext cx="198239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259830" y="5268664"/>
            <a:ext cx="18580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NÃO MEXA: DEIXE A CROSTA SE FORMAR</a:t>
            </a:r>
            <a:endParaRPr lang="en-US" sz="920" dirty="0"/>
          </a:p>
        </p:txBody>
      </p:sp>
      <p:sp>
        <p:nvSpPr>
          <p:cNvPr id="22" name="Text 18"/>
          <p:cNvSpPr txBox="1"/>
          <p:nvPr/>
        </p:nvSpPr>
        <p:spPr>
          <a:xfrm>
            <a:off x="1259830" y="5461546"/>
            <a:ext cx="5508129" cy="53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Selar não “fecha os sucos”, como se dizia. Selar cria sabor. E a crosta só se forma se você deixar o alimento quieto. Quando estiver pronto para virar, ele solta sozinho da frigideira.</a:t>
            </a:r>
            <a:endParaRPr lang="en-US" sz="920" dirty="0"/>
          </a:p>
        </p:txBody>
      </p:sp>
      <p:sp>
        <p:nvSpPr>
          <p:cNvPr id="23" name="Shape 19"/>
          <p:cNvSpPr/>
          <p:nvPr/>
        </p:nvSpPr>
        <p:spPr>
          <a:xfrm>
            <a:off x="791914" y="6269534"/>
            <a:ext cx="323999" cy="323999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916632" y="6333669"/>
            <a:ext cx="188714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1259830" y="6260009"/>
            <a:ext cx="1868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SAL COM ANTECEDÊNCIA E EM CAMADAS</a:t>
            </a:r>
            <a:endParaRPr lang="en-US" sz="920" dirty="0"/>
          </a:p>
        </p:txBody>
      </p:sp>
      <p:sp>
        <p:nvSpPr>
          <p:cNvPr id="26" name="Text 22"/>
          <p:cNvSpPr txBox="1"/>
          <p:nvPr/>
        </p:nvSpPr>
        <p:spPr>
          <a:xfrm>
            <a:off x="1259830" y="6452890"/>
            <a:ext cx="5508129" cy="53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Salgar carnes com horas de antecedência tempera por dentro. Nas preparações, tempere um pouco em cada etapa, em vez de tudo no final. E sempre prove antes de acrescentar mais.</a:t>
            </a:r>
            <a:endParaRPr lang="en-US" sz="920" dirty="0"/>
          </a:p>
        </p:txBody>
      </p:sp>
      <p:sp>
        <p:nvSpPr>
          <p:cNvPr id="27" name="Text 23"/>
          <p:cNvSpPr txBox="1"/>
          <p:nvPr/>
        </p:nvSpPr>
        <p:spPr>
          <a:xfrm>
            <a:off x="5498753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6631930" y="10162729"/>
            <a:ext cx="2503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1914" y="791914"/>
            <a:ext cx="17952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BÔNUS · CONTINUAÇÃO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91914" y="982214"/>
            <a:ext cx="4247852" cy="1287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400" spc="-22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MAIS 5 PULOS DO MAMEDE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791914" y="2179737"/>
            <a:ext cx="323999" cy="323999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6632" y="2243872"/>
            <a:ext cx="188863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6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59830" y="2170212"/>
            <a:ext cx="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ACIDEZ NO FINAL</a:t>
            </a:r>
            <a:endParaRPr lang="en-US" sz="920" dirty="0"/>
          </a:p>
        </p:txBody>
      </p:sp>
      <p:sp>
        <p:nvSpPr>
          <p:cNvPr id="8" name="Text 5"/>
          <p:cNvSpPr txBox="1"/>
          <p:nvPr/>
        </p:nvSpPr>
        <p:spPr>
          <a:xfrm>
            <a:off x="1259830" y="2363093"/>
            <a:ext cx="5508129" cy="53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Algumas gotas de limão ou vinagre no final acordam um prato “sem graça” muitas vezes melhor do que mais sal. Antes de salgar de novo, experimente acidez.</a:t>
            </a:r>
            <a:endParaRPr lang="en-US" sz="920" dirty="0"/>
          </a:p>
        </p:txBody>
      </p:sp>
      <p:sp>
        <p:nvSpPr>
          <p:cNvPr id="9" name="Shape 6"/>
          <p:cNvSpPr/>
          <p:nvPr/>
        </p:nvSpPr>
        <p:spPr>
          <a:xfrm>
            <a:off x="791914" y="3171081"/>
            <a:ext cx="323999" cy="323999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9014" y="3235216"/>
            <a:ext cx="183952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7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259830" y="3161556"/>
            <a:ext cx="10623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RESPEITE O DESCANSO</a:t>
            </a:r>
            <a:endParaRPr lang="en-US" sz="920" dirty="0"/>
          </a:p>
        </p:txBody>
      </p:sp>
      <p:sp>
        <p:nvSpPr>
          <p:cNvPr id="12" name="Text 9"/>
          <p:cNvSpPr txBox="1"/>
          <p:nvPr/>
        </p:nvSpPr>
        <p:spPr>
          <a:xfrm>
            <a:off x="1259830" y="3354437"/>
            <a:ext cx="550812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Carnes descansam antes de cortar; massas descansam antes de modelar; bolos descansam antes de desenformar. Esperar 5 minutos também é técnica.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791914" y="3977878"/>
            <a:ext cx="323999" cy="323999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7079" y="4042013"/>
            <a:ext cx="1879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8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259830" y="3968353"/>
            <a:ext cx="13139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 FUNDO DA PANELA É OURO</a:t>
            </a:r>
            <a:endParaRPr lang="en-US" sz="920" dirty="0"/>
          </a:p>
        </p:txBody>
      </p:sp>
      <p:sp>
        <p:nvSpPr>
          <p:cNvPr id="16" name="Text 13"/>
          <p:cNvSpPr txBox="1"/>
          <p:nvPr/>
        </p:nvSpPr>
        <p:spPr>
          <a:xfrm>
            <a:off x="1259830" y="4161234"/>
            <a:ext cx="550812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Aquele grudado escuro no fundo da frigideira é sabor concentrado. Solte com um pouco de água, caldo ou vinho (deglaçar) e você terá um molho em 2 minutos.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791914" y="4784675"/>
            <a:ext cx="323999" cy="323999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7079" y="4848811"/>
            <a:ext cx="18797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9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259830" y="4775150"/>
            <a:ext cx="12308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CONTRASTE DE TEXTURAS</a:t>
            </a:r>
            <a:endParaRPr lang="en-US" sz="920" dirty="0"/>
          </a:p>
        </p:txBody>
      </p:sp>
      <p:sp>
        <p:nvSpPr>
          <p:cNvPr id="20" name="Text 17"/>
          <p:cNvSpPr txBox="1"/>
          <p:nvPr/>
        </p:nvSpPr>
        <p:spPr>
          <a:xfrm>
            <a:off x="1259830" y="4968032"/>
            <a:ext cx="550812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Todo prato memorável tem algo cremoso e algo crocante. Sementes tostadas, farofa, chips de casca e pele crocante existem para isso.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791914" y="5591473"/>
            <a:ext cx="323999" cy="323999"/>
          </a:xfrm>
          <a:prstGeom prst="ellipse">
            <a:avLst/>
          </a:prstGeom>
          <a:solidFill>
            <a:srgbClr val="F9601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91927" y="5655608"/>
            <a:ext cx="238125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3E8CC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10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259830" y="5581948"/>
            <a:ext cx="16120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ORGANIZE ANTES DE LIGAR O FOGO</a:t>
            </a:r>
            <a:endParaRPr lang="en-US" sz="920" dirty="0"/>
          </a:p>
        </p:txBody>
      </p:sp>
      <p:sp>
        <p:nvSpPr>
          <p:cNvPr id="24" name="Text 21"/>
          <p:cNvSpPr txBox="1"/>
          <p:nvPr/>
        </p:nvSpPr>
        <p:spPr>
          <a:xfrm>
            <a:off x="1259830" y="5774829"/>
            <a:ext cx="5508129" cy="53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2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Leia a receita inteira, separe, corte e meça tudo antes de começar (é o que os chefs chamam de mise en place). Cozinhar fica mais calmo, e o fogo nunca espera por você.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791914" y="6582817"/>
            <a:ext cx="0" cy="253305"/>
          </a:xfrm>
          <a:prstGeom prst="line">
            <a:avLst/>
          </a:prstGeom>
          <a:noFill/>
          <a:ln w="76200">
            <a:solidFill>
              <a:srgbClr val="FFC92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48048" y="6559322"/>
            <a:ext cx="6146101" cy="313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CHEF É QUEM OLHA PARA O BÁSICO E ENXERGA POSSIBILIDADES.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5524798" y="10162729"/>
            <a:ext cx="10315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COZINHA MAMEDE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6657975" y="10162729"/>
            <a:ext cx="2242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18542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3E8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59873" cy="1069196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009" y="2191792"/>
            <a:ext cx="3599855" cy="29997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516428" y="5355401"/>
            <a:ext cx="2366629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spc="-27" kern="0" dirty="0">
                <a:solidFill>
                  <a:srgbClr val="D52518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COZINHA</a:t>
            </a:r>
            <a:endParaRPr lang="en-US" sz="5400" dirty="0"/>
          </a:p>
        </p:txBody>
      </p:sp>
      <p:sp>
        <p:nvSpPr>
          <p:cNvPr id="5" name="Text 1"/>
          <p:cNvSpPr txBox="1"/>
          <p:nvPr/>
        </p:nvSpPr>
        <p:spPr>
          <a:xfrm>
            <a:off x="3768474" y="5355401"/>
            <a:ext cx="226978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spc="-27" kern="0" dirty="0">
                <a:solidFill>
                  <a:srgbClr val="F96015"/>
                </a:solidFill>
                <a:latin typeface="Barlow Condensed ExtraBold" pitchFamily="34" charset="0"/>
                <a:ea typeface="Barlow Condensed ExtraBold" pitchFamily="34" charset="-122"/>
                <a:cs typeface="Barlow Condensed ExtraBold" pitchFamily="34" charset="-120"/>
              </a:rPr>
              <a:t>MAMEDE</a:t>
            </a:r>
            <a:endParaRPr 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1259979" y="6267152"/>
            <a:ext cx="5039916" cy="32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Se você chegou até aqui, já percebeu: não foram 15 receitas novas. Foram 5 ingredientes que você já conhecia, olhados de outro jeito.</a:t>
            </a:r>
            <a:endParaRPr lang="en-US" sz="850" dirty="0"/>
          </a:p>
        </p:txBody>
      </p:sp>
      <p:sp>
        <p:nvSpPr>
          <p:cNvPr id="7" name="Text 3"/>
          <p:cNvSpPr txBox="1"/>
          <p:nvPr/>
        </p:nvSpPr>
        <p:spPr>
          <a:xfrm>
            <a:off x="1259979" y="6701433"/>
            <a:ext cx="5039916" cy="66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40"/>
              </a:lnSpc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Agora o convite é levar esse olhar para o resto da sua cozinha. Antes de cozinhar qualquer coisa, pergunte: como escolher, como guardar, como cortar? Que técnica muda o resultado? E o que dá para aproveitar da casca, do talo, do osso?</a:t>
            </a:r>
            <a:endParaRPr lang="en-US" sz="850" dirty="0"/>
          </a:p>
        </p:txBody>
      </p:sp>
      <p:sp>
        <p:nvSpPr>
          <p:cNvPr id="8" name="Text 4"/>
          <p:cNvSpPr txBox="1"/>
          <p:nvPr/>
        </p:nvSpPr>
        <p:spPr>
          <a:xfrm>
            <a:off x="1228618" y="7476530"/>
            <a:ext cx="51026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8542A"/>
                </a:solidFill>
                <a:latin typeface="Short Stack" pitchFamily="34" charset="0"/>
                <a:ea typeface="Short Stack" pitchFamily="34" charset="-122"/>
                <a:cs typeface="Short Stack" pitchFamily="34" charset="-120"/>
              </a:rPr>
              <a:t>Cozinhe com afeto, com técnica e sem desperdício. Esse é o Jeito Mamede.</a:t>
            </a:r>
            <a:endParaRPr lang="en-US" sz="850" dirty="0"/>
          </a:p>
        </p:txBody>
      </p:sp>
      <p:sp>
        <p:nvSpPr>
          <p:cNvPr id="9" name="Text 5"/>
          <p:cNvSpPr txBox="1"/>
          <p:nvPr/>
        </p:nvSpPr>
        <p:spPr>
          <a:xfrm>
            <a:off x="2204082" y="7946827"/>
            <a:ext cx="31515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64" kern="0" dirty="0">
                <a:solidFill>
                  <a:srgbClr val="F96015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Bom apetite! · CHEF ALLAN MAMEDE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Cozinha Mamede</dc:title>
  <dc:subject>PptxGenJS Presentation</dc:subject>
  <dc:creator>Chef Allan Mamede</dc:creator>
  <cp:lastModifiedBy>Chef Allan Mamede</cp:lastModifiedBy>
  <cp:revision>1</cp:revision>
  <dcterms:created xsi:type="dcterms:W3CDTF">2026-10-13T16:07:09Z</dcterms:created>
  <dcterms:modified xsi:type="dcterms:W3CDTF">2026-10-13T16:07:09Z</dcterms:modified>
</cp:coreProperties>
</file>